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notesMasterIdLst>
    <p:notesMasterId r:id="rId24"/>
  </p:notesMasterIdLst>
  <p:handoutMasterIdLst>
    <p:handoutMasterId r:id="rId25"/>
  </p:handoutMasterIdLst>
  <p:sldIdLst>
    <p:sldId id="256" r:id="rId2"/>
    <p:sldId id="353" r:id="rId3"/>
    <p:sldId id="423" r:id="rId4"/>
    <p:sldId id="424" r:id="rId5"/>
    <p:sldId id="425" r:id="rId6"/>
    <p:sldId id="426" r:id="rId7"/>
    <p:sldId id="427" r:id="rId8"/>
    <p:sldId id="428" r:id="rId9"/>
    <p:sldId id="429" r:id="rId10"/>
    <p:sldId id="430" r:id="rId11"/>
    <p:sldId id="431" r:id="rId12"/>
    <p:sldId id="432" r:id="rId13"/>
    <p:sldId id="433" r:id="rId14"/>
    <p:sldId id="434" r:id="rId15"/>
    <p:sldId id="435" r:id="rId16"/>
    <p:sldId id="436" r:id="rId17"/>
    <p:sldId id="437" r:id="rId18"/>
    <p:sldId id="438" r:id="rId19"/>
    <p:sldId id="439" r:id="rId20"/>
    <p:sldId id="440" r:id="rId21"/>
    <p:sldId id="441" r:id="rId22"/>
    <p:sldId id="442" r:id="rId23"/>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33CC"/>
    <a:srgbClr val="0066CC"/>
    <a:srgbClr val="3333FF"/>
    <a:srgbClr val="333399"/>
    <a:srgbClr val="000066"/>
    <a:srgbClr val="0B0B8F"/>
    <a:srgbClr val="6666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3" autoAdjust="0"/>
    <p:restoredTop sz="94660"/>
  </p:normalViewPr>
  <p:slideViewPr>
    <p:cSldViewPr>
      <p:cViewPr varScale="1">
        <p:scale>
          <a:sx n="82" d="100"/>
          <a:sy n="82" d="100"/>
        </p:scale>
        <p:origin x="60" y="53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a:extLst>
              <a:ext uri="{FF2B5EF4-FFF2-40B4-BE49-F238E27FC236}">
                <a16:creationId xmlns="" xmlns:a16="http://schemas.microsoft.com/office/drawing/2014/main" id="{7EF04A81-7DFA-47DE-A9A7-72DC5C8C505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62467" name="Rectangle 3">
            <a:extLst>
              <a:ext uri="{FF2B5EF4-FFF2-40B4-BE49-F238E27FC236}">
                <a16:creationId xmlns="" xmlns:a16="http://schemas.microsoft.com/office/drawing/2014/main" id="{C743C2B1-7573-4CDD-9912-4973799BD6B6}"/>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62468" name="Rectangle 4">
            <a:extLst>
              <a:ext uri="{FF2B5EF4-FFF2-40B4-BE49-F238E27FC236}">
                <a16:creationId xmlns="" xmlns:a16="http://schemas.microsoft.com/office/drawing/2014/main" id="{083670AD-20B2-4E43-A117-ECBB1307EF66}"/>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62469" name="Rectangle 5">
            <a:extLst>
              <a:ext uri="{FF2B5EF4-FFF2-40B4-BE49-F238E27FC236}">
                <a16:creationId xmlns="" xmlns:a16="http://schemas.microsoft.com/office/drawing/2014/main" id="{5887E1D2-E330-4666-A73C-D205AB63CC9A}"/>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2B648656-4FD1-45F3-A39A-E98EECF0536C}"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 xmlns:a16="http://schemas.microsoft.com/office/drawing/2014/main" id="{8874EE1E-2ABD-418E-882F-FA18EF8A6F2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59395" name="Rectangle 3">
            <a:extLst>
              <a:ext uri="{FF2B5EF4-FFF2-40B4-BE49-F238E27FC236}">
                <a16:creationId xmlns="" xmlns:a16="http://schemas.microsoft.com/office/drawing/2014/main" id="{FD3ED18D-CCFB-4EC1-A107-DB2E6D10C763}"/>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53252" name="Rectangle 4">
            <a:extLst>
              <a:ext uri="{FF2B5EF4-FFF2-40B4-BE49-F238E27FC236}">
                <a16:creationId xmlns="" xmlns:a16="http://schemas.microsoft.com/office/drawing/2014/main" id="{B661BDF4-4732-4C56-B660-B6CF58302E9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7" name="Rectangle 5">
            <a:extLst>
              <a:ext uri="{FF2B5EF4-FFF2-40B4-BE49-F238E27FC236}">
                <a16:creationId xmlns="" xmlns:a16="http://schemas.microsoft.com/office/drawing/2014/main" id="{3DD3C893-15F7-40B9-A9A1-894CC3D2398F}"/>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9398" name="Rectangle 6">
            <a:extLst>
              <a:ext uri="{FF2B5EF4-FFF2-40B4-BE49-F238E27FC236}">
                <a16:creationId xmlns="" xmlns:a16="http://schemas.microsoft.com/office/drawing/2014/main" id="{DBD3F5B5-6F65-463A-A009-F4F6410F8E18}"/>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59399" name="Rectangle 7">
            <a:extLst>
              <a:ext uri="{FF2B5EF4-FFF2-40B4-BE49-F238E27FC236}">
                <a16:creationId xmlns="" xmlns:a16="http://schemas.microsoft.com/office/drawing/2014/main" id="{695CB457-AFBB-4DBD-AE42-1FA02D56EBF2}"/>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E2E4DB4-3A87-4946-9F92-ED2FDB88E45F}" type="slidenum">
              <a:rPr lang="en-US" altLang="en-US"/>
              <a:pPr/>
              <a:t>‹#›</a:t>
            </a:fld>
            <a:endParaRPr lang="en-US" altLang="en-US"/>
          </a:p>
        </p:txBody>
      </p:sp>
    </p:spTree>
    <p:extLst>
      <p:ext uri="{BB962C8B-B14F-4D97-AF65-F5344CB8AC3E}">
        <p14:creationId xmlns:p14="http://schemas.microsoft.com/office/powerpoint/2010/main" val="10954125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 xmlns:a16="http://schemas.microsoft.com/office/drawing/2014/main" id="{AD0ED012-38E7-4E91-BE04-804ECF7462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0900A3-0CE9-4040-8C37-D17D5EEC79F3}" type="slidenum">
              <a:rPr lang="en-US" altLang="en-US"/>
              <a:pPr eaLnBrk="1" hangingPunct="1"/>
              <a:t>1</a:t>
            </a:fld>
            <a:endParaRPr lang="en-US" altLang="en-US"/>
          </a:p>
        </p:txBody>
      </p:sp>
      <p:sp>
        <p:nvSpPr>
          <p:cNvPr id="54275" name="Rectangle 2">
            <a:extLst>
              <a:ext uri="{FF2B5EF4-FFF2-40B4-BE49-F238E27FC236}">
                <a16:creationId xmlns="" xmlns:a16="http://schemas.microsoft.com/office/drawing/2014/main" id="{5B7DD667-4CE2-4FC3-A7C4-B97CB92C8421}"/>
              </a:ext>
            </a:extLst>
          </p:cNvPr>
          <p:cNvSpPr>
            <a:spLocks noGrp="1" noRot="1" noChangeAspect="1" noChangeArrowheads="1" noTextEdit="1"/>
          </p:cNvSpPr>
          <p:nvPr>
            <p:ph type="sldImg"/>
          </p:nvPr>
        </p:nvSpPr>
        <p:spPr>
          <a:xfrm>
            <a:off x="381000" y="685800"/>
            <a:ext cx="6096000" cy="3429000"/>
          </a:xfrm>
          <a:ln/>
        </p:spPr>
      </p:sp>
      <p:sp>
        <p:nvSpPr>
          <p:cNvPr id="54276" name="Rectangle 3">
            <a:extLst>
              <a:ext uri="{FF2B5EF4-FFF2-40B4-BE49-F238E27FC236}">
                <a16:creationId xmlns="" xmlns:a16="http://schemas.microsoft.com/office/drawing/2014/main" id="{68728074-021F-4FDD-97C3-1CCB3AC918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229790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 xmlns:a16="http://schemas.microsoft.com/office/drawing/2014/main" id="{2C39705D-362F-4B9B-A1AC-01A75A759AF3}"/>
              </a:ext>
            </a:extLst>
          </p:cNvPr>
          <p:cNvGrpSpPr>
            <a:grpSpLocks/>
          </p:cNvGrpSpPr>
          <p:nvPr/>
        </p:nvGrpSpPr>
        <p:grpSpPr bwMode="auto">
          <a:xfrm>
            <a:off x="0" y="0"/>
            <a:ext cx="11684000" cy="5943600"/>
            <a:chOff x="0" y="0"/>
            <a:chExt cx="5520" cy="3744"/>
          </a:xfrm>
        </p:grpSpPr>
        <p:sp>
          <p:nvSpPr>
            <p:cNvPr id="5" name="Rectangle 3">
              <a:extLst>
                <a:ext uri="{FF2B5EF4-FFF2-40B4-BE49-F238E27FC236}">
                  <a16:creationId xmlns="" xmlns:a16="http://schemas.microsoft.com/office/drawing/2014/main" id="{31086A94-E2FE-4FF7-BAA8-D6317429C4CB}"/>
                </a:ext>
              </a:extLst>
            </p:cNvPr>
            <p:cNvSpPr>
              <a:spLocks noChangeArrowheads="1"/>
            </p:cNvSpPr>
            <p:nvPr/>
          </p:nvSpPr>
          <p:spPr bwMode="auto">
            <a:xfrm>
              <a:off x="0" y="0"/>
              <a:ext cx="1104" cy="3072"/>
            </a:xfrm>
            <a:prstGeom prst="rect">
              <a:avLst/>
            </a:prstGeom>
            <a:solidFill>
              <a:schemeClr val="accent1"/>
            </a:solidFill>
            <a:ln w="9525">
              <a:noFill/>
              <a:miter lim="800000"/>
              <a:headEnd/>
              <a:tailEnd/>
            </a:ln>
            <a:effectLst/>
          </p:spPr>
          <p:txBody>
            <a:bodyPr wrap="none" anchor="ctr"/>
            <a:lstStyle/>
            <a:p>
              <a:pPr algn="ctr">
                <a:defRPr/>
              </a:pPr>
              <a:endParaRPr lang="en-US" sz="2400">
                <a:latin typeface="Times New Roman" pitchFamily="18" charset="0"/>
              </a:endParaRPr>
            </a:p>
          </p:txBody>
        </p:sp>
        <p:grpSp>
          <p:nvGrpSpPr>
            <p:cNvPr id="6" name="Group 4">
              <a:extLst>
                <a:ext uri="{FF2B5EF4-FFF2-40B4-BE49-F238E27FC236}">
                  <a16:creationId xmlns="" xmlns:a16="http://schemas.microsoft.com/office/drawing/2014/main" id="{17A5010E-9858-42D9-A86D-05557C0F2D93}"/>
                </a:ext>
              </a:extLst>
            </p:cNvPr>
            <p:cNvGrpSpPr>
              <a:grpSpLocks/>
            </p:cNvGrpSpPr>
            <p:nvPr userDrawn="1"/>
          </p:nvGrpSpPr>
          <p:grpSpPr bwMode="auto">
            <a:xfrm>
              <a:off x="0" y="2208"/>
              <a:ext cx="5520" cy="1536"/>
              <a:chOff x="0" y="2208"/>
              <a:chExt cx="5520" cy="1536"/>
            </a:xfrm>
          </p:grpSpPr>
          <p:sp>
            <p:nvSpPr>
              <p:cNvPr id="10" name="Rectangle 5">
                <a:extLst>
                  <a:ext uri="{FF2B5EF4-FFF2-40B4-BE49-F238E27FC236}">
                    <a16:creationId xmlns="" xmlns:a16="http://schemas.microsoft.com/office/drawing/2014/main" id="{22515C87-A8C8-4ECA-B654-63E583FEE699}"/>
                  </a:ext>
                </a:extLst>
              </p:cNvPr>
              <p:cNvSpPr>
                <a:spLocks noChangeArrowheads="1"/>
              </p:cNvSpPr>
              <p:nvPr/>
            </p:nvSpPr>
            <p:spPr bwMode="ltGray">
              <a:xfrm>
                <a:off x="624" y="2208"/>
                <a:ext cx="4896" cy="1536"/>
              </a:xfrm>
              <a:prstGeom prst="rect">
                <a:avLst/>
              </a:prstGeom>
              <a:solidFill>
                <a:schemeClr val="bg2"/>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11" name="Rectangle 6">
                <a:extLst>
                  <a:ext uri="{FF2B5EF4-FFF2-40B4-BE49-F238E27FC236}">
                    <a16:creationId xmlns="" xmlns:a16="http://schemas.microsoft.com/office/drawing/2014/main" id="{EE709603-0CA4-4DF5-A211-698818DBF052}"/>
                  </a:ext>
                </a:extLst>
              </p:cNvPr>
              <p:cNvSpPr>
                <a:spLocks noChangeArrowheads="1"/>
              </p:cNvSpPr>
              <p:nvPr/>
            </p:nvSpPr>
            <p:spPr bwMode="white">
              <a:xfrm>
                <a:off x="654" y="2352"/>
                <a:ext cx="4818" cy="1347"/>
              </a:xfrm>
              <a:prstGeom prst="rect">
                <a:avLst/>
              </a:prstGeom>
              <a:solidFill>
                <a:schemeClr val="bg1"/>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12" name="Line 7">
                <a:extLst>
                  <a:ext uri="{FF2B5EF4-FFF2-40B4-BE49-F238E27FC236}">
                    <a16:creationId xmlns="" xmlns:a16="http://schemas.microsoft.com/office/drawing/2014/main" id="{6228DE7F-96E6-43E9-B6AE-9EE05CB5220C}"/>
                  </a:ext>
                </a:extLst>
              </p:cNvPr>
              <p:cNvSpPr>
                <a:spLocks noChangeShapeType="1"/>
              </p:cNvSpPr>
              <p:nvPr/>
            </p:nvSpPr>
            <p:spPr bwMode="auto">
              <a:xfrm>
                <a:off x="0" y="3072"/>
                <a:ext cx="624" cy="0"/>
              </a:xfrm>
              <a:prstGeom prst="line">
                <a:avLst/>
              </a:prstGeom>
              <a:noFill/>
              <a:ln w="50800">
                <a:solidFill>
                  <a:schemeClr val="bg2"/>
                </a:solidFill>
                <a:round/>
                <a:headEnd/>
                <a:tailEnd/>
              </a:ln>
              <a:effectLst/>
            </p:spPr>
            <p:txBody>
              <a:bodyPr/>
              <a:lstStyle/>
              <a:p>
                <a:pPr>
                  <a:defRPr/>
                </a:pPr>
                <a:endParaRPr lang="en-US">
                  <a:latin typeface="Arial" charset="0"/>
                </a:endParaRPr>
              </a:p>
            </p:txBody>
          </p:sp>
        </p:grpSp>
        <p:grpSp>
          <p:nvGrpSpPr>
            <p:cNvPr id="7" name="Group 8">
              <a:extLst>
                <a:ext uri="{FF2B5EF4-FFF2-40B4-BE49-F238E27FC236}">
                  <a16:creationId xmlns="" xmlns:a16="http://schemas.microsoft.com/office/drawing/2014/main" id="{9C262A8C-E2EB-4AE8-A04E-4577636A3F94}"/>
                </a:ext>
              </a:extLst>
            </p:cNvPr>
            <p:cNvGrpSpPr>
              <a:grpSpLocks/>
            </p:cNvGrpSpPr>
            <p:nvPr userDrawn="1"/>
          </p:nvGrpSpPr>
          <p:grpSpPr bwMode="auto">
            <a:xfrm>
              <a:off x="400" y="336"/>
              <a:ext cx="5088" cy="192"/>
              <a:chOff x="400" y="336"/>
              <a:chExt cx="5088" cy="192"/>
            </a:xfrm>
          </p:grpSpPr>
          <p:sp>
            <p:nvSpPr>
              <p:cNvPr id="8" name="Rectangle 9">
                <a:extLst>
                  <a:ext uri="{FF2B5EF4-FFF2-40B4-BE49-F238E27FC236}">
                    <a16:creationId xmlns="" xmlns:a16="http://schemas.microsoft.com/office/drawing/2014/main" id="{6168B08E-1821-4027-8F62-C60A391D4D8F}"/>
                  </a:ext>
                </a:extLst>
              </p:cNvPr>
              <p:cNvSpPr>
                <a:spLocks noChangeArrowheads="1"/>
              </p:cNvSpPr>
              <p:nvPr/>
            </p:nvSpPr>
            <p:spPr bwMode="auto">
              <a:xfrm>
                <a:off x="3952" y="336"/>
                <a:ext cx="1536" cy="192"/>
              </a:xfrm>
              <a:prstGeom prst="rect">
                <a:avLst/>
              </a:prstGeom>
              <a:solidFill>
                <a:schemeClr val="folHlink"/>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9" name="Line 10">
                <a:extLst>
                  <a:ext uri="{FF2B5EF4-FFF2-40B4-BE49-F238E27FC236}">
                    <a16:creationId xmlns="" xmlns:a16="http://schemas.microsoft.com/office/drawing/2014/main" id="{E4583238-00EC-45A3-BF9C-6718F086E7CA}"/>
                  </a:ext>
                </a:extLst>
              </p:cNvPr>
              <p:cNvSpPr>
                <a:spLocks noChangeShapeType="1"/>
              </p:cNvSpPr>
              <p:nvPr/>
            </p:nvSpPr>
            <p:spPr bwMode="auto">
              <a:xfrm>
                <a:off x="400" y="432"/>
                <a:ext cx="5088" cy="0"/>
              </a:xfrm>
              <a:prstGeom prst="line">
                <a:avLst/>
              </a:prstGeom>
              <a:noFill/>
              <a:ln w="44450">
                <a:solidFill>
                  <a:schemeClr val="bg2"/>
                </a:solidFill>
                <a:round/>
                <a:headEnd/>
                <a:tailEnd/>
              </a:ln>
              <a:effectLst/>
            </p:spPr>
            <p:txBody>
              <a:bodyPr/>
              <a:lstStyle/>
              <a:p>
                <a:pPr>
                  <a:defRPr/>
                </a:pPr>
                <a:endParaRPr lang="en-US">
                  <a:latin typeface="Arial" charset="0"/>
                </a:endParaRPr>
              </a:p>
            </p:txBody>
          </p:sp>
        </p:grpSp>
      </p:grpSp>
      <p:sp>
        <p:nvSpPr>
          <p:cNvPr id="68619" name="Rectangle 11"/>
          <p:cNvSpPr>
            <a:spLocks noGrp="1" noChangeArrowheads="1"/>
          </p:cNvSpPr>
          <p:nvPr>
            <p:ph type="ctrTitle"/>
          </p:nvPr>
        </p:nvSpPr>
        <p:spPr>
          <a:xfrm>
            <a:off x="2743200" y="1143000"/>
            <a:ext cx="8839200" cy="2209800"/>
          </a:xfrm>
        </p:spPr>
        <p:txBody>
          <a:bodyPr/>
          <a:lstStyle>
            <a:lvl1pPr>
              <a:defRPr sz="4800"/>
            </a:lvl1pPr>
          </a:lstStyle>
          <a:p>
            <a:r>
              <a:rPr lang="en-US"/>
              <a:t>Click to edit Master title style</a:t>
            </a:r>
          </a:p>
        </p:txBody>
      </p:sp>
      <p:sp>
        <p:nvSpPr>
          <p:cNvPr id="68620" name="Rectangle 12"/>
          <p:cNvSpPr>
            <a:spLocks noGrp="1" noChangeArrowheads="1"/>
          </p:cNvSpPr>
          <p:nvPr>
            <p:ph type="subTitle" idx="1"/>
          </p:nvPr>
        </p:nvSpPr>
        <p:spPr>
          <a:xfrm>
            <a:off x="1828800" y="3962400"/>
            <a:ext cx="9144000" cy="1600200"/>
          </a:xfrm>
        </p:spPr>
        <p:txBody>
          <a:bodyPr anchor="ctr"/>
          <a:lstStyle>
            <a:lvl1pPr marL="0" indent="0" algn="ctr">
              <a:buFont typeface="Wingdings" pitchFamily="2" charset="2"/>
              <a:buNone/>
              <a:defRPr/>
            </a:lvl1pPr>
          </a:lstStyle>
          <a:p>
            <a:r>
              <a:rPr lang="en-US"/>
              <a:t>Click to edit Master subtitle style</a:t>
            </a:r>
          </a:p>
        </p:txBody>
      </p:sp>
      <p:sp>
        <p:nvSpPr>
          <p:cNvPr id="13" name="Rectangle 13">
            <a:extLst>
              <a:ext uri="{FF2B5EF4-FFF2-40B4-BE49-F238E27FC236}">
                <a16:creationId xmlns="" xmlns:a16="http://schemas.microsoft.com/office/drawing/2014/main" id="{D6AE989E-9970-4E26-91BE-C0C1E746CCBE}"/>
              </a:ext>
            </a:extLst>
          </p:cNvPr>
          <p:cNvSpPr>
            <a:spLocks noGrp="1" noChangeArrowheads="1"/>
          </p:cNvSpPr>
          <p:nvPr>
            <p:ph type="dt" sz="half" idx="10"/>
          </p:nvPr>
        </p:nvSpPr>
        <p:spPr>
          <a:xfrm>
            <a:off x="1217084" y="6251575"/>
            <a:ext cx="2540000" cy="457200"/>
          </a:xfrm>
        </p:spPr>
        <p:txBody>
          <a:bodyPr/>
          <a:lstStyle>
            <a:lvl1pPr>
              <a:defRPr/>
            </a:lvl1pPr>
          </a:lstStyle>
          <a:p>
            <a:pPr>
              <a:defRPr/>
            </a:pPr>
            <a:fld id="{00A05130-A5D5-4E39-BA45-2F0F0FAE02BC}" type="datetime1">
              <a:rPr lang="en-US" smtClean="0"/>
              <a:pPr>
                <a:defRPr/>
              </a:pPr>
              <a:t>9/24/2024</a:t>
            </a:fld>
            <a:endParaRPr lang="en-US"/>
          </a:p>
        </p:txBody>
      </p:sp>
      <p:sp>
        <p:nvSpPr>
          <p:cNvPr id="14" name="Rectangle 14">
            <a:extLst>
              <a:ext uri="{FF2B5EF4-FFF2-40B4-BE49-F238E27FC236}">
                <a16:creationId xmlns="" xmlns:a16="http://schemas.microsoft.com/office/drawing/2014/main" id="{2FFBF913-48F2-4038-9F10-75DFF3035782}"/>
              </a:ext>
            </a:extLst>
          </p:cNvPr>
          <p:cNvSpPr>
            <a:spLocks noGrp="1" noChangeArrowheads="1"/>
          </p:cNvSpPr>
          <p:nvPr>
            <p:ph type="ftr" sz="quarter" idx="11"/>
          </p:nvPr>
        </p:nvSpPr>
        <p:spPr>
          <a:xfrm>
            <a:off x="4472517" y="6248400"/>
            <a:ext cx="3860800" cy="457200"/>
          </a:xfrm>
        </p:spPr>
        <p:txBody>
          <a:bodyPr/>
          <a:lstStyle>
            <a:lvl1pPr>
              <a:defRPr/>
            </a:lvl1pPr>
          </a:lstStyle>
          <a:p>
            <a:pPr>
              <a:defRPr/>
            </a:pPr>
            <a:r>
              <a:rPr lang="en-US"/>
              <a:t>ThS Trần Quang Đạt</a:t>
            </a:r>
          </a:p>
        </p:txBody>
      </p:sp>
      <p:sp>
        <p:nvSpPr>
          <p:cNvPr id="15" name="Rectangle 15">
            <a:extLst>
              <a:ext uri="{FF2B5EF4-FFF2-40B4-BE49-F238E27FC236}">
                <a16:creationId xmlns="" xmlns:a16="http://schemas.microsoft.com/office/drawing/2014/main" id="{2E8DAD28-76FC-4949-8C8B-C41744EF395A}"/>
              </a:ext>
            </a:extLst>
          </p:cNvPr>
          <p:cNvSpPr>
            <a:spLocks noGrp="1" noChangeArrowheads="1"/>
          </p:cNvSpPr>
          <p:nvPr>
            <p:ph type="sldNum" sz="quarter" idx="12"/>
          </p:nvPr>
        </p:nvSpPr>
        <p:spPr/>
        <p:txBody>
          <a:bodyPr/>
          <a:lstStyle>
            <a:lvl1pPr>
              <a:defRPr/>
            </a:lvl1pPr>
          </a:lstStyle>
          <a:p>
            <a:fld id="{B04EDA94-CC55-4582-8E85-19F30028941B}" type="slidenum">
              <a:rPr lang="en-US" altLang="en-US" smtClean="0"/>
              <a:pPr/>
              <a:t>‹#›</a:t>
            </a:fld>
            <a:endParaRPr lang="en-US" altLang="en-US"/>
          </a:p>
        </p:txBody>
      </p:sp>
    </p:spTree>
    <p:extLst>
      <p:ext uri="{BB962C8B-B14F-4D97-AF65-F5344CB8AC3E}">
        <p14:creationId xmlns:p14="http://schemas.microsoft.com/office/powerpoint/2010/main" val="870261023"/>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3pPr>
              <a:defRPr sz="24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9">
            <a:extLst>
              <a:ext uri="{FF2B5EF4-FFF2-40B4-BE49-F238E27FC236}">
                <a16:creationId xmlns="" xmlns:a16="http://schemas.microsoft.com/office/drawing/2014/main" id="{C20157C6-7324-430B-B746-C73F76D3932A}"/>
              </a:ext>
            </a:extLst>
          </p:cNvPr>
          <p:cNvSpPr>
            <a:spLocks noGrp="1" noChangeArrowheads="1"/>
          </p:cNvSpPr>
          <p:nvPr>
            <p:ph type="dt" sz="half" idx="10"/>
          </p:nvPr>
        </p:nvSpPr>
        <p:spPr/>
        <p:txBody>
          <a:bodyPr/>
          <a:lstStyle>
            <a:lvl1pPr>
              <a:defRPr/>
            </a:lvl1pPr>
          </a:lstStyle>
          <a:p>
            <a:pPr>
              <a:defRPr/>
            </a:pPr>
            <a:fld id="{2D38E944-E95D-4543-A013-74D7250E08FB}" type="datetime1">
              <a:rPr lang="en-US" smtClean="0"/>
              <a:pPr>
                <a:defRPr/>
              </a:pPr>
              <a:t>9/24/2024</a:t>
            </a:fld>
            <a:endParaRPr lang="en-US"/>
          </a:p>
        </p:txBody>
      </p:sp>
      <p:sp>
        <p:nvSpPr>
          <p:cNvPr id="5" name="Rectangle 10">
            <a:extLst>
              <a:ext uri="{FF2B5EF4-FFF2-40B4-BE49-F238E27FC236}">
                <a16:creationId xmlns="" xmlns:a16="http://schemas.microsoft.com/office/drawing/2014/main" id="{246F091F-E1E8-411A-AE64-F48784C2DBDF}"/>
              </a:ext>
            </a:extLst>
          </p:cNvPr>
          <p:cNvSpPr>
            <a:spLocks noGrp="1" noChangeArrowheads="1"/>
          </p:cNvSpPr>
          <p:nvPr>
            <p:ph type="ftr" sz="quarter" idx="11"/>
          </p:nvPr>
        </p:nvSpPr>
        <p:spPr/>
        <p:txBody>
          <a:bodyPr/>
          <a:lstStyle>
            <a:lvl1pPr>
              <a:defRPr/>
            </a:lvl1pPr>
          </a:lstStyle>
          <a:p>
            <a:pPr>
              <a:defRPr/>
            </a:pPr>
            <a:r>
              <a:rPr lang="en-US"/>
              <a:t>ThS Trần Quang Đạt</a:t>
            </a:r>
          </a:p>
        </p:txBody>
      </p:sp>
      <p:sp>
        <p:nvSpPr>
          <p:cNvPr id="6" name="Rectangle 11">
            <a:extLst>
              <a:ext uri="{FF2B5EF4-FFF2-40B4-BE49-F238E27FC236}">
                <a16:creationId xmlns="" xmlns:a16="http://schemas.microsoft.com/office/drawing/2014/main" id="{19DD09F9-3BEE-4A5E-B30E-8C17D8156106}"/>
              </a:ext>
            </a:extLst>
          </p:cNvPr>
          <p:cNvSpPr>
            <a:spLocks noGrp="1" noChangeArrowheads="1"/>
          </p:cNvSpPr>
          <p:nvPr>
            <p:ph type="sldNum" sz="quarter" idx="12"/>
          </p:nvPr>
        </p:nvSpPr>
        <p:spPr/>
        <p:txBody>
          <a:bodyPr/>
          <a:lstStyle>
            <a:lvl1pPr>
              <a:defRPr/>
            </a:lvl1pPr>
          </a:lstStyle>
          <a:p>
            <a:fld id="{70EFE2FC-958E-4852-88CF-4523749B4C01}" type="slidenum">
              <a:rPr lang="en-US" altLang="en-US" smtClean="0"/>
              <a:pPr/>
              <a:t>‹#›</a:t>
            </a:fld>
            <a:endParaRPr lang="en-US" altLang="en-US"/>
          </a:p>
        </p:txBody>
      </p:sp>
    </p:spTree>
    <p:extLst>
      <p:ext uri="{BB962C8B-B14F-4D97-AF65-F5344CB8AC3E}">
        <p14:creationId xmlns:p14="http://schemas.microsoft.com/office/powerpoint/2010/main" val="1928032034"/>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9">
            <a:extLst>
              <a:ext uri="{FF2B5EF4-FFF2-40B4-BE49-F238E27FC236}">
                <a16:creationId xmlns="" xmlns:a16="http://schemas.microsoft.com/office/drawing/2014/main" id="{56648DA6-F6F5-456F-B53D-F2F821571E71}"/>
              </a:ext>
            </a:extLst>
          </p:cNvPr>
          <p:cNvSpPr>
            <a:spLocks noGrp="1" noChangeArrowheads="1"/>
          </p:cNvSpPr>
          <p:nvPr>
            <p:ph type="dt" sz="half" idx="10"/>
          </p:nvPr>
        </p:nvSpPr>
        <p:spPr/>
        <p:txBody>
          <a:bodyPr/>
          <a:lstStyle>
            <a:lvl1pPr>
              <a:defRPr/>
            </a:lvl1pPr>
          </a:lstStyle>
          <a:p>
            <a:pPr>
              <a:defRPr/>
            </a:pPr>
            <a:fld id="{4FCCAE8C-1D81-42CC-BE09-59022F644440}" type="datetime1">
              <a:rPr lang="en-US" smtClean="0"/>
              <a:pPr>
                <a:defRPr/>
              </a:pPr>
              <a:t>9/24/2024</a:t>
            </a:fld>
            <a:endParaRPr lang="en-US"/>
          </a:p>
        </p:txBody>
      </p:sp>
      <p:sp>
        <p:nvSpPr>
          <p:cNvPr id="5" name="Rectangle 10">
            <a:extLst>
              <a:ext uri="{FF2B5EF4-FFF2-40B4-BE49-F238E27FC236}">
                <a16:creationId xmlns="" xmlns:a16="http://schemas.microsoft.com/office/drawing/2014/main" id="{E18059C9-4E6E-48C3-998C-DAC1655E485B}"/>
              </a:ext>
            </a:extLst>
          </p:cNvPr>
          <p:cNvSpPr>
            <a:spLocks noGrp="1" noChangeArrowheads="1"/>
          </p:cNvSpPr>
          <p:nvPr>
            <p:ph type="ftr" sz="quarter" idx="11"/>
          </p:nvPr>
        </p:nvSpPr>
        <p:spPr/>
        <p:txBody>
          <a:bodyPr/>
          <a:lstStyle>
            <a:lvl1pPr>
              <a:defRPr/>
            </a:lvl1pPr>
          </a:lstStyle>
          <a:p>
            <a:pPr>
              <a:defRPr/>
            </a:pPr>
            <a:r>
              <a:rPr lang="en-US"/>
              <a:t>ThS Trần Quang Đạt</a:t>
            </a:r>
          </a:p>
        </p:txBody>
      </p:sp>
      <p:sp>
        <p:nvSpPr>
          <p:cNvPr id="6" name="Rectangle 11">
            <a:extLst>
              <a:ext uri="{FF2B5EF4-FFF2-40B4-BE49-F238E27FC236}">
                <a16:creationId xmlns="" xmlns:a16="http://schemas.microsoft.com/office/drawing/2014/main" id="{96D32A2B-7397-41C3-AF2A-F609785DFC80}"/>
              </a:ext>
            </a:extLst>
          </p:cNvPr>
          <p:cNvSpPr>
            <a:spLocks noGrp="1" noChangeArrowheads="1"/>
          </p:cNvSpPr>
          <p:nvPr>
            <p:ph type="sldNum" sz="quarter" idx="12"/>
          </p:nvPr>
        </p:nvSpPr>
        <p:spPr/>
        <p:txBody>
          <a:bodyPr/>
          <a:lstStyle>
            <a:lvl1pPr>
              <a:defRPr/>
            </a:lvl1pPr>
          </a:lstStyle>
          <a:p>
            <a:fld id="{AC0CF00B-4166-44AB-9078-65115B7D3ED8}" type="slidenum">
              <a:rPr lang="en-US" altLang="en-US" smtClean="0"/>
              <a:pPr/>
              <a:t>‹#›</a:t>
            </a:fld>
            <a:endParaRPr lang="en-US" altLang="en-US"/>
          </a:p>
        </p:txBody>
      </p:sp>
    </p:spTree>
    <p:extLst>
      <p:ext uri="{BB962C8B-B14F-4D97-AF65-F5344CB8AC3E}">
        <p14:creationId xmlns:p14="http://schemas.microsoft.com/office/powerpoint/2010/main" val="915131189"/>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9200" y="1600201"/>
            <a:ext cx="508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2400" y="1600201"/>
            <a:ext cx="508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 xmlns:a16="http://schemas.microsoft.com/office/drawing/2014/main" id="{3DBB3F76-E005-41CA-A817-ECAF0294DFF1}"/>
              </a:ext>
            </a:extLst>
          </p:cNvPr>
          <p:cNvSpPr>
            <a:spLocks noGrp="1" noChangeArrowheads="1"/>
          </p:cNvSpPr>
          <p:nvPr>
            <p:ph type="dt" sz="half" idx="10"/>
          </p:nvPr>
        </p:nvSpPr>
        <p:spPr/>
        <p:txBody>
          <a:bodyPr/>
          <a:lstStyle>
            <a:lvl1pPr>
              <a:defRPr/>
            </a:lvl1pPr>
          </a:lstStyle>
          <a:p>
            <a:pPr>
              <a:defRPr/>
            </a:pPr>
            <a:fld id="{A56B215A-BE79-4C09-9608-55D5BD9CC9F2}" type="datetime1">
              <a:rPr lang="en-US" smtClean="0"/>
              <a:pPr>
                <a:defRPr/>
              </a:pPr>
              <a:t>9/24/2024</a:t>
            </a:fld>
            <a:endParaRPr lang="en-US"/>
          </a:p>
        </p:txBody>
      </p:sp>
      <p:sp>
        <p:nvSpPr>
          <p:cNvPr id="6" name="Rectangle 10">
            <a:extLst>
              <a:ext uri="{FF2B5EF4-FFF2-40B4-BE49-F238E27FC236}">
                <a16:creationId xmlns="" xmlns:a16="http://schemas.microsoft.com/office/drawing/2014/main" id="{198EA8D8-8286-4D22-98C3-E55843466DC5}"/>
              </a:ext>
            </a:extLst>
          </p:cNvPr>
          <p:cNvSpPr>
            <a:spLocks noGrp="1" noChangeArrowheads="1"/>
          </p:cNvSpPr>
          <p:nvPr>
            <p:ph type="ftr" sz="quarter" idx="11"/>
          </p:nvPr>
        </p:nvSpPr>
        <p:spPr/>
        <p:txBody>
          <a:bodyPr/>
          <a:lstStyle>
            <a:lvl1pPr>
              <a:defRPr/>
            </a:lvl1pPr>
          </a:lstStyle>
          <a:p>
            <a:pPr>
              <a:defRPr/>
            </a:pPr>
            <a:r>
              <a:rPr lang="en-US"/>
              <a:t>ThS Trần Quang Đạt</a:t>
            </a:r>
          </a:p>
        </p:txBody>
      </p:sp>
      <p:sp>
        <p:nvSpPr>
          <p:cNvPr id="7" name="Rectangle 11">
            <a:extLst>
              <a:ext uri="{FF2B5EF4-FFF2-40B4-BE49-F238E27FC236}">
                <a16:creationId xmlns="" xmlns:a16="http://schemas.microsoft.com/office/drawing/2014/main" id="{90A72D21-DCD1-4D7B-A5FF-7214B7602ECC}"/>
              </a:ext>
            </a:extLst>
          </p:cNvPr>
          <p:cNvSpPr>
            <a:spLocks noGrp="1" noChangeArrowheads="1"/>
          </p:cNvSpPr>
          <p:nvPr>
            <p:ph type="sldNum" sz="quarter" idx="12"/>
          </p:nvPr>
        </p:nvSpPr>
        <p:spPr/>
        <p:txBody>
          <a:bodyPr/>
          <a:lstStyle>
            <a:lvl1pPr>
              <a:defRPr/>
            </a:lvl1pPr>
          </a:lstStyle>
          <a:p>
            <a:fld id="{012E06BF-7F8A-462A-9DD0-CD20F42C6BC0}" type="slidenum">
              <a:rPr lang="en-US" altLang="en-US" smtClean="0"/>
              <a:pPr/>
              <a:t>‹#›</a:t>
            </a:fld>
            <a:endParaRPr lang="en-US" altLang="en-US"/>
          </a:p>
        </p:txBody>
      </p:sp>
    </p:spTree>
    <p:extLst>
      <p:ext uri="{BB962C8B-B14F-4D97-AF65-F5344CB8AC3E}">
        <p14:creationId xmlns:p14="http://schemas.microsoft.com/office/powerpoint/2010/main" val="3179592284"/>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 xmlns:a16="http://schemas.microsoft.com/office/drawing/2014/main" id="{BEC97CC8-E19C-4A42-B610-789F54A154CA}"/>
              </a:ext>
            </a:extLst>
          </p:cNvPr>
          <p:cNvSpPr>
            <a:spLocks noGrp="1" noChangeArrowheads="1"/>
          </p:cNvSpPr>
          <p:nvPr>
            <p:ph type="dt" sz="half" idx="10"/>
          </p:nvPr>
        </p:nvSpPr>
        <p:spPr/>
        <p:txBody>
          <a:bodyPr/>
          <a:lstStyle>
            <a:lvl1pPr>
              <a:defRPr/>
            </a:lvl1pPr>
          </a:lstStyle>
          <a:p>
            <a:pPr>
              <a:defRPr/>
            </a:pPr>
            <a:fld id="{83368F1A-E18E-4226-B9E3-3519279D19DC}" type="datetime1">
              <a:rPr lang="en-US" smtClean="0"/>
              <a:pPr>
                <a:defRPr/>
              </a:pPr>
              <a:t>9/24/2024</a:t>
            </a:fld>
            <a:endParaRPr lang="en-US"/>
          </a:p>
        </p:txBody>
      </p:sp>
      <p:sp>
        <p:nvSpPr>
          <p:cNvPr id="8" name="Rectangle 10">
            <a:extLst>
              <a:ext uri="{FF2B5EF4-FFF2-40B4-BE49-F238E27FC236}">
                <a16:creationId xmlns="" xmlns:a16="http://schemas.microsoft.com/office/drawing/2014/main" id="{B2218811-798D-4E97-89C5-A6535AE1DEF0}"/>
              </a:ext>
            </a:extLst>
          </p:cNvPr>
          <p:cNvSpPr>
            <a:spLocks noGrp="1" noChangeArrowheads="1"/>
          </p:cNvSpPr>
          <p:nvPr>
            <p:ph type="ftr" sz="quarter" idx="11"/>
          </p:nvPr>
        </p:nvSpPr>
        <p:spPr/>
        <p:txBody>
          <a:bodyPr/>
          <a:lstStyle>
            <a:lvl1pPr>
              <a:defRPr/>
            </a:lvl1pPr>
          </a:lstStyle>
          <a:p>
            <a:pPr>
              <a:defRPr/>
            </a:pPr>
            <a:r>
              <a:rPr lang="en-US"/>
              <a:t>ThS Trần Quang Đạt</a:t>
            </a:r>
          </a:p>
        </p:txBody>
      </p:sp>
      <p:sp>
        <p:nvSpPr>
          <p:cNvPr id="9" name="Rectangle 11">
            <a:extLst>
              <a:ext uri="{FF2B5EF4-FFF2-40B4-BE49-F238E27FC236}">
                <a16:creationId xmlns="" xmlns:a16="http://schemas.microsoft.com/office/drawing/2014/main" id="{E0D36D5B-49C6-4EE0-9587-B3CE7108B7A3}"/>
              </a:ext>
            </a:extLst>
          </p:cNvPr>
          <p:cNvSpPr>
            <a:spLocks noGrp="1" noChangeArrowheads="1"/>
          </p:cNvSpPr>
          <p:nvPr>
            <p:ph type="sldNum" sz="quarter" idx="12"/>
          </p:nvPr>
        </p:nvSpPr>
        <p:spPr/>
        <p:txBody>
          <a:bodyPr/>
          <a:lstStyle>
            <a:lvl1pPr>
              <a:defRPr/>
            </a:lvl1pPr>
          </a:lstStyle>
          <a:p>
            <a:fld id="{4504B15D-2E43-46D9-A8D4-ACB16B6314E2}" type="slidenum">
              <a:rPr lang="en-US" altLang="en-US" smtClean="0"/>
              <a:pPr/>
              <a:t>‹#›</a:t>
            </a:fld>
            <a:endParaRPr lang="en-US" altLang="en-US"/>
          </a:p>
        </p:txBody>
      </p:sp>
    </p:spTree>
    <p:extLst>
      <p:ext uri="{BB962C8B-B14F-4D97-AF65-F5344CB8AC3E}">
        <p14:creationId xmlns:p14="http://schemas.microsoft.com/office/powerpoint/2010/main" val="1146608174"/>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 xmlns:a16="http://schemas.microsoft.com/office/drawing/2014/main" id="{58882425-6389-495D-8244-5B5839ADE0E4}"/>
              </a:ext>
            </a:extLst>
          </p:cNvPr>
          <p:cNvSpPr>
            <a:spLocks noGrp="1" noChangeArrowheads="1"/>
          </p:cNvSpPr>
          <p:nvPr>
            <p:ph type="dt" sz="half" idx="10"/>
          </p:nvPr>
        </p:nvSpPr>
        <p:spPr/>
        <p:txBody>
          <a:bodyPr/>
          <a:lstStyle>
            <a:lvl1pPr>
              <a:defRPr/>
            </a:lvl1pPr>
          </a:lstStyle>
          <a:p>
            <a:pPr>
              <a:defRPr/>
            </a:pPr>
            <a:fld id="{B3519DBA-3BEF-40C9-ABDC-BFF766DD2D7C}" type="datetime1">
              <a:rPr lang="en-US" smtClean="0"/>
              <a:pPr>
                <a:defRPr/>
              </a:pPr>
              <a:t>9/24/2024</a:t>
            </a:fld>
            <a:endParaRPr lang="en-US"/>
          </a:p>
        </p:txBody>
      </p:sp>
      <p:sp>
        <p:nvSpPr>
          <p:cNvPr id="4" name="Rectangle 10">
            <a:extLst>
              <a:ext uri="{FF2B5EF4-FFF2-40B4-BE49-F238E27FC236}">
                <a16:creationId xmlns="" xmlns:a16="http://schemas.microsoft.com/office/drawing/2014/main" id="{DEA3BD1C-C0DF-479C-92DB-E774F78D30A3}"/>
              </a:ext>
            </a:extLst>
          </p:cNvPr>
          <p:cNvSpPr>
            <a:spLocks noGrp="1" noChangeArrowheads="1"/>
          </p:cNvSpPr>
          <p:nvPr>
            <p:ph type="ftr" sz="quarter" idx="11"/>
          </p:nvPr>
        </p:nvSpPr>
        <p:spPr/>
        <p:txBody>
          <a:bodyPr/>
          <a:lstStyle>
            <a:lvl1pPr>
              <a:defRPr/>
            </a:lvl1pPr>
          </a:lstStyle>
          <a:p>
            <a:pPr>
              <a:defRPr/>
            </a:pPr>
            <a:r>
              <a:rPr lang="en-US"/>
              <a:t>ThS Trần Quang Đạt</a:t>
            </a:r>
          </a:p>
        </p:txBody>
      </p:sp>
      <p:sp>
        <p:nvSpPr>
          <p:cNvPr id="5" name="Rectangle 11">
            <a:extLst>
              <a:ext uri="{FF2B5EF4-FFF2-40B4-BE49-F238E27FC236}">
                <a16:creationId xmlns="" xmlns:a16="http://schemas.microsoft.com/office/drawing/2014/main" id="{1C869835-A50C-454B-8A4A-CE1E842233E5}"/>
              </a:ext>
            </a:extLst>
          </p:cNvPr>
          <p:cNvSpPr>
            <a:spLocks noGrp="1" noChangeArrowheads="1"/>
          </p:cNvSpPr>
          <p:nvPr>
            <p:ph type="sldNum" sz="quarter" idx="12"/>
          </p:nvPr>
        </p:nvSpPr>
        <p:spPr/>
        <p:txBody>
          <a:bodyPr/>
          <a:lstStyle>
            <a:lvl1pPr>
              <a:defRPr/>
            </a:lvl1pPr>
          </a:lstStyle>
          <a:p>
            <a:fld id="{AA39EAC4-3AA1-42A6-B948-4283D6938A58}" type="slidenum">
              <a:rPr lang="en-US" altLang="en-US" smtClean="0"/>
              <a:pPr/>
              <a:t>‹#›</a:t>
            </a:fld>
            <a:endParaRPr lang="en-US" altLang="en-US"/>
          </a:p>
        </p:txBody>
      </p:sp>
    </p:spTree>
    <p:extLst>
      <p:ext uri="{BB962C8B-B14F-4D97-AF65-F5344CB8AC3E}">
        <p14:creationId xmlns:p14="http://schemas.microsoft.com/office/powerpoint/2010/main" val="37470115"/>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 xmlns:a16="http://schemas.microsoft.com/office/drawing/2014/main" id="{A49DBB71-2CA9-4CBB-BD52-3A119F9E7281}"/>
              </a:ext>
            </a:extLst>
          </p:cNvPr>
          <p:cNvSpPr>
            <a:spLocks noGrp="1" noChangeArrowheads="1"/>
          </p:cNvSpPr>
          <p:nvPr>
            <p:ph type="dt" sz="half" idx="10"/>
          </p:nvPr>
        </p:nvSpPr>
        <p:spPr/>
        <p:txBody>
          <a:bodyPr/>
          <a:lstStyle>
            <a:lvl1pPr>
              <a:defRPr/>
            </a:lvl1pPr>
          </a:lstStyle>
          <a:p>
            <a:pPr>
              <a:defRPr/>
            </a:pPr>
            <a:fld id="{5A6C8145-8C50-4F3C-8ABF-068A5A785650}" type="datetime1">
              <a:rPr lang="en-US" smtClean="0"/>
              <a:pPr>
                <a:defRPr/>
              </a:pPr>
              <a:t>9/24/2024</a:t>
            </a:fld>
            <a:endParaRPr lang="en-US"/>
          </a:p>
        </p:txBody>
      </p:sp>
      <p:sp>
        <p:nvSpPr>
          <p:cNvPr id="3" name="Rectangle 10">
            <a:extLst>
              <a:ext uri="{FF2B5EF4-FFF2-40B4-BE49-F238E27FC236}">
                <a16:creationId xmlns="" xmlns:a16="http://schemas.microsoft.com/office/drawing/2014/main" id="{7D36E133-2D0E-43E0-9C11-F89F505DB296}"/>
              </a:ext>
            </a:extLst>
          </p:cNvPr>
          <p:cNvSpPr>
            <a:spLocks noGrp="1" noChangeArrowheads="1"/>
          </p:cNvSpPr>
          <p:nvPr>
            <p:ph type="ftr" sz="quarter" idx="11"/>
          </p:nvPr>
        </p:nvSpPr>
        <p:spPr/>
        <p:txBody>
          <a:bodyPr/>
          <a:lstStyle>
            <a:lvl1pPr>
              <a:defRPr/>
            </a:lvl1pPr>
          </a:lstStyle>
          <a:p>
            <a:pPr>
              <a:defRPr/>
            </a:pPr>
            <a:r>
              <a:rPr lang="en-US"/>
              <a:t>ThS Trần Quang Đạt</a:t>
            </a:r>
          </a:p>
        </p:txBody>
      </p:sp>
      <p:sp>
        <p:nvSpPr>
          <p:cNvPr id="4" name="Rectangle 11">
            <a:extLst>
              <a:ext uri="{FF2B5EF4-FFF2-40B4-BE49-F238E27FC236}">
                <a16:creationId xmlns="" xmlns:a16="http://schemas.microsoft.com/office/drawing/2014/main" id="{852B529A-32AE-427D-88ED-54E7D7388BED}"/>
              </a:ext>
            </a:extLst>
          </p:cNvPr>
          <p:cNvSpPr>
            <a:spLocks noGrp="1" noChangeArrowheads="1"/>
          </p:cNvSpPr>
          <p:nvPr>
            <p:ph type="sldNum" sz="quarter" idx="12"/>
          </p:nvPr>
        </p:nvSpPr>
        <p:spPr/>
        <p:txBody>
          <a:bodyPr/>
          <a:lstStyle>
            <a:lvl1pPr>
              <a:defRPr/>
            </a:lvl1pPr>
          </a:lstStyle>
          <a:p>
            <a:fld id="{B1805270-FBFD-4912-A913-68EDE64BE315}" type="slidenum">
              <a:rPr lang="en-US" altLang="en-US" smtClean="0"/>
              <a:pPr/>
              <a:t>‹#›</a:t>
            </a:fld>
            <a:endParaRPr lang="en-US" altLang="en-US"/>
          </a:p>
        </p:txBody>
      </p:sp>
    </p:spTree>
    <p:extLst>
      <p:ext uri="{BB962C8B-B14F-4D97-AF65-F5344CB8AC3E}">
        <p14:creationId xmlns:p14="http://schemas.microsoft.com/office/powerpoint/2010/main" val="3232665224"/>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a:extLst>
              <a:ext uri="{FF2B5EF4-FFF2-40B4-BE49-F238E27FC236}">
                <a16:creationId xmlns="" xmlns:a16="http://schemas.microsoft.com/office/drawing/2014/main" id="{2D13AEE4-7076-412C-928F-D06F671814E7}"/>
              </a:ext>
            </a:extLst>
          </p:cNvPr>
          <p:cNvSpPr>
            <a:spLocks noGrp="1" noChangeArrowheads="1"/>
          </p:cNvSpPr>
          <p:nvPr>
            <p:ph type="dt" sz="half" idx="10"/>
          </p:nvPr>
        </p:nvSpPr>
        <p:spPr/>
        <p:txBody>
          <a:bodyPr/>
          <a:lstStyle>
            <a:lvl1pPr>
              <a:defRPr/>
            </a:lvl1pPr>
          </a:lstStyle>
          <a:p>
            <a:pPr>
              <a:defRPr/>
            </a:pPr>
            <a:fld id="{C7B5F2A2-C9BF-4816-8A7B-29CC8451CE10}" type="datetime1">
              <a:rPr lang="en-US" smtClean="0"/>
              <a:pPr>
                <a:defRPr/>
              </a:pPr>
              <a:t>9/24/2024</a:t>
            </a:fld>
            <a:endParaRPr lang="en-US"/>
          </a:p>
        </p:txBody>
      </p:sp>
      <p:sp>
        <p:nvSpPr>
          <p:cNvPr id="6" name="Rectangle 10">
            <a:extLst>
              <a:ext uri="{FF2B5EF4-FFF2-40B4-BE49-F238E27FC236}">
                <a16:creationId xmlns="" xmlns:a16="http://schemas.microsoft.com/office/drawing/2014/main" id="{817EA96D-A672-41F2-8243-73841743F2A4}"/>
              </a:ext>
            </a:extLst>
          </p:cNvPr>
          <p:cNvSpPr>
            <a:spLocks noGrp="1" noChangeArrowheads="1"/>
          </p:cNvSpPr>
          <p:nvPr>
            <p:ph type="ftr" sz="quarter" idx="11"/>
          </p:nvPr>
        </p:nvSpPr>
        <p:spPr/>
        <p:txBody>
          <a:bodyPr/>
          <a:lstStyle>
            <a:lvl1pPr>
              <a:defRPr/>
            </a:lvl1pPr>
          </a:lstStyle>
          <a:p>
            <a:pPr>
              <a:defRPr/>
            </a:pPr>
            <a:r>
              <a:rPr lang="en-US"/>
              <a:t>ThS Trần Quang Đạt</a:t>
            </a:r>
          </a:p>
        </p:txBody>
      </p:sp>
      <p:sp>
        <p:nvSpPr>
          <p:cNvPr id="7" name="Rectangle 11">
            <a:extLst>
              <a:ext uri="{FF2B5EF4-FFF2-40B4-BE49-F238E27FC236}">
                <a16:creationId xmlns="" xmlns:a16="http://schemas.microsoft.com/office/drawing/2014/main" id="{A2C1E1C4-581E-4B03-8037-EFD0BC5806CF}"/>
              </a:ext>
            </a:extLst>
          </p:cNvPr>
          <p:cNvSpPr>
            <a:spLocks noGrp="1" noChangeArrowheads="1"/>
          </p:cNvSpPr>
          <p:nvPr>
            <p:ph type="sldNum" sz="quarter" idx="12"/>
          </p:nvPr>
        </p:nvSpPr>
        <p:spPr/>
        <p:txBody>
          <a:bodyPr/>
          <a:lstStyle>
            <a:lvl1pPr>
              <a:defRPr/>
            </a:lvl1pPr>
          </a:lstStyle>
          <a:p>
            <a:fld id="{0304698F-277B-44D4-A904-154E9919F56A}" type="slidenum">
              <a:rPr lang="en-US" altLang="en-US" smtClean="0"/>
              <a:pPr/>
              <a:t>‹#›</a:t>
            </a:fld>
            <a:endParaRPr lang="en-US" altLang="en-US"/>
          </a:p>
        </p:txBody>
      </p:sp>
    </p:spTree>
    <p:extLst>
      <p:ext uri="{BB962C8B-B14F-4D97-AF65-F5344CB8AC3E}">
        <p14:creationId xmlns:p14="http://schemas.microsoft.com/office/powerpoint/2010/main" val="218043266"/>
      </p:ext>
    </p:extLst>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a:extLst>
              <a:ext uri="{FF2B5EF4-FFF2-40B4-BE49-F238E27FC236}">
                <a16:creationId xmlns="" xmlns:a16="http://schemas.microsoft.com/office/drawing/2014/main" id="{3FA94CC4-FBB3-47B1-A163-2487C3442565}"/>
              </a:ext>
            </a:extLst>
          </p:cNvPr>
          <p:cNvSpPr>
            <a:spLocks noGrp="1" noChangeArrowheads="1"/>
          </p:cNvSpPr>
          <p:nvPr>
            <p:ph type="dt" sz="half" idx="10"/>
          </p:nvPr>
        </p:nvSpPr>
        <p:spPr/>
        <p:txBody>
          <a:bodyPr/>
          <a:lstStyle>
            <a:lvl1pPr>
              <a:defRPr/>
            </a:lvl1pPr>
          </a:lstStyle>
          <a:p>
            <a:pPr>
              <a:defRPr/>
            </a:pPr>
            <a:fld id="{F16A6AC6-538F-4A05-96A1-A47E2A738582}" type="datetime1">
              <a:rPr lang="en-US" smtClean="0"/>
              <a:pPr>
                <a:defRPr/>
              </a:pPr>
              <a:t>9/24/2024</a:t>
            </a:fld>
            <a:endParaRPr lang="en-US"/>
          </a:p>
        </p:txBody>
      </p:sp>
      <p:sp>
        <p:nvSpPr>
          <p:cNvPr id="6" name="Rectangle 10">
            <a:extLst>
              <a:ext uri="{FF2B5EF4-FFF2-40B4-BE49-F238E27FC236}">
                <a16:creationId xmlns="" xmlns:a16="http://schemas.microsoft.com/office/drawing/2014/main" id="{0ED036E7-6D0C-45D4-B7D1-EB2F30678E62}"/>
              </a:ext>
            </a:extLst>
          </p:cNvPr>
          <p:cNvSpPr>
            <a:spLocks noGrp="1" noChangeArrowheads="1"/>
          </p:cNvSpPr>
          <p:nvPr>
            <p:ph type="ftr" sz="quarter" idx="11"/>
          </p:nvPr>
        </p:nvSpPr>
        <p:spPr/>
        <p:txBody>
          <a:bodyPr/>
          <a:lstStyle>
            <a:lvl1pPr>
              <a:defRPr/>
            </a:lvl1pPr>
          </a:lstStyle>
          <a:p>
            <a:pPr>
              <a:defRPr/>
            </a:pPr>
            <a:r>
              <a:rPr lang="en-US"/>
              <a:t>ThS Trần Quang Đạt</a:t>
            </a:r>
          </a:p>
        </p:txBody>
      </p:sp>
      <p:sp>
        <p:nvSpPr>
          <p:cNvPr id="7" name="Rectangle 11">
            <a:extLst>
              <a:ext uri="{FF2B5EF4-FFF2-40B4-BE49-F238E27FC236}">
                <a16:creationId xmlns="" xmlns:a16="http://schemas.microsoft.com/office/drawing/2014/main" id="{5AEBE613-37E0-4857-B358-2B1C2DF19FDE}"/>
              </a:ext>
            </a:extLst>
          </p:cNvPr>
          <p:cNvSpPr>
            <a:spLocks noGrp="1" noChangeArrowheads="1"/>
          </p:cNvSpPr>
          <p:nvPr>
            <p:ph type="sldNum" sz="quarter" idx="12"/>
          </p:nvPr>
        </p:nvSpPr>
        <p:spPr/>
        <p:txBody>
          <a:bodyPr/>
          <a:lstStyle>
            <a:lvl1pPr>
              <a:defRPr/>
            </a:lvl1pPr>
          </a:lstStyle>
          <a:p>
            <a:fld id="{AC729634-3126-46F8-A42C-BC373A1CC8E4}" type="slidenum">
              <a:rPr lang="en-US" altLang="en-US" smtClean="0"/>
              <a:pPr/>
              <a:t>‹#›</a:t>
            </a:fld>
            <a:endParaRPr lang="en-US" altLang="en-US"/>
          </a:p>
        </p:txBody>
      </p:sp>
    </p:spTree>
    <p:extLst>
      <p:ext uri="{BB962C8B-B14F-4D97-AF65-F5344CB8AC3E}">
        <p14:creationId xmlns:p14="http://schemas.microsoft.com/office/powerpoint/2010/main" val="2412175680"/>
      </p:ext>
    </p:extLst>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 xmlns:a16="http://schemas.microsoft.com/office/drawing/2014/main" id="{4AE74E13-BECF-4B91-B755-60B07FD2C4E6}"/>
              </a:ext>
            </a:extLst>
          </p:cNvPr>
          <p:cNvSpPr>
            <a:spLocks noGrp="1" noChangeArrowheads="1"/>
          </p:cNvSpPr>
          <p:nvPr>
            <p:ph type="dt" sz="half" idx="10"/>
          </p:nvPr>
        </p:nvSpPr>
        <p:spPr/>
        <p:txBody>
          <a:bodyPr/>
          <a:lstStyle>
            <a:lvl1pPr>
              <a:defRPr/>
            </a:lvl1pPr>
          </a:lstStyle>
          <a:p>
            <a:pPr>
              <a:defRPr/>
            </a:pPr>
            <a:fld id="{79908305-F64B-4D0E-98C9-3D3B57EEC724}" type="datetime1">
              <a:rPr lang="en-US" smtClean="0"/>
              <a:pPr>
                <a:defRPr/>
              </a:pPr>
              <a:t>9/24/2024</a:t>
            </a:fld>
            <a:endParaRPr lang="en-US"/>
          </a:p>
        </p:txBody>
      </p:sp>
      <p:sp>
        <p:nvSpPr>
          <p:cNvPr id="5" name="Rectangle 10">
            <a:extLst>
              <a:ext uri="{FF2B5EF4-FFF2-40B4-BE49-F238E27FC236}">
                <a16:creationId xmlns="" xmlns:a16="http://schemas.microsoft.com/office/drawing/2014/main" id="{67592D63-E75E-4DDD-9C73-5DC4684F16B1}"/>
              </a:ext>
            </a:extLst>
          </p:cNvPr>
          <p:cNvSpPr>
            <a:spLocks noGrp="1" noChangeArrowheads="1"/>
          </p:cNvSpPr>
          <p:nvPr>
            <p:ph type="ftr" sz="quarter" idx="11"/>
          </p:nvPr>
        </p:nvSpPr>
        <p:spPr/>
        <p:txBody>
          <a:bodyPr/>
          <a:lstStyle>
            <a:lvl1pPr>
              <a:defRPr/>
            </a:lvl1pPr>
          </a:lstStyle>
          <a:p>
            <a:pPr>
              <a:defRPr/>
            </a:pPr>
            <a:r>
              <a:rPr lang="en-US"/>
              <a:t>ThS Trần Quang Đạt</a:t>
            </a:r>
          </a:p>
        </p:txBody>
      </p:sp>
      <p:sp>
        <p:nvSpPr>
          <p:cNvPr id="6" name="Rectangle 11">
            <a:extLst>
              <a:ext uri="{FF2B5EF4-FFF2-40B4-BE49-F238E27FC236}">
                <a16:creationId xmlns="" xmlns:a16="http://schemas.microsoft.com/office/drawing/2014/main" id="{3D81FCCD-C028-44DC-9FA9-B0A9FCA6006D}"/>
              </a:ext>
            </a:extLst>
          </p:cNvPr>
          <p:cNvSpPr>
            <a:spLocks noGrp="1" noChangeArrowheads="1"/>
          </p:cNvSpPr>
          <p:nvPr>
            <p:ph type="sldNum" sz="quarter" idx="12"/>
          </p:nvPr>
        </p:nvSpPr>
        <p:spPr/>
        <p:txBody>
          <a:bodyPr/>
          <a:lstStyle>
            <a:lvl1pPr>
              <a:defRPr/>
            </a:lvl1pPr>
          </a:lstStyle>
          <a:p>
            <a:fld id="{50C5AA76-CB34-4520-BD2F-CA67DB35D594}" type="slidenum">
              <a:rPr lang="en-US" altLang="en-US" smtClean="0"/>
              <a:pPr/>
              <a:t>‹#›</a:t>
            </a:fld>
            <a:endParaRPr lang="en-US" altLang="en-US"/>
          </a:p>
        </p:txBody>
      </p:sp>
    </p:spTree>
    <p:extLst>
      <p:ext uri="{BB962C8B-B14F-4D97-AF65-F5344CB8AC3E}">
        <p14:creationId xmlns:p14="http://schemas.microsoft.com/office/powerpoint/2010/main" val="875904779"/>
      </p:ext>
    </p:extLst>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277813"/>
            <a:ext cx="25908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19200" y="277813"/>
            <a:ext cx="75692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 xmlns:a16="http://schemas.microsoft.com/office/drawing/2014/main" id="{ABE7EF5D-17DC-40F7-9F1B-2768350D2FDD}"/>
              </a:ext>
            </a:extLst>
          </p:cNvPr>
          <p:cNvSpPr>
            <a:spLocks noGrp="1" noChangeArrowheads="1"/>
          </p:cNvSpPr>
          <p:nvPr>
            <p:ph type="dt" sz="half" idx="10"/>
          </p:nvPr>
        </p:nvSpPr>
        <p:spPr/>
        <p:txBody>
          <a:bodyPr/>
          <a:lstStyle>
            <a:lvl1pPr>
              <a:defRPr/>
            </a:lvl1pPr>
          </a:lstStyle>
          <a:p>
            <a:pPr>
              <a:defRPr/>
            </a:pPr>
            <a:fld id="{AA28F54A-51D6-434B-A695-B517B715A247}" type="datetime1">
              <a:rPr lang="en-US" smtClean="0"/>
              <a:pPr>
                <a:defRPr/>
              </a:pPr>
              <a:t>9/24/2024</a:t>
            </a:fld>
            <a:endParaRPr lang="en-US"/>
          </a:p>
        </p:txBody>
      </p:sp>
      <p:sp>
        <p:nvSpPr>
          <p:cNvPr id="5" name="Rectangle 10">
            <a:extLst>
              <a:ext uri="{FF2B5EF4-FFF2-40B4-BE49-F238E27FC236}">
                <a16:creationId xmlns="" xmlns:a16="http://schemas.microsoft.com/office/drawing/2014/main" id="{26B4C44D-B9CA-4131-BA10-FC20C804BD2D}"/>
              </a:ext>
            </a:extLst>
          </p:cNvPr>
          <p:cNvSpPr>
            <a:spLocks noGrp="1" noChangeArrowheads="1"/>
          </p:cNvSpPr>
          <p:nvPr>
            <p:ph type="ftr" sz="quarter" idx="11"/>
          </p:nvPr>
        </p:nvSpPr>
        <p:spPr/>
        <p:txBody>
          <a:bodyPr/>
          <a:lstStyle>
            <a:lvl1pPr>
              <a:defRPr/>
            </a:lvl1pPr>
          </a:lstStyle>
          <a:p>
            <a:pPr>
              <a:defRPr/>
            </a:pPr>
            <a:r>
              <a:rPr lang="en-US"/>
              <a:t>ThS Trần Quang Đạt</a:t>
            </a:r>
          </a:p>
        </p:txBody>
      </p:sp>
      <p:sp>
        <p:nvSpPr>
          <p:cNvPr id="6" name="Rectangle 11">
            <a:extLst>
              <a:ext uri="{FF2B5EF4-FFF2-40B4-BE49-F238E27FC236}">
                <a16:creationId xmlns="" xmlns:a16="http://schemas.microsoft.com/office/drawing/2014/main" id="{52A5395A-0D65-4079-A375-3B2EC2EDD18F}"/>
              </a:ext>
            </a:extLst>
          </p:cNvPr>
          <p:cNvSpPr>
            <a:spLocks noGrp="1" noChangeArrowheads="1"/>
          </p:cNvSpPr>
          <p:nvPr>
            <p:ph type="sldNum" sz="quarter" idx="12"/>
          </p:nvPr>
        </p:nvSpPr>
        <p:spPr/>
        <p:txBody>
          <a:bodyPr/>
          <a:lstStyle>
            <a:lvl1pPr>
              <a:defRPr/>
            </a:lvl1pPr>
          </a:lstStyle>
          <a:p>
            <a:fld id="{ED50160D-F9AD-4DC2-9E60-D34E2C0D7084}" type="slidenum">
              <a:rPr lang="en-US" altLang="en-US" smtClean="0"/>
              <a:pPr/>
              <a:t>‹#›</a:t>
            </a:fld>
            <a:endParaRPr lang="en-US" altLang="en-US"/>
          </a:p>
        </p:txBody>
      </p:sp>
    </p:spTree>
    <p:extLst>
      <p:ext uri="{BB962C8B-B14F-4D97-AF65-F5344CB8AC3E}">
        <p14:creationId xmlns:p14="http://schemas.microsoft.com/office/powerpoint/2010/main" val="3426209983"/>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 xmlns:a16="http://schemas.microsoft.com/office/drawing/2014/main" id="{053AAD41-62DC-4ED9-AF0F-6C0E5A25F257}"/>
              </a:ext>
            </a:extLst>
          </p:cNvPr>
          <p:cNvGrpSpPr>
            <a:grpSpLocks/>
          </p:cNvGrpSpPr>
          <p:nvPr/>
        </p:nvGrpSpPr>
        <p:grpSpPr bwMode="auto">
          <a:xfrm>
            <a:off x="0" y="0"/>
            <a:ext cx="11582400" cy="4876800"/>
            <a:chOff x="0" y="0"/>
            <a:chExt cx="5472" cy="3072"/>
          </a:xfrm>
        </p:grpSpPr>
        <p:sp>
          <p:nvSpPr>
            <p:cNvPr id="67587" name="Rectangle 3">
              <a:extLst>
                <a:ext uri="{FF2B5EF4-FFF2-40B4-BE49-F238E27FC236}">
                  <a16:creationId xmlns="" xmlns:a16="http://schemas.microsoft.com/office/drawing/2014/main" id="{B5025560-6722-4498-A43F-A0BB5EBD8874}"/>
                </a:ext>
              </a:extLst>
            </p:cNvPr>
            <p:cNvSpPr>
              <a:spLocks noChangeArrowheads="1"/>
            </p:cNvSpPr>
            <p:nvPr/>
          </p:nvSpPr>
          <p:spPr bwMode="auto">
            <a:xfrm>
              <a:off x="0" y="0"/>
              <a:ext cx="384" cy="3072"/>
            </a:xfrm>
            <a:prstGeom prst="rect">
              <a:avLst/>
            </a:prstGeom>
            <a:solidFill>
              <a:schemeClr val="accent1"/>
            </a:solidFill>
            <a:ln w="9525">
              <a:noFill/>
              <a:miter lim="800000"/>
              <a:headEnd/>
              <a:tailEnd/>
            </a:ln>
            <a:effectLst/>
          </p:spPr>
          <p:txBody>
            <a:bodyPr wrap="none" anchor="ctr"/>
            <a:lstStyle/>
            <a:p>
              <a:pPr algn="ctr">
                <a:defRPr/>
              </a:pPr>
              <a:endParaRPr lang="en-US" sz="2400">
                <a:latin typeface="Times New Roman" pitchFamily="18" charset="0"/>
              </a:endParaRPr>
            </a:p>
          </p:txBody>
        </p:sp>
        <p:grpSp>
          <p:nvGrpSpPr>
            <p:cNvPr id="1034" name="Group 4">
              <a:extLst>
                <a:ext uri="{FF2B5EF4-FFF2-40B4-BE49-F238E27FC236}">
                  <a16:creationId xmlns="" xmlns:a16="http://schemas.microsoft.com/office/drawing/2014/main" id="{707933D8-AAE1-42EC-AAC1-37E8A6B3435F}"/>
                </a:ext>
              </a:extLst>
            </p:cNvPr>
            <p:cNvGrpSpPr>
              <a:grpSpLocks/>
            </p:cNvGrpSpPr>
            <p:nvPr/>
          </p:nvGrpSpPr>
          <p:grpSpPr bwMode="auto">
            <a:xfrm>
              <a:off x="240" y="893"/>
              <a:ext cx="5232" cy="115"/>
              <a:chOff x="240" y="893"/>
              <a:chExt cx="5232" cy="115"/>
            </a:xfrm>
          </p:grpSpPr>
          <p:sp>
            <p:nvSpPr>
              <p:cNvPr id="67589" name="Rectangle 5">
                <a:extLst>
                  <a:ext uri="{FF2B5EF4-FFF2-40B4-BE49-F238E27FC236}">
                    <a16:creationId xmlns="" xmlns:a16="http://schemas.microsoft.com/office/drawing/2014/main" id="{5FFD0218-4AA0-4CE2-BB47-9DD26881BB3B}"/>
                  </a:ext>
                </a:extLst>
              </p:cNvPr>
              <p:cNvSpPr>
                <a:spLocks noChangeArrowheads="1"/>
              </p:cNvSpPr>
              <p:nvPr/>
            </p:nvSpPr>
            <p:spPr bwMode="auto">
              <a:xfrm>
                <a:off x="4320" y="893"/>
                <a:ext cx="1152" cy="115"/>
              </a:xfrm>
              <a:prstGeom prst="rect">
                <a:avLst/>
              </a:prstGeom>
              <a:solidFill>
                <a:schemeClr val="folHlink"/>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67590" name="Line 6">
                <a:extLst>
                  <a:ext uri="{FF2B5EF4-FFF2-40B4-BE49-F238E27FC236}">
                    <a16:creationId xmlns="" xmlns:a16="http://schemas.microsoft.com/office/drawing/2014/main" id="{D059360A-6133-4C62-A560-4C9CA3BAAC0B}"/>
                  </a:ext>
                </a:extLst>
              </p:cNvPr>
              <p:cNvSpPr>
                <a:spLocks noChangeShapeType="1"/>
              </p:cNvSpPr>
              <p:nvPr/>
            </p:nvSpPr>
            <p:spPr bwMode="auto">
              <a:xfrm>
                <a:off x="240" y="941"/>
                <a:ext cx="5232" cy="0"/>
              </a:xfrm>
              <a:prstGeom prst="line">
                <a:avLst/>
              </a:prstGeom>
              <a:noFill/>
              <a:ln w="19050">
                <a:solidFill>
                  <a:schemeClr val="bg2"/>
                </a:solidFill>
                <a:round/>
                <a:headEnd/>
                <a:tailEnd/>
              </a:ln>
              <a:effectLst/>
            </p:spPr>
            <p:txBody>
              <a:bodyPr/>
              <a:lstStyle/>
              <a:p>
                <a:pPr>
                  <a:defRPr/>
                </a:pPr>
                <a:endParaRPr lang="en-US">
                  <a:latin typeface="Arial" charset="0"/>
                </a:endParaRPr>
              </a:p>
            </p:txBody>
          </p:sp>
        </p:grpSp>
      </p:grpSp>
      <p:sp>
        <p:nvSpPr>
          <p:cNvPr id="1027" name="Rectangle 7">
            <a:extLst>
              <a:ext uri="{FF2B5EF4-FFF2-40B4-BE49-F238E27FC236}">
                <a16:creationId xmlns="" xmlns:a16="http://schemas.microsoft.com/office/drawing/2014/main" id="{D2B3A176-FFCE-4544-96F2-1829A0E8D540}"/>
              </a:ext>
            </a:extLst>
          </p:cNvPr>
          <p:cNvSpPr>
            <a:spLocks noGrp="1" noChangeArrowheads="1"/>
          </p:cNvSpPr>
          <p:nvPr>
            <p:ph type="title"/>
          </p:nvPr>
        </p:nvSpPr>
        <p:spPr bwMode="auto">
          <a:xfrm>
            <a:off x="1828800" y="146294"/>
            <a:ext cx="9753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8" name="Rectangle 8">
            <a:extLst>
              <a:ext uri="{FF2B5EF4-FFF2-40B4-BE49-F238E27FC236}">
                <a16:creationId xmlns="" xmlns:a16="http://schemas.microsoft.com/office/drawing/2014/main" id="{81900452-5069-478D-BF24-D8F643C336D8}"/>
              </a:ext>
            </a:extLst>
          </p:cNvPr>
          <p:cNvSpPr>
            <a:spLocks noGrp="1" noChangeArrowheads="1"/>
          </p:cNvSpPr>
          <p:nvPr>
            <p:ph type="body" idx="1"/>
          </p:nvPr>
        </p:nvSpPr>
        <p:spPr bwMode="auto">
          <a:xfrm>
            <a:off x="1219200" y="1600201"/>
            <a:ext cx="103632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7593" name="Rectangle 9">
            <a:extLst>
              <a:ext uri="{FF2B5EF4-FFF2-40B4-BE49-F238E27FC236}">
                <a16:creationId xmlns="" xmlns:a16="http://schemas.microsoft.com/office/drawing/2014/main" id="{856FEB0C-5960-4D74-8BF3-C1430C3BB8C1}"/>
              </a:ext>
            </a:extLst>
          </p:cNvPr>
          <p:cNvSpPr>
            <a:spLocks noGrp="1" noChangeArrowheads="1"/>
          </p:cNvSpPr>
          <p:nvPr>
            <p:ph type="dt" sz="half" idx="2"/>
          </p:nvPr>
        </p:nvSpPr>
        <p:spPr bwMode="auto">
          <a:xfrm>
            <a:off x="1219200" y="6251575"/>
            <a:ext cx="2641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defRPr>
            </a:lvl1pPr>
          </a:lstStyle>
          <a:p>
            <a:pPr>
              <a:defRPr/>
            </a:pPr>
            <a:fld id="{00C362C7-D0ED-4CC6-92E3-C3F0A3593252}" type="datetime1">
              <a:rPr lang="en-US" smtClean="0"/>
              <a:pPr>
                <a:defRPr/>
              </a:pPr>
              <a:t>9/24/2024</a:t>
            </a:fld>
            <a:endParaRPr lang="en-US"/>
          </a:p>
        </p:txBody>
      </p:sp>
      <p:sp>
        <p:nvSpPr>
          <p:cNvPr id="67594" name="Rectangle 10">
            <a:extLst>
              <a:ext uri="{FF2B5EF4-FFF2-40B4-BE49-F238E27FC236}">
                <a16:creationId xmlns="" xmlns:a16="http://schemas.microsoft.com/office/drawing/2014/main" id="{53347262-4F7C-4A99-95E9-2E95858BBC01}"/>
              </a:ext>
            </a:extLst>
          </p:cNvPr>
          <p:cNvSpPr>
            <a:spLocks noGrp="1" noChangeArrowheads="1"/>
          </p:cNvSpPr>
          <p:nvPr>
            <p:ph type="ftr" sz="quarter" idx="3"/>
          </p:nvPr>
        </p:nvSpPr>
        <p:spPr bwMode="auto">
          <a:xfrm>
            <a:off x="4470400" y="6248400"/>
            <a:ext cx="3962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defRPr>
            </a:lvl1pPr>
          </a:lstStyle>
          <a:p>
            <a:pPr>
              <a:defRPr/>
            </a:pPr>
            <a:r>
              <a:rPr lang="en-US"/>
              <a:t>ThS Trần Quang Đạt</a:t>
            </a:r>
          </a:p>
        </p:txBody>
      </p:sp>
      <p:sp>
        <p:nvSpPr>
          <p:cNvPr id="67595" name="Rectangle 11">
            <a:extLst>
              <a:ext uri="{FF2B5EF4-FFF2-40B4-BE49-F238E27FC236}">
                <a16:creationId xmlns="" xmlns:a16="http://schemas.microsoft.com/office/drawing/2014/main" id="{29DAB07C-8E22-49D4-ABEE-04E951BB06A2}"/>
              </a:ext>
            </a:extLst>
          </p:cNvPr>
          <p:cNvSpPr>
            <a:spLocks noGrp="1" noChangeArrowheads="1"/>
          </p:cNvSpPr>
          <p:nvPr>
            <p:ph type="sldNum" sz="quarter" idx="4"/>
          </p:nvPr>
        </p:nvSpPr>
        <p:spPr bwMode="auto">
          <a:xfrm>
            <a:off x="9042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19AB3E3A-0919-47CF-8A0C-775F36732DF2}" type="slidenum">
              <a:rPr lang="en-US" altLang="en-US" smtClean="0"/>
              <a:pPr/>
              <a:t>‹#›</a:t>
            </a:fld>
            <a:endParaRPr lang="en-US" altLang="en-US"/>
          </a:p>
        </p:txBody>
      </p:sp>
      <p:sp>
        <p:nvSpPr>
          <p:cNvPr id="67596" name="Line 12">
            <a:extLst>
              <a:ext uri="{FF2B5EF4-FFF2-40B4-BE49-F238E27FC236}">
                <a16:creationId xmlns="" xmlns:a16="http://schemas.microsoft.com/office/drawing/2014/main" id="{1E09899F-C9E4-470E-8D5C-48DCD8E2DC26}"/>
              </a:ext>
            </a:extLst>
          </p:cNvPr>
          <p:cNvSpPr>
            <a:spLocks noChangeShapeType="1"/>
          </p:cNvSpPr>
          <p:nvPr/>
        </p:nvSpPr>
        <p:spPr bwMode="auto">
          <a:xfrm>
            <a:off x="0" y="4876800"/>
            <a:ext cx="812800" cy="0"/>
          </a:xfrm>
          <a:prstGeom prst="line">
            <a:avLst/>
          </a:prstGeom>
          <a:noFill/>
          <a:ln w="44450">
            <a:solidFill>
              <a:schemeClr val="bg2"/>
            </a:solidFill>
            <a:round/>
            <a:headEnd/>
            <a:tailEnd/>
          </a:ln>
          <a:effectLst/>
        </p:spPr>
        <p:txBody>
          <a:bodyPr/>
          <a:lstStyle/>
          <a:p>
            <a:pPr>
              <a:defRPr/>
            </a:pPr>
            <a:endParaRPr lang="en-US">
              <a:latin typeface="Arial" charset="0"/>
            </a:endParaRPr>
          </a:p>
        </p:txBody>
      </p:sp>
    </p:spTree>
    <p:extLst>
      <p:ext uri="{BB962C8B-B14F-4D97-AF65-F5344CB8AC3E}">
        <p14:creationId xmlns:p14="http://schemas.microsoft.com/office/powerpoint/2010/main" val="515541611"/>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ransition>
    <p:zoom/>
  </p:transition>
  <p:hf hdr="0" ftr="0" dt="0"/>
  <p:txStyles>
    <p:titleStyle>
      <a:lvl1pPr algn="l" rtl="0" eaLnBrk="1" fontAlgn="base" hangingPunct="1">
        <a:spcBef>
          <a:spcPct val="0"/>
        </a:spcBef>
        <a:spcAft>
          <a:spcPct val="0"/>
        </a:spcAft>
        <a:defRPr sz="4000" b="1">
          <a:solidFill>
            <a:schemeClr val="tx2"/>
          </a:solidFill>
          <a:latin typeface="+mj-lt"/>
          <a:ea typeface="+mj-ea"/>
          <a:cs typeface="+mj-cs"/>
        </a:defRPr>
      </a:lvl1pPr>
      <a:lvl2pPr algn="l" rtl="0" eaLnBrk="1" fontAlgn="base" hangingPunct="1">
        <a:spcBef>
          <a:spcPct val="0"/>
        </a:spcBef>
        <a:spcAft>
          <a:spcPct val="0"/>
        </a:spcAft>
        <a:defRPr sz="4200">
          <a:solidFill>
            <a:schemeClr val="tx2"/>
          </a:solidFill>
          <a:latin typeface="Times New Roman" pitchFamily="18" charset="0"/>
        </a:defRPr>
      </a:lvl2pPr>
      <a:lvl3pPr algn="l" rtl="0" eaLnBrk="1" fontAlgn="base" hangingPunct="1">
        <a:spcBef>
          <a:spcPct val="0"/>
        </a:spcBef>
        <a:spcAft>
          <a:spcPct val="0"/>
        </a:spcAft>
        <a:defRPr sz="4200">
          <a:solidFill>
            <a:schemeClr val="tx2"/>
          </a:solidFill>
          <a:latin typeface="Times New Roman" pitchFamily="18" charset="0"/>
        </a:defRPr>
      </a:lvl3pPr>
      <a:lvl4pPr algn="l" rtl="0" eaLnBrk="1" fontAlgn="base" hangingPunct="1">
        <a:spcBef>
          <a:spcPct val="0"/>
        </a:spcBef>
        <a:spcAft>
          <a:spcPct val="0"/>
        </a:spcAft>
        <a:defRPr sz="4200">
          <a:solidFill>
            <a:schemeClr val="tx2"/>
          </a:solidFill>
          <a:latin typeface="Times New Roman" pitchFamily="18" charset="0"/>
        </a:defRPr>
      </a:lvl4pPr>
      <a:lvl5pPr algn="l" rtl="0" eaLnBrk="1" fontAlgn="base" hangingPunct="1">
        <a:spcBef>
          <a:spcPct val="0"/>
        </a:spcBef>
        <a:spcAft>
          <a:spcPct val="0"/>
        </a:spcAft>
        <a:defRPr sz="4200">
          <a:solidFill>
            <a:schemeClr val="tx2"/>
          </a:solidFill>
          <a:latin typeface="Times New Roman" pitchFamily="18" charset="0"/>
        </a:defRPr>
      </a:lvl5pPr>
      <a:lvl6pPr marL="457200" algn="l" rtl="0" eaLnBrk="1" fontAlgn="base" hangingPunct="1">
        <a:spcBef>
          <a:spcPct val="0"/>
        </a:spcBef>
        <a:spcAft>
          <a:spcPct val="0"/>
        </a:spcAft>
        <a:defRPr sz="4200">
          <a:solidFill>
            <a:schemeClr val="tx2"/>
          </a:solidFill>
          <a:latin typeface="Times New Roman" pitchFamily="18" charset="0"/>
        </a:defRPr>
      </a:lvl6pPr>
      <a:lvl7pPr marL="914400" algn="l" rtl="0" eaLnBrk="1" fontAlgn="base" hangingPunct="1">
        <a:spcBef>
          <a:spcPct val="0"/>
        </a:spcBef>
        <a:spcAft>
          <a:spcPct val="0"/>
        </a:spcAft>
        <a:defRPr sz="4200">
          <a:solidFill>
            <a:schemeClr val="tx2"/>
          </a:solidFill>
          <a:latin typeface="Times New Roman" pitchFamily="18" charset="0"/>
        </a:defRPr>
      </a:lvl7pPr>
      <a:lvl8pPr marL="1371600" algn="l" rtl="0" eaLnBrk="1" fontAlgn="base" hangingPunct="1">
        <a:spcBef>
          <a:spcPct val="0"/>
        </a:spcBef>
        <a:spcAft>
          <a:spcPct val="0"/>
        </a:spcAft>
        <a:defRPr sz="4200">
          <a:solidFill>
            <a:schemeClr val="tx2"/>
          </a:solidFill>
          <a:latin typeface="Times New Roman" pitchFamily="18" charset="0"/>
        </a:defRPr>
      </a:lvl8pPr>
      <a:lvl9pPr marL="1828800" algn="l" rtl="0" eaLnBrk="1" fontAlgn="base" hangingPunct="1">
        <a:spcBef>
          <a:spcPct val="0"/>
        </a:spcBef>
        <a:spcAft>
          <a:spcPct val="0"/>
        </a:spcAft>
        <a:defRPr sz="4200">
          <a:solidFill>
            <a:schemeClr val="tx2"/>
          </a:solidFill>
          <a:latin typeface="Times New Roman" pitchFamily="18" charset="0"/>
        </a:defRPr>
      </a:lvl9pPr>
    </p:titleStyle>
    <p:bodyStyle>
      <a:lvl1pPr marL="342900" indent="-342900" algn="just" rtl="0" eaLnBrk="1" fontAlgn="base" hangingPunct="1">
        <a:lnSpc>
          <a:spcPct val="120000"/>
        </a:lnSpc>
        <a:spcBef>
          <a:spcPts val="0"/>
        </a:spcBef>
        <a:spcAft>
          <a:spcPct val="0"/>
        </a:spcAft>
        <a:buClr>
          <a:schemeClr val="folHlink"/>
        </a:buClr>
        <a:buSzPct val="90000"/>
        <a:buFont typeface="Wingdings" panose="05000000000000000000" pitchFamily="2" charset="2"/>
        <a:buChar char="n"/>
        <a:defRPr sz="2800" b="1">
          <a:solidFill>
            <a:schemeClr val="tx1"/>
          </a:solidFill>
          <a:latin typeface="+mj-lt"/>
          <a:ea typeface="+mn-ea"/>
          <a:cs typeface="+mn-cs"/>
        </a:defRPr>
      </a:lvl1pPr>
      <a:lvl2pPr marL="742950" indent="-285750" algn="just" rtl="0" eaLnBrk="1" fontAlgn="base" hangingPunct="1">
        <a:lnSpc>
          <a:spcPct val="120000"/>
        </a:lnSpc>
        <a:spcBef>
          <a:spcPts val="0"/>
        </a:spcBef>
        <a:spcAft>
          <a:spcPct val="0"/>
        </a:spcAft>
        <a:buClr>
          <a:schemeClr val="accent1"/>
        </a:buClr>
        <a:buSzPct val="75000"/>
        <a:buFont typeface="Wingdings" panose="05000000000000000000" pitchFamily="2" charset="2"/>
        <a:buChar char="n"/>
        <a:defRPr sz="2600" b="1">
          <a:solidFill>
            <a:schemeClr val="tx1"/>
          </a:solidFill>
          <a:latin typeface="+mj-lt"/>
        </a:defRPr>
      </a:lvl2pPr>
      <a:lvl3pPr marL="1143000" indent="-228600" algn="just" rtl="0" eaLnBrk="1" fontAlgn="base" hangingPunct="1">
        <a:lnSpc>
          <a:spcPct val="120000"/>
        </a:lnSpc>
        <a:spcBef>
          <a:spcPts val="0"/>
        </a:spcBef>
        <a:spcAft>
          <a:spcPct val="0"/>
        </a:spcAft>
        <a:buClr>
          <a:schemeClr val="folHlink"/>
        </a:buClr>
        <a:buSzPct val="55000"/>
        <a:buFont typeface="Wingdings" panose="05000000000000000000" pitchFamily="2" charset="2"/>
        <a:buChar char="n"/>
        <a:defRPr sz="2300" b="1">
          <a:solidFill>
            <a:schemeClr val="tx1"/>
          </a:solidFill>
          <a:latin typeface="+mj-lt"/>
        </a:defRPr>
      </a:lvl3pPr>
      <a:lvl4pPr marL="1600200" indent="-228600" algn="just" rtl="0" eaLnBrk="1" fontAlgn="base" hangingPunct="1">
        <a:lnSpc>
          <a:spcPct val="120000"/>
        </a:lnSpc>
        <a:spcBef>
          <a:spcPts val="0"/>
        </a:spcBef>
        <a:spcAft>
          <a:spcPct val="0"/>
        </a:spcAft>
        <a:buClr>
          <a:schemeClr val="accent1"/>
        </a:buClr>
        <a:buFont typeface="Wingdings" panose="05000000000000000000" pitchFamily="2" charset="2"/>
        <a:buChar char="§"/>
        <a:defRPr sz="2000" b="1">
          <a:solidFill>
            <a:schemeClr val="tx1"/>
          </a:solidFill>
          <a:latin typeface="+mj-lt"/>
        </a:defRPr>
      </a:lvl4pPr>
      <a:lvl5pPr marL="2057400" indent="-228600" algn="just" rtl="0" eaLnBrk="1" fontAlgn="base" hangingPunct="1">
        <a:lnSpc>
          <a:spcPct val="120000"/>
        </a:lnSpc>
        <a:spcBef>
          <a:spcPts val="0"/>
        </a:spcBef>
        <a:spcAft>
          <a:spcPct val="0"/>
        </a:spcAft>
        <a:buClr>
          <a:schemeClr val="accent1"/>
        </a:buClr>
        <a:buFont typeface="Wingdings" panose="05000000000000000000" pitchFamily="2" charset="2"/>
        <a:buChar char="§"/>
        <a:defRPr sz="2000" b="1">
          <a:solidFill>
            <a:schemeClr val="tx1"/>
          </a:solidFill>
          <a:latin typeface="+mj-lt"/>
        </a:defRPr>
      </a:lvl5pPr>
      <a:lvl6pPr marL="25146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075" name="Rectangle 5">
            <a:extLst>
              <a:ext uri="{FF2B5EF4-FFF2-40B4-BE49-F238E27FC236}">
                <a16:creationId xmlns="" xmlns:a16="http://schemas.microsoft.com/office/drawing/2014/main" id="{F0AB9152-B850-4C1A-987B-38C50FC6E963}"/>
              </a:ext>
            </a:extLst>
          </p:cNvPr>
          <p:cNvSpPr>
            <a:spLocks noGrp="1" noChangeArrowheads="1"/>
          </p:cNvSpPr>
          <p:nvPr>
            <p:ph type="ctrTitle"/>
          </p:nvPr>
        </p:nvSpPr>
        <p:spPr>
          <a:xfrm>
            <a:off x="1638300" y="2438400"/>
            <a:ext cx="8915400" cy="1981200"/>
          </a:xfrm>
        </p:spPr>
        <p:txBody>
          <a:bodyPr/>
          <a:lstStyle/>
          <a:p>
            <a:pPr algn="ctr" eaLnBrk="1" hangingPunct="1">
              <a:defRPr/>
            </a:pPr>
            <a:r>
              <a:rPr lang="vi-VN" sz="2900" dirty="0" smtClean="0">
                <a:solidFill>
                  <a:schemeClr val="bg1"/>
                </a:solidFill>
                <a:effectLst>
                  <a:outerShdw blurRad="38100" dist="38100" dir="2700000" algn="tl">
                    <a:srgbClr val="000000">
                      <a:alpha val="43137"/>
                    </a:srgbClr>
                  </a:outerShdw>
                </a:effectLst>
                <a:cs typeface="Times New Roman" pitchFamily="18" charset="0"/>
              </a:rPr>
              <a:t>TRÊN </a:t>
            </a:r>
            <a:r>
              <a:rPr lang="vi-VN" sz="2900" dirty="0">
                <a:solidFill>
                  <a:schemeClr val="bg1"/>
                </a:solidFill>
                <a:effectLst>
                  <a:outerShdw blurRad="38100" dist="38100" dir="2700000" algn="tl">
                    <a:srgbClr val="000000">
                      <a:alpha val="43137"/>
                    </a:srgbClr>
                  </a:outerShdw>
                </a:effectLst>
                <a:cs typeface="Times New Roman" pitchFamily="18" charset="0"/>
              </a:rPr>
              <a:t>THỊ TRƯỜNG CHỨNG </a:t>
            </a:r>
            <a:r>
              <a:rPr lang="vi-VN" sz="2900" dirty="0" smtClean="0">
                <a:solidFill>
                  <a:schemeClr val="bg1"/>
                </a:solidFill>
                <a:effectLst>
                  <a:outerShdw blurRad="38100" dist="38100" dir="2700000" algn="tl">
                    <a:srgbClr val="000000">
                      <a:alpha val="43137"/>
                    </a:srgbClr>
                  </a:outerShdw>
                </a:effectLst>
                <a:cs typeface="Times New Roman" pitchFamily="18" charset="0"/>
              </a:rPr>
              <a:t>KHOÁN</a:t>
            </a:r>
            <a:r>
              <a:rPr lang="en-US" sz="2900" dirty="0" smtClean="0">
                <a:solidFill>
                  <a:schemeClr val="bg1"/>
                </a:solidFill>
                <a:effectLst>
                  <a:outerShdw blurRad="38100" dist="38100" dir="2700000" algn="tl">
                    <a:srgbClr val="000000">
                      <a:alpha val="43137"/>
                    </a:srgbClr>
                  </a:outerShdw>
                </a:effectLst>
                <a:cs typeface="Times New Roman" pitchFamily="18" charset="0"/>
              </a:rPr>
              <a:t> SƠ CẤP</a:t>
            </a:r>
            <a:endParaRPr lang="vi-VN" sz="2900" dirty="0">
              <a:solidFill>
                <a:schemeClr val="bg1"/>
              </a:solidFill>
              <a:effectLst>
                <a:outerShdw blurRad="38100" dist="38100" dir="2700000" algn="tl">
                  <a:srgbClr val="000000">
                    <a:alpha val="43137"/>
                  </a:srgbClr>
                </a:outerShdw>
              </a:effectLst>
              <a:cs typeface="Times New Roman" pitchFamily="18" charset="0"/>
            </a:endParaRPr>
          </a:p>
        </p:txBody>
      </p:sp>
      <p:sp>
        <p:nvSpPr>
          <p:cNvPr id="13314" name="Rectangle 15">
            <a:extLst>
              <a:ext uri="{FF2B5EF4-FFF2-40B4-BE49-F238E27FC236}">
                <a16:creationId xmlns="" xmlns:a16="http://schemas.microsoft.com/office/drawing/2014/main" id="{500CB450-479A-45CA-AE90-4699A26C07F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6AC3E9-D779-46B1-87CD-60B05AF7BE3C}" type="slidenum">
              <a:rPr lang="en-US" altLang="en-US"/>
              <a:pPr eaLnBrk="1" hangingPunct="1"/>
              <a:t>1</a:t>
            </a:fld>
            <a:endParaRPr lang="en-US" altLang="en-US"/>
          </a:p>
        </p:txBody>
      </p:sp>
      <p:graphicFrame>
        <p:nvGraphicFramePr>
          <p:cNvPr id="5" name="Table 4">
            <a:extLst>
              <a:ext uri="{FF2B5EF4-FFF2-40B4-BE49-F238E27FC236}">
                <a16:creationId xmlns="" xmlns:a16="http://schemas.microsoft.com/office/drawing/2014/main" id="{52C6B955-9425-4F1E-9ADF-2055F6019623}"/>
              </a:ext>
            </a:extLst>
          </p:cNvPr>
          <p:cNvGraphicFramePr>
            <a:graphicFrameLocks noGrp="1"/>
          </p:cNvGraphicFramePr>
          <p:nvPr>
            <p:extLst>
              <p:ext uri="{D42A27DB-BD31-4B8C-83A1-F6EECF244321}">
                <p14:modId xmlns:p14="http://schemas.microsoft.com/office/powerpoint/2010/main" val="1547979113"/>
              </p:ext>
            </p:extLst>
          </p:nvPr>
        </p:nvGraphicFramePr>
        <p:xfrm>
          <a:off x="3071664" y="4149080"/>
          <a:ext cx="6408712" cy="1189038"/>
        </p:xfrm>
        <a:graphic>
          <a:graphicData uri="http://schemas.openxmlformats.org/drawingml/2006/table">
            <a:tbl>
              <a:tblPr firstRow="1" bandRow="1">
                <a:tableStyleId>{2D5ABB26-0587-4C30-8999-92F81FD0307C}</a:tableStyleId>
              </a:tblPr>
              <a:tblGrid>
                <a:gridCol w="2467090">
                  <a:extLst>
                    <a:ext uri="{9D8B030D-6E8A-4147-A177-3AD203B41FA5}">
                      <a16:colId xmlns="" xmlns:a16="http://schemas.microsoft.com/office/drawing/2014/main" val="20000"/>
                    </a:ext>
                  </a:extLst>
                </a:gridCol>
                <a:gridCol w="3941622">
                  <a:extLst>
                    <a:ext uri="{9D8B030D-6E8A-4147-A177-3AD203B41FA5}">
                      <a16:colId xmlns="" xmlns:a16="http://schemas.microsoft.com/office/drawing/2014/main" val="20001"/>
                    </a:ext>
                  </a:extLst>
                </a:gridCol>
              </a:tblGrid>
              <a:tr h="396346">
                <a:tc>
                  <a:txBody>
                    <a:bodyPr/>
                    <a:lstStyle/>
                    <a:p>
                      <a:pPr algn="r"/>
                      <a:r>
                        <a:rPr lang="en-US" sz="2000" b="1" dirty="0" err="1">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Người</a:t>
                      </a:r>
                      <a:r>
                        <a:rPr lang="en-US" sz="2000" b="1" baseline="0"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000" b="1" baseline="0" dirty="0" err="1">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trình</a:t>
                      </a:r>
                      <a:r>
                        <a:rPr lang="en-US" sz="2000" b="1" baseline="0"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000" b="1" baseline="0" dirty="0" err="1">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bày</a:t>
                      </a:r>
                      <a:r>
                        <a:rPr lang="en-US" sz="2000" b="1" baseline="0"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a:t>
                      </a:r>
                      <a:endParaRPr lang="en-US" sz="2000" dirty="0">
                        <a:solidFill>
                          <a:schemeClr val="bg1"/>
                        </a:solidFill>
                        <a:effectLst>
                          <a:outerShdw blurRad="38100" dist="38100" dir="2700000" algn="tl">
                            <a:srgbClr val="000000">
                              <a:alpha val="43137"/>
                            </a:srgbClr>
                          </a:outerShdw>
                        </a:effectLst>
                      </a:endParaRPr>
                    </a:p>
                  </a:txBody>
                  <a:tcPr marL="91442" marR="91442" marT="45732" marB="45732">
                    <a:lnL>
                      <a:noFill/>
                    </a:lnL>
                    <a:lnR>
                      <a:noFill/>
                    </a:lnR>
                    <a:lnT>
                      <a:noFill/>
                    </a:lnT>
                    <a:lnB>
                      <a:noFill/>
                    </a:lnB>
                    <a:lnTlToBr w="12700" cmpd="sng">
                      <a:noFill/>
                      <a:prstDash val="solid"/>
                    </a:lnTlToBr>
                    <a:lnBlToTr w="12700" cmpd="sng">
                      <a:noFill/>
                      <a:prstDash val="solid"/>
                    </a:lnBlToTr>
                  </a:tcPr>
                </a:tc>
                <a:tc>
                  <a:txBody>
                    <a:bodyPr/>
                    <a:lstStyle/>
                    <a:p>
                      <a:r>
                        <a:rPr lang="en-US" sz="2000" dirty="0" smtClean="0">
                          <a:solidFill>
                            <a:schemeClr val="bg1"/>
                          </a:solidFill>
                          <a:effectLst>
                            <a:outerShdw blurRad="38100" dist="38100" dir="2700000" algn="tl">
                              <a:srgbClr val="000000">
                                <a:alpha val="43137"/>
                              </a:srgbClr>
                            </a:outerShdw>
                          </a:effectLst>
                        </a:rPr>
                        <a:t>Nguyễn</a:t>
                      </a:r>
                      <a:r>
                        <a:rPr lang="en-US" sz="2000" baseline="0" dirty="0" smtClean="0">
                          <a:solidFill>
                            <a:schemeClr val="bg1"/>
                          </a:solidFill>
                          <a:effectLst>
                            <a:outerShdw blurRad="38100" dist="38100" dir="2700000" algn="tl">
                              <a:srgbClr val="000000">
                                <a:alpha val="43137"/>
                              </a:srgbClr>
                            </a:outerShdw>
                          </a:effectLst>
                        </a:rPr>
                        <a:t> </a:t>
                      </a:r>
                      <a:r>
                        <a:rPr lang="en-US" sz="2000" baseline="0" dirty="0" err="1" smtClean="0">
                          <a:solidFill>
                            <a:schemeClr val="bg1"/>
                          </a:solidFill>
                          <a:effectLst>
                            <a:outerShdw blurRad="38100" dist="38100" dir="2700000" algn="tl">
                              <a:srgbClr val="000000">
                                <a:alpha val="43137"/>
                              </a:srgbClr>
                            </a:outerShdw>
                          </a:effectLst>
                        </a:rPr>
                        <a:t>Hoàng</a:t>
                      </a:r>
                      <a:r>
                        <a:rPr lang="en-US" sz="2000" baseline="0" dirty="0" smtClean="0">
                          <a:solidFill>
                            <a:schemeClr val="bg1"/>
                          </a:solidFill>
                          <a:effectLst>
                            <a:outerShdw blurRad="38100" dist="38100" dir="2700000" algn="tl">
                              <a:srgbClr val="000000">
                                <a:alpha val="43137"/>
                              </a:srgbClr>
                            </a:outerShdw>
                          </a:effectLst>
                        </a:rPr>
                        <a:t> Linh</a:t>
                      </a:r>
                      <a:endParaRPr lang="en-US" sz="2000" dirty="0">
                        <a:solidFill>
                          <a:schemeClr val="bg1"/>
                        </a:solidFill>
                        <a:effectLst>
                          <a:outerShdw blurRad="38100" dist="38100" dir="2700000" algn="tl">
                            <a:srgbClr val="000000">
                              <a:alpha val="43137"/>
                            </a:srgbClr>
                          </a:outerShdw>
                        </a:effectLst>
                      </a:endParaRPr>
                    </a:p>
                  </a:txBody>
                  <a:tcPr marL="91442" marR="91442" marT="45732" marB="45732">
                    <a:lnL>
                      <a:noFill/>
                    </a:lnL>
                    <a:lnR>
                      <a:noFill/>
                    </a:lnR>
                    <a:lnT>
                      <a:noFill/>
                    </a:lnT>
                    <a:lnB>
                      <a:noFill/>
                    </a:lnB>
                    <a:lnTlToBr w="12700" cmpd="sng">
                      <a:noFill/>
                      <a:prstDash val="solid"/>
                    </a:lnTlToBr>
                    <a:lnBlToTr w="12700" cmpd="sng">
                      <a:noFill/>
                      <a:prstDash val="solid"/>
                    </a:lnBlToTr>
                  </a:tcPr>
                </a:tc>
                <a:extLst>
                  <a:ext uri="{0D108BD9-81ED-4DB2-BD59-A6C34878D82A}">
                    <a16:rowId xmlns="" xmlns:a16="http://schemas.microsoft.com/office/drawing/2014/main" val="10000"/>
                  </a:ext>
                </a:extLst>
              </a:tr>
              <a:tr h="396346">
                <a:tc>
                  <a:txBody>
                    <a:bodyPr/>
                    <a:lstStyle/>
                    <a:p>
                      <a:pPr algn="r"/>
                      <a:endParaRPr lang="en-US" sz="2000" dirty="0">
                        <a:solidFill>
                          <a:schemeClr val="bg1"/>
                        </a:solidFill>
                        <a:effectLst>
                          <a:outerShdw blurRad="38100" dist="38100" dir="2700000" algn="tl">
                            <a:srgbClr val="000000">
                              <a:alpha val="43137"/>
                            </a:srgbClr>
                          </a:outerShdw>
                        </a:effectLst>
                      </a:endParaRPr>
                    </a:p>
                  </a:txBody>
                  <a:tcPr marL="91442" marR="91442" marT="45732" marB="45732">
                    <a:lnL>
                      <a:noFill/>
                    </a:lnL>
                    <a:lnR>
                      <a:noFill/>
                    </a:lnR>
                    <a:lnT>
                      <a:noFill/>
                    </a:lnT>
                    <a:lnB>
                      <a:noFill/>
                    </a:lnB>
                    <a:lnTlToBr w="12700" cmpd="sng">
                      <a:noFill/>
                      <a:prstDash val="solid"/>
                    </a:lnTlToBr>
                    <a:lnBlToTr w="12700" cmpd="sng">
                      <a:noFill/>
                      <a:prstDash val="solid"/>
                    </a:lnBlToTr>
                  </a:tcPr>
                </a:tc>
                <a:tc>
                  <a:txBody>
                    <a:bodyPr/>
                    <a:lstStyle/>
                    <a:p>
                      <a:r>
                        <a:rPr lang="en-US" sz="2000" dirty="0" err="1" smtClean="0">
                          <a:solidFill>
                            <a:schemeClr val="bg1"/>
                          </a:solidFill>
                          <a:effectLst>
                            <a:outerShdw blurRad="38100" dist="38100" dir="2700000" algn="tl">
                              <a:srgbClr val="000000">
                                <a:alpha val="43137"/>
                              </a:srgbClr>
                            </a:outerShdw>
                          </a:effectLst>
                          <a:latin typeface="+mj-lt"/>
                        </a:rPr>
                        <a:t>Sở</a:t>
                      </a:r>
                      <a:r>
                        <a:rPr lang="en-US" sz="2000" baseline="0" dirty="0" smtClean="0">
                          <a:solidFill>
                            <a:schemeClr val="bg1"/>
                          </a:solidFill>
                          <a:effectLst>
                            <a:outerShdw blurRad="38100" dist="38100" dir="2700000" algn="tl">
                              <a:srgbClr val="000000">
                                <a:alpha val="43137"/>
                              </a:srgbClr>
                            </a:outerShdw>
                          </a:effectLst>
                          <a:latin typeface="+mj-lt"/>
                        </a:rPr>
                        <a:t> </a:t>
                      </a:r>
                      <a:r>
                        <a:rPr lang="en-US" sz="2000" baseline="0" dirty="0" err="1" smtClean="0">
                          <a:solidFill>
                            <a:schemeClr val="bg1"/>
                          </a:solidFill>
                          <a:effectLst>
                            <a:outerShdw blurRad="38100" dist="38100" dir="2700000" algn="tl">
                              <a:srgbClr val="000000">
                                <a:alpha val="43137"/>
                              </a:srgbClr>
                            </a:outerShdw>
                          </a:effectLst>
                          <a:latin typeface="+mj-lt"/>
                        </a:rPr>
                        <a:t>Giao</a:t>
                      </a:r>
                      <a:r>
                        <a:rPr lang="en-US" sz="2000" baseline="0" dirty="0" smtClean="0">
                          <a:solidFill>
                            <a:schemeClr val="bg1"/>
                          </a:solidFill>
                          <a:effectLst>
                            <a:outerShdw blurRad="38100" dist="38100" dir="2700000" algn="tl">
                              <a:srgbClr val="000000">
                                <a:alpha val="43137"/>
                              </a:srgbClr>
                            </a:outerShdw>
                          </a:effectLst>
                          <a:latin typeface="+mj-lt"/>
                        </a:rPr>
                        <a:t> </a:t>
                      </a:r>
                      <a:r>
                        <a:rPr lang="en-US" sz="2000" baseline="0" dirty="0" err="1" smtClean="0">
                          <a:solidFill>
                            <a:schemeClr val="bg1"/>
                          </a:solidFill>
                          <a:effectLst>
                            <a:outerShdw blurRad="38100" dist="38100" dir="2700000" algn="tl">
                              <a:srgbClr val="000000">
                                <a:alpha val="43137"/>
                              </a:srgbClr>
                            </a:outerShdw>
                          </a:effectLst>
                          <a:latin typeface="+mj-lt"/>
                        </a:rPr>
                        <a:t>dịch</a:t>
                      </a:r>
                      <a:r>
                        <a:rPr lang="en-US" sz="2000" baseline="0" dirty="0" smtClean="0">
                          <a:solidFill>
                            <a:schemeClr val="bg1"/>
                          </a:solidFill>
                          <a:effectLst>
                            <a:outerShdw blurRad="38100" dist="38100" dir="2700000" algn="tl">
                              <a:srgbClr val="000000">
                                <a:alpha val="43137"/>
                              </a:srgbClr>
                            </a:outerShdw>
                          </a:effectLst>
                          <a:latin typeface="+mj-lt"/>
                        </a:rPr>
                        <a:t> </a:t>
                      </a:r>
                      <a:r>
                        <a:rPr lang="en-US" sz="2000" baseline="0" dirty="0" err="1" smtClean="0">
                          <a:solidFill>
                            <a:schemeClr val="bg1"/>
                          </a:solidFill>
                          <a:effectLst>
                            <a:outerShdw blurRad="38100" dist="38100" dir="2700000" algn="tl">
                              <a:srgbClr val="000000">
                                <a:alpha val="43137"/>
                              </a:srgbClr>
                            </a:outerShdw>
                          </a:effectLst>
                          <a:latin typeface="+mj-lt"/>
                        </a:rPr>
                        <a:t>chứng</a:t>
                      </a:r>
                      <a:r>
                        <a:rPr lang="en-US" sz="2000" baseline="0" dirty="0" smtClean="0">
                          <a:solidFill>
                            <a:schemeClr val="bg1"/>
                          </a:solidFill>
                          <a:effectLst>
                            <a:outerShdw blurRad="38100" dist="38100" dir="2700000" algn="tl">
                              <a:srgbClr val="000000">
                                <a:alpha val="43137"/>
                              </a:srgbClr>
                            </a:outerShdw>
                          </a:effectLst>
                          <a:latin typeface="+mj-lt"/>
                        </a:rPr>
                        <a:t> </a:t>
                      </a:r>
                      <a:r>
                        <a:rPr lang="en-US" sz="2000" baseline="0" dirty="0" err="1" smtClean="0">
                          <a:solidFill>
                            <a:schemeClr val="bg1"/>
                          </a:solidFill>
                          <a:effectLst>
                            <a:outerShdw blurRad="38100" dist="38100" dir="2700000" algn="tl">
                              <a:srgbClr val="000000">
                                <a:alpha val="43137"/>
                              </a:srgbClr>
                            </a:outerShdw>
                          </a:effectLst>
                          <a:latin typeface="+mj-lt"/>
                        </a:rPr>
                        <a:t>khoán</a:t>
                      </a:r>
                      <a:r>
                        <a:rPr lang="en-US" sz="2000" baseline="0" dirty="0" smtClean="0">
                          <a:solidFill>
                            <a:schemeClr val="bg1"/>
                          </a:solidFill>
                          <a:effectLst>
                            <a:outerShdw blurRad="38100" dist="38100" dir="2700000" algn="tl">
                              <a:srgbClr val="000000">
                                <a:alpha val="43137"/>
                              </a:srgbClr>
                            </a:outerShdw>
                          </a:effectLst>
                          <a:latin typeface="+mj-lt"/>
                        </a:rPr>
                        <a:t> Hà </a:t>
                      </a:r>
                      <a:r>
                        <a:rPr lang="en-US" sz="2000" baseline="0" dirty="0" err="1" smtClean="0">
                          <a:solidFill>
                            <a:schemeClr val="bg1"/>
                          </a:solidFill>
                          <a:effectLst>
                            <a:outerShdw blurRad="38100" dist="38100" dir="2700000" algn="tl">
                              <a:srgbClr val="000000">
                                <a:alpha val="43137"/>
                              </a:srgbClr>
                            </a:outerShdw>
                          </a:effectLst>
                          <a:latin typeface="+mj-lt"/>
                        </a:rPr>
                        <a:t>Nội</a:t>
                      </a:r>
                      <a:endParaRPr lang="en-US" sz="2000" dirty="0">
                        <a:solidFill>
                          <a:schemeClr val="bg1"/>
                        </a:solidFill>
                        <a:effectLst>
                          <a:outerShdw blurRad="38100" dist="38100" dir="2700000" algn="tl">
                            <a:srgbClr val="000000">
                              <a:alpha val="43137"/>
                            </a:srgbClr>
                          </a:outerShdw>
                        </a:effectLst>
                        <a:latin typeface="+mj-lt"/>
                      </a:endParaRPr>
                    </a:p>
                  </a:txBody>
                  <a:tcPr marL="91442" marR="91442" marT="45732" marB="45732">
                    <a:lnL>
                      <a:noFill/>
                    </a:lnL>
                    <a:lnR>
                      <a:noFill/>
                    </a:lnR>
                    <a:lnT>
                      <a:noFill/>
                    </a:lnT>
                    <a:lnB>
                      <a:noFill/>
                    </a:lnB>
                    <a:lnTlToBr w="12700" cmpd="sng">
                      <a:noFill/>
                      <a:prstDash val="solid"/>
                    </a:lnTlToBr>
                    <a:lnBlToTr w="12700" cmpd="sng">
                      <a:noFill/>
                      <a:prstDash val="solid"/>
                    </a:lnBlToTr>
                  </a:tcPr>
                </a:tc>
                <a:extLst>
                  <a:ext uri="{0D108BD9-81ED-4DB2-BD59-A6C34878D82A}">
                    <a16:rowId xmlns="" xmlns:a16="http://schemas.microsoft.com/office/drawing/2014/main" val="10001"/>
                  </a:ext>
                </a:extLst>
              </a:tr>
              <a:tr h="396346">
                <a:tc>
                  <a:txBody>
                    <a:bodyPr/>
                    <a:lstStyle/>
                    <a:p>
                      <a:pPr algn="r"/>
                      <a:endParaRPr lang="en-US" sz="2000" b="1" kern="1200" baseline="0" dirty="0">
                        <a:solidFill>
                          <a:schemeClr val="bg1"/>
                        </a:solidFill>
                        <a:effectLst>
                          <a:outerShdw blurRad="38100" dist="38100" dir="2700000" algn="tl">
                            <a:srgbClr val="000000">
                              <a:alpha val="43137"/>
                            </a:srgbClr>
                          </a:outerShdw>
                        </a:effectLst>
                        <a:latin typeface="Times New Roman" pitchFamily="18" charset="0"/>
                        <a:ea typeface="+mn-ea"/>
                        <a:cs typeface="Times New Roman" pitchFamily="18" charset="0"/>
                      </a:endParaRPr>
                    </a:p>
                  </a:txBody>
                  <a:tcPr marL="91442" marR="91442" marT="45732" marB="45732">
                    <a:lnL>
                      <a:noFill/>
                    </a:lnL>
                    <a:lnR>
                      <a:noFill/>
                    </a:lnR>
                    <a:lnT>
                      <a:noFill/>
                    </a:lnT>
                    <a:lnB>
                      <a:noFill/>
                    </a:lnB>
                    <a:lnTlToBr w="12700" cmpd="sng">
                      <a:noFill/>
                      <a:prstDash val="solid"/>
                    </a:lnTlToBr>
                    <a:lnBlToTr w="12700" cmpd="sng">
                      <a:noFill/>
                      <a:prstDash val="solid"/>
                    </a:lnBlToTr>
                  </a:tcPr>
                </a:tc>
                <a:tc>
                  <a:txBody>
                    <a:bodyPr/>
                    <a:lstStyle/>
                    <a:p>
                      <a:endParaRPr lang="en-US" sz="2000" b="1" kern="1200" baseline="0" dirty="0">
                        <a:solidFill>
                          <a:schemeClr val="bg1"/>
                        </a:solidFill>
                        <a:effectLst>
                          <a:outerShdw blurRad="38100" dist="38100" dir="2700000" algn="tl">
                            <a:srgbClr val="000000">
                              <a:alpha val="43137"/>
                            </a:srgbClr>
                          </a:outerShdw>
                        </a:effectLst>
                        <a:latin typeface="Times New Roman" pitchFamily="18" charset="0"/>
                        <a:ea typeface="+mn-ea"/>
                        <a:cs typeface="Times New Roman" pitchFamily="18" charset="0"/>
                      </a:endParaRPr>
                    </a:p>
                  </a:txBody>
                  <a:tcPr marL="91442" marR="91442" marT="45732" marB="45732">
                    <a:lnL>
                      <a:noFill/>
                    </a:lnL>
                    <a:lnR>
                      <a:noFill/>
                    </a:lnR>
                    <a:lnT>
                      <a:noFill/>
                    </a:lnT>
                    <a:lnB>
                      <a:noFill/>
                    </a:lnB>
                    <a:lnTlToBr w="12700" cmpd="sng">
                      <a:noFill/>
                      <a:prstDash val="solid"/>
                    </a:lnTlToBr>
                    <a:lnBlToTr w="12700" cmpd="sng">
                      <a:noFill/>
                      <a:prstDash val="solid"/>
                    </a:lnBlToTr>
                  </a:tcPr>
                </a:tc>
                <a:extLst>
                  <a:ext uri="{0D108BD9-81ED-4DB2-BD59-A6C34878D82A}">
                    <a16:rowId xmlns="" xmlns:a16="http://schemas.microsoft.com/office/drawing/2014/main" val="10002"/>
                  </a:ext>
                </a:extLst>
              </a:tr>
            </a:tbl>
          </a:graphicData>
        </a:graphic>
      </p:graphicFrame>
      <p:sp>
        <p:nvSpPr>
          <p:cNvPr id="7" name="Rectangle 6">
            <a:extLst>
              <a:ext uri="{FF2B5EF4-FFF2-40B4-BE49-F238E27FC236}">
                <a16:creationId xmlns="" xmlns:a16="http://schemas.microsoft.com/office/drawing/2014/main" id="{6AE04DE0-5C74-41DA-81F0-15312E298737}"/>
              </a:ext>
            </a:extLst>
          </p:cNvPr>
          <p:cNvSpPr/>
          <p:nvPr/>
        </p:nvSpPr>
        <p:spPr>
          <a:xfrm>
            <a:off x="1524000" y="6172200"/>
            <a:ext cx="9144000" cy="400050"/>
          </a:xfrm>
          <a:prstGeom prst="rect">
            <a:avLst/>
          </a:prstGeom>
        </p:spPr>
        <p:txBody>
          <a:bodyPr>
            <a:spAutoFit/>
          </a:bodyPr>
          <a:lstStyle/>
          <a:p>
            <a:pPr algn="ctr">
              <a:defRPr/>
            </a:pPr>
            <a:r>
              <a:rPr lang="vi-VN" sz="20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NĂM </a:t>
            </a:r>
            <a:r>
              <a:rPr lang="en-US" sz="20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2024</a:t>
            </a: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9B0B78-6F9C-4D59-98C5-DA0D17037C6F}"/>
              </a:ext>
            </a:extLst>
          </p:cNvPr>
          <p:cNvSpPr>
            <a:spLocks noGrp="1"/>
          </p:cNvSpPr>
          <p:nvPr>
            <p:ph type="title"/>
          </p:nvPr>
        </p:nvSpPr>
        <p:spPr>
          <a:xfrm>
            <a:off x="2362200" y="879231"/>
            <a:ext cx="7315200" cy="603494"/>
          </a:xfrm>
        </p:spPr>
        <p:txBody>
          <a:bodyPr/>
          <a:lstStyle/>
          <a:p>
            <a:pPr algn="ctr"/>
            <a:r>
              <a:rPr lang="vi-VN" dirty="0">
                <a:effectLst/>
                <a:latin typeface="Times New Roman" panose="02020603050405020304" pitchFamily="18" charset="0"/>
                <a:ea typeface="Arial" panose="020B0604020202020204" pitchFamily="34" charset="0"/>
                <a:cs typeface="Times New Roman" panose="02020603050405020304" pitchFamily="18" charset="0"/>
              </a:rPr>
              <a:t>Mục tiêu</a:t>
            </a:r>
            <a:r>
              <a:rPr lang="vi-VN" sz="1800" dirty="0">
                <a:latin typeface="Arial" panose="020B0604020202020204" pitchFamily="34" charset="0"/>
                <a:ea typeface="Arial" panose="020B0604020202020204" pitchFamily="34" charset="0"/>
                <a:cs typeface="Times New Roman" panose="02020603050405020304" pitchFamily="18" charset="0"/>
              </a:rPr>
              <a:t/>
            </a:r>
            <a:br>
              <a:rPr lang="vi-VN" sz="1800" dirty="0">
                <a:latin typeface="Arial" panose="020B0604020202020204" pitchFamily="34" charset="0"/>
                <a:ea typeface="Arial" panose="020B0604020202020204" pitchFamily="34" charset="0"/>
                <a:cs typeface="Times New Roman" panose="02020603050405020304" pitchFamily="18" charset="0"/>
              </a:rPr>
            </a:br>
            <a:endParaRPr lang="vi-VN" dirty="0"/>
          </a:p>
        </p:txBody>
      </p:sp>
      <p:sp>
        <p:nvSpPr>
          <p:cNvPr id="3" name="Content Placeholder 2">
            <a:extLst>
              <a:ext uri="{FF2B5EF4-FFF2-40B4-BE49-F238E27FC236}">
                <a16:creationId xmlns="" xmlns:a16="http://schemas.microsoft.com/office/drawing/2014/main" id="{8F566486-6BDA-4FFD-B372-F1FE00574702}"/>
              </a:ext>
            </a:extLst>
          </p:cNvPr>
          <p:cNvSpPr>
            <a:spLocks noGrp="1"/>
          </p:cNvSpPr>
          <p:nvPr>
            <p:ph idx="1"/>
          </p:nvPr>
        </p:nvSpPr>
        <p:spPr>
          <a:xfrm>
            <a:off x="1905000" y="1600201"/>
            <a:ext cx="8458200" cy="4530725"/>
          </a:xfrm>
        </p:spPr>
        <p:txBody>
          <a:bodyPr/>
          <a:lstStyle/>
          <a:p>
            <a:pPr marL="0" indent="457200" algn="l">
              <a:lnSpc>
                <a:spcPct val="130000"/>
              </a:lnSpc>
              <a:spcBef>
                <a:spcPct val="0"/>
              </a:spcBef>
              <a:tabLst>
                <a:tab pos="630555" algn="l"/>
              </a:tabLst>
            </a:pPr>
            <a:r>
              <a:rPr lang="vi-VN" sz="2200" dirty="0">
                <a:solidFill>
                  <a:schemeClr val="tx2"/>
                </a:solidFill>
                <a:ea typeface="+mj-ea"/>
                <a:cs typeface="+mj-cs"/>
              </a:rPr>
              <a:t>1. Khái niệm, chức năng</a:t>
            </a:r>
          </a:p>
          <a:p>
            <a:pPr marL="0" indent="457200" algn="l">
              <a:lnSpc>
                <a:spcPct val="130000"/>
              </a:lnSpc>
              <a:spcBef>
                <a:spcPct val="0"/>
              </a:spcBef>
              <a:tabLst>
                <a:tab pos="630555" algn="l"/>
              </a:tabLst>
            </a:pPr>
            <a:r>
              <a:rPr lang="vi-VN" sz="2200" dirty="0" smtClean="0">
                <a:solidFill>
                  <a:schemeClr val="tx2"/>
                </a:solidFill>
                <a:ea typeface="+mj-ea"/>
                <a:cs typeface="+mj-cs"/>
              </a:rPr>
              <a:t>2</a:t>
            </a:r>
            <a:r>
              <a:rPr lang="vi-VN" sz="2200" dirty="0">
                <a:solidFill>
                  <a:schemeClr val="tx2"/>
                </a:solidFill>
                <a:ea typeface="+mj-ea"/>
                <a:cs typeface="+mj-cs"/>
              </a:rPr>
              <a:t>. Chủ thể chào bán chứng khoán</a:t>
            </a:r>
          </a:p>
          <a:p>
            <a:pPr marL="0" indent="457200" algn="l">
              <a:lnSpc>
                <a:spcPct val="130000"/>
              </a:lnSpc>
              <a:spcBef>
                <a:spcPct val="0"/>
              </a:spcBef>
              <a:tabLst>
                <a:tab pos="630555" algn="l"/>
              </a:tabLst>
            </a:pPr>
            <a:r>
              <a:rPr lang="vi-VN" sz="2200" dirty="0" smtClean="0">
                <a:solidFill>
                  <a:schemeClr val="tx2"/>
                </a:solidFill>
                <a:ea typeface="+mj-ea"/>
                <a:cs typeface="+mj-cs"/>
              </a:rPr>
              <a:t>3</a:t>
            </a:r>
            <a:r>
              <a:rPr lang="vi-VN" sz="2200" dirty="0">
                <a:solidFill>
                  <a:schemeClr val="tx2"/>
                </a:solidFill>
                <a:ea typeface="+mj-ea"/>
                <a:cs typeface="+mj-cs"/>
              </a:rPr>
              <a:t>. Các Phương thức chào bán chứng khoán</a:t>
            </a:r>
          </a:p>
          <a:p>
            <a:pPr marL="0" indent="457200" algn="l">
              <a:lnSpc>
                <a:spcPct val="130000"/>
              </a:lnSpc>
              <a:spcBef>
                <a:spcPct val="0"/>
              </a:spcBef>
              <a:tabLst>
                <a:tab pos="630555" algn="l"/>
              </a:tabLst>
            </a:pPr>
            <a:r>
              <a:rPr lang="vi-VN" sz="2200" dirty="0" smtClean="0">
                <a:solidFill>
                  <a:schemeClr val="tx2"/>
                </a:solidFill>
                <a:ea typeface="+mj-ea"/>
                <a:cs typeface="+mj-cs"/>
              </a:rPr>
              <a:t>4</a:t>
            </a:r>
            <a:r>
              <a:rPr lang="vi-VN" sz="2200" dirty="0">
                <a:solidFill>
                  <a:schemeClr val="tx2"/>
                </a:solidFill>
                <a:ea typeface="+mj-ea"/>
                <a:cs typeface="+mj-cs"/>
              </a:rPr>
              <a:t>. Chào bán lần đầu ra công </a:t>
            </a:r>
            <a:r>
              <a:rPr lang="vi-VN" sz="2200" dirty="0" smtClean="0">
                <a:solidFill>
                  <a:schemeClr val="tx2"/>
                </a:solidFill>
                <a:ea typeface="+mj-ea"/>
                <a:cs typeface="+mj-cs"/>
              </a:rPr>
              <a:t>chúng</a:t>
            </a:r>
            <a:endParaRPr lang="vi-VN" sz="2200" dirty="0">
              <a:solidFill>
                <a:schemeClr val="tx2"/>
              </a:solidFill>
              <a:ea typeface="+mj-ea"/>
              <a:cs typeface="+mj-cs"/>
            </a:endParaRPr>
          </a:p>
        </p:txBody>
      </p:sp>
      <p:sp>
        <p:nvSpPr>
          <p:cNvPr id="4" name="Slide Number Placeholder 3">
            <a:extLst>
              <a:ext uri="{FF2B5EF4-FFF2-40B4-BE49-F238E27FC236}">
                <a16:creationId xmlns="" xmlns:a16="http://schemas.microsoft.com/office/drawing/2014/main" id="{7170205A-5879-47A2-A6BF-4C67AF5ECD40}"/>
              </a:ext>
            </a:extLst>
          </p:cNvPr>
          <p:cNvSpPr>
            <a:spLocks noGrp="1"/>
          </p:cNvSpPr>
          <p:nvPr>
            <p:ph type="sldNum" sz="quarter" idx="12"/>
          </p:nvPr>
        </p:nvSpPr>
        <p:spPr/>
        <p:txBody>
          <a:bodyPr/>
          <a:lstStyle/>
          <a:p>
            <a:fld id="{70EFE2FC-958E-4852-88CF-4523749B4C01}" type="slidenum">
              <a:rPr lang="en-US" altLang="en-US" smtClean="0"/>
              <a:pPr/>
              <a:t>2</a:t>
            </a:fld>
            <a:endParaRPr lang="en-US" altLang="en-US"/>
          </a:p>
        </p:txBody>
      </p:sp>
    </p:spTree>
    <p:extLst>
      <p:ext uri="{BB962C8B-B14F-4D97-AF65-F5344CB8AC3E}">
        <p14:creationId xmlns:p14="http://schemas.microsoft.com/office/powerpoint/2010/main" val="3579880084"/>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Khái</a:t>
            </a:r>
            <a:r>
              <a:rPr lang="en-US" dirty="0"/>
              <a:t> </a:t>
            </a:r>
            <a:r>
              <a:rPr lang="en-US" dirty="0" err="1"/>
              <a:t>niệm</a:t>
            </a:r>
            <a:r>
              <a:rPr lang="en-US" dirty="0"/>
              <a:t>, </a:t>
            </a:r>
            <a:r>
              <a:rPr lang="en-US" dirty="0" err="1"/>
              <a:t>chức</a:t>
            </a:r>
            <a:r>
              <a:rPr lang="en-US" dirty="0"/>
              <a:t> </a:t>
            </a:r>
            <a:r>
              <a:rPr lang="en-US" dirty="0" err="1"/>
              <a:t>năng</a:t>
            </a:r>
            <a:endParaRPr lang="en-US" dirty="0"/>
          </a:p>
        </p:txBody>
      </p:sp>
      <p:sp>
        <p:nvSpPr>
          <p:cNvPr id="3" name="Content Placeholder 2"/>
          <p:cNvSpPr>
            <a:spLocks noGrp="1"/>
          </p:cNvSpPr>
          <p:nvPr>
            <p:ph idx="1"/>
          </p:nvPr>
        </p:nvSpPr>
        <p:spPr/>
        <p:txBody>
          <a:bodyPr/>
          <a:lstStyle/>
          <a:p>
            <a:r>
              <a:rPr lang="en" dirty="0">
                <a:cs typeface="Times New Roman" panose="02020603050405020304" pitchFamily="18" charset="0"/>
              </a:rPr>
              <a:t>“</a:t>
            </a:r>
            <a:r>
              <a:rPr lang="vi-VN" dirty="0">
                <a:cs typeface="Times New Roman" panose="02020603050405020304" pitchFamily="18" charset="0"/>
              </a:rPr>
              <a:t>Thị trường </a:t>
            </a:r>
            <a:r>
              <a:rPr lang="en-AU" dirty="0" err="1">
                <a:cs typeface="Times New Roman" panose="02020603050405020304" pitchFamily="18" charset="0"/>
              </a:rPr>
              <a:t>chứng</a:t>
            </a:r>
            <a:r>
              <a:rPr lang="en-AU" dirty="0">
                <a:cs typeface="Times New Roman" panose="02020603050405020304" pitchFamily="18" charset="0"/>
              </a:rPr>
              <a:t> </a:t>
            </a:r>
            <a:r>
              <a:rPr lang="en-AU" dirty="0" err="1">
                <a:cs typeface="Times New Roman" panose="02020603050405020304" pitchFamily="18" charset="0"/>
              </a:rPr>
              <a:t>khoán</a:t>
            </a:r>
            <a:r>
              <a:rPr lang="en-AU" dirty="0">
                <a:cs typeface="Times New Roman" panose="02020603050405020304" pitchFamily="18" charset="0"/>
              </a:rPr>
              <a:t> </a:t>
            </a:r>
            <a:r>
              <a:rPr lang="vi-VN" dirty="0">
                <a:cs typeface="Times New Roman" panose="02020603050405020304" pitchFamily="18" charset="0"/>
              </a:rPr>
              <a:t>sơ cấp là thị trường mua bán lần đầu của các chứng khoán mới phát hành</a:t>
            </a:r>
            <a:r>
              <a:rPr lang="en-AU" dirty="0" smtClean="0">
                <a:cs typeface="Times New Roman" panose="02020603050405020304" pitchFamily="18" charset="0"/>
              </a:rPr>
              <a:t>”</a:t>
            </a:r>
            <a:endParaRPr lang="en-AU" dirty="0">
              <a:cs typeface="Times New Roman" panose="02020603050405020304" pitchFamily="18" charset="0"/>
            </a:endParaRPr>
          </a:p>
          <a:p>
            <a:r>
              <a:rPr lang="en-AU" dirty="0" err="1">
                <a:cs typeface="Times New Roman" panose="02020603050405020304" pitchFamily="18" charset="0"/>
              </a:rPr>
              <a:t>Chứng</a:t>
            </a:r>
            <a:r>
              <a:rPr lang="en-AU" dirty="0">
                <a:cs typeface="Times New Roman" panose="02020603050405020304" pitchFamily="18" charset="0"/>
              </a:rPr>
              <a:t> </a:t>
            </a:r>
            <a:r>
              <a:rPr lang="en-AU" dirty="0" err="1">
                <a:cs typeface="Times New Roman" panose="02020603050405020304" pitchFamily="18" charset="0"/>
              </a:rPr>
              <a:t>khoán</a:t>
            </a:r>
            <a:r>
              <a:rPr lang="en-AU" dirty="0">
                <a:cs typeface="Times New Roman" panose="02020603050405020304" pitchFamily="18" charset="0"/>
              </a:rPr>
              <a:t> </a:t>
            </a:r>
            <a:r>
              <a:rPr lang="en-AU" dirty="0" err="1">
                <a:cs typeface="Times New Roman" panose="02020603050405020304" pitchFamily="18" charset="0"/>
              </a:rPr>
              <a:t>bao</a:t>
            </a:r>
            <a:r>
              <a:rPr lang="en-AU" dirty="0">
                <a:cs typeface="Times New Roman" panose="02020603050405020304" pitchFamily="18" charset="0"/>
              </a:rPr>
              <a:t> </a:t>
            </a:r>
            <a:r>
              <a:rPr lang="en-AU" dirty="0" err="1">
                <a:cs typeface="Times New Roman" panose="02020603050405020304" pitchFamily="18" charset="0"/>
              </a:rPr>
              <a:t>gồm</a:t>
            </a:r>
            <a:r>
              <a:rPr lang="en-AU" dirty="0">
                <a:cs typeface="Times New Roman" panose="02020603050405020304" pitchFamily="18" charset="0"/>
              </a:rPr>
              <a:t> </a:t>
            </a:r>
            <a:r>
              <a:rPr lang="en-AU" dirty="0" err="1">
                <a:cs typeface="Times New Roman" panose="02020603050405020304" pitchFamily="18" charset="0"/>
              </a:rPr>
              <a:t>trái</a:t>
            </a:r>
            <a:r>
              <a:rPr lang="en-AU" dirty="0">
                <a:cs typeface="Times New Roman" panose="02020603050405020304" pitchFamily="18" charset="0"/>
              </a:rPr>
              <a:t> </a:t>
            </a:r>
            <a:r>
              <a:rPr lang="en-AU" dirty="0" err="1">
                <a:cs typeface="Times New Roman" panose="02020603050405020304" pitchFamily="18" charset="0"/>
              </a:rPr>
              <a:t>phiếu</a:t>
            </a:r>
            <a:r>
              <a:rPr lang="en-AU" dirty="0">
                <a:cs typeface="Times New Roman" panose="02020603050405020304" pitchFamily="18" charset="0"/>
              </a:rPr>
              <a:t> </a:t>
            </a:r>
            <a:r>
              <a:rPr lang="en-AU" dirty="0" err="1">
                <a:cs typeface="Times New Roman" panose="02020603050405020304" pitchFamily="18" charset="0"/>
              </a:rPr>
              <a:t>hoặc</a:t>
            </a:r>
            <a:r>
              <a:rPr lang="en-AU" dirty="0">
                <a:cs typeface="Times New Roman" panose="02020603050405020304" pitchFamily="18" charset="0"/>
              </a:rPr>
              <a:t> </a:t>
            </a:r>
            <a:r>
              <a:rPr lang="en-AU" dirty="0" err="1">
                <a:cs typeface="Times New Roman" panose="02020603050405020304" pitchFamily="18" charset="0"/>
              </a:rPr>
              <a:t>cổ</a:t>
            </a:r>
            <a:r>
              <a:rPr lang="en-AU" dirty="0">
                <a:cs typeface="Times New Roman" panose="02020603050405020304" pitchFamily="18" charset="0"/>
              </a:rPr>
              <a:t> </a:t>
            </a:r>
            <a:r>
              <a:rPr lang="en-AU" dirty="0" err="1">
                <a:cs typeface="Times New Roman" panose="02020603050405020304" pitchFamily="18" charset="0"/>
              </a:rPr>
              <a:t>phiếu</a:t>
            </a:r>
            <a:r>
              <a:rPr lang="en-AU" dirty="0">
                <a:cs typeface="Times New Roman" panose="02020603050405020304" pitchFamily="18" charset="0"/>
              </a:rPr>
              <a:t> </a:t>
            </a:r>
            <a:r>
              <a:rPr lang="en-AU" dirty="0" err="1">
                <a:cs typeface="Times New Roman" panose="02020603050405020304" pitchFamily="18" charset="0"/>
              </a:rPr>
              <a:t>được</a:t>
            </a:r>
            <a:r>
              <a:rPr lang="en-AU" dirty="0">
                <a:cs typeface="Times New Roman" panose="02020603050405020304" pitchFamily="18" charset="0"/>
              </a:rPr>
              <a:t> </a:t>
            </a:r>
            <a:r>
              <a:rPr lang="en-AU" dirty="0" err="1">
                <a:cs typeface="Times New Roman" panose="02020603050405020304" pitchFamily="18" charset="0"/>
              </a:rPr>
              <a:t>phát</a:t>
            </a:r>
            <a:r>
              <a:rPr lang="en-AU" dirty="0">
                <a:cs typeface="Times New Roman" panose="02020603050405020304" pitchFamily="18" charset="0"/>
              </a:rPr>
              <a:t> </a:t>
            </a:r>
            <a:r>
              <a:rPr lang="en-AU" dirty="0" err="1">
                <a:cs typeface="Times New Roman" panose="02020603050405020304" pitchFamily="18" charset="0"/>
              </a:rPr>
              <a:t>hành</a:t>
            </a:r>
            <a:r>
              <a:rPr lang="en-AU" dirty="0">
                <a:cs typeface="Times New Roman" panose="02020603050405020304" pitchFamily="18" charset="0"/>
              </a:rPr>
              <a:t> </a:t>
            </a:r>
            <a:r>
              <a:rPr lang="en-AU" dirty="0" err="1">
                <a:cs typeface="Times New Roman" panose="02020603050405020304" pitchFamily="18" charset="0"/>
              </a:rPr>
              <a:t>bởi</a:t>
            </a:r>
            <a:r>
              <a:rPr lang="en-AU" dirty="0">
                <a:cs typeface="Times New Roman" panose="02020603050405020304" pitchFamily="18" charset="0"/>
              </a:rPr>
              <a:t> </a:t>
            </a:r>
            <a:r>
              <a:rPr lang="en-AU" dirty="0" err="1">
                <a:cs typeface="Times New Roman" panose="02020603050405020304" pitchFamily="18" charset="0"/>
              </a:rPr>
              <a:t>doanh</a:t>
            </a:r>
            <a:r>
              <a:rPr lang="en-AU" dirty="0">
                <a:cs typeface="Times New Roman" panose="02020603050405020304" pitchFamily="18" charset="0"/>
              </a:rPr>
              <a:t> </a:t>
            </a:r>
            <a:r>
              <a:rPr lang="en-AU" dirty="0" err="1">
                <a:cs typeface="Times New Roman" panose="02020603050405020304" pitchFamily="18" charset="0"/>
              </a:rPr>
              <a:t>nghiệp</a:t>
            </a:r>
            <a:r>
              <a:rPr lang="en-AU" dirty="0">
                <a:cs typeface="Times New Roman" panose="02020603050405020304" pitchFamily="18" charset="0"/>
              </a:rPr>
              <a:t> hay </a:t>
            </a:r>
            <a:r>
              <a:rPr lang="en-AU" dirty="0" err="1">
                <a:cs typeface="Times New Roman" panose="02020603050405020304" pitchFamily="18" charset="0"/>
              </a:rPr>
              <a:t>chính</a:t>
            </a:r>
            <a:r>
              <a:rPr lang="en-AU" dirty="0">
                <a:cs typeface="Times New Roman" panose="02020603050405020304" pitchFamily="18" charset="0"/>
              </a:rPr>
              <a:t> </a:t>
            </a:r>
            <a:r>
              <a:rPr lang="en-AU" dirty="0" err="1">
                <a:cs typeface="Times New Roman" panose="02020603050405020304" pitchFamily="18" charset="0"/>
              </a:rPr>
              <a:t>phủ</a:t>
            </a:r>
            <a:r>
              <a:rPr lang="en-AU" dirty="0">
                <a:cs typeface="Times New Roman" panose="02020603050405020304" pitchFamily="18" charset="0"/>
              </a:rPr>
              <a:t>.</a:t>
            </a:r>
            <a:r>
              <a:rPr lang="vi-VN" dirty="0">
                <a:cs typeface="Times New Roman" panose="02020603050405020304" pitchFamily="18" charset="0"/>
              </a:rPr>
              <a:t>	</a:t>
            </a:r>
            <a:endParaRPr lang="en-AU" dirty="0">
              <a:cs typeface="Times New Roman" panose="02020603050405020304" pitchFamily="18" charset="0"/>
            </a:endParaRPr>
          </a:p>
          <a:p>
            <a:r>
              <a:rPr lang="vi-VN" dirty="0">
                <a:cs typeface="Times New Roman" panose="02020603050405020304" pitchFamily="18" charset="0"/>
              </a:rPr>
              <a:t>Thị trường </a:t>
            </a:r>
            <a:r>
              <a:rPr lang="en-AU" dirty="0" err="1">
                <a:cs typeface="Times New Roman" panose="02020603050405020304" pitchFamily="18" charset="0"/>
              </a:rPr>
              <a:t>chứng</a:t>
            </a:r>
            <a:r>
              <a:rPr lang="en-AU" dirty="0">
                <a:cs typeface="Times New Roman" panose="02020603050405020304" pitchFamily="18" charset="0"/>
              </a:rPr>
              <a:t> </a:t>
            </a:r>
            <a:r>
              <a:rPr lang="en-AU" dirty="0" err="1">
                <a:cs typeface="Times New Roman" panose="02020603050405020304" pitchFamily="18" charset="0"/>
              </a:rPr>
              <a:t>khoán</a:t>
            </a:r>
            <a:r>
              <a:rPr lang="en-AU" dirty="0">
                <a:cs typeface="Times New Roman" panose="02020603050405020304" pitchFamily="18" charset="0"/>
              </a:rPr>
              <a:t> </a:t>
            </a:r>
            <a:r>
              <a:rPr lang="vi-VN" dirty="0">
                <a:cs typeface="Times New Roman" panose="02020603050405020304" pitchFamily="18" charset="0"/>
              </a:rPr>
              <a:t>sơ cấp còn có tên gọi là </a:t>
            </a:r>
            <a:r>
              <a:rPr lang="en-AU" dirty="0" err="1">
                <a:cs typeface="Times New Roman" panose="02020603050405020304" pitchFamily="18" charset="0"/>
              </a:rPr>
              <a:t>thị</a:t>
            </a:r>
            <a:r>
              <a:rPr lang="en-AU" dirty="0">
                <a:cs typeface="Times New Roman" panose="02020603050405020304" pitchFamily="18" charset="0"/>
              </a:rPr>
              <a:t> </a:t>
            </a:r>
            <a:r>
              <a:rPr lang="en-AU" dirty="0" err="1">
                <a:cs typeface="Times New Roman" panose="02020603050405020304" pitchFamily="18" charset="0"/>
              </a:rPr>
              <a:t>trường</a:t>
            </a:r>
            <a:r>
              <a:rPr lang="en-AU" dirty="0">
                <a:cs typeface="Times New Roman" panose="02020603050405020304" pitchFamily="18" charset="0"/>
              </a:rPr>
              <a:t> </a:t>
            </a:r>
            <a:r>
              <a:rPr lang="en-AU" dirty="0" err="1">
                <a:cs typeface="Times New Roman" panose="02020603050405020304" pitchFamily="18" charset="0"/>
              </a:rPr>
              <a:t>sơ</a:t>
            </a:r>
            <a:r>
              <a:rPr lang="en-AU" dirty="0">
                <a:cs typeface="Times New Roman" panose="02020603050405020304" pitchFamily="18" charset="0"/>
              </a:rPr>
              <a:t> </a:t>
            </a:r>
            <a:r>
              <a:rPr lang="en-AU" dirty="0" err="1">
                <a:cs typeface="Times New Roman" panose="02020603050405020304" pitchFamily="18" charset="0"/>
              </a:rPr>
              <a:t>cấp</a:t>
            </a:r>
            <a:r>
              <a:rPr lang="en-AU" dirty="0">
                <a:cs typeface="Times New Roman" panose="02020603050405020304" pitchFamily="18" charset="0"/>
              </a:rPr>
              <a:t>, </a:t>
            </a:r>
            <a:r>
              <a:rPr lang="vi-VN" dirty="0">
                <a:cs typeface="Times New Roman" panose="02020603050405020304" pitchFamily="18" charset="0"/>
              </a:rPr>
              <a:t>thị trường cấp 1 hay thị trường phát hành</a:t>
            </a:r>
            <a:r>
              <a:rPr lang="en-AU" dirty="0">
                <a:cs typeface="Times New Roman" panose="02020603050405020304" pitchFamily="18" charset="0"/>
              </a:rPr>
              <a:t>.</a:t>
            </a:r>
            <a:endParaRPr lang="en" dirty="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3</a:t>
            </a:fld>
            <a:endParaRPr lang="en-US" altLang="en-US"/>
          </a:p>
        </p:txBody>
      </p:sp>
    </p:spTree>
    <p:extLst>
      <p:ext uri="{BB962C8B-B14F-4D97-AF65-F5344CB8AC3E}">
        <p14:creationId xmlns:p14="http://schemas.microsoft.com/office/powerpoint/2010/main" val="49342705"/>
      </p:ext>
    </p:extLst>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Đặc</a:t>
            </a:r>
            <a:r>
              <a:rPr lang="en-US" dirty="0" smtClean="0"/>
              <a:t> </a:t>
            </a:r>
            <a:r>
              <a:rPr lang="en-US" dirty="0" err="1" smtClean="0"/>
              <a:t>điểm</a:t>
            </a:r>
            <a:r>
              <a:rPr lang="en-US" dirty="0" smtClean="0"/>
              <a:t> </a:t>
            </a:r>
            <a:r>
              <a:rPr lang="en-US" dirty="0" err="1" smtClean="0"/>
              <a:t>của</a:t>
            </a:r>
            <a:r>
              <a:rPr lang="en-US" dirty="0" smtClean="0"/>
              <a:t> </a:t>
            </a:r>
            <a:r>
              <a:rPr lang="en-US" dirty="0" err="1" smtClean="0"/>
              <a:t>thị</a:t>
            </a:r>
            <a:r>
              <a:rPr lang="en-US" dirty="0" smtClean="0"/>
              <a:t> </a:t>
            </a:r>
            <a:r>
              <a:rPr lang="en-US" dirty="0" err="1" smtClean="0"/>
              <a:t>trường</a:t>
            </a:r>
            <a:endParaRPr lang="en-US" dirty="0"/>
          </a:p>
        </p:txBody>
      </p:sp>
      <p:sp>
        <p:nvSpPr>
          <p:cNvPr id="3" name="Content Placeholder 2"/>
          <p:cNvSpPr>
            <a:spLocks noGrp="1"/>
          </p:cNvSpPr>
          <p:nvPr>
            <p:ph idx="1"/>
          </p:nvPr>
        </p:nvSpPr>
        <p:spPr>
          <a:xfrm>
            <a:off x="1219200" y="1600201"/>
            <a:ext cx="10363200" cy="7013375"/>
          </a:xfrm>
        </p:spPr>
        <p:txBody>
          <a:bodyPr/>
          <a:lstStyle/>
          <a:p>
            <a:r>
              <a:rPr lang="en" sz="2000" dirty="0">
                <a:cs typeface="Times New Roman" panose="02020603050405020304" pitchFamily="18" charset="0"/>
              </a:rPr>
              <a:t>Đối với nền kinh tế</a:t>
            </a:r>
          </a:p>
          <a:p>
            <a:pPr>
              <a:lnSpc>
                <a:spcPct val="150000"/>
              </a:lnSpc>
              <a:buClrTx/>
              <a:buFont typeface="Wingdings" panose="05000000000000000000" pitchFamily="2" charset="2"/>
              <a:buChar char="ü"/>
            </a:pPr>
            <a:r>
              <a:rPr lang="en-AU" sz="2000" dirty="0">
                <a:cs typeface="Times New Roman" panose="02020603050405020304" pitchFamily="18" charset="0"/>
              </a:rPr>
              <a:t>H</a:t>
            </a:r>
            <a:r>
              <a:rPr lang="en" sz="2000" dirty="0">
                <a:cs typeface="Times New Roman" panose="02020603050405020304" pitchFamily="18" charset="0"/>
              </a:rPr>
              <a:t>uy động vốn cho nền kinh </a:t>
            </a:r>
            <a:r>
              <a:rPr lang="en" sz="2000" dirty="0" smtClean="0">
                <a:cs typeface="Times New Roman" panose="02020603050405020304" pitchFamily="18" charset="0"/>
              </a:rPr>
              <a:t>tế;</a:t>
            </a:r>
          </a:p>
          <a:p>
            <a:pPr>
              <a:lnSpc>
                <a:spcPct val="150000"/>
              </a:lnSpc>
              <a:buClrTx/>
              <a:buFont typeface="Wingdings" panose="05000000000000000000" pitchFamily="2" charset="2"/>
              <a:buChar char="ü"/>
            </a:pPr>
            <a:r>
              <a:rPr lang="en-AU" sz="2000" dirty="0" smtClean="0">
                <a:cs typeface="Times New Roman" panose="02020603050405020304" pitchFamily="18" charset="0"/>
              </a:rPr>
              <a:t>T</a:t>
            </a:r>
            <a:r>
              <a:rPr lang="en" sz="2000" dirty="0">
                <a:cs typeface="Times New Roman" panose="02020603050405020304" pitchFamily="18" charset="0"/>
              </a:rPr>
              <a:t>ạo thêm kênh huy động vốn cho </a:t>
            </a:r>
            <a:r>
              <a:rPr lang="en" sz="2000" dirty="0" smtClean="0">
                <a:cs typeface="Times New Roman" panose="02020603050405020304" pitchFamily="18" charset="0"/>
              </a:rPr>
              <a:t>doanh</a:t>
            </a:r>
          </a:p>
          <a:p>
            <a:r>
              <a:rPr lang="en" sz="2000" dirty="0" smtClean="0">
                <a:cs typeface="Times New Roman" panose="02020603050405020304" pitchFamily="18" charset="0"/>
              </a:rPr>
              <a:t>Đối </a:t>
            </a:r>
            <a:r>
              <a:rPr lang="en" sz="2000" dirty="0">
                <a:cs typeface="Times New Roman" panose="02020603050405020304" pitchFamily="18" charset="0"/>
              </a:rPr>
              <a:t>với Chính phủ</a:t>
            </a:r>
          </a:p>
          <a:p>
            <a:pPr>
              <a:lnSpc>
                <a:spcPct val="150000"/>
              </a:lnSpc>
              <a:buFont typeface="Wingdings" panose="05000000000000000000" pitchFamily="2" charset="2"/>
              <a:buChar char="ü"/>
            </a:pPr>
            <a:r>
              <a:rPr lang="en-AU" sz="2000" dirty="0" err="1">
                <a:cs typeface="Times New Roman" panose="02020603050405020304" pitchFamily="18" charset="0"/>
              </a:rPr>
              <a:t>Giải</a:t>
            </a:r>
            <a:r>
              <a:rPr lang="en-AU" sz="2000" dirty="0">
                <a:cs typeface="Times New Roman" panose="02020603050405020304" pitchFamily="18" charset="0"/>
              </a:rPr>
              <a:t> </a:t>
            </a:r>
            <a:r>
              <a:rPr lang="en-AU" sz="2000" dirty="0" err="1">
                <a:cs typeface="Times New Roman" panose="02020603050405020304" pitchFamily="18" charset="0"/>
              </a:rPr>
              <a:t>quyết</a:t>
            </a:r>
            <a:r>
              <a:rPr lang="en-AU" sz="2000" dirty="0">
                <a:cs typeface="Times New Roman" panose="02020603050405020304" pitchFamily="18" charset="0"/>
              </a:rPr>
              <a:t> </a:t>
            </a:r>
            <a:r>
              <a:rPr lang="en-AU" sz="2000" dirty="0" err="1">
                <a:cs typeface="Times New Roman" panose="02020603050405020304" pitchFamily="18" charset="0"/>
              </a:rPr>
              <a:t>thâm</a:t>
            </a:r>
            <a:r>
              <a:rPr lang="en-AU" sz="2000" dirty="0">
                <a:cs typeface="Times New Roman" panose="02020603050405020304" pitchFamily="18" charset="0"/>
              </a:rPr>
              <a:t> </a:t>
            </a:r>
            <a:r>
              <a:rPr lang="en-AU" sz="2000" dirty="0" err="1">
                <a:cs typeface="Times New Roman" panose="02020603050405020304" pitchFamily="18" charset="0"/>
              </a:rPr>
              <a:t>hụt</a:t>
            </a:r>
            <a:r>
              <a:rPr lang="en-AU" sz="2000" dirty="0">
                <a:cs typeface="Times New Roman" panose="02020603050405020304" pitchFamily="18" charset="0"/>
              </a:rPr>
              <a:t> </a:t>
            </a:r>
            <a:r>
              <a:rPr lang="en-AU" sz="2000" dirty="0" err="1">
                <a:cs typeface="Times New Roman" panose="02020603050405020304" pitchFamily="18" charset="0"/>
              </a:rPr>
              <a:t>ngân</a:t>
            </a:r>
            <a:r>
              <a:rPr lang="en-AU" sz="2000" dirty="0">
                <a:cs typeface="Times New Roman" panose="02020603050405020304" pitchFamily="18" charset="0"/>
              </a:rPr>
              <a:t> </a:t>
            </a:r>
            <a:r>
              <a:rPr lang="en-AU" sz="2000" dirty="0" err="1">
                <a:cs typeface="Times New Roman" panose="02020603050405020304" pitchFamily="18" charset="0"/>
              </a:rPr>
              <a:t>sách</a:t>
            </a:r>
            <a:endParaRPr lang="en-AU" sz="2000" dirty="0">
              <a:cs typeface="Times New Roman" panose="02020603050405020304" pitchFamily="18" charset="0"/>
            </a:endParaRPr>
          </a:p>
          <a:p>
            <a:pPr>
              <a:lnSpc>
                <a:spcPct val="150000"/>
              </a:lnSpc>
              <a:buFont typeface="Wingdings" panose="05000000000000000000" pitchFamily="2" charset="2"/>
              <a:buChar char="ü"/>
            </a:pPr>
            <a:r>
              <a:rPr lang="en-AU" sz="2000" dirty="0" err="1">
                <a:cs typeface="Times New Roman" panose="02020603050405020304" pitchFamily="18" charset="0"/>
              </a:rPr>
              <a:t>Đầu</a:t>
            </a:r>
            <a:r>
              <a:rPr lang="en-AU" sz="2000" dirty="0">
                <a:cs typeface="Times New Roman" panose="02020603050405020304" pitchFamily="18" charset="0"/>
              </a:rPr>
              <a:t> </a:t>
            </a:r>
            <a:r>
              <a:rPr lang="en-AU" sz="2000" dirty="0" err="1">
                <a:cs typeface="Times New Roman" panose="02020603050405020304" pitchFamily="18" charset="0"/>
              </a:rPr>
              <a:t>tư</a:t>
            </a:r>
            <a:r>
              <a:rPr lang="en-AU" sz="2000" dirty="0">
                <a:cs typeface="Times New Roman" panose="02020603050405020304" pitchFamily="18" charset="0"/>
              </a:rPr>
              <a:t> </a:t>
            </a:r>
            <a:r>
              <a:rPr lang="en-AU" sz="2000" dirty="0" err="1">
                <a:cs typeface="Times New Roman" panose="02020603050405020304" pitchFamily="18" charset="0"/>
              </a:rPr>
              <a:t>cơ</a:t>
            </a:r>
            <a:r>
              <a:rPr lang="en-AU" sz="2000" dirty="0">
                <a:cs typeface="Times New Roman" panose="02020603050405020304" pitchFamily="18" charset="0"/>
              </a:rPr>
              <a:t> </a:t>
            </a:r>
            <a:r>
              <a:rPr lang="en-AU" sz="2000" dirty="0" err="1">
                <a:cs typeface="Times New Roman" panose="02020603050405020304" pitchFamily="18" charset="0"/>
              </a:rPr>
              <a:t>sơ</a:t>
            </a:r>
            <a:r>
              <a:rPr lang="en-AU" sz="2000" dirty="0">
                <a:cs typeface="Times New Roman" panose="02020603050405020304" pitchFamily="18" charset="0"/>
              </a:rPr>
              <a:t>̉ hạ </a:t>
            </a:r>
            <a:r>
              <a:rPr lang="en-AU" sz="2000" dirty="0" err="1">
                <a:cs typeface="Times New Roman" panose="02020603050405020304" pitchFamily="18" charset="0"/>
              </a:rPr>
              <a:t>tầng</a:t>
            </a:r>
            <a:endParaRPr lang="en-AU" sz="2000" dirty="0">
              <a:cs typeface="Times New Roman" panose="02020603050405020304" pitchFamily="18" charset="0"/>
            </a:endParaRPr>
          </a:p>
          <a:p>
            <a:pPr>
              <a:lnSpc>
                <a:spcPct val="150000"/>
              </a:lnSpc>
              <a:buFont typeface="Wingdings" panose="05000000000000000000" pitchFamily="2" charset="2"/>
              <a:buChar char="ü"/>
            </a:pPr>
            <a:r>
              <a:rPr lang="en-AU" sz="2000" dirty="0" err="1">
                <a:cs typeface="Times New Roman" panose="02020603050405020304" pitchFamily="18" charset="0"/>
              </a:rPr>
              <a:t>Bình</a:t>
            </a:r>
            <a:r>
              <a:rPr lang="en-AU" sz="2000" dirty="0">
                <a:cs typeface="Times New Roman" panose="02020603050405020304" pitchFamily="18" charset="0"/>
              </a:rPr>
              <a:t> </a:t>
            </a:r>
            <a:r>
              <a:rPr lang="en-AU" sz="2000" dirty="0" err="1">
                <a:cs typeface="Times New Roman" panose="02020603050405020304" pitchFamily="18" charset="0"/>
              </a:rPr>
              <a:t>ổn</a:t>
            </a:r>
            <a:r>
              <a:rPr lang="en-AU" sz="2000" dirty="0">
                <a:cs typeface="Times New Roman" panose="02020603050405020304" pitchFamily="18" charset="0"/>
              </a:rPr>
              <a:t> </a:t>
            </a:r>
            <a:r>
              <a:rPr lang="en-AU" sz="2000" dirty="0" err="1">
                <a:cs typeface="Times New Roman" panose="02020603050405020304" pitchFamily="18" charset="0"/>
              </a:rPr>
              <a:t>kinh</a:t>
            </a:r>
            <a:r>
              <a:rPr lang="en-AU" sz="2000" dirty="0">
                <a:cs typeface="Times New Roman" panose="02020603050405020304" pitchFamily="18" charset="0"/>
              </a:rPr>
              <a:t> </a:t>
            </a:r>
            <a:r>
              <a:rPr lang="en-AU" sz="2000" dirty="0" err="1" smtClean="0">
                <a:cs typeface="Times New Roman" panose="02020603050405020304" pitchFamily="18" charset="0"/>
              </a:rPr>
              <a:t>tê</a:t>
            </a:r>
            <a:r>
              <a:rPr lang="en-AU" sz="2000" dirty="0" smtClean="0">
                <a:cs typeface="Times New Roman" panose="02020603050405020304" pitchFamily="18" charset="0"/>
              </a:rPr>
              <a:t>́</a:t>
            </a:r>
          </a:p>
          <a:p>
            <a:r>
              <a:rPr lang="en" sz="2000" dirty="0">
                <a:cs typeface="Times New Roman" panose="02020603050405020304" pitchFamily="18" charset="0"/>
              </a:rPr>
              <a:t>Đối với doanh nghiệp</a:t>
            </a:r>
          </a:p>
          <a:p>
            <a:pPr>
              <a:lnSpc>
                <a:spcPct val="150000"/>
              </a:lnSpc>
              <a:buFont typeface="Wingdings" panose="05000000000000000000" pitchFamily="2" charset="2"/>
              <a:buChar char="ü"/>
            </a:pPr>
            <a:r>
              <a:rPr lang="en-US" sz="2000" dirty="0" err="1">
                <a:cs typeface="Times New Roman" panose="02020603050405020304" pitchFamily="18" charset="0"/>
              </a:rPr>
              <a:t>Kênh</a:t>
            </a:r>
            <a:r>
              <a:rPr lang="en-US" sz="2000" dirty="0">
                <a:cs typeface="Times New Roman" panose="02020603050405020304" pitchFamily="18" charset="0"/>
              </a:rPr>
              <a:t> </a:t>
            </a:r>
            <a:r>
              <a:rPr lang="en-US" sz="2000" dirty="0" err="1">
                <a:cs typeface="Times New Roman" panose="02020603050405020304" pitchFamily="18" charset="0"/>
              </a:rPr>
              <a:t>huy</a:t>
            </a:r>
            <a:r>
              <a:rPr lang="en-US" sz="2000" dirty="0">
                <a:cs typeface="Times New Roman" panose="02020603050405020304" pitchFamily="18" charset="0"/>
              </a:rPr>
              <a:t> </a:t>
            </a:r>
            <a:r>
              <a:rPr lang="en-US" sz="2000" dirty="0" err="1">
                <a:cs typeface="Times New Roman" panose="02020603050405020304" pitchFamily="18" charset="0"/>
              </a:rPr>
              <a:t>động</a:t>
            </a:r>
            <a:r>
              <a:rPr lang="en-US" sz="2000" dirty="0">
                <a:cs typeface="Times New Roman" panose="02020603050405020304" pitchFamily="18" charset="0"/>
              </a:rPr>
              <a:t> </a:t>
            </a:r>
            <a:r>
              <a:rPr lang="en-US" sz="2000" dirty="0" err="1">
                <a:cs typeface="Times New Roman" panose="02020603050405020304" pitchFamily="18" charset="0"/>
              </a:rPr>
              <a:t>vốn</a:t>
            </a:r>
            <a:r>
              <a:rPr lang="en-US" sz="2000" dirty="0">
                <a:cs typeface="Times New Roman" panose="02020603050405020304" pitchFamily="18" charset="0"/>
              </a:rPr>
              <a:t> </a:t>
            </a:r>
            <a:r>
              <a:rPr lang="en-US" sz="2000" dirty="0" err="1">
                <a:cs typeface="Times New Roman" panose="02020603050405020304" pitchFamily="18" charset="0"/>
              </a:rPr>
              <a:t>linh</a:t>
            </a:r>
            <a:r>
              <a:rPr lang="en-US" sz="2000" dirty="0">
                <a:cs typeface="Times New Roman" panose="02020603050405020304" pitchFamily="18" charset="0"/>
              </a:rPr>
              <a:t> </a:t>
            </a:r>
            <a:r>
              <a:rPr lang="en-US" sz="2000" dirty="0" err="1">
                <a:cs typeface="Times New Roman" panose="02020603050405020304" pitchFamily="18" charset="0"/>
              </a:rPr>
              <a:t>hoạt</a:t>
            </a:r>
            <a:r>
              <a:rPr lang="en-US" sz="2000" dirty="0">
                <a:cs typeface="Times New Roman" panose="02020603050405020304" pitchFamily="18" charset="0"/>
              </a:rPr>
              <a:t> &amp; </a:t>
            </a:r>
            <a:r>
              <a:rPr lang="en-US" sz="2000" dirty="0" err="1">
                <a:cs typeface="Times New Roman" panose="02020603050405020304" pitchFamily="18" charset="0"/>
              </a:rPr>
              <a:t>hiệu</a:t>
            </a:r>
            <a:r>
              <a:rPr lang="en-US" sz="2000" dirty="0">
                <a:cs typeface="Times New Roman" panose="02020603050405020304" pitchFamily="18" charset="0"/>
              </a:rPr>
              <a:t> quả </a:t>
            </a:r>
            <a:r>
              <a:rPr lang="en-US" sz="2000" dirty="0" err="1">
                <a:cs typeface="Times New Roman" panose="02020603050405020304" pitchFamily="18" charset="0"/>
              </a:rPr>
              <a:t>hơn</a:t>
            </a:r>
            <a:endParaRPr lang="en-US" sz="2000" dirty="0">
              <a:cs typeface="Times New Roman" panose="02020603050405020304" pitchFamily="18" charset="0"/>
            </a:endParaRPr>
          </a:p>
          <a:p>
            <a:pPr>
              <a:lnSpc>
                <a:spcPct val="150000"/>
              </a:lnSpc>
              <a:buFont typeface="Wingdings" panose="05000000000000000000" pitchFamily="2" charset="2"/>
              <a:buChar char="ü"/>
            </a:pPr>
            <a:r>
              <a:rPr lang="en-US" sz="2000" dirty="0">
                <a:cs typeface="Times New Roman" panose="02020603050405020304" pitchFamily="18" charset="0"/>
              </a:rPr>
              <a:t>Thanh </a:t>
            </a:r>
            <a:r>
              <a:rPr lang="en-US" sz="2000" dirty="0" err="1">
                <a:cs typeface="Times New Roman" panose="02020603050405020304" pitchFamily="18" charset="0"/>
              </a:rPr>
              <a:t>khoản</a:t>
            </a:r>
            <a:r>
              <a:rPr lang="en-US" sz="2000" dirty="0">
                <a:cs typeface="Times New Roman" panose="02020603050405020304" pitchFamily="18" charset="0"/>
              </a:rPr>
              <a:t> </a:t>
            </a:r>
            <a:r>
              <a:rPr lang="en-US" sz="2000" dirty="0" err="1">
                <a:cs typeface="Times New Roman" panose="02020603050405020304" pitchFamily="18" charset="0"/>
              </a:rPr>
              <a:t>cao</a:t>
            </a:r>
            <a:r>
              <a:rPr lang="en-US" sz="2000" dirty="0">
                <a:cs typeface="Times New Roman" panose="02020603050405020304" pitchFamily="18" charset="0"/>
              </a:rPr>
              <a:t> </a:t>
            </a:r>
            <a:r>
              <a:rPr lang="en-US" sz="2000" dirty="0" err="1">
                <a:cs typeface="Times New Roman" panose="02020603050405020304" pitchFamily="18" charset="0"/>
              </a:rPr>
              <a:t>hơn</a:t>
            </a:r>
            <a:endParaRPr lang="en-US" sz="2000" dirty="0">
              <a:cs typeface="Times New Roman" panose="02020603050405020304" pitchFamily="18" charset="0"/>
            </a:endParaRPr>
          </a:p>
          <a:p>
            <a:pPr>
              <a:lnSpc>
                <a:spcPct val="150000"/>
              </a:lnSpc>
              <a:buFont typeface="Wingdings" panose="05000000000000000000" pitchFamily="2" charset="2"/>
              <a:buChar char="ü"/>
            </a:pPr>
            <a:r>
              <a:rPr lang="en-US" sz="2000" dirty="0" err="1">
                <a:cs typeface="Times New Roman" panose="02020603050405020304" pitchFamily="18" charset="0"/>
              </a:rPr>
              <a:t>Quản</a:t>
            </a:r>
            <a:r>
              <a:rPr lang="en-US" sz="2000" dirty="0">
                <a:cs typeface="Times New Roman" panose="02020603050405020304" pitchFamily="18" charset="0"/>
              </a:rPr>
              <a:t> </a:t>
            </a:r>
            <a:r>
              <a:rPr lang="en-US" sz="2000" dirty="0" err="1">
                <a:cs typeface="Times New Roman" panose="02020603050405020304" pitchFamily="18" charset="0"/>
              </a:rPr>
              <a:t>ly</a:t>
            </a:r>
            <a:r>
              <a:rPr lang="en-US" sz="2000" dirty="0">
                <a:cs typeface="Times New Roman" panose="02020603050405020304" pitchFamily="18" charset="0"/>
              </a:rPr>
              <a:t>́ </a:t>
            </a:r>
            <a:r>
              <a:rPr lang="en-US" sz="2000" dirty="0" err="1">
                <a:cs typeface="Times New Roman" panose="02020603050405020304" pitchFamily="18" charset="0"/>
              </a:rPr>
              <a:t>va</a:t>
            </a:r>
            <a:r>
              <a:rPr lang="en-US" sz="2000" dirty="0">
                <a:cs typeface="Times New Roman" panose="02020603050405020304" pitchFamily="18" charset="0"/>
              </a:rPr>
              <a:t>̀ </a:t>
            </a:r>
            <a:r>
              <a:rPr lang="en-US" sz="2000" dirty="0" err="1">
                <a:cs typeface="Times New Roman" panose="02020603050405020304" pitchFamily="18" charset="0"/>
              </a:rPr>
              <a:t>hoạt</a:t>
            </a:r>
            <a:r>
              <a:rPr lang="en-US" sz="2000" dirty="0">
                <a:cs typeface="Times New Roman" panose="02020603050405020304" pitchFamily="18" charset="0"/>
              </a:rPr>
              <a:t> </a:t>
            </a:r>
            <a:r>
              <a:rPr lang="en-US" sz="2000" dirty="0" err="1">
                <a:cs typeface="Times New Roman" panose="02020603050405020304" pitchFamily="18" charset="0"/>
              </a:rPr>
              <a:t>động</a:t>
            </a:r>
            <a:r>
              <a:rPr lang="en-US" sz="2000" dirty="0">
                <a:cs typeface="Times New Roman" panose="02020603050405020304" pitchFamily="18" charset="0"/>
              </a:rPr>
              <a:t> </a:t>
            </a:r>
            <a:r>
              <a:rPr lang="en-US" sz="2000" dirty="0" err="1">
                <a:cs typeface="Times New Roman" panose="02020603050405020304" pitchFamily="18" charset="0"/>
              </a:rPr>
              <a:t>hiệu</a:t>
            </a:r>
            <a:r>
              <a:rPr lang="en-US" sz="2000" dirty="0">
                <a:cs typeface="Times New Roman" panose="02020603050405020304" pitchFamily="18" charset="0"/>
              </a:rPr>
              <a:t> quả </a:t>
            </a:r>
            <a:r>
              <a:rPr lang="en-US" sz="2000" dirty="0" err="1">
                <a:cs typeface="Times New Roman" panose="02020603050405020304" pitchFamily="18" charset="0"/>
              </a:rPr>
              <a:t>hơn</a:t>
            </a:r>
            <a:endParaRPr lang="en" sz="2000" dirty="0">
              <a:cs typeface="Times New Roman" panose="02020603050405020304" pitchFamily="18" charset="0"/>
            </a:endParaRPr>
          </a:p>
          <a:p>
            <a:pPr>
              <a:lnSpc>
                <a:spcPct val="150000"/>
              </a:lnSpc>
              <a:buFont typeface="Wingdings" panose="05000000000000000000" pitchFamily="2" charset="2"/>
              <a:buChar char="ü"/>
            </a:pPr>
            <a:endParaRPr lang="en" dirty="0">
              <a:cs typeface="Times New Roman" panose="02020603050405020304" pitchFamily="18" charset="0"/>
            </a:endParaRPr>
          </a:p>
          <a:p>
            <a:pPr>
              <a:lnSpc>
                <a:spcPct val="150000"/>
              </a:lnSpc>
              <a:buClrTx/>
              <a:buFont typeface="Wingdings" panose="05000000000000000000" pitchFamily="2" charset="2"/>
              <a:buChar char="ü"/>
            </a:pPr>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4</a:t>
            </a:fld>
            <a:endParaRPr lang="en-US" altLang="en-US"/>
          </a:p>
        </p:txBody>
      </p:sp>
    </p:spTree>
    <p:extLst>
      <p:ext uri="{BB962C8B-B14F-4D97-AF65-F5344CB8AC3E}">
        <p14:creationId xmlns:p14="http://schemas.microsoft.com/office/powerpoint/2010/main" val="549010436"/>
      </p:ext>
    </p:extLst>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Chủ</a:t>
            </a:r>
            <a:r>
              <a:rPr lang="en-US" dirty="0"/>
              <a:t> </a:t>
            </a:r>
            <a:r>
              <a:rPr lang="en-US" dirty="0" err="1"/>
              <a:t>thể</a:t>
            </a:r>
            <a:r>
              <a:rPr lang="en-US" dirty="0"/>
              <a:t> </a:t>
            </a:r>
            <a:r>
              <a:rPr lang="en-US" dirty="0" err="1"/>
              <a:t>phát</a:t>
            </a:r>
            <a:r>
              <a:rPr lang="en-US" dirty="0"/>
              <a:t> </a:t>
            </a:r>
            <a:r>
              <a:rPr lang="en-US" dirty="0" err="1"/>
              <a:t>hành</a:t>
            </a:r>
            <a:r>
              <a:rPr lang="en-US" dirty="0"/>
              <a:t> </a:t>
            </a:r>
            <a:r>
              <a:rPr lang="en-US" dirty="0" err="1"/>
              <a:t>chứng</a:t>
            </a:r>
            <a:r>
              <a:rPr lang="en-US" dirty="0"/>
              <a:t> </a:t>
            </a:r>
            <a:r>
              <a:rPr lang="en-US" dirty="0" err="1"/>
              <a:t>khoán</a:t>
            </a:r>
            <a:r>
              <a:rPr lang="en-US" dirty="0"/>
              <a:t> </a:t>
            </a:r>
          </a:p>
        </p:txBody>
      </p:sp>
      <p:sp>
        <p:nvSpPr>
          <p:cNvPr id="3" name="Content Placeholder 2"/>
          <p:cNvSpPr>
            <a:spLocks noGrp="1"/>
          </p:cNvSpPr>
          <p:nvPr>
            <p:ph idx="1"/>
          </p:nvPr>
        </p:nvSpPr>
        <p:spPr/>
        <p:txBody>
          <a:bodyPr/>
          <a:lstStyle/>
          <a:p>
            <a:r>
              <a:rPr lang="en-US" dirty="0" err="1" smtClean="0"/>
              <a:t>Chính</a:t>
            </a:r>
            <a:r>
              <a:rPr lang="en-US" dirty="0" smtClean="0"/>
              <a:t> </a:t>
            </a:r>
            <a:r>
              <a:rPr lang="en-US" dirty="0" err="1" smtClean="0"/>
              <a:t>phủ</a:t>
            </a:r>
            <a:endParaRPr lang="en-US" dirty="0" smtClean="0"/>
          </a:p>
          <a:p>
            <a:r>
              <a:rPr lang="en-US" dirty="0" err="1" smtClean="0"/>
              <a:t>Doanh</a:t>
            </a:r>
            <a:r>
              <a:rPr lang="en-US" dirty="0" smtClean="0"/>
              <a:t> </a:t>
            </a:r>
            <a:r>
              <a:rPr lang="en-US" dirty="0" err="1" smtClean="0"/>
              <a:t>nghiệp</a:t>
            </a:r>
            <a:endParaRPr lang="en-US" dirty="0" smtClean="0"/>
          </a:p>
          <a:p>
            <a:r>
              <a:rPr lang="en-US" dirty="0" err="1" smtClean="0"/>
              <a:t>Công</a:t>
            </a:r>
            <a:r>
              <a:rPr lang="en-US" dirty="0" smtClean="0"/>
              <a:t> </a:t>
            </a:r>
            <a:r>
              <a:rPr lang="en-US" dirty="0" err="1" smtClean="0"/>
              <a:t>ty</a:t>
            </a:r>
            <a:r>
              <a:rPr lang="en-US" dirty="0" smtClean="0"/>
              <a:t> </a:t>
            </a:r>
            <a:r>
              <a:rPr lang="en-US" dirty="0" err="1" smtClean="0"/>
              <a:t>quản</a:t>
            </a:r>
            <a:r>
              <a:rPr lang="en-US" dirty="0" smtClean="0"/>
              <a:t> </a:t>
            </a:r>
            <a:r>
              <a:rPr lang="en-US" dirty="0" err="1" smtClean="0"/>
              <a:t>lý</a:t>
            </a:r>
            <a:r>
              <a:rPr lang="en-US" dirty="0" smtClean="0"/>
              <a:t> </a:t>
            </a:r>
            <a:r>
              <a:rPr lang="en-US" dirty="0" err="1" smtClean="0"/>
              <a:t>đầu</a:t>
            </a:r>
            <a:r>
              <a:rPr lang="en-US" dirty="0" smtClean="0"/>
              <a:t> </a:t>
            </a:r>
            <a:r>
              <a:rPr lang="en-US" dirty="0" err="1" smtClean="0"/>
              <a:t>tư</a:t>
            </a:r>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5</a:t>
            </a:fld>
            <a:endParaRPr lang="en-US" altLang="en-US"/>
          </a:p>
        </p:txBody>
      </p:sp>
    </p:spTree>
    <p:extLst>
      <p:ext uri="{BB962C8B-B14F-4D97-AF65-F5344CB8AC3E}">
        <p14:creationId xmlns:p14="http://schemas.microsoft.com/office/powerpoint/2010/main" val="1614750547"/>
      </p:ext>
    </p:extLst>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vi-VN" dirty="0"/>
              <a:t>Phương thức chào bán chứng khoán</a:t>
            </a:r>
            <a:endParaRPr lang="en-US" dirty="0"/>
          </a:p>
        </p:txBody>
      </p:sp>
      <p:sp>
        <p:nvSpPr>
          <p:cNvPr id="3" name="Content Placeholder 2"/>
          <p:cNvSpPr>
            <a:spLocks noGrp="1"/>
          </p:cNvSpPr>
          <p:nvPr>
            <p:ph idx="1"/>
          </p:nvPr>
        </p:nvSpPr>
        <p:spPr/>
        <p:txBody>
          <a:bodyPr/>
          <a:lstStyle/>
          <a:p>
            <a:r>
              <a:rPr lang="vi-VN" sz="2400" dirty="0"/>
              <a:t>Phát hành riêng lẻ: </a:t>
            </a:r>
          </a:p>
          <a:p>
            <a:r>
              <a:rPr lang="vi-VN" sz="2400" dirty="0"/>
              <a:t>Chào bán cổ phần riêng lẻ là quá trình trong đó chứng khoán được bán trong phạm vi một số người nhất định (thông thường là cho các nhà đầu tư có tổ chức), với những điều kiện (khối lượng phát hành) hạn chế và không tiến hành một cách rộng rãi ra công chúng</a:t>
            </a:r>
          </a:p>
          <a:p>
            <a:r>
              <a:rPr lang="vi-VN" sz="2400" dirty="0"/>
              <a:t>Nguyên nhân:</a:t>
            </a:r>
          </a:p>
          <a:p>
            <a:r>
              <a:rPr lang="vi-VN" sz="2400" dirty="0"/>
              <a:t>Doanh nghiệp không đủ điều kiện phát hành ra công chúng;</a:t>
            </a:r>
          </a:p>
          <a:p>
            <a:r>
              <a:rPr lang="vi-VN" sz="2400" dirty="0"/>
              <a:t>Số lượng vốn cần huy động thấp;</a:t>
            </a:r>
          </a:p>
          <a:p>
            <a:r>
              <a:rPr lang="vi-VN" sz="2400" dirty="0"/>
              <a:t>Doanh nghiệp phát hành hằm mục đích duy trì các mối quan hệ kinh doanh;</a:t>
            </a:r>
          </a:p>
          <a:p>
            <a:r>
              <a:rPr lang="vi-VN" sz="2400" dirty="0"/>
              <a:t>Phát hành cho cán bộ công nhân viên của công ty (ESOP).</a:t>
            </a:r>
            <a:endParaRPr lang="en-US" sz="2400"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6</a:t>
            </a:fld>
            <a:endParaRPr lang="en-US" altLang="en-US"/>
          </a:p>
        </p:txBody>
      </p:sp>
    </p:spTree>
    <p:extLst>
      <p:ext uri="{BB962C8B-B14F-4D97-AF65-F5344CB8AC3E}">
        <p14:creationId xmlns:p14="http://schemas.microsoft.com/office/powerpoint/2010/main" val="2212021605"/>
      </p:ext>
    </p:extLst>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a:t>
            </a:r>
            <a:r>
              <a:rPr lang="en-US" dirty="0" err="1"/>
              <a:t>Chào</a:t>
            </a:r>
            <a:r>
              <a:rPr lang="en-US" dirty="0"/>
              <a:t> </a:t>
            </a:r>
            <a:r>
              <a:rPr lang="en-US" dirty="0" err="1"/>
              <a:t>bán</a:t>
            </a:r>
            <a:r>
              <a:rPr lang="en-US" dirty="0"/>
              <a:t> </a:t>
            </a:r>
            <a:r>
              <a:rPr lang="en-US" dirty="0" err="1"/>
              <a:t>chứng</a:t>
            </a:r>
            <a:r>
              <a:rPr lang="en-US" dirty="0"/>
              <a:t> </a:t>
            </a:r>
            <a:r>
              <a:rPr lang="en-US" dirty="0" err="1"/>
              <a:t>khoán</a:t>
            </a:r>
            <a:r>
              <a:rPr lang="en-US" dirty="0"/>
              <a:t> </a:t>
            </a:r>
            <a:r>
              <a:rPr lang="en-US" dirty="0" err="1"/>
              <a:t>lần</a:t>
            </a:r>
            <a:r>
              <a:rPr lang="en-US" dirty="0"/>
              <a:t> </a:t>
            </a:r>
            <a:r>
              <a:rPr lang="en-US" dirty="0" err="1"/>
              <a:t>đầu</a:t>
            </a:r>
            <a:r>
              <a:rPr lang="en-US" dirty="0"/>
              <a:t> </a:t>
            </a:r>
            <a:r>
              <a:rPr lang="en-US" dirty="0" err="1"/>
              <a:t>ra</a:t>
            </a:r>
            <a:r>
              <a:rPr lang="en-US" dirty="0"/>
              <a:t> </a:t>
            </a:r>
            <a:r>
              <a:rPr lang="en-US" dirty="0" err="1"/>
              <a:t>công</a:t>
            </a:r>
            <a:r>
              <a:rPr lang="en-US" dirty="0"/>
              <a:t> </a:t>
            </a:r>
            <a:r>
              <a:rPr lang="en-US" dirty="0" err="1"/>
              <a:t>chúng</a:t>
            </a:r>
            <a:r>
              <a:rPr lang="en-US" dirty="0"/>
              <a:t> (IPO)</a:t>
            </a:r>
          </a:p>
        </p:txBody>
      </p:sp>
      <p:sp>
        <p:nvSpPr>
          <p:cNvPr id="3" name="Content Placeholder 2"/>
          <p:cNvSpPr>
            <a:spLocks noGrp="1"/>
          </p:cNvSpPr>
          <p:nvPr>
            <p:ph idx="1"/>
          </p:nvPr>
        </p:nvSpPr>
        <p:spPr/>
        <p:txBody>
          <a:bodyPr/>
          <a:lstStyle/>
          <a:p>
            <a:r>
              <a:rPr lang="vi-VN" dirty="0"/>
              <a:t>Chào bán chứng khoán ra công chúng là việc chào bán chứng khoán rộng rãi cho một số lượng lớn công chúng đầu tư, trong đó, một tỷ lệ nhất định chứng khoán phải được phân bổ cho các nhà đầu tư nhỏ lẻ. </a:t>
            </a:r>
          </a:p>
          <a:p>
            <a:r>
              <a:rPr lang="en-US" dirty="0"/>
              <a:t>C</a:t>
            </a:r>
            <a:r>
              <a:rPr lang="vi-VN" dirty="0"/>
              <a:t>ổ phần được bán lần đầu cho công chúng nhằm tăng vốn thì đó là IPO sơ cấp, còn khi cổ phần được bán lần đầu từ số cổ phần hiện hữu thì đó là IPO thứ cấp”</a:t>
            </a:r>
          </a:p>
          <a:p>
            <a:r>
              <a:rPr lang="en-US" dirty="0" err="1"/>
              <a:t>Luật</a:t>
            </a:r>
            <a:r>
              <a:rPr lang="en-US" dirty="0"/>
              <a:t> </a:t>
            </a:r>
            <a:r>
              <a:rPr lang="en-US" dirty="0" err="1"/>
              <a:t>chứng</a:t>
            </a:r>
            <a:r>
              <a:rPr lang="en-US" dirty="0"/>
              <a:t> </a:t>
            </a:r>
            <a:r>
              <a:rPr lang="en-US" dirty="0" err="1"/>
              <a:t>khoán</a:t>
            </a:r>
            <a:r>
              <a:rPr lang="en-US" dirty="0"/>
              <a:t> 54/2019/QH14 </a:t>
            </a:r>
            <a:r>
              <a:rPr lang="en-US" dirty="0" err="1"/>
              <a:t>đa</a:t>
            </a:r>
            <a:r>
              <a:rPr lang="en-US" dirty="0"/>
              <a:t>̃ </a:t>
            </a:r>
            <a:r>
              <a:rPr lang="en-US" dirty="0" err="1"/>
              <a:t>nâng</a:t>
            </a:r>
            <a:r>
              <a:rPr lang="en-US" dirty="0"/>
              <a:t> </a:t>
            </a:r>
            <a:r>
              <a:rPr lang="en-US" dirty="0" err="1"/>
              <a:t>các</a:t>
            </a:r>
            <a:r>
              <a:rPr lang="en-US" dirty="0"/>
              <a:t> </a:t>
            </a:r>
            <a:r>
              <a:rPr lang="en-US" dirty="0" err="1"/>
              <a:t>điều</a:t>
            </a:r>
            <a:r>
              <a:rPr lang="en-US" dirty="0"/>
              <a:t> </a:t>
            </a:r>
            <a:r>
              <a:rPr lang="en-US" dirty="0" err="1"/>
              <a:t>kiện</a:t>
            </a:r>
            <a:r>
              <a:rPr lang="en-US" dirty="0"/>
              <a:t> </a:t>
            </a:r>
            <a:r>
              <a:rPr lang="en-US" dirty="0" err="1"/>
              <a:t>đối</a:t>
            </a:r>
            <a:r>
              <a:rPr lang="en-US" dirty="0"/>
              <a:t> </a:t>
            </a:r>
            <a:r>
              <a:rPr lang="en-US" dirty="0" err="1"/>
              <a:t>với</a:t>
            </a:r>
            <a:r>
              <a:rPr lang="en-US" dirty="0"/>
              <a:t> </a:t>
            </a:r>
            <a:r>
              <a:rPr lang="en-US" dirty="0" err="1"/>
              <a:t>chào</a:t>
            </a:r>
            <a:r>
              <a:rPr lang="en-US" dirty="0"/>
              <a:t> </a:t>
            </a:r>
            <a:r>
              <a:rPr lang="en-US" dirty="0" err="1"/>
              <a:t>bán</a:t>
            </a:r>
            <a:r>
              <a:rPr lang="en-US" dirty="0"/>
              <a:t> </a:t>
            </a:r>
            <a:r>
              <a:rPr lang="en-US" dirty="0" err="1"/>
              <a:t>chứng</a:t>
            </a:r>
            <a:r>
              <a:rPr lang="en-US" dirty="0"/>
              <a:t> </a:t>
            </a:r>
            <a:r>
              <a:rPr lang="en-US" dirty="0" err="1"/>
              <a:t>khoán</a:t>
            </a:r>
            <a:r>
              <a:rPr lang="en-US" dirty="0"/>
              <a:t> </a:t>
            </a:r>
            <a:r>
              <a:rPr lang="en-US" dirty="0" err="1"/>
              <a:t>lần</a:t>
            </a:r>
            <a:r>
              <a:rPr lang="en-US" dirty="0"/>
              <a:t> </a:t>
            </a:r>
            <a:r>
              <a:rPr lang="en-US" dirty="0" err="1"/>
              <a:t>đầu</a:t>
            </a:r>
            <a:r>
              <a:rPr lang="en-US" dirty="0"/>
              <a:t> </a:t>
            </a:r>
            <a:r>
              <a:rPr lang="en-US" dirty="0" err="1"/>
              <a:t>ra</a:t>
            </a:r>
            <a:r>
              <a:rPr lang="en-US" dirty="0"/>
              <a:t> </a:t>
            </a:r>
            <a:r>
              <a:rPr lang="en-US" dirty="0" err="1"/>
              <a:t>công</a:t>
            </a:r>
            <a:r>
              <a:rPr lang="en-US" dirty="0"/>
              <a:t> </a:t>
            </a:r>
            <a:r>
              <a:rPr lang="en-US" dirty="0" err="1"/>
              <a:t>chúng</a:t>
            </a:r>
            <a:endParaRPr lang="en-US" dirty="0"/>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7</a:t>
            </a:fld>
            <a:endParaRPr lang="en-US" altLang="en-US"/>
          </a:p>
        </p:txBody>
      </p:sp>
    </p:spTree>
    <p:extLst>
      <p:ext uri="{BB962C8B-B14F-4D97-AF65-F5344CB8AC3E}">
        <p14:creationId xmlns:p14="http://schemas.microsoft.com/office/powerpoint/2010/main" val="2372564747"/>
      </p:ext>
    </p:extLst>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a:t>
            </a:r>
            <a:r>
              <a:rPr lang="en-US" dirty="0" err="1"/>
              <a:t>sánh</a:t>
            </a:r>
            <a:r>
              <a:rPr lang="en-US" dirty="0"/>
              <a:t> </a:t>
            </a:r>
            <a:r>
              <a:rPr lang="en-US" dirty="0" err="1"/>
              <a:t>chào</a:t>
            </a:r>
            <a:r>
              <a:rPr lang="en-US" dirty="0"/>
              <a:t> </a:t>
            </a:r>
            <a:r>
              <a:rPr lang="en-US" dirty="0" err="1"/>
              <a:t>bán</a:t>
            </a:r>
            <a:r>
              <a:rPr lang="en-US" dirty="0"/>
              <a:t> </a:t>
            </a:r>
            <a:r>
              <a:rPr lang="en-US" dirty="0" err="1"/>
              <a:t>riêng</a:t>
            </a:r>
            <a:r>
              <a:rPr lang="en-US" dirty="0"/>
              <a:t> </a:t>
            </a:r>
            <a:r>
              <a:rPr lang="en-US" dirty="0" err="1"/>
              <a:t>lẻ</a:t>
            </a:r>
            <a:r>
              <a:rPr lang="en-US" dirty="0"/>
              <a:t> </a:t>
            </a:r>
            <a:r>
              <a:rPr lang="en-US" dirty="0" err="1"/>
              <a:t>và</a:t>
            </a:r>
            <a:r>
              <a:rPr lang="en-US" dirty="0"/>
              <a:t> </a:t>
            </a:r>
            <a:r>
              <a:rPr lang="en-US" dirty="0" err="1"/>
              <a:t>chào</a:t>
            </a:r>
            <a:r>
              <a:rPr lang="en-US" dirty="0"/>
              <a:t> </a:t>
            </a:r>
            <a:r>
              <a:rPr lang="en-US" dirty="0" err="1"/>
              <a:t>bán</a:t>
            </a:r>
            <a:r>
              <a:rPr lang="en-US" dirty="0"/>
              <a:t> </a:t>
            </a:r>
            <a:r>
              <a:rPr lang="en-US" dirty="0" err="1"/>
              <a:t>ra</a:t>
            </a:r>
            <a:r>
              <a:rPr lang="en-US" dirty="0"/>
              <a:t> </a:t>
            </a:r>
            <a:r>
              <a:rPr lang="en-US" dirty="0" err="1"/>
              <a:t>công</a:t>
            </a:r>
            <a:r>
              <a:rPr lang="en-US" dirty="0"/>
              <a:t> </a:t>
            </a:r>
            <a:r>
              <a:rPr lang="en-US" dirty="0" err="1"/>
              <a:t>chúng</a:t>
            </a:r>
            <a:endParaRPr lang="en-US" dirty="0"/>
          </a:p>
        </p:txBody>
      </p:sp>
      <p:sp>
        <p:nvSpPr>
          <p:cNvPr id="3" name="Content Placeholder 2"/>
          <p:cNvSpPr>
            <a:spLocks noGrp="1"/>
          </p:cNvSpPr>
          <p:nvPr>
            <p:ph idx="1"/>
          </p:nvPr>
        </p:nvSpPr>
        <p:spPr/>
        <p:txBody>
          <a:bodyPr/>
          <a:lstStyle/>
          <a:p>
            <a:r>
              <a:rPr lang="en-AU" dirty="0" err="1">
                <a:cs typeface="Times New Roman" panose="02020603050405020304" pitchFamily="18" charset="0"/>
              </a:rPr>
              <a:t>Chào</a:t>
            </a:r>
            <a:r>
              <a:rPr lang="en-AU" dirty="0">
                <a:cs typeface="Times New Roman" panose="02020603050405020304" pitchFamily="18" charset="0"/>
              </a:rPr>
              <a:t> </a:t>
            </a:r>
            <a:r>
              <a:rPr lang="en-AU" dirty="0" err="1">
                <a:cs typeface="Times New Roman" panose="02020603050405020304" pitchFamily="18" charset="0"/>
              </a:rPr>
              <a:t>bán</a:t>
            </a:r>
            <a:r>
              <a:rPr lang="en-AU" dirty="0">
                <a:cs typeface="Times New Roman" panose="02020603050405020304" pitchFamily="18" charset="0"/>
              </a:rPr>
              <a:t> </a:t>
            </a:r>
            <a:r>
              <a:rPr lang="en-AU" dirty="0" err="1">
                <a:cs typeface="Times New Roman" panose="02020603050405020304" pitchFamily="18" charset="0"/>
              </a:rPr>
              <a:t>riêng</a:t>
            </a:r>
            <a:r>
              <a:rPr lang="en-AU" dirty="0">
                <a:cs typeface="Times New Roman" panose="02020603050405020304" pitchFamily="18" charset="0"/>
              </a:rPr>
              <a:t> </a:t>
            </a:r>
            <a:r>
              <a:rPr lang="en-AU" dirty="0" err="1">
                <a:cs typeface="Times New Roman" panose="02020603050405020304" pitchFamily="18" charset="0"/>
              </a:rPr>
              <a:t>lẻ</a:t>
            </a:r>
            <a:endParaRPr lang="en" dirty="0">
              <a:cs typeface="Times New Roman" panose="02020603050405020304" pitchFamily="18" charset="0"/>
            </a:endParaRPr>
          </a:p>
          <a:p>
            <a:pPr>
              <a:buClrTx/>
              <a:buFont typeface="Wingdings" panose="05000000000000000000" pitchFamily="2" charset="2"/>
              <a:buChar char="ü"/>
            </a:pPr>
            <a:r>
              <a:rPr lang="vi-VN" dirty="0">
                <a:cs typeface="Times New Roman" panose="02020603050405020304" pitchFamily="18" charset="0"/>
              </a:rPr>
              <a:t>Chi phí chào bán thấp</a:t>
            </a:r>
          </a:p>
          <a:p>
            <a:pPr>
              <a:buClrTx/>
              <a:buFont typeface="Wingdings" panose="05000000000000000000" pitchFamily="2" charset="2"/>
              <a:buChar char="ü"/>
            </a:pPr>
            <a:r>
              <a:rPr lang="vi-VN" dirty="0">
                <a:cs typeface="Times New Roman" panose="02020603050405020304" pitchFamily="18" charset="0"/>
              </a:rPr>
              <a:t>Số lượng nhà đầu tư hạn chế (dưới 100 NĐT)</a:t>
            </a:r>
          </a:p>
          <a:p>
            <a:pPr>
              <a:buClrTx/>
              <a:buFont typeface="Wingdings" panose="05000000000000000000" pitchFamily="2" charset="2"/>
              <a:buChar char="ü"/>
            </a:pPr>
            <a:r>
              <a:rPr lang="vi-VN" dirty="0">
                <a:cs typeface="Times New Roman" panose="02020603050405020304" pitchFamily="18" charset="0"/>
              </a:rPr>
              <a:t>Giá CK chào bán thường không cao bằng chào bán ra công chúng</a:t>
            </a:r>
          </a:p>
          <a:p>
            <a:pPr>
              <a:buClrTx/>
              <a:buFont typeface="Wingdings" panose="05000000000000000000" pitchFamily="2" charset="2"/>
              <a:buChar char="ü"/>
            </a:pPr>
            <a:r>
              <a:rPr lang="vi-VN" dirty="0">
                <a:cs typeface="Times New Roman" panose="02020603050405020304" pitchFamily="18" charset="0"/>
              </a:rPr>
              <a:t>Không thuận lợi cho việc quảng bá hình ảnh công ty</a:t>
            </a:r>
          </a:p>
          <a:p>
            <a:pPr>
              <a:buClrTx/>
              <a:buFont typeface="Wingdings" panose="05000000000000000000" pitchFamily="2" charset="2"/>
              <a:buChar char="ü"/>
            </a:pPr>
            <a:r>
              <a:rPr lang="vi-VN" dirty="0">
                <a:cs typeface="Times New Roman" panose="02020603050405020304" pitchFamily="18" charset="0"/>
              </a:rPr>
              <a:t>Tỷ lệ sở hữu của cổ đông thường lớn hơn chào bán ra công chúng</a:t>
            </a:r>
          </a:p>
          <a:p>
            <a:pPr>
              <a:buClrTx/>
              <a:buFont typeface="Wingdings" panose="05000000000000000000" pitchFamily="2" charset="2"/>
              <a:buChar char="ü"/>
            </a:pPr>
            <a:r>
              <a:rPr lang="vi-VN" dirty="0">
                <a:cs typeface="Times New Roman" panose="02020603050405020304" pitchFamily="18" charset="0"/>
              </a:rPr>
              <a:t>Chịu sự điểu chỉn</a:t>
            </a:r>
            <a:r>
              <a:rPr lang="en-AU" dirty="0">
                <a:cs typeface="Times New Roman" panose="02020603050405020304" pitchFamily="18" charset="0"/>
              </a:rPr>
              <a:t>h</a:t>
            </a:r>
            <a:r>
              <a:rPr lang="vi-VN" dirty="0">
                <a:cs typeface="Times New Roman" panose="02020603050405020304" pitchFamily="18" charset="0"/>
              </a:rPr>
              <a:t> của Luật Doanh nghiệp</a:t>
            </a:r>
          </a:p>
          <a:p>
            <a:pPr>
              <a:buClrTx/>
              <a:buFont typeface="Wingdings" panose="05000000000000000000" pitchFamily="2" charset="2"/>
              <a:buChar char="ü"/>
            </a:pPr>
            <a:r>
              <a:rPr lang="vi-VN" dirty="0">
                <a:cs typeface="Times New Roman" panose="02020603050405020304" pitchFamily="18" charset="0"/>
              </a:rPr>
              <a:t>Khó phản ánh cung cầu của NĐT</a:t>
            </a:r>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8</a:t>
            </a:fld>
            <a:endParaRPr lang="en-US" altLang="en-US"/>
          </a:p>
        </p:txBody>
      </p:sp>
    </p:spTree>
    <p:extLst>
      <p:ext uri="{BB962C8B-B14F-4D97-AF65-F5344CB8AC3E}">
        <p14:creationId xmlns:p14="http://schemas.microsoft.com/office/powerpoint/2010/main" val="988896868"/>
      </p:ext>
    </p:ext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AU" dirty="0" err="1">
                <a:cs typeface="Times New Roman" panose="02020603050405020304" pitchFamily="18" charset="0"/>
              </a:rPr>
              <a:t>Chào</a:t>
            </a:r>
            <a:r>
              <a:rPr lang="en-AU" dirty="0">
                <a:cs typeface="Times New Roman" panose="02020603050405020304" pitchFamily="18" charset="0"/>
              </a:rPr>
              <a:t> </a:t>
            </a:r>
            <a:r>
              <a:rPr lang="en-AU" dirty="0" err="1">
                <a:cs typeface="Times New Roman" panose="02020603050405020304" pitchFamily="18" charset="0"/>
              </a:rPr>
              <a:t>bán</a:t>
            </a:r>
            <a:r>
              <a:rPr lang="en-AU" dirty="0">
                <a:cs typeface="Times New Roman" panose="02020603050405020304" pitchFamily="18" charset="0"/>
              </a:rPr>
              <a:t> </a:t>
            </a:r>
            <a:r>
              <a:rPr lang="en-AU" dirty="0" err="1">
                <a:cs typeface="Times New Roman" panose="02020603050405020304" pitchFamily="18" charset="0"/>
              </a:rPr>
              <a:t>ra</a:t>
            </a:r>
            <a:r>
              <a:rPr lang="en-AU" dirty="0">
                <a:cs typeface="Times New Roman" panose="02020603050405020304" pitchFamily="18" charset="0"/>
              </a:rPr>
              <a:t> </a:t>
            </a:r>
            <a:r>
              <a:rPr lang="en-AU" dirty="0" err="1">
                <a:cs typeface="Times New Roman" panose="02020603050405020304" pitchFamily="18" charset="0"/>
              </a:rPr>
              <a:t>công</a:t>
            </a:r>
            <a:r>
              <a:rPr lang="en-AU" dirty="0">
                <a:cs typeface="Times New Roman" panose="02020603050405020304" pitchFamily="18" charset="0"/>
              </a:rPr>
              <a:t> </a:t>
            </a:r>
            <a:r>
              <a:rPr lang="en-AU" dirty="0" err="1">
                <a:cs typeface="Times New Roman" panose="02020603050405020304" pitchFamily="18" charset="0"/>
              </a:rPr>
              <a:t>chúng</a:t>
            </a:r>
            <a:endParaRPr lang="en" dirty="0">
              <a:cs typeface="Times New Roman" panose="02020603050405020304" pitchFamily="18" charset="0"/>
            </a:endParaRPr>
          </a:p>
          <a:p>
            <a:pPr>
              <a:buClrTx/>
              <a:buFont typeface="Wingdings" panose="05000000000000000000" pitchFamily="2" charset="2"/>
              <a:buChar char="ü"/>
            </a:pPr>
            <a:r>
              <a:rPr lang="vi-VN" dirty="0">
                <a:cs typeface="Times New Roman" panose="02020603050405020304" pitchFamily="18" charset="0"/>
                <a:sym typeface="Arial"/>
                <a:rtl val="0"/>
              </a:rPr>
              <a:t>Chi phí chào bán cao</a:t>
            </a:r>
          </a:p>
          <a:p>
            <a:pPr>
              <a:buClrTx/>
              <a:buFont typeface="Wingdings" panose="05000000000000000000" pitchFamily="2" charset="2"/>
              <a:buChar char="ü"/>
            </a:pPr>
            <a:r>
              <a:rPr lang="vi-VN" dirty="0">
                <a:cs typeface="Times New Roman" panose="02020603050405020304" pitchFamily="18" charset="0"/>
                <a:sym typeface="Arial"/>
                <a:rtl val="0"/>
              </a:rPr>
              <a:t>Không giới hạn số lượng nhà đầu tư</a:t>
            </a:r>
          </a:p>
          <a:p>
            <a:pPr>
              <a:buClrTx/>
              <a:buFont typeface="Wingdings" panose="05000000000000000000" pitchFamily="2" charset="2"/>
              <a:buChar char="ü"/>
            </a:pPr>
            <a:r>
              <a:rPr lang="vi-VN" dirty="0">
                <a:cs typeface="Times New Roman" panose="02020603050405020304" pitchFamily="18" charset="0"/>
                <a:sym typeface="Arial"/>
                <a:rtl val="0"/>
              </a:rPr>
              <a:t>Giá CK chào bán cao hơn chào bán riêng lẻ</a:t>
            </a:r>
          </a:p>
          <a:p>
            <a:pPr>
              <a:buClrTx/>
              <a:buFont typeface="Wingdings" panose="05000000000000000000" pitchFamily="2" charset="2"/>
              <a:buChar char="ü"/>
            </a:pPr>
            <a:r>
              <a:rPr lang="vi-VN" dirty="0">
                <a:cs typeface="Times New Roman" panose="02020603050405020304" pitchFamily="18" charset="0"/>
                <a:sym typeface="Arial"/>
                <a:rtl val="0"/>
              </a:rPr>
              <a:t>Thuận lợi trong việc quảng bá hình ảnh công ty</a:t>
            </a:r>
          </a:p>
          <a:p>
            <a:pPr>
              <a:buClrTx/>
              <a:buFont typeface="Wingdings" panose="05000000000000000000" pitchFamily="2" charset="2"/>
              <a:buChar char="ü"/>
            </a:pPr>
            <a:r>
              <a:rPr lang="vi-VN" dirty="0">
                <a:cs typeface="Times New Roman" panose="02020603050405020304" pitchFamily="18" charset="0"/>
                <a:sym typeface="Arial"/>
                <a:rtl val="0"/>
              </a:rPr>
              <a:t>Tỷ lệ sở hữu của cổ đông thường nhỏ</a:t>
            </a:r>
          </a:p>
          <a:p>
            <a:pPr>
              <a:buClrTx/>
              <a:buFont typeface="Wingdings" panose="05000000000000000000" pitchFamily="2" charset="2"/>
              <a:buChar char="ü"/>
            </a:pPr>
            <a:r>
              <a:rPr lang="vi-VN" dirty="0">
                <a:cs typeface="Times New Roman" panose="02020603050405020304" pitchFamily="18" charset="0"/>
                <a:sym typeface="Arial"/>
                <a:rtl val="0"/>
              </a:rPr>
              <a:t>Chiu sự điều chỉnh của Luật chứng khoán</a:t>
            </a:r>
          </a:p>
          <a:p>
            <a:pPr>
              <a:buClrTx/>
              <a:buFont typeface="Wingdings" panose="05000000000000000000" pitchFamily="2" charset="2"/>
              <a:buChar char="ü"/>
            </a:pPr>
            <a:r>
              <a:rPr lang="vi-VN" dirty="0">
                <a:cs typeface="Times New Roman" panose="02020603050405020304" pitchFamily="18" charset="0"/>
                <a:sym typeface="Arial"/>
                <a:rtl val="0"/>
              </a:rPr>
              <a:t>Phản ánh rõ nét c</a:t>
            </a:r>
            <a:r>
              <a:rPr lang="vi-VN" dirty="0">
                <a:cs typeface="Times New Roman" panose="02020603050405020304" pitchFamily="18" charset="0"/>
              </a:rPr>
              <a:t>ung cầu của NĐT</a:t>
            </a:r>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9</a:t>
            </a:fld>
            <a:endParaRPr lang="en-US" altLang="en-US"/>
          </a:p>
        </p:txBody>
      </p:sp>
    </p:spTree>
    <p:extLst>
      <p:ext uri="{BB962C8B-B14F-4D97-AF65-F5344CB8AC3E}">
        <p14:creationId xmlns:p14="http://schemas.microsoft.com/office/powerpoint/2010/main" val="3058877332"/>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0070C0"/>
                </a:solidFill>
              </a:rPr>
              <a:t>Điều</a:t>
            </a:r>
            <a:r>
              <a:rPr lang="en-US" dirty="0">
                <a:solidFill>
                  <a:srgbClr val="0070C0"/>
                </a:solidFill>
              </a:rPr>
              <a:t> </a:t>
            </a:r>
            <a:r>
              <a:rPr lang="en-US" dirty="0" err="1">
                <a:solidFill>
                  <a:srgbClr val="0070C0"/>
                </a:solidFill>
              </a:rPr>
              <a:t>kiện</a:t>
            </a:r>
            <a:r>
              <a:rPr lang="en-US" dirty="0">
                <a:solidFill>
                  <a:srgbClr val="0070C0"/>
                </a:solidFill>
              </a:rPr>
              <a:t> IPOs</a:t>
            </a:r>
            <a:br>
              <a:rPr lang="en-US" dirty="0">
                <a:solidFill>
                  <a:srgbClr val="0070C0"/>
                </a:solidFill>
              </a:rPr>
            </a:br>
            <a:endParaRPr lang="en-US" dirty="0"/>
          </a:p>
        </p:txBody>
      </p:sp>
      <p:sp>
        <p:nvSpPr>
          <p:cNvPr id="3" name="Content Placeholder 2"/>
          <p:cNvSpPr>
            <a:spLocks noGrp="1"/>
          </p:cNvSpPr>
          <p:nvPr>
            <p:ph idx="1"/>
          </p:nvPr>
        </p:nvSpPr>
        <p:spPr/>
        <p:txBody>
          <a:bodyPr/>
          <a:lstStyle/>
          <a:p>
            <a:pPr marL="285750" indent="-285750">
              <a:buFontTx/>
              <a:buChar char="-"/>
            </a:pPr>
            <a:r>
              <a:rPr lang="en-US" dirty="0" err="1"/>
              <a:t>Quy</a:t>
            </a:r>
            <a:r>
              <a:rPr lang="en-US" dirty="0"/>
              <a:t> </a:t>
            </a:r>
            <a:r>
              <a:rPr lang="en-US" dirty="0" err="1"/>
              <a:t>mô</a:t>
            </a:r>
            <a:r>
              <a:rPr lang="en-US" dirty="0"/>
              <a:t> </a:t>
            </a:r>
            <a:r>
              <a:rPr lang="en-US" dirty="0" err="1"/>
              <a:t>vốn</a:t>
            </a:r>
            <a:endParaRPr lang="en-US" dirty="0"/>
          </a:p>
          <a:p>
            <a:pPr marL="285750" indent="-285750">
              <a:buFontTx/>
              <a:buChar char="-"/>
            </a:pPr>
            <a:r>
              <a:rPr lang="en-US" dirty="0" err="1"/>
              <a:t>Tính</a:t>
            </a:r>
            <a:r>
              <a:rPr lang="en-US" dirty="0"/>
              <a:t> </a:t>
            </a:r>
            <a:r>
              <a:rPr lang="en-US" dirty="0" err="1"/>
              <a:t>liên</a:t>
            </a:r>
            <a:r>
              <a:rPr lang="en-US" dirty="0"/>
              <a:t> </a:t>
            </a:r>
            <a:r>
              <a:rPr lang="en-US" dirty="0" err="1"/>
              <a:t>tục</a:t>
            </a:r>
            <a:endParaRPr lang="en-US" dirty="0"/>
          </a:p>
          <a:p>
            <a:pPr marL="285750" indent="-285750">
              <a:buFontTx/>
              <a:buChar char="-"/>
            </a:pPr>
            <a:r>
              <a:rPr lang="en-US" dirty="0" err="1"/>
              <a:t>Tính</a:t>
            </a:r>
            <a:r>
              <a:rPr lang="en-US" dirty="0"/>
              <a:t> </a:t>
            </a:r>
            <a:r>
              <a:rPr lang="en-US" dirty="0" err="1"/>
              <a:t>hiệu</a:t>
            </a:r>
            <a:r>
              <a:rPr lang="en-US" dirty="0"/>
              <a:t> quả</a:t>
            </a:r>
          </a:p>
          <a:p>
            <a:pPr marL="285750" indent="-285750">
              <a:buFontTx/>
              <a:buChar char="-"/>
            </a:pPr>
            <a:r>
              <a:rPr lang="en-US" dirty="0" err="1"/>
              <a:t>Tính</a:t>
            </a:r>
            <a:r>
              <a:rPr lang="en-US" dirty="0"/>
              <a:t> </a:t>
            </a:r>
            <a:r>
              <a:rPr lang="en-US" dirty="0" err="1"/>
              <a:t>kha</a:t>
            </a:r>
            <a:r>
              <a:rPr lang="en-US" dirty="0"/>
              <a:t>̉ thi </a:t>
            </a:r>
            <a:r>
              <a:rPr lang="en-US" dirty="0" err="1"/>
              <a:t>của</a:t>
            </a:r>
            <a:r>
              <a:rPr lang="en-US" dirty="0"/>
              <a:t> </a:t>
            </a:r>
            <a:r>
              <a:rPr lang="en-US" dirty="0" err="1"/>
              <a:t>dư</a:t>
            </a:r>
            <a:r>
              <a:rPr lang="en-US" dirty="0"/>
              <a:t>̣ </a:t>
            </a:r>
            <a:r>
              <a:rPr lang="en-US" dirty="0" err="1"/>
              <a:t>án</a:t>
            </a:r>
            <a:endParaRPr lang="en-US" dirty="0"/>
          </a:p>
          <a:p>
            <a:r>
              <a:rPr lang="en-US" dirty="0" err="1"/>
              <a:t>Mục</a:t>
            </a:r>
            <a:r>
              <a:rPr lang="en-US" dirty="0"/>
              <a:t> </a:t>
            </a:r>
            <a:r>
              <a:rPr lang="en-US" dirty="0" err="1"/>
              <a:t>đích</a:t>
            </a:r>
            <a:endParaRPr lang="en-US" dirty="0"/>
          </a:p>
          <a:p>
            <a:pPr marL="285750" indent="-285750">
              <a:buFontTx/>
              <a:buChar char="-"/>
            </a:pPr>
            <a:r>
              <a:rPr lang="vi-VN" dirty="0"/>
              <a:t>Bảo vệ nhà đầu tư nhỏ lẻ</a:t>
            </a:r>
            <a:endParaRPr lang="en-US" dirty="0"/>
          </a:p>
          <a:p>
            <a:pPr marL="285750" indent="-285750">
              <a:buFontTx/>
              <a:buChar char="-"/>
            </a:pPr>
            <a:r>
              <a:rPr lang="vi-VN" dirty="0"/>
              <a:t>Bù đắp thiếu hụt thông tin cho công chúng nhà đầu tư</a:t>
            </a:r>
            <a:endParaRPr lang="en-US" dirty="0"/>
          </a:p>
          <a:p>
            <a:pPr marL="285750" indent="-285750">
              <a:buFontTx/>
              <a:buChar char="-"/>
            </a:pPr>
            <a:r>
              <a:rPr lang="en-US" dirty="0"/>
              <a:t>B</a:t>
            </a:r>
            <a:r>
              <a:rPr lang="vi-VN" dirty="0"/>
              <a:t>iện pháp kích cầu chứng khoán</a:t>
            </a:r>
            <a:endParaRPr lang="en-US" dirty="0"/>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10</a:t>
            </a:fld>
            <a:endParaRPr lang="en-US" altLang="en-US"/>
          </a:p>
        </p:txBody>
      </p:sp>
    </p:spTree>
    <p:extLst>
      <p:ext uri="{BB962C8B-B14F-4D97-AF65-F5344CB8AC3E}">
        <p14:creationId xmlns:p14="http://schemas.microsoft.com/office/powerpoint/2010/main" val="3800449699"/>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err="1">
                <a:solidFill>
                  <a:schemeClr val="accent2"/>
                </a:solidFill>
                <a:effectLst>
                  <a:outerShdw blurRad="38100" dist="38100" dir="2700000" algn="tl">
                    <a:srgbClr val="000000">
                      <a:alpha val="43137"/>
                    </a:srgbClr>
                  </a:outerShdw>
                </a:effectLst>
                <a:cs typeface="Times New Roman" panose="02020603050405020304" pitchFamily="18" charset="0"/>
              </a:rPr>
              <a:t>Điều</a:t>
            </a:r>
            <a:r>
              <a:rPr lang="en-US" altLang="en-US" dirty="0">
                <a:solidFill>
                  <a:schemeClr val="accent2"/>
                </a:solidFill>
                <a:effectLst>
                  <a:outerShdw blurRad="38100" dist="38100" dir="2700000" algn="tl">
                    <a:srgbClr val="000000">
                      <a:alpha val="43137"/>
                    </a:srgbClr>
                  </a:outerShdw>
                </a:effectLst>
                <a:cs typeface="Times New Roman" panose="02020603050405020304" pitchFamily="18" charset="0"/>
              </a:rPr>
              <a:t> </a:t>
            </a:r>
            <a:r>
              <a:rPr lang="en-US" altLang="en-US" dirty="0" err="1">
                <a:solidFill>
                  <a:schemeClr val="accent2"/>
                </a:solidFill>
                <a:effectLst>
                  <a:outerShdw blurRad="38100" dist="38100" dir="2700000" algn="tl">
                    <a:srgbClr val="000000">
                      <a:alpha val="43137"/>
                    </a:srgbClr>
                  </a:outerShdw>
                </a:effectLst>
                <a:cs typeface="Times New Roman" panose="02020603050405020304" pitchFamily="18" charset="0"/>
              </a:rPr>
              <a:t>kiện</a:t>
            </a:r>
            <a:r>
              <a:rPr lang="en-US" altLang="en-US" dirty="0">
                <a:solidFill>
                  <a:schemeClr val="accent2"/>
                </a:solidFill>
                <a:effectLst>
                  <a:outerShdw blurRad="38100" dist="38100" dir="2700000" algn="tl">
                    <a:srgbClr val="000000">
                      <a:alpha val="43137"/>
                    </a:srgbClr>
                  </a:outerShdw>
                </a:effectLst>
                <a:cs typeface="Times New Roman" panose="02020603050405020304" pitchFamily="18" charset="0"/>
              </a:rPr>
              <a:t> IPOs </a:t>
            </a:r>
            <a:r>
              <a:rPr lang="en-US" altLang="en-US" dirty="0" err="1">
                <a:solidFill>
                  <a:schemeClr val="accent2"/>
                </a:solidFill>
                <a:effectLst>
                  <a:outerShdw blurRad="38100" dist="38100" dir="2700000" algn="tl">
                    <a:srgbClr val="000000">
                      <a:alpha val="43137"/>
                    </a:srgbClr>
                  </a:outerShdw>
                </a:effectLst>
                <a:cs typeface="Times New Roman" panose="02020603050405020304" pitchFamily="18" charset="0"/>
              </a:rPr>
              <a:t>tại</a:t>
            </a:r>
            <a:r>
              <a:rPr lang="en-US" altLang="en-US" dirty="0">
                <a:solidFill>
                  <a:schemeClr val="accent2"/>
                </a:solidFill>
                <a:effectLst>
                  <a:outerShdw blurRad="38100" dist="38100" dir="2700000" algn="tl">
                    <a:srgbClr val="000000">
                      <a:alpha val="43137"/>
                    </a:srgbClr>
                  </a:outerShdw>
                </a:effectLst>
                <a:cs typeface="Times New Roman" panose="02020603050405020304" pitchFamily="18" charset="0"/>
              </a:rPr>
              <a:t> </a:t>
            </a:r>
            <a:r>
              <a:rPr lang="en-US" altLang="en-US" dirty="0" err="1">
                <a:solidFill>
                  <a:schemeClr val="accent2"/>
                </a:solidFill>
                <a:effectLst>
                  <a:outerShdw blurRad="38100" dist="38100" dir="2700000" algn="tl">
                    <a:srgbClr val="000000">
                      <a:alpha val="43137"/>
                    </a:srgbClr>
                  </a:outerShdw>
                </a:effectLst>
                <a:cs typeface="Times New Roman" panose="02020603050405020304" pitchFamily="18" charset="0"/>
              </a:rPr>
              <a:t>Việt</a:t>
            </a:r>
            <a:r>
              <a:rPr lang="en-US" altLang="en-US" dirty="0">
                <a:solidFill>
                  <a:schemeClr val="accent2"/>
                </a:solidFill>
                <a:effectLst>
                  <a:outerShdw blurRad="38100" dist="38100" dir="2700000" algn="tl">
                    <a:srgbClr val="000000">
                      <a:alpha val="43137"/>
                    </a:srgbClr>
                  </a:outerShdw>
                </a:effectLst>
                <a:cs typeface="Times New Roman" panose="02020603050405020304" pitchFamily="18" charset="0"/>
              </a:rPr>
              <a:t> Nam</a:t>
            </a:r>
            <a:endParaRPr lang="en-US" dirty="0"/>
          </a:p>
        </p:txBody>
      </p:sp>
      <p:sp>
        <p:nvSpPr>
          <p:cNvPr id="3" name="Content Placeholder 2"/>
          <p:cNvSpPr>
            <a:spLocks noGrp="1"/>
          </p:cNvSpPr>
          <p:nvPr>
            <p:ph idx="1"/>
          </p:nvPr>
        </p:nvSpPr>
        <p:spPr/>
        <p:txBody>
          <a:bodyPr/>
          <a:lstStyle/>
          <a:p>
            <a:r>
              <a:rPr lang="en-US" altLang="en-US" i="1" dirty="0"/>
              <a:t>Theo </a:t>
            </a:r>
            <a:r>
              <a:rPr lang="en-US" altLang="en-US" i="1" dirty="0" err="1"/>
              <a:t>điều</a:t>
            </a:r>
            <a:r>
              <a:rPr lang="en-US" altLang="en-US" i="1" dirty="0"/>
              <a:t> 15 </a:t>
            </a:r>
            <a:r>
              <a:rPr lang="en-US" altLang="en-US" i="1" dirty="0" err="1"/>
              <a:t>Luật</a:t>
            </a:r>
            <a:r>
              <a:rPr lang="en-US" altLang="en-US" i="1" dirty="0"/>
              <a:t> </a:t>
            </a:r>
            <a:r>
              <a:rPr lang="en-US" altLang="en-US" i="1" dirty="0" err="1"/>
              <a:t>chứng</a:t>
            </a:r>
            <a:r>
              <a:rPr lang="en-US" altLang="en-US" i="1" dirty="0"/>
              <a:t> </a:t>
            </a:r>
            <a:r>
              <a:rPr lang="en-US" altLang="en-US" i="1" dirty="0" err="1"/>
              <a:t>khoán</a:t>
            </a:r>
            <a:r>
              <a:rPr lang="en-US" altLang="en-US" i="1" dirty="0"/>
              <a:t> 54/2019/QH14</a:t>
            </a:r>
          </a:p>
          <a:p>
            <a:pPr>
              <a:buFont typeface="Wingdings" panose="05000000000000000000" pitchFamily="2" charset="2"/>
              <a:buChar char="Ø"/>
            </a:pPr>
            <a:r>
              <a:rPr lang="en-US" altLang="en-US" dirty="0" err="1">
                <a:solidFill>
                  <a:schemeClr val="accent2"/>
                </a:solidFill>
              </a:rPr>
              <a:t>Điều</a:t>
            </a:r>
            <a:r>
              <a:rPr lang="en-US" altLang="en-US" dirty="0">
                <a:solidFill>
                  <a:schemeClr val="accent2"/>
                </a:solidFill>
              </a:rPr>
              <a:t> </a:t>
            </a:r>
            <a:r>
              <a:rPr lang="en-US" altLang="en-US" dirty="0" err="1">
                <a:solidFill>
                  <a:schemeClr val="accent2"/>
                </a:solidFill>
              </a:rPr>
              <a:t>kiện</a:t>
            </a:r>
            <a:r>
              <a:rPr lang="en-US" altLang="en-US" dirty="0">
                <a:solidFill>
                  <a:schemeClr val="accent2"/>
                </a:solidFill>
              </a:rPr>
              <a:t> </a:t>
            </a:r>
            <a:r>
              <a:rPr lang="en-US" altLang="en-US" dirty="0" err="1">
                <a:solidFill>
                  <a:schemeClr val="accent2"/>
                </a:solidFill>
              </a:rPr>
              <a:t>chào</a:t>
            </a:r>
            <a:r>
              <a:rPr lang="en-US" altLang="en-US" dirty="0">
                <a:solidFill>
                  <a:schemeClr val="accent2"/>
                </a:solidFill>
              </a:rPr>
              <a:t> </a:t>
            </a:r>
            <a:r>
              <a:rPr lang="en-US" altLang="en-US" dirty="0" err="1">
                <a:solidFill>
                  <a:schemeClr val="accent2"/>
                </a:solidFill>
              </a:rPr>
              <a:t>bán</a:t>
            </a:r>
            <a:r>
              <a:rPr lang="en-US" altLang="en-US" dirty="0">
                <a:solidFill>
                  <a:schemeClr val="accent2"/>
                </a:solidFill>
              </a:rPr>
              <a:t> </a:t>
            </a:r>
            <a:r>
              <a:rPr lang="en-US" altLang="en-US" dirty="0" err="1">
                <a:solidFill>
                  <a:schemeClr val="accent2"/>
                </a:solidFill>
              </a:rPr>
              <a:t>cổ</a:t>
            </a:r>
            <a:r>
              <a:rPr lang="en-US" altLang="en-US" dirty="0">
                <a:solidFill>
                  <a:schemeClr val="accent2"/>
                </a:solidFill>
              </a:rPr>
              <a:t> </a:t>
            </a:r>
            <a:r>
              <a:rPr lang="en-US" altLang="en-US" dirty="0" err="1">
                <a:solidFill>
                  <a:schemeClr val="accent2"/>
                </a:solidFill>
              </a:rPr>
              <a:t>phiếu</a:t>
            </a:r>
            <a:r>
              <a:rPr lang="en-US" altLang="en-US" dirty="0">
                <a:solidFill>
                  <a:schemeClr val="accent2"/>
                </a:solidFill>
              </a:rPr>
              <a:t> </a:t>
            </a:r>
            <a:r>
              <a:rPr lang="en-US" altLang="en-US" dirty="0" err="1">
                <a:solidFill>
                  <a:schemeClr val="accent2"/>
                </a:solidFill>
              </a:rPr>
              <a:t>ra</a:t>
            </a:r>
            <a:r>
              <a:rPr lang="en-US" altLang="en-US" dirty="0">
                <a:solidFill>
                  <a:schemeClr val="accent2"/>
                </a:solidFill>
              </a:rPr>
              <a:t> </a:t>
            </a:r>
            <a:r>
              <a:rPr lang="en-US" altLang="en-US" dirty="0" err="1">
                <a:solidFill>
                  <a:schemeClr val="accent2"/>
                </a:solidFill>
              </a:rPr>
              <a:t>công</a:t>
            </a:r>
            <a:r>
              <a:rPr lang="en-US" altLang="en-US" dirty="0">
                <a:solidFill>
                  <a:schemeClr val="accent2"/>
                </a:solidFill>
              </a:rPr>
              <a:t> </a:t>
            </a:r>
            <a:r>
              <a:rPr lang="en-US" altLang="en-US" dirty="0" err="1">
                <a:solidFill>
                  <a:schemeClr val="accent2"/>
                </a:solidFill>
              </a:rPr>
              <a:t>chúng</a:t>
            </a:r>
            <a:endParaRPr lang="en-US" altLang="en-US" dirty="0">
              <a:solidFill>
                <a:schemeClr val="accent2"/>
              </a:solidFill>
            </a:endParaRPr>
          </a:p>
          <a:p>
            <a:pPr>
              <a:buFont typeface="Wingdings" panose="05000000000000000000" pitchFamily="2" charset="2"/>
              <a:buChar char="Ø"/>
            </a:pPr>
            <a:r>
              <a:rPr lang="en-US" altLang="en-US" dirty="0" err="1">
                <a:solidFill>
                  <a:schemeClr val="accent2"/>
                </a:solidFill>
              </a:rPr>
              <a:t>Điều</a:t>
            </a:r>
            <a:r>
              <a:rPr lang="en-US" altLang="en-US" dirty="0">
                <a:solidFill>
                  <a:schemeClr val="accent2"/>
                </a:solidFill>
              </a:rPr>
              <a:t> </a:t>
            </a:r>
            <a:r>
              <a:rPr lang="en-US" altLang="en-US" dirty="0" err="1">
                <a:solidFill>
                  <a:schemeClr val="accent2"/>
                </a:solidFill>
              </a:rPr>
              <a:t>kiện</a:t>
            </a:r>
            <a:r>
              <a:rPr lang="en-US" altLang="en-US" dirty="0">
                <a:solidFill>
                  <a:schemeClr val="accent2"/>
                </a:solidFill>
              </a:rPr>
              <a:t> </a:t>
            </a:r>
            <a:r>
              <a:rPr lang="en-US" altLang="en-US" dirty="0" err="1">
                <a:solidFill>
                  <a:schemeClr val="accent2"/>
                </a:solidFill>
              </a:rPr>
              <a:t>chào</a:t>
            </a:r>
            <a:r>
              <a:rPr lang="en-US" altLang="en-US" dirty="0">
                <a:solidFill>
                  <a:schemeClr val="accent2"/>
                </a:solidFill>
              </a:rPr>
              <a:t> </a:t>
            </a:r>
            <a:r>
              <a:rPr lang="en-US" altLang="en-US" dirty="0" err="1">
                <a:solidFill>
                  <a:schemeClr val="accent2"/>
                </a:solidFill>
              </a:rPr>
              <a:t>bán</a:t>
            </a:r>
            <a:r>
              <a:rPr lang="en-US" altLang="en-US" dirty="0">
                <a:solidFill>
                  <a:schemeClr val="accent2"/>
                </a:solidFill>
              </a:rPr>
              <a:t> </a:t>
            </a:r>
            <a:r>
              <a:rPr lang="en-US" altLang="en-US" dirty="0" err="1">
                <a:solidFill>
                  <a:schemeClr val="accent2"/>
                </a:solidFill>
              </a:rPr>
              <a:t>trái</a:t>
            </a:r>
            <a:r>
              <a:rPr lang="en-US" altLang="en-US" dirty="0">
                <a:solidFill>
                  <a:schemeClr val="accent2"/>
                </a:solidFill>
              </a:rPr>
              <a:t> </a:t>
            </a:r>
            <a:r>
              <a:rPr lang="en-US" altLang="en-US" dirty="0" err="1">
                <a:solidFill>
                  <a:schemeClr val="accent2"/>
                </a:solidFill>
              </a:rPr>
              <a:t>phiếu</a:t>
            </a:r>
            <a:r>
              <a:rPr lang="en-US" altLang="en-US" dirty="0">
                <a:solidFill>
                  <a:schemeClr val="accent2"/>
                </a:solidFill>
              </a:rPr>
              <a:t> </a:t>
            </a:r>
            <a:r>
              <a:rPr lang="en-US" altLang="en-US" dirty="0" err="1">
                <a:solidFill>
                  <a:schemeClr val="accent2"/>
                </a:solidFill>
              </a:rPr>
              <a:t>ra</a:t>
            </a:r>
            <a:r>
              <a:rPr lang="en-US" altLang="en-US" dirty="0">
                <a:solidFill>
                  <a:schemeClr val="accent2"/>
                </a:solidFill>
              </a:rPr>
              <a:t> </a:t>
            </a:r>
            <a:r>
              <a:rPr lang="en-US" altLang="en-US" dirty="0" err="1">
                <a:solidFill>
                  <a:schemeClr val="accent2"/>
                </a:solidFill>
              </a:rPr>
              <a:t>công</a:t>
            </a:r>
            <a:r>
              <a:rPr lang="en-US" altLang="en-US" dirty="0">
                <a:solidFill>
                  <a:schemeClr val="accent2"/>
                </a:solidFill>
              </a:rPr>
              <a:t> </a:t>
            </a:r>
            <a:r>
              <a:rPr lang="en-US" altLang="en-US" dirty="0" err="1">
                <a:solidFill>
                  <a:schemeClr val="accent2"/>
                </a:solidFill>
              </a:rPr>
              <a:t>chúng</a:t>
            </a:r>
            <a:endParaRPr lang="en-US" altLang="en-US" dirty="0">
              <a:solidFill>
                <a:schemeClr val="accent2"/>
              </a:solidFill>
            </a:endParaRPr>
          </a:p>
          <a:p>
            <a:pPr>
              <a:buFont typeface="Wingdings" panose="05000000000000000000" pitchFamily="2" charset="2"/>
              <a:buChar char="Ø"/>
            </a:pPr>
            <a:r>
              <a:rPr lang="en-US" altLang="en-US" dirty="0" err="1">
                <a:solidFill>
                  <a:schemeClr val="accent2"/>
                </a:solidFill>
              </a:rPr>
              <a:t>Điều</a:t>
            </a:r>
            <a:r>
              <a:rPr lang="en-US" altLang="en-US" dirty="0">
                <a:solidFill>
                  <a:schemeClr val="accent2"/>
                </a:solidFill>
              </a:rPr>
              <a:t> </a:t>
            </a:r>
            <a:r>
              <a:rPr lang="en-US" altLang="en-US" dirty="0" err="1">
                <a:solidFill>
                  <a:schemeClr val="accent2"/>
                </a:solidFill>
              </a:rPr>
              <a:t>kiện</a:t>
            </a:r>
            <a:r>
              <a:rPr lang="en-US" altLang="en-US" dirty="0">
                <a:solidFill>
                  <a:schemeClr val="accent2"/>
                </a:solidFill>
              </a:rPr>
              <a:t> </a:t>
            </a:r>
            <a:r>
              <a:rPr lang="en-US" altLang="en-US" dirty="0" err="1">
                <a:solidFill>
                  <a:schemeClr val="accent2"/>
                </a:solidFill>
              </a:rPr>
              <a:t>chào</a:t>
            </a:r>
            <a:r>
              <a:rPr lang="en-US" altLang="en-US" dirty="0">
                <a:solidFill>
                  <a:schemeClr val="accent2"/>
                </a:solidFill>
              </a:rPr>
              <a:t> </a:t>
            </a:r>
            <a:r>
              <a:rPr lang="en-US" altLang="en-US" dirty="0" err="1">
                <a:solidFill>
                  <a:schemeClr val="accent2"/>
                </a:solidFill>
              </a:rPr>
              <a:t>bán</a:t>
            </a:r>
            <a:r>
              <a:rPr lang="en-US" altLang="en-US" dirty="0">
                <a:solidFill>
                  <a:schemeClr val="accent2"/>
                </a:solidFill>
              </a:rPr>
              <a:t> </a:t>
            </a:r>
            <a:r>
              <a:rPr lang="en-US" altLang="en-US" dirty="0" err="1">
                <a:solidFill>
                  <a:schemeClr val="accent2"/>
                </a:solidFill>
              </a:rPr>
              <a:t>chứng</a:t>
            </a:r>
            <a:r>
              <a:rPr lang="en-US" altLang="en-US" dirty="0">
                <a:solidFill>
                  <a:schemeClr val="accent2"/>
                </a:solidFill>
              </a:rPr>
              <a:t> </a:t>
            </a:r>
            <a:r>
              <a:rPr lang="en-US" altLang="en-US" dirty="0" err="1">
                <a:solidFill>
                  <a:schemeClr val="accent2"/>
                </a:solidFill>
              </a:rPr>
              <a:t>chỉ</a:t>
            </a:r>
            <a:r>
              <a:rPr lang="en-US" altLang="en-US" dirty="0">
                <a:solidFill>
                  <a:schemeClr val="accent2"/>
                </a:solidFill>
              </a:rPr>
              <a:t> </a:t>
            </a:r>
            <a:r>
              <a:rPr lang="en-US" altLang="en-US" dirty="0" err="1">
                <a:solidFill>
                  <a:schemeClr val="accent2"/>
                </a:solidFill>
              </a:rPr>
              <a:t>quỹ</a:t>
            </a:r>
            <a:r>
              <a:rPr lang="en-US" altLang="en-US" dirty="0">
                <a:solidFill>
                  <a:schemeClr val="accent2"/>
                </a:solidFill>
              </a:rPr>
              <a:t> </a:t>
            </a:r>
            <a:r>
              <a:rPr lang="en-US" altLang="en-US" dirty="0" err="1">
                <a:solidFill>
                  <a:schemeClr val="accent2"/>
                </a:solidFill>
              </a:rPr>
              <a:t>ra</a:t>
            </a:r>
            <a:r>
              <a:rPr lang="en-US" altLang="en-US" dirty="0">
                <a:solidFill>
                  <a:schemeClr val="accent2"/>
                </a:solidFill>
              </a:rPr>
              <a:t> </a:t>
            </a:r>
            <a:r>
              <a:rPr lang="en-US" altLang="en-US" dirty="0" err="1">
                <a:solidFill>
                  <a:schemeClr val="accent2"/>
                </a:solidFill>
              </a:rPr>
              <a:t>công</a:t>
            </a:r>
            <a:r>
              <a:rPr lang="en-US" altLang="en-US" dirty="0">
                <a:solidFill>
                  <a:schemeClr val="accent2"/>
                </a:solidFill>
              </a:rPr>
              <a:t> </a:t>
            </a:r>
            <a:r>
              <a:rPr lang="en-US" altLang="en-US" dirty="0" err="1">
                <a:solidFill>
                  <a:schemeClr val="accent2"/>
                </a:solidFill>
              </a:rPr>
              <a:t>chúng</a:t>
            </a:r>
            <a:endParaRPr lang="en-US" altLang="en-US" dirty="0">
              <a:solidFill>
                <a:schemeClr val="accent2"/>
              </a:solidFill>
            </a:endParaRPr>
          </a:p>
          <a:p>
            <a:pPr>
              <a:buFont typeface="Wingdings" panose="05000000000000000000" pitchFamily="2" charset="2"/>
              <a:buChar char="Ø"/>
            </a:pPr>
            <a:r>
              <a:rPr lang="en-US" altLang="en-US" dirty="0" err="1">
                <a:solidFill>
                  <a:schemeClr val="accent2"/>
                </a:solidFill>
              </a:rPr>
              <a:t>Chào</a:t>
            </a:r>
            <a:r>
              <a:rPr lang="en-US" altLang="en-US" dirty="0">
                <a:solidFill>
                  <a:schemeClr val="accent2"/>
                </a:solidFill>
              </a:rPr>
              <a:t> </a:t>
            </a:r>
            <a:r>
              <a:rPr lang="en-US" altLang="en-US" dirty="0" err="1">
                <a:solidFill>
                  <a:schemeClr val="accent2"/>
                </a:solidFill>
              </a:rPr>
              <a:t>bán</a:t>
            </a:r>
            <a:r>
              <a:rPr lang="en-US" altLang="en-US" dirty="0">
                <a:solidFill>
                  <a:schemeClr val="accent2"/>
                </a:solidFill>
              </a:rPr>
              <a:t> </a:t>
            </a:r>
            <a:r>
              <a:rPr lang="en-US" altLang="en-US" dirty="0" err="1">
                <a:solidFill>
                  <a:schemeClr val="accent2"/>
                </a:solidFill>
              </a:rPr>
              <a:t>chứng</a:t>
            </a:r>
            <a:r>
              <a:rPr lang="en-US" altLang="en-US" dirty="0">
                <a:solidFill>
                  <a:schemeClr val="accent2"/>
                </a:solidFill>
              </a:rPr>
              <a:t> </a:t>
            </a:r>
            <a:r>
              <a:rPr lang="en-US" altLang="en-US" dirty="0" err="1">
                <a:solidFill>
                  <a:schemeClr val="accent2"/>
                </a:solidFill>
              </a:rPr>
              <a:t>khoán</a:t>
            </a:r>
            <a:r>
              <a:rPr lang="en-US" altLang="en-US" dirty="0">
                <a:solidFill>
                  <a:schemeClr val="accent2"/>
                </a:solidFill>
              </a:rPr>
              <a:t> </a:t>
            </a:r>
            <a:r>
              <a:rPr lang="en-US" altLang="en-US" dirty="0" err="1">
                <a:solidFill>
                  <a:schemeClr val="accent2"/>
                </a:solidFill>
              </a:rPr>
              <a:t>ra</a:t>
            </a:r>
            <a:r>
              <a:rPr lang="en-US" altLang="en-US" dirty="0">
                <a:solidFill>
                  <a:schemeClr val="accent2"/>
                </a:solidFill>
              </a:rPr>
              <a:t> </a:t>
            </a:r>
            <a:r>
              <a:rPr lang="en-US" altLang="en-US" dirty="0" err="1">
                <a:solidFill>
                  <a:schemeClr val="accent2"/>
                </a:solidFill>
              </a:rPr>
              <a:t>công</a:t>
            </a:r>
            <a:r>
              <a:rPr lang="en-US" altLang="en-US" dirty="0">
                <a:solidFill>
                  <a:schemeClr val="accent2"/>
                </a:solidFill>
              </a:rPr>
              <a:t> </a:t>
            </a:r>
            <a:r>
              <a:rPr lang="en-US" altLang="en-US" dirty="0" err="1">
                <a:solidFill>
                  <a:schemeClr val="accent2"/>
                </a:solidFill>
              </a:rPr>
              <a:t>chúng</a:t>
            </a:r>
            <a:r>
              <a:rPr lang="en-US" altLang="en-US" dirty="0">
                <a:solidFill>
                  <a:schemeClr val="accent2"/>
                </a:solidFill>
              </a:rPr>
              <a:t> </a:t>
            </a:r>
            <a:r>
              <a:rPr lang="en-US" altLang="en-US" dirty="0" err="1">
                <a:solidFill>
                  <a:schemeClr val="accent2"/>
                </a:solidFill>
              </a:rPr>
              <a:t>của</a:t>
            </a:r>
            <a:r>
              <a:rPr lang="en-US" altLang="en-US" dirty="0">
                <a:solidFill>
                  <a:schemeClr val="accent2"/>
                </a:solidFill>
              </a:rPr>
              <a:t> </a:t>
            </a:r>
            <a:r>
              <a:rPr lang="en-US" altLang="en-US" dirty="0" err="1">
                <a:solidFill>
                  <a:schemeClr val="accent2"/>
                </a:solidFill>
              </a:rPr>
              <a:t>một</a:t>
            </a:r>
            <a:r>
              <a:rPr lang="en-US" altLang="en-US" dirty="0">
                <a:solidFill>
                  <a:schemeClr val="accent2"/>
                </a:solidFill>
              </a:rPr>
              <a:t> </a:t>
            </a:r>
            <a:r>
              <a:rPr lang="en-US" altLang="en-US" dirty="0" err="1">
                <a:solidFill>
                  <a:schemeClr val="accent2"/>
                </a:solidFill>
              </a:rPr>
              <a:t>số</a:t>
            </a:r>
            <a:r>
              <a:rPr lang="en-US" altLang="en-US" dirty="0">
                <a:solidFill>
                  <a:schemeClr val="accent2"/>
                </a:solidFill>
              </a:rPr>
              <a:t> </a:t>
            </a:r>
            <a:r>
              <a:rPr lang="en-US" altLang="en-US" dirty="0" err="1">
                <a:solidFill>
                  <a:schemeClr val="accent2"/>
                </a:solidFill>
              </a:rPr>
              <a:t>doanh</a:t>
            </a:r>
            <a:r>
              <a:rPr lang="en-US" altLang="en-US" dirty="0">
                <a:solidFill>
                  <a:schemeClr val="accent2"/>
                </a:solidFill>
              </a:rPr>
              <a:t> </a:t>
            </a:r>
            <a:r>
              <a:rPr lang="en-US" altLang="en-US" dirty="0" err="1">
                <a:solidFill>
                  <a:schemeClr val="accent2"/>
                </a:solidFill>
              </a:rPr>
              <a:t>nghiệp</a:t>
            </a:r>
            <a:r>
              <a:rPr lang="en-US" altLang="en-US" dirty="0">
                <a:solidFill>
                  <a:schemeClr val="accent2"/>
                </a:solidFill>
              </a:rPr>
              <a:t> </a:t>
            </a:r>
            <a:r>
              <a:rPr lang="en-US" altLang="en-US" dirty="0" err="1">
                <a:solidFill>
                  <a:schemeClr val="accent2"/>
                </a:solidFill>
              </a:rPr>
              <a:t>đặc</a:t>
            </a:r>
            <a:r>
              <a:rPr lang="en-US" altLang="en-US" dirty="0">
                <a:solidFill>
                  <a:schemeClr val="accent2"/>
                </a:solidFill>
              </a:rPr>
              <a:t> </a:t>
            </a:r>
            <a:r>
              <a:rPr lang="en-US" altLang="en-US" dirty="0" err="1">
                <a:solidFill>
                  <a:schemeClr val="accent2"/>
                </a:solidFill>
              </a:rPr>
              <a:t>biệt</a:t>
            </a:r>
            <a:endParaRPr lang="en-US" altLang="en-US" dirty="0">
              <a:solidFill>
                <a:schemeClr val="accent2"/>
              </a:solidFill>
            </a:endParaRPr>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11</a:t>
            </a:fld>
            <a:endParaRPr lang="en-US" altLang="en-US"/>
          </a:p>
        </p:txBody>
      </p:sp>
    </p:spTree>
    <p:extLst>
      <p:ext uri="{BB962C8B-B14F-4D97-AF65-F5344CB8AC3E}">
        <p14:creationId xmlns:p14="http://schemas.microsoft.com/office/powerpoint/2010/main" val="3162193941"/>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Thủ </a:t>
            </a:r>
            <a:r>
              <a:rPr lang="en-US" dirty="0" err="1"/>
              <a:t>tục</a:t>
            </a:r>
            <a:r>
              <a:rPr lang="en-US" dirty="0"/>
              <a:t> IPOs</a:t>
            </a:r>
          </a:p>
        </p:txBody>
      </p:sp>
      <p:sp>
        <p:nvSpPr>
          <p:cNvPr id="3" name="Content Placeholder 2"/>
          <p:cNvSpPr>
            <a:spLocks noGrp="1"/>
          </p:cNvSpPr>
          <p:nvPr>
            <p:ph idx="1"/>
          </p:nvPr>
        </p:nvSpPr>
        <p:spPr/>
        <p:txBody>
          <a:bodyPr/>
          <a:lstStyle/>
          <a:p>
            <a:r>
              <a:rPr lang="en-US" dirty="0" err="1"/>
              <a:t>Quy</a:t>
            </a:r>
            <a:r>
              <a:rPr lang="en-US" dirty="0"/>
              <a:t> </a:t>
            </a:r>
            <a:r>
              <a:rPr lang="en-US" dirty="0" err="1"/>
              <a:t>định</a:t>
            </a:r>
            <a:r>
              <a:rPr lang="en-US" dirty="0"/>
              <a:t> </a:t>
            </a:r>
            <a:r>
              <a:rPr lang="en-US" dirty="0" err="1"/>
              <a:t>tại</a:t>
            </a:r>
            <a:r>
              <a:rPr lang="en-US" dirty="0"/>
              <a:t> </a:t>
            </a:r>
            <a:r>
              <a:rPr lang="en-US" dirty="0" err="1"/>
              <a:t>Chương</a:t>
            </a:r>
            <a:r>
              <a:rPr lang="en-US" dirty="0"/>
              <a:t> II – </a:t>
            </a:r>
            <a:r>
              <a:rPr lang="en-US" dirty="0" err="1"/>
              <a:t>Luật</a:t>
            </a:r>
            <a:r>
              <a:rPr lang="en-US" dirty="0"/>
              <a:t> </a:t>
            </a:r>
            <a:r>
              <a:rPr lang="en-US" dirty="0" err="1"/>
              <a:t>chứng</a:t>
            </a:r>
            <a:r>
              <a:rPr lang="en-US" dirty="0"/>
              <a:t> </a:t>
            </a:r>
            <a:r>
              <a:rPr lang="en-US" dirty="0" err="1"/>
              <a:t>khoán</a:t>
            </a:r>
            <a:r>
              <a:rPr lang="en-US" dirty="0"/>
              <a:t> </a:t>
            </a:r>
            <a:r>
              <a:rPr lang="en-US" dirty="0" smtClean="0"/>
              <a:t>54/2019</a:t>
            </a:r>
          </a:p>
          <a:p>
            <a:pPr lvl="1"/>
            <a:r>
              <a:rPr lang="en-US" dirty="0" err="1" smtClean="0"/>
              <a:t>Chuẩn</a:t>
            </a:r>
            <a:r>
              <a:rPr lang="en-US" dirty="0" smtClean="0"/>
              <a:t> </a:t>
            </a:r>
            <a:r>
              <a:rPr lang="en-US" dirty="0"/>
              <a:t>bị </a:t>
            </a:r>
            <a:r>
              <a:rPr lang="en-US" dirty="0" err="1"/>
              <a:t>hô</a:t>
            </a:r>
            <a:r>
              <a:rPr lang="en-US" dirty="0"/>
              <a:t>̀ </a:t>
            </a:r>
            <a:r>
              <a:rPr lang="en-US" dirty="0" err="1"/>
              <a:t>sơ</a:t>
            </a:r>
            <a:r>
              <a:rPr lang="en-US" dirty="0"/>
              <a:t> </a:t>
            </a:r>
            <a:r>
              <a:rPr lang="en-US" dirty="0" err="1"/>
              <a:t>xin</a:t>
            </a:r>
            <a:r>
              <a:rPr lang="en-US" dirty="0"/>
              <a:t> </a:t>
            </a:r>
            <a:r>
              <a:rPr lang="en-US" dirty="0" err="1"/>
              <a:t>phép</a:t>
            </a:r>
            <a:r>
              <a:rPr lang="en-US" dirty="0"/>
              <a:t> </a:t>
            </a:r>
            <a:r>
              <a:rPr lang="en-US" dirty="0" err="1"/>
              <a:t>phát</a:t>
            </a:r>
            <a:r>
              <a:rPr lang="en-US" dirty="0"/>
              <a:t> </a:t>
            </a:r>
            <a:r>
              <a:rPr lang="en-US" dirty="0" err="1" smtClean="0"/>
              <a:t>hành</a:t>
            </a:r>
            <a:endParaRPr lang="en-US" dirty="0" smtClean="0"/>
          </a:p>
          <a:p>
            <a:pPr lvl="1"/>
            <a:r>
              <a:rPr lang="en-US" dirty="0" err="1" smtClean="0"/>
              <a:t>Nộp</a:t>
            </a:r>
            <a:r>
              <a:rPr lang="en-US" dirty="0" smtClean="0"/>
              <a:t> </a:t>
            </a:r>
            <a:r>
              <a:rPr lang="en-US" dirty="0" err="1"/>
              <a:t>hô</a:t>
            </a:r>
            <a:r>
              <a:rPr lang="en-US" dirty="0"/>
              <a:t>̀ </a:t>
            </a:r>
            <a:r>
              <a:rPr lang="en-US" dirty="0" err="1" smtClean="0"/>
              <a:t>sơ</a:t>
            </a:r>
            <a:endParaRPr lang="en-US" dirty="0" smtClean="0"/>
          </a:p>
          <a:p>
            <a:pPr lvl="1"/>
            <a:r>
              <a:rPr lang="en-US" dirty="0" err="1" smtClean="0"/>
              <a:t>Công</a:t>
            </a:r>
            <a:r>
              <a:rPr lang="en-US" dirty="0" smtClean="0"/>
              <a:t> </a:t>
            </a:r>
            <a:r>
              <a:rPr lang="en-US" dirty="0" err="1"/>
              <a:t>bô</a:t>
            </a:r>
            <a:r>
              <a:rPr lang="en-US" dirty="0"/>
              <a:t>́ </a:t>
            </a:r>
            <a:r>
              <a:rPr lang="en-US" dirty="0" err="1"/>
              <a:t>chào</a:t>
            </a:r>
            <a:r>
              <a:rPr lang="en-US" dirty="0"/>
              <a:t> </a:t>
            </a:r>
            <a:r>
              <a:rPr lang="en-US" dirty="0" err="1" smtClean="0"/>
              <a:t>bán</a:t>
            </a:r>
            <a:endParaRPr lang="en-US" dirty="0" smtClean="0"/>
          </a:p>
          <a:p>
            <a:pPr lvl="1"/>
            <a:r>
              <a:rPr lang="en-US" dirty="0" err="1" smtClean="0"/>
              <a:t>Phân</a:t>
            </a:r>
            <a:r>
              <a:rPr lang="en-US" dirty="0" smtClean="0"/>
              <a:t> </a:t>
            </a:r>
            <a:r>
              <a:rPr lang="en-US" dirty="0" err="1"/>
              <a:t>phối</a:t>
            </a:r>
            <a:r>
              <a:rPr lang="en-US" dirty="0"/>
              <a:t> </a:t>
            </a:r>
            <a:r>
              <a:rPr lang="en-US" dirty="0" err="1"/>
              <a:t>chứng</a:t>
            </a:r>
            <a:r>
              <a:rPr lang="en-US" dirty="0"/>
              <a:t> </a:t>
            </a:r>
            <a:r>
              <a:rPr lang="en-US" dirty="0" err="1" smtClean="0"/>
              <a:t>khoán</a:t>
            </a:r>
            <a:endParaRPr lang="en-US" dirty="0" smtClean="0"/>
          </a:p>
          <a:p>
            <a:pPr lvl="1"/>
            <a:r>
              <a:rPr lang="en-US" dirty="0" err="1" smtClean="0"/>
              <a:t>Kết</a:t>
            </a:r>
            <a:r>
              <a:rPr lang="en-US" dirty="0" smtClean="0"/>
              <a:t> </a:t>
            </a:r>
            <a:r>
              <a:rPr lang="en-US" dirty="0" err="1"/>
              <a:t>thúc</a:t>
            </a:r>
            <a:r>
              <a:rPr lang="en-US" dirty="0"/>
              <a:t> </a:t>
            </a:r>
            <a:r>
              <a:rPr lang="en-US" dirty="0" err="1"/>
              <a:t>đợt</a:t>
            </a:r>
            <a:r>
              <a:rPr lang="en-US" dirty="0"/>
              <a:t> </a:t>
            </a:r>
            <a:r>
              <a:rPr lang="en-US" dirty="0" err="1"/>
              <a:t>phát</a:t>
            </a:r>
            <a:r>
              <a:rPr lang="en-US" dirty="0"/>
              <a:t> </a:t>
            </a:r>
            <a:r>
              <a:rPr lang="en-US" dirty="0" err="1"/>
              <a:t>hành</a:t>
            </a:r>
            <a:endParaRPr lang="en-US" dirty="0"/>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12</a:t>
            </a:fld>
            <a:endParaRPr lang="en-US" altLang="en-US"/>
          </a:p>
        </p:txBody>
      </p:sp>
    </p:spTree>
    <p:extLst>
      <p:ext uri="{BB962C8B-B14F-4D97-AF65-F5344CB8AC3E}">
        <p14:creationId xmlns:p14="http://schemas.microsoft.com/office/powerpoint/2010/main" val="1361502672"/>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err="1">
                <a:solidFill>
                  <a:schemeClr val="accent2"/>
                </a:solidFill>
                <a:effectLst>
                  <a:outerShdw blurRad="38100" dist="38100" dir="2700000" algn="tl">
                    <a:srgbClr val="000000">
                      <a:alpha val="43137"/>
                    </a:srgbClr>
                  </a:outerShdw>
                </a:effectLst>
                <a:cs typeface="Times New Roman" panose="02020603050405020304" pitchFamily="18" charset="0"/>
              </a:rPr>
              <a:t>Bảo</a:t>
            </a:r>
            <a:r>
              <a:rPr lang="en-US" altLang="en-US" dirty="0">
                <a:solidFill>
                  <a:schemeClr val="accent2"/>
                </a:solidFill>
                <a:effectLst>
                  <a:outerShdw blurRad="38100" dist="38100" dir="2700000" algn="tl">
                    <a:srgbClr val="000000">
                      <a:alpha val="43137"/>
                    </a:srgbClr>
                  </a:outerShdw>
                </a:effectLst>
                <a:cs typeface="Times New Roman" panose="02020603050405020304" pitchFamily="18" charset="0"/>
              </a:rPr>
              <a:t> </a:t>
            </a:r>
            <a:r>
              <a:rPr lang="en-US" altLang="en-US" dirty="0" err="1">
                <a:solidFill>
                  <a:schemeClr val="accent2"/>
                </a:solidFill>
                <a:effectLst>
                  <a:outerShdw blurRad="38100" dist="38100" dir="2700000" algn="tl">
                    <a:srgbClr val="000000">
                      <a:alpha val="43137"/>
                    </a:srgbClr>
                  </a:outerShdw>
                </a:effectLst>
                <a:cs typeface="Times New Roman" panose="02020603050405020304" pitchFamily="18" charset="0"/>
              </a:rPr>
              <a:t>lãnh</a:t>
            </a:r>
            <a:r>
              <a:rPr lang="en-US" altLang="en-US" dirty="0">
                <a:solidFill>
                  <a:schemeClr val="accent2"/>
                </a:solidFill>
                <a:effectLst>
                  <a:outerShdw blurRad="38100" dist="38100" dir="2700000" algn="tl">
                    <a:srgbClr val="000000">
                      <a:alpha val="43137"/>
                    </a:srgbClr>
                  </a:outerShdw>
                </a:effectLst>
                <a:cs typeface="Times New Roman" panose="02020603050405020304" pitchFamily="18" charset="0"/>
              </a:rPr>
              <a:t> </a:t>
            </a:r>
            <a:r>
              <a:rPr lang="en-US" altLang="en-US" dirty="0" err="1">
                <a:solidFill>
                  <a:schemeClr val="accent2"/>
                </a:solidFill>
                <a:effectLst>
                  <a:outerShdw blurRad="38100" dist="38100" dir="2700000" algn="tl">
                    <a:srgbClr val="000000">
                      <a:alpha val="43137"/>
                    </a:srgbClr>
                  </a:outerShdw>
                </a:effectLst>
                <a:cs typeface="Times New Roman" panose="02020603050405020304" pitchFamily="18" charset="0"/>
              </a:rPr>
              <a:t>phát</a:t>
            </a:r>
            <a:r>
              <a:rPr lang="en-US" altLang="en-US" dirty="0">
                <a:solidFill>
                  <a:schemeClr val="accent2"/>
                </a:solidFill>
                <a:effectLst>
                  <a:outerShdw blurRad="38100" dist="38100" dir="2700000" algn="tl">
                    <a:srgbClr val="000000">
                      <a:alpha val="43137"/>
                    </a:srgbClr>
                  </a:outerShdw>
                </a:effectLst>
                <a:cs typeface="Times New Roman" panose="02020603050405020304" pitchFamily="18" charset="0"/>
              </a:rPr>
              <a:t> </a:t>
            </a:r>
            <a:r>
              <a:rPr lang="en-US" altLang="en-US" dirty="0" err="1">
                <a:solidFill>
                  <a:schemeClr val="accent2"/>
                </a:solidFill>
                <a:effectLst>
                  <a:outerShdw blurRad="38100" dist="38100" dir="2700000" algn="tl">
                    <a:srgbClr val="000000">
                      <a:alpha val="43137"/>
                    </a:srgbClr>
                  </a:outerShdw>
                </a:effectLst>
                <a:cs typeface="Times New Roman" panose="02020603050405020304" pitchFamily="18" charset="0"/>
              </a:rPr>
              <a:t>hành</a:t>
            </a:r>
            <a:r>
              <a:rPr lang="en-US" altLang="en-US" dirty="0">
                <a:solidFill>
                  <a:schemeClr val="accent2"/>
                </a:solidFill>
                <a:effectLst>
                  <a:outerShdw blurRad="38100" dist="38100" dir="2700000" algn="tl">
                    <a:srgbClr val="000000">
                      <a:alpha val="43137"/>
                    </a:srgbClr>
                  </a:outerShdw>
                </a:effectLst>
                <a:cs typeface="Times New Roman" panose="02020603050405020304" pitchFamily="18" charset="0"/>
              </a:rPr>
              <a:t> </a:t>
            </a:r>
            <a:r>
              <a:rPr lang="en-US" altLang="en-US" dirty="0" err="1">
                <a:solidFill>
                  <a:schemeClr val="accent2"/>
                </a:solidFill>
                <a:effectLst>
                  <a:outerShdw blurRad="38100" dist="38100" dir="2700000" algn="tl">
                    <a:srgbClr val="000000">
                      <a:alpha val="43137"/>
                    </a:srgbClr>
                  </a:outerShdw>
                </a:effectLst>
                <a:cs typeface="Times New Roman" panose="02020603050405020304" pitchFamily="18" charset="0"/>
              </a:rPr>
              <a:t>chứng</a:t>
            </a:r>
            <a:r>
              <a:rPr lang="en-US" altLang="en-US" dirty="0">
                <a:solidFill>
                  <a:schemeClr val="accent2"/>
                </a:solidFill>
                <a:effectLst>
                  <a:outerShdw blurRad="38100" dist="38100" dir="2700000" algn="tl">
                    <a:srgbClr val="000000">
                      <a:alpha val="43137"/>
                    </a:srgbClr>
                  </a:outerShdw>
                </a:effectLst>
                <a:cs typeface="Times New Roman" panose="02020603050405020304" pitchFamily="18" charset="0"/>
              </a:rPr>
              <a:t> </a:t>
            </a:r>
            <a:r>
              <a:rPr lang="en-US" altLang="en-US" dirty="0" err="1">
                <a:solidFill>
                  <a:schemeClr val="accent2"/>
                </a:solidFill>
                <a:effectLst>
                  <a:outerShdw blurRad="38100" dist="38100" dir="2700000" algn="tl">
                    <a:srgbClr val="000000">
                      <a:alpha val="43137"/>
                    </a:srgbClr>
                  </a:outerShdw>
                </a:effectLst>
                <a:cs typeface="Times New Roman" panose="02020603050405020304" pitchFamily="18" charset="0"/>
              </a:rPr>
              <a:t>khoán</a:t>
            </a:r>
            <a:r>
              <a:rPr lang="en-US" dirty="0"/>
              <a:t> </a:t>
            </a:r>
          </a:p>
        </p:txBody>
      </p:sp>
      <p:sp>
        <p:nvSpPr>
          <p:cNvPr id="3" name="Content Placeholder 2"/>
          <p:cNvSpPr>
            <a:spLocks noGrp="1"/>
          </p:cNvSpPr>
          <p:nvPr>
            <p:ph idx="1"/>
          </p:nvPr>
        </p:nvSpPr>
        <p:spPr/>
        <p:txBody>
          <a:bodyPr/>
          <a:lstStyle/>
          <a:p>
            <a:r>
              <a:rPr lang="vi-VN" i="1" dirty="0"/>
              <a:t>Bảo lãnh phát hành chứng khoán</a:t>
            </a:r>
            <a:r>
              <a:rPr lang="vi-VN" dirty="0"/>
              <a:t> là việc cam kết với tổ chức phát hành nhận mua một phần hoặc toàn bộ chứng khoán của tổ chức phát hành để bán lại hoặc mua số chứng khoán còn lại chưa được phân ph</a:t>
            </a:r>
            <a:r>
              <a:rPr lang="en-US" dirty="0"/>
              <a:t>ố</a:t>
            </a:r>
            <a:r>
              <a:rPr lang="vi-VN" dirty="0"/>
              <a:t>i hết hoặc c</a:t>
            </a:r>
            <a:r>
              <a:rPr lang="en-US" dirty="0"/>
              <a:t>ố </a:t>
            </a:r>
            <a:r>
              <a:rPr lang="vi-VN" dirty="0"/>
              <a:t>gắng tối đa để phân phối số chứng khoán cần phát hành của t</a:t>
            </a:r>
            <a:r>
              <a:rPr lang="en-US" dirty="0"/>
              <a:t>ổ </a:t>
            </a:r>
            <a:r>
              <a:rPr lang="vi-VN" dirty="0"/>
              <a:t>chức phát hành.</a:t>
            </a:r>
            <a:endParaRPr lang="en-US" dirty="0"/>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13</a:t>
            </a:fld>
            <a:endParaRPr lang="en-US" altLang="en-US"/>
          </a:p>
        </p:txBody>
      </p:sp>
    </p:spTree>
    <p:extLst>
      <p:ext uri="{BB962C8B-B14F-4D97-AF65-F5344CB8AC3E}">
        <p14:creationId xmlns:p14="http://schemas.microsoft.com/office/powerpoint/2010/main" val="639917093"/>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err="1"/>
              <a:t>Các</a:t>
            </a:r>
            <a:r>
              <a:rPr lang="en-US" i="1" dirty="0"/>
              <a:t> </a:t>
            </a:r>
            <a:r>
              <a:rPr lang="en-US" i="1" dirty="0" err="1"/>
              <a:t>hình</a:t>
            </a:r>
            <a:r>
              <a:rPr lang="en-US" i="1" dirty="0"/>
              <a:t> </a:t>
            </a:r>
            <a:r>
              <a:rPr lang="en-US" i="1" dirty="0" err="1"/>
              <a:t>thức</a:t>
            </a:r>
            <a:r>
              <a:rPr lang="en-US" i="1" dirty="0"/>
              <a:t> </a:t>
            </a:r>
            <a:r>
              <a:rPr lang="en-US" i="1" dirty="0" err="1"/>
              <a:t>bảo</a:t>
            </a:r>
            <a:r>
              <a:rPr lang="en-US" i="1" dirty="0"/>
              <a:t> </a:t>
            </a:r>
            <a:r>
              <a:rPr lang="en-US" i="1" dirty="0" err="1"/>
              <a:t>lãnh</a:t>
            </a:r>
            <a:r>
              <a:rPr lang="en-US" i="1" dirty="0"/>
              <a:t> </a:t>
            </a:r>
            <a:r>
              <a:rPr lang="en-US" i="1" dirty="0" err="1"/>
              <a:t>phát</a:t>
            </a:r>
            <a:r>
              <a:rPr lang="en-US" i="1" dirty="0"/>
              <a:t> </a:t>
            </a:r>
            <a:r>
              <a:rPr lang="en-US" i="1" dirty="0" err="1"/>
              <a:t>hành</a:t>
            </a:r>
            <a:r>
              <a:rPr lang="en-US" i="1" dirty="0"/>
              <a:t>:</a:t>
            </a:r>
            <a:br>
              <a:rPr lang="en-US" i="1" dirty="0"/>
            </a:br>
            <a:endParaRPr lang="en-US" dirty="0"/>
          </a:p>
        </p:txBody>
      </p:sp>
      <p:sp>
        <p:nvSpPr>
          <p:cNvPr id="3" name="Content Placeholder 2"/>
          <p:cNvSpPr>
            <a:spLocks noGrp="1"/>
          </p:cNvSpPr>
          <p:nvPr>
            <p:ph idx="1"/>
          </p:nvPr>
        </p:nvSpPr>
        <p:spPr/>
        <p:txBody>
          <a:bodyPr/>
          <a:lstStyle/>
          <a:p>
            <a:r>
              <a:rPr lang="vi-VN" dirty="0"/>
              <a:t>Các hình thức bảo lãnh phát hành:</a:t>
            </a:r>
          </a:p>
          <a:p>
            <a:r>
              <a:rPr lang="vi-VN" dirty="0"/>
              <a:t>Bảo lãnh với cam kết chắc chắn</a:t>
            </a:r>
          </a:p>
          <a:p>
            <a:r>
              <a:rPr lang="vi-VN" dirty="0"/>
              <a:t>Bảo lãnh theo Phương thức dự phòng</a:t>
            </a:r>
          </a:p>
          <a:p>
            <a:r>
              <a:rPr lang="vi-VN" dirty="0"/>
              <a:t>Bảo lãnh với cố gắng cao nhất</a:t>
            </a:r>
          </a:p>
          <a:p>
            <a:r>
              <a:rPr lang="vi-VN" dirty="0"/>
              <a:t>Bảo lãnh tất cả hoặc không</a:t>
            </a:r>
          </a:p>
          <a:p>
            <a:r>
              <a:rPr lang="vi-VN" dirty="0"/>
              <a:t>Bảo lãnh tối thiểu / tối đa</a:t>
            </a:r>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14</a:t>
            </a:fld>
            <a:endParaRPr lang="en-US" altLang="en-US"/>
          </a:p>
        </p:txBody>
      </p:sp>
    </p:spTree>
    <p:extLst>
      <p:ext uri="{BB962C8B-B14F-4D97-AF65-F5344CB8AC3E}">
        <p14:creationId xmlns:p14="http://schemas.microsoft.com/office/powerpoint/2010/main" val="1016271944"/>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0070C0"/>
                </a:solidFill>
              </a:rPr>
              <a:t>Các</a:t>
            </a:r>
            <a:r>
              <a:rPr lang="en-US" dirty="0">
                <a:solidFill>
                  <a:srgbClr val="0070C0"/>
                </a:solidFill>
              </a:rPr>
              <a:t> Phương </a:t>
            </a:r>
            <a:r>
              <a:rPr lang="en-US" dirty="0" err="1">
                <a:solidFill>
                  <a:srgbClr val="0070C0"/>
                </a:solidFill>
              </a:rPr>
              <a:t>thức</a:t>
            </a:r>
            <a:r>
              <a:rPr lang="en-US" dirty="0">
                <a:solidFill>
                  <a:srgbClr val="0070C0"/>
                </a:solidFill>
              </a:rPr>
              <a:t> </a:t>
            </a:r>
            <a:r>
              <a:rPr lang="en-US" dirty="0" err="1">
                <a:solidFill>
                  <a:srgbClr val="0070C0"/>
                </a:solidFill>
              </a:rPr>
              <a:t>bảo</a:t>
            </a:r>
            <a:r>
              <a:rPr lang="en-US" dirty="0">
                <a:solidFill>
                  <a:srgbClr val="0070C0"/>
                </a:solidFill>
              </a:rPr>
              <a:t> </a:t>
            </a:r>
            <a:r>
              <a:rPr lang="en-US" dirty="0" err="1">
                <a:solidFill>
                  <a:srgbClr val="0070C0"/>
                </a:solidFill>
              </a:rPr>
              <a:t>lãnh</a:t>
            </a:r>
            <a:r>
              <a:rPr lang="en-US" dirty="0">
                <a:solidFill>
                  <a:srgbClr val="0070C0"/>
                </a:solidFill>
              </a:rPr>
              <a:t> </a:t>
            </a:r>
            <a:r>
              <a:rPr lang="en-US" dirty="0" err="1">
                <a:solidFill>
                  <a:srgbClr val="0070C0"/>
                </a:solidFill>
              </a:rPr>
              <a:t>phát</a:t>
            </a:r>
            <a:r>
              <a:rPr lang="en-US" dirty="0">
                <a:solidFill>
                  <a:srgbClr val="0070C0"/>
                </a:solidFill>
              </a:rPr>
              <a:t> </a:t>
            </a:r>
            <a:r>
              <a:rPr lang="en-US" dirty="0" err="1">
                <a:solidFill>
                  <a:srgbClr val="0070C0"/>
                </a:solidFill>
              </a:rPr>
              <a:t>hành</a:t>
            </a:r>
            <a:endParaRPr lang="en-US" dirty="0"/>
          </a:p>
        </p:txBody>
      </p:sp>
      <p:sp>
        <p:nvSpPr>
          <p:cNvPr id="3" name="Content Placeholder 2"/>
          <p:cNvSpPr>
            <a:spLocks noGrp="1"/>
          </p:cNvSpPr>
          <p:nvPr>
            <p:ph idx="1"/>
          </p:nvPr>
        </p:nvSpPr>
        <p:spPr/>
        <p:txBody>
          <a:bodyPr/>
          <a:lstStyle/>
          <a:p>
            <a:r>
              <a:rPr lang="en-US" dirty="0">
                <a:solidFill>
                  <a:srgbClr val="0070C0"/>
                </a:solidFill>
              </a:rPr>
              <a:t>BLPH </a:t>
            </a:r>
            <a:r>
              <a:rPr lang="en-US" dirty="0" err="1">
                <a:solidFill>
                  <a:srgbClr val="0070C0"/>
                </a:solidFill>
              </a:rPr>
              <a:t>với</a:t>
            </a:r>
            <a:r>
              <a:rPr lang="en-US" dirty="0">
                <a:solidFill>
                  <a:srgbClr val="0070C0"/>
                </a:solidFill>
              </a:rPr>
              <a:t> cam </a:t>
            </a:r>
            <a:r>
              <a:rPr lang="en-US" dirty="0" err="1">
                <a:solidFill>
                  <a:srgbClr val="0070C0"/>
                </a:solidFill>
              </a:rPr>
              <a:t>kết</a:t>
            </a:r>
            <a:r>
              <a:rPr lang="en-US" dirty="0">
                <a:solidFill>
                  <a:srgbClr val="0070C0"/>
                </a:solidFill>
              </a:rPr>
              <a:t> </a:t>
            </a:r>
            <a:r>
              <a:rPr lang="en-US" dirty="0" err="1">
                <a:solidFill>
                  <a:srgbClr val="0070C0"/>
                </a:solidFill>
              </a:rPr>
              <a:t>chắc</a:t>
            </a:r>
            <a:r>
              <a:rPr lang="en-US" dirty="0">
                <a:solidFill>
                  <a:srgbClr val="0070C0"/>
                </a:solidFill>
              </a:rPr>
              <a:t> </a:t>
            </a:r>
            <a:r>
              <a:rPr lang="en-US" dirty="0" err="1">
                <a:solidFill>
                  <a:srgbClr val="0070C0"/>
                </a:solidFill>
              </a:rPr>
              <a:t>chắn</a:t>
            </a:r>
            <a:r>
              <a:rPr lang="en-US" dirty="0">
                <a:solidFill>
                  <a:srgbClr val="0070C0"/>
                </a:solidFill>
              </a:rPr>
              <a:t> (firm </a:t>
            </a:r>
            <a:r>
              <a:rPr lang="en-US" dirty="0" smtClean="0">
                <a:solidFill>
                  <a:srgbClr val="0070C0"/>
                </a:solidFill>
              </a:rPr>
              <a:t>commitment)</a:t>
            </a:r>
          </a:p>
          <a:p>
            <a:pPr lvl="1"/>
            <a:r>
              <a:rPr lang="en-US" dirty="0" smtClean="0"/>
              <a:t>L</a:t>
            </a:r>
            <a:r>
              <a:rPr lang="vi-VN" dirty="0"/>
              <a:t>à phương thức bảo lãnh mà theo đó tổ chức bảo lãnh cam kết sẽ mua toàn bộ số CK phát hành cho dù có phân phối được hết CK hay không. </a:t>
            </a:r>
            <a:endParaRPr lang="en-US" dirty="0" smtClean="0"/>
          </a:p>
          <a:p>
            <a:pPr lvl="1"/>
            <a:r>
              <a:rPr lang="vi-VN" dirty="0" smtClean="0"/>
              <a:t>Tổ </a:t>
            </a:r>
            <a:r>
              <a:rPr lang="vi-VN" dirty="0"/>
              <a:t>chức bảo lãnh sẽ mua CK của TCPH với giá chiết khấu so với giá chào bán ra công chúng (POP) và bán lại các CK đó theo giá POP. </a:t>
            </a:r>
            <a:endParaRPr lang="en-US" dirty="0" smtClean="0"/>
          </a:p>
          <a:p>
            <a:pPr lvl="1"/>
            <a:r>
              <a:rPr lang="vi-VN" dirty="0" smtClean="0"/>
              <a:t>Chênh </a:t>
            </a:r>
            <a:r>
              <a:rPr lang="vi-VN" dirty="0"/>
              <a:t>lệch giữa giá mua CK của TCPH và giá chào bán ra công chúng gọi là hoa hồng chiết khấu.</a:t>
            </a:r>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15</a:t>
            </a:fld>
            <a:endParaRPr lang="en-US" altLang="en-US"/>
          </a:p>
        </p:txBody>
      </p:sp>
    </p:spTree>
    <p:extLst>
      <p:ext uri="{BB962C8B-B14F-4D97-AF65-F5344CB8AC3E}">
        <p14:creationId xmlns:p14="http://schemas.microsoft.com/office/powerpoint/2010/main" val="2681310884"/>
      </p:ext>
    </p:extLst>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57201"/>
            <a:ext cx="9753600" cy="1143000"/>
          </a:xfrm>
        </p:spPr>
        <p:txBody>
          <a:bodyPr/>
          <a:lstStyle/>
          <a:p>
            <a:r>
              <a:rPr lang="en-US" sz="3600" dirty="0"/>
              <a:t>BLPH </a:t>
            </a:r>
            <a:r>
              <a:rPr lang="en-US" sz="3600" dirty="0" err="1"/>
              <a:t>theo</a:t>
            </a:r>
            <a:r>
              <a:rPr lang="en-US" sz="3600" dirty="0"/>
              <a:t> </a:t>
            </a:r>
            <a:r>
              <a:rPr lang="en-US" sz="3600" dirty="0" err="1"/>
              <a:t>phương</a:t>
            </a:r>
            <a:r>
              <a:rPr lang="en-US" sz="3600" dirty="0"/>
              <a:t> </a:t>
            </a:r>
            <a:r>
              <a:rPr lang="en-US" sz="3600" dirty="0" err="1"/>
              <a:t>thức</a:t>
            </a:r>
            <a:r>
              <a:rPr lang="en-US" sz="3600" dirty="0"/>
              <a:t> </a:t>
            </a:r>
            <a:r>
              <a:rPr lang="en-US" sz="3600" dirty="0" err="1"/>
              <a:t>dự</a:t>
            </a:r>
            <a:r>
              <a:rPr lang="en-US" sz="3600" dirty="0"/>
              <a:t> </a:t>
            </a:r>
            <a:r>
              <a:rPr lang="en-US" sz="3600" dirty="0" err="1"/>
              <a:t>phòng</a:t>
            </a:r>
            <a:r>
              <a:rPr lang="en-US" sz="3600" dirty="0"/>
              <a:t> (stand-by commitment)</a:t>
            </a:r>
            <a:br>
              <a:rPr lang="en-US" sz="3600" dirty="0"/>
            </a:br>
            <a:endParaRPr lang="en-US" sz="3600" dirty="0"/>
          </a:p>
        </p:txBody>
      </p:sp>
      <p:sp>
        <p:nvSpPr>
          <p:cNvPr id="3" name="Content Placeholder 2"/>
          <p:cNvSpPr>
            <a:spLocks noGrp="1"/>
          </p:cNvSpPr>
          <p:nvPr>
            <p:ph idx="1"/>
          </p:nvPr>
        </p:nvSpPr>
        <p:spPr/>
        <p:txBody>
          <a:bodyPr/>
          <a:lstStyle/>
          <a:p>
            <a:r>
              <a:rPr lang="en-US" dirty="0"/>
              <a:t>L</a:t>
            </a:r>
            <a:r>
              <a:rPr lang="vi-VN" dirty="0"/>
              <a:t>à việc TCPH cam kết sẽ mua nốt số CK còn lại chưa được phân phối hết của TCPH và bán lại ra công chúng. </a:t>
            </a:r>
            <a:endParaRPr lang="en-US" dirty="0" smtClean="0"/>
          </a:p>
          <a:p>
            <a:r>
              <a:rPr lang="vi-VN" dirty="0" smtClean="0"/>
              <a:t>Đây </a:t>
            </a:r>
            <a:r>
              <a:rPr lang="vi-VN" dirty="0"/>
              <a:t>là phương thức thường được áp dụng khi 1 CTĐC phát hành bổ sung cổ phiếu thường. Khi đó công ty sẽ phát hành quyền mua cho cổ đông cũ trước khi chào bán ra công chúng để bảo vệ quyền lợi cho cổ đông hiện hữu. </a:t>
            </a:r>
            <a:endParaRPr lang="en-US" dirty="0" smtClean="0"/>
          </a:p>
          <a:p>
            <a:r>
              <a:rPr lang="vi-VN" dirty="0" smtClean="0"/>
              <a:t>Công </a:t>
            </a:r>
            <a:r>
              <a:rPr lang="vi-VN" dirty="0"/>
              <a:t>ty cần có một TCPH dự phòng sẵn sàng mua những quyền mua không được thực hiện và chuyển thành CP để phân phối ra ngoài công chúng</a:t>
            </a:r>
            <a:endParaRPr lang="en-US" dirty="0"/>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16</a:t>
            </a:fld>
            <a:endParaRPr lang="en-US" altLang="en-US"/>
          </a:p>
        </p:txBody>
      </p:sp>
    </p:spTree>
    <p:extLst>
      <p:ext uri="{BB962C8B-B14F-4D97-AF65-F5344CB8AC3E}">
        <p14:creationId xmlns:p14="http://schemas.microsoft.com/office/powerpoint/2010/main" val="1513106479"/>
      </p:ext>
    </p:extLst>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BLPH </a:t>
            </a:r>
            <a:r>
              <a:rPr lang="en-US" dirty="0" err="1">
                <a:solidFill>
                  <a:srgbClr val="0070C0"/>
                </a:solidFill>
              </a:rPr>
              <a:t>với</a:t>
            </a:r>
            <a:r>
              <a:rPr lang="en-US" dirty="0">
                <a:solidFill>
                  <a:srgbClr val="0070C0"/>
                </a:solidFill>
              </a:rPr>
              <a:t> </a:t>
            </a:r>
            <a:r>
              <a:rPr lang="en-US" dirty="0" err="1">
                <a:solidFill>
                  <a:srgbClr val="0070C0"/>
                </a:solidFill>
              </a:rPr>
              <a:t>cố</a:t>
            </a:r>
            <a:r>
              <a:rPr lang="en-US" dirty="0">
                <a:solidFill>
                  <a:srgbClr val="0070C0"/>
                </a:solidFill>
              </a:rPr>
              <a:t> </a:t>
            </a:r>
            <a:r>
              <a:rPr lang="en-US" dirty="0" err="1">
                <a:solidFill>
                  <a:srgbClr val="0070C0"/>
                </a:solidFill>
              </a:rPr>
              <a:t>gắng</a:t>
            </a:r>
            <a:r>
              <a:rPr lang="en-US" dirty="0">
                <a:solidFill>
                  <a:srgbClr val="0070C0"/>
                </a:solidFill>
              </a:rPr>
              <a:t> </a:t>
            </a:r>
            <a:r>
              <a:rPr lang="en-US" dirty="0" err="1">
                <a:solidFill>
                  <a:srgbClr val="0070C0"/>
                </a:solidFill>
              </a:rPr>
              <a:t>cao</a:t>
            </a:r>
            <a:r>
              <a:rPr lang="en-US" dirty="0">
                <a:solidFill>
                  <a:srgbClr val="0070C0"/>
                </a:solidFill>
              </a:rPr>
              <a:t> </a:t>
            </a:r>
            <a:r>
              <a:rPr lang="en-US" dirty="0" err="1">
                <a:solidFill>
                  <a:srgbClr val="0070C0"/>
                </a:solidFill>
              </a:rPr>
              <a:t>nhất</a:t>
            </a:r>
            <a:r>
              <a:rPr lang="en-US" dirty="0">
                <a:solidFill>
                  <a:srgbClr val="0070C0"/>
                </a:solidFill>
              </a:rPr>
              <a:t> (best effort)</a:t>
            </a:r>
            <a:endParaRPr lang="en-US" dirty="0"/>
          </a:p>
        </p:txBody>
      </p:sp>
      <p:sp>
        <p:nvSpPr>
          <p:cNvPr id="3" name="Content Placeholder 2"/>
          <p:cNvSpPr>
            <a:spLocks noGrp="1"/>
          </p:cNvSpPr>
          <p:nvPr>
            <p:ph idx="1"/>
          </p:nvPr>
        </p:nvSpPr>
        <p:spPr/>
        <p:txBody>
          <a:bodyPr/>
          <a:lstStyle/>
          <a:p>
            <a:pPr marL="285750" indent="-285750">
              <a:buFontTx/>
              <a:buChar char="-"/>
            </a:pPr>
            <a:r>
              <a:rPr lang="vi-VN" dirty="0"/>
              <a:t>Là phương thức BLPH trong đó TCPH thỏa thuận làm đại lý phân phối cho TCPH. </a:t>
            </a:r>
            <a:endParaRPr lang="en-US" dirty="0"/>
          </a:p>
          <a:p>
            <a:pPr marL="285750" indent="-285750">
              <a:buFontTx/>
              <a:buChar char="-"/>
            </a:pPr>
            <a:r>
              <a:rPr lang="vi-VN" dirty="0"/>
              <a:t>TCBL không cam kết bán toàn bộ số CK mà chỉ cam kết sẽ cố gắng hết sức để bán CK ra thị trường, nhưng nếu không phân phối hết sẽ trả lại cho TCPH. </a:t>
            </a:r>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17</a:t>
            </a:fld>
            <a:endParaRPr lang="en-US" altLang="en-US"/>
          </a:p>
        </p:txBody>
      </p:sp>
    </p:spTree>
    <p:extLst>
      <p:ext uri="{BB962C8B-B14F-4D97-AF65-F5344CB8AC3E}">
        <p14:creationId xmlns:p14="http://schemas.microsoft.com/office/powerpoint/2010/main" val="353936252"/>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60981"/>
            <a:ext cx="9753600" cy="1143000"/>
          </a:xfrm>
        </p:spPr>
        <p:txBody>
          <a:bodyPr/>
          <a:lstStyle/>
          <a:p>
            <a:r>
              <a:rPr lang="vi-VN" dirty="0"/>
              <a:t>BLPH theo phương thức tất cả hoặc không (all or none)</a:t>
            </a:r>
            <a:r>
              <a:rPr lang="en-US" dirty="0"/>
              <a:t/>
            </a:r>
            <a:br>
              <a:rPr lang="en-US" dirty="0"/>
            </a:br>
            <a:endParaRPr lang="en-US" dirty="0"/>
          </a:p>
        </p:txBody>
      </p:sp>
      <p:sp>
        <p:nvSpPr>
          <p:cNvPr id="3" name="Content Placeholder 2"/>
          <p:cNvSpPr>
            <a:spLocks noGrp="1"/>
          </p:cNvSpPr>
          <p:nvPr>
            <p:ph idx="1"/>
          </p:nvPr>
        </p:nvSpPr>
        <p:spPr/>
        <p:txBody>
          <a:bodyPr/>
          <a:lstStyle/>
          <a:p>
            <a:r>
              <a:rPr lang="vi-VN" dirty="0"/>
              <a:t>Trong phương thức này, TCPH yêu cầu TCBL bán một số lượng CK nhất định, nếu không phân phối được hết sẽ hủy toàn bộ đợt PH. </a:t>
            </a:r>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18</a:t>
            </a:fld>
            <a:endParaRPr lang="en-US" altLang="en-US"/>
          </a:p>
        </p:txBody>
      </p:sp>
    </p:spTree>
    <p:extLst>
      <p:ext uri="{BB962C8B-B14F-4D97-AF65-F5344CB8AC3E}">
        <p14:creationId xmlns:p14="http://schemas.microsoft.com/office/powerpoint/2010/main" val="162688806"/>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98464"/>
            <a:ext cx="9753600" cy="1143000"/>
          </a:xfrm>
        </p:spPr>
        <p:txBody>
          <a:bodyPr/>
          <a:lstStyle/>
          <a:p>
            <a:r>
              <a:rPr lang="vi-VN" dirty="0">
                <a:solidFill>
                  <a:srgbClr val="0070C0"/>
                </a:solidFill>
              </a:rPr>
              <a:t>BLPH theo phương thức tối thiểu – tối đa (Min – Max commitment): </a:t>
            </a:r>
            <a:r>
              <a:rPr lang="en-US" dirty="0">
                <a:solidFill>
                  <a:srgbClr val="0070C0"/>
                </a:solidFill>
              </a:rPr>
              <a:t/>
            </a:r>
            <a:br>
              <a:rPr lang="en-US" dirty="0">
                <a:solidFill>
                  <a:srgbClr val="0070C0"/>
                </a:solidFill>
              </a:rPr>
            </a:br>
            <a:endParaRPr lang="en-US" dirty="0"/>
          </a:p>
        </p:txBody>
      </p:sp>
      <p:sp>
        <p:nvSpPr>
          <p:cNvPr id="3" name="Content Placeholder 2"/>
          <p:cNvSpPr>
            <a:spLocks noGrp="1"/>
          </p:cNvSpPr>
          <p:nvPr>
            <p:ph idx="1"/>
          </p:nvPr>
        </p:nvSpPr>
        <p:spPr/>
        <p:txBody>
          <a:bodyPr/>
          <a:lstStyle/>
          <a:p>
            <a:r>
              <a:rPr lang="vi-VN" dirty="0"/>
              <a:t>Là phương thức trung gian giữa phương thức BLPH cố gắng cao nhất và BLPH tất cả hoặc không. </a:t>
            </a:r>
          </a:p>
          <a:p>
            <a:r>
              <a:rPr lang="vi-VN" dirty="0"/>
              <a:t>Theo phương thức này, TCPH yêu cầu TCBL bán tối thiểu một tỷ lệ CK nhất định (mức sàn). Vượt trên mức ấy, TCBL được tự do chào bán CK đến mức tối đa quy định (mức trần). </a:t>
            </a:r>
          </a:p>
          <a:p>
            <a:r>
              <a:rPr lang="vi-VN" dirty="0"/>
              <a:t>Nếu lượng CK bán được thấp hơn mức tối thiểu yêu cầu thì toàn bộ đợt PH sẽ bị hủy bỏ.</a:t>
            </a:r>
          </a:p>
          <a:p>
            <a:endParaRPr lang="en-US"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19</a:t>
            </a:fld>
            <a:endParaRPr lang="en-US" altLang="en-US"/>
          </a:p>
        </p:txBody>
      </p:sp>
    </p:spTree>
    <p:extLst>
      <p:ext uri="{BB962C8B-B14F-4D97-AF65-F5344CB8AC3E}">
        <p14:creationId xmlns:p14="http://schemas.microsoft.com/office/powerpoint/2010/main" val="3090685850"/>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Quy</a:t>
            </a:r>
            <a:r>
              <a:rPr lang="en-US" dirty="0"/>
              <a:t> </a:t>
            </a:r>
            <a:r>
              <a:rPr lang="en-US" dirty="0" err="1"/>
              <a:t>trình</a:t>
            </a:r>
            <a:r>
              <a:rPr lang="en-US" dirty="0"/>
              <a:t> </a:t>
            </a:r>
            <a:r>
              <a:rPr lang="en-US" dirty="0" err="1"/>
              <a:t>thực</a:t>
            </a:r>
            <a:r>
              <a:rPr lang="en-US" dirty="0"/>
              <a:t> </a:t>
            </a:r>
            <a:r>
              <a:rPr lang="en-US" dirty="0" err="1"/>
              <a:t>hiện</a:t>
            </a:r>
            <a:r>
              <a:rPr lang="en-US" dirty="0"/>
              <a:t> </a:t>
            </a:r>
            <a:r>
              <a:rPr lang="en-US" dirty="0" err="1"/>
              <a:t>bảo</a:t>
            </a:r>
            <a:r>
              <a:rPr lang="en-US" dirty="0"/>
              <a:t> </a:t>
            </a:r>
            <a:r>
              <a:rPr lang="en-US" dirty="0" err="1"/>
              <a:t>lãnh</a:t>
            </a:r>
            <a:r>
              <a:rPr lang="en-US" dirty="0"/>
              <a:t> </a:t>
            </a:r>
            <a:r>
              <a:rPr lang="en-US" dirty="0" err="1"/>
              <a:t>phát</a:t>
            </a:r>
            <a:r>
              <a:rPr lang="en-US" dirty="0"/>
              <a:t> </a:t>
            </a:r>
            <a:r>
              <a:rPr lang="en-US" dirty="0" err="1"/>
              <a:t>hành</a:t>
            </a:r>
            <a:r>
              <a:rPr lang="en-US" dirty="0"/>
              <a:t> </a:t>
            </a:r>
            <a:r>
              <a:rPr lang="en-US" dirty="0" err="1"/>
              <a:t>tại</a:t>
            </a:r>
            <a:r>
              <a:rPr lang="en-US" dirty="0"/>
              <a:t> VN </a:t>
            </a:r>
          </a:p>
        </p:txBody>
      </p:sp>
      <p:sp>
        <p:nvSpPr>
          <p:cNvPr id="3" name="Content Placeholder 2"/>
          <p:cNvSpPr>
            <a:spLocks noGrp="1"/>
          </p:cNvSpPr>
          <p:nvPr>
            <p:ph idx="1"/>
          </p:nvPr>
        </p:nvSpPr>
        <p:spPr/>
        <p:txBody>
          <a:bodyPr/>
          <a:lstStyle/>
          <a:p>
            <a:r>
              <a:rPr lang="en-US" dirty="0" err="1" smtClean="0"/>
              <a:t>Bước</a:t>
            </a:r>
            <a:r>
              <a:rPr lang="en-US" dirty="0" smtClean="0"/>
              <a:t> 1: </a:t>
            </a:r>
            <a:r>
              <a:rPr lang="en-US" altLang="en-US" dirty="0" err="1">
                <a:solidFill>
                  <a:srgbClr val="000000"/>
                </a:solidFill>
              </a:rPr>
              <a:t>Phân</a:t>
            </a:r>
            <a:r>
              <a:rPr lang="en-US" altLang="en-US" dirty="0">
                <a:solidFill>
                  <a:srgbClr val="000000"/>
                </a:solidFill>
              </a:rPr>
              <a:t> </a:t>
            </a:r>
            <a:r>
              <a:rPr lang="en-US" altLang="en-US" dirty="0" err="1">
                <a:solidFill>
                  <a:srgbClr val="000000"/>
                </a:solidFill>
              </a:rPr>
              <a:t>tích</a:t>
            </a:r>
            <a:r>
              <a:rPr lang="en-US" altLang="en-US" dirty="0">
                <a:solidFill>
                  <a:srgbClr val="000000"/>
                </a:solidFill>
              </a:rPr>
              <a:t> </a:t>
            </a:r>
            <a:r>
              <a:rPr lang="en-US" altLang="en-US" dirty="0" err="1">
                <a:solidFill>
                  <a:srgbClr val="000000"/>
                </a:solidFill>
              </a:rPr>
              <a:t>và</a:t>
            </a:r>
            <a:r>
              <a:rPr lang="en-US" altLang="en-US" dirty="0">
                <a:solidFill>
                  <a:srgbClr val="000000"/>
                </a:solidFill>
              </a:rPr>
              <a:t> </a:t>
            </a:r>
            <a:r>
              <a:rPr lang="en-US" altLang="en-US" dirty="0" err="1">
                <a:solidFill>
                  <a:srgbClr val="000000"/>
                </a:solidFill>
              </a:rPr>
              <a:t>đánh</a:t>
            </a:r>
            <a:r>
              <a:rPr lang="en-US" altLang="en-US" dirty="0">
                <a:solidFill>
                  <a:srgbClr val="000000"/>
                </a:solidFill>
              </a:rPr>
              <a:t> </a:t>
            </a:r>
            <a:r>
              <a:rPr lang="en-US" altLang="en-US" dirty="0" err="1">
                <a:solidFill>
                  <a:srgbClr val="000000"/>
                </a:solidFill>
              </a:rPr>
              <a:t>giá</a:t>
            </a:r>
            <a:r>
              <a:rPr lang="en-US" altLang="en-US" dirty="0">
                <a:solidFill>
                  <a:srgbClr val="000000"/>
                </a:solidFill>
              </a:rPr>
              <a:t> </a:t>
            </a:r>
            <a:r>
              <a:rPr lang="en-US" altLang="en-US" dirty="0" err="1">
                <a:solidFill>
                  <a:srgbClr val="000000"/>
                </a:solidFill>
              </a:rPr>
              <a:t>khả</a:t>
            </a:r>
            <a:r>
              <a:rPr lang="en-US" altLang="en-US" dirty="0">
                <a:solidFill>
                  <a:srgbClr val="000000"/>
                </a:solidFill>
              </a:rPr>
              <a:t> </a:t>
            </a:r>
            <a:r>
              <a:rPr lang="en-US" altLang="en-US" dirty="0" err="1">
                <a:solidFill>
                  <a:srgbClr val="000000"/>
                </a:solidFill>
              </a:rPr>
              <a:t>năng</a:t>
            </a:r>
            <a:r>
              <a:rPr lang="en-US" altLang="en-US" dirty="0">
                <a:solidFill>
                  <a:srgbClr val="000000"/>
                </a:solidFill>
              </a:rPr>
              <a:t> </a:t>
            </a:r>
            <a:r>
              <a:rPr lang="en-US" altLang="en-US" dirty="0" err="1">
                <a:solidFill>
                  <a:srgbClr val="000000"/>
                </a:solidFill>
              </a:rPr>
              <a:t>chào</a:t>
            </a:r>
            <a:r>
              <a:rPr lang="en-US" altLang="en-US" dirty="0">
                <a:solidFill>
                  <a:srgbClr val="000000"/>
                </a:solidFill>
              </a:rPr>
              <a:t> </a:t>
            </a:r>
            <a:r>
              <a:rPr lang="en-US" altLang="en-US" dirty="0" err="1">
                <a:solidFill>
                  <a:srgbClr val="000000"/>
                </a:solidFill>
              </a:rPr>
              <a:t>bán</a:t>
            </a:r>
            <a:r>
              <a:rPr lang="en-US" altLang="en-US" dirty="0">
                <a:solidFill>
                  <a:srgbClr val="000000"/>
                </a:solidFill>
              </a:rPr>
              <a:t> </a:t>
            </a:r>
            <a:r>
              <a:rPr lang="en-US" altLang="en-US" dirty="0" err="1">
                <a:solidFill>
                  <a:srgbClr val="000000"/>
                </a:solidFill>
              </a:rPr>
              <a:t>chứng</a:t>
            </a:r>
            <a:r>
              <a:rPr lang="en-US" altLang="en-US" dirty="0">
                <a:solidFill>
                  <a:srgbClr val="000000"/>
                </a:solidFill>
              </a:rPr>
              <a:t> </a:t>
            </a:r>
            <a:r>
              <a:rPr lang="en-US" altLang="en-US" dirty="0" err="1">
                <a:solidFill>
                  <a:srgbClr val="000000"/>
                </a:solidFill>
              </a:rPr>
              <a:t>khoán</a:t>
            </a:r>
            <a:endParaRPr lang="en-US" altLang="en-US" dirty="0">
              <a:solidFill>
                <a:srgbClr val="000000"/>
              </a:solidFill>
            </a:endParaRPr>
          </a:p>
          <a:p>
            <a:r>
              <a:rPr lang="en-US" dirty="0" err="1" smtClean="0"/>
              <a:t>Bước</a:t>
            </a:r>
            <a:r>
              <a:rPr lang="en-US" dirty="0" smtClean="0"/>
              <a:t> 2: </a:t>
            </a:r>
            <a:r>
              <a:rPr lang="en-US" altLang="en-US" dirty="0" err="1">
                <a:solidFill>
                  <a:srgbClr val="000000"/>
                </a:solidFill>
              </a:rPr>
              <a:t>Chuẩn</a:t>
            </a:r>
            <a:r>
              <a:rPr lang="en-US" altLang="en-US" dirty="0">
                <a:solidFill>
                  <a:srgbClr val="000000"/>
                </a:solidFill>
              </a:rPr>
              <a:t> </a:t>
            </a:r>
            <a:r>
              <a:rPr lang="en-US" altLang="en-US" dirty="0" err="1">
                <a:solidFill>
                  <a:srgbClr val="000000"/>
                </a:solidFill>
              </a:rPr>
              <a:t>bị</a:t>
            </a:r>
            <a:r>
              <a:rPr lang="en-US" altLang="en-US" dirty="0">
                <a:solidFill>
                  <a:srgbClr val="000000"/>
                </a:solidFill>
              </a:rPr>
              <a:t> </a:t>
            </a:r>
            <a:r>
              <a:rPr lang="en-US" altLang="en-US" dirty="0" err="1">
                <a:solidFill>
                  <a:srgbClr val="000000"/>
                </a:solidFill>
              </a:rPr>
              <a:t>hồ</a:t>
            </a:r>
            <a:r>
              <a:rPr lang="en-US" altLang="en-US" dirty="0">
                <a:solidFill>
                  <a:srgbClr val="000000"/>
                </a:solidFill>
              </a:rPr>
              <a:t> </a:t>
            </a:r>
            <a:r>
              <a:rPr lang="en-US" altLang="en-US" dirty="0" err="1">
                <a:solidFill>
                  <a:srgbClr val="000000"/>
                </a:solidFill>
              </a:rPr>
              <a:t>sơ</a:t>
            </a:r>
            <a:r>
              <a:rPr lang="en-US" altLang="en-US" dirty="0">
                <a:solidFill>
                  <a:srgbClr val="000000"/>
                </a:solidFill>
              </a:rPr>
              <a:t> </a:t>
            </a:r>
            <a:r>
              <a:rPr lang="en-US" altLang="en-US" dirty="0" err="1">
                <a:solidFill>
                  <a:srgbClr val="000000"/>
                </a:solidFill>
              </a:rPr>
              <a:t>xin</a:t>
            </a:r>
            <a:r>
              <a:rPr lang="en-US" altLang="en-US" dirty="0">
                <a:solidFill>
                  <a:srgbClr val="000000"/>
                </a:solidFill>
              </a:rPr>
              <a:t> </a:t>
            </a:r>
            <a:r>
              <a:rPr lang="en-US" altLang="en-US" dirty="0" err="1">
                <a:solidFill>
                  <a:srgbClr val="000000"/>
                </a:solidFill>
              </a:rPr>
              <a:t>phép</a:t>
            </a:r>
            <a:r>
              <a:rPr lang="en-US" altLang="en-US" dirty="0">
                <a:solidFill>
                  <a:srgbClr val="000000"/>
                </a:solidFill>
              </a:rPr>
              <a:t> </a:t>
            </a:r>
            <a:r>
              <a:rPr lang="en-US" altLang="en-US" dirty="0" err="1">
                <a:solidFill>
                  <a:srgbClr val="000000"/>
                </a:solidFill>
              </a:rPr>
              <a:t>chào</a:t>
            </a:r>
            <a:r>
              <a:rPr lang="en-US" altLang="en-US" dirty="0">
                <a:solidFill>
                  <a:srgbClr val="000000"/>
                </a:solidFill>
              </a:rPr>
              <a:t> </a:t>
            </a:r>
            <a:r>
              <a:rPr lang="en-US" altLang="en-US" dirty="0" err="1">
                <a:solidFill>
                  <a:srgbClr val="000000"/>
                </a:solidFill>
              </a:rPr>
              <a:t>bán</a:t>
            </a:r>
            <a:endParaRPr lang="en-US" altLang="en-US" dirty="0">
              <a:solidFill>
                <a:srgbClr val="000000"/>
              </a:solidFill>
            </a:endParaRPr>
          </a:p>
          <a:p>
            <a:r>
              <a:rPr lang="en-US" dirty="0" err="1" smtClean="0"/>
              <a:t>Bước</a:t>
            </a:r>
            <a:r>
              <a:rPr lang="en-US" dirty="0" smtClean="0"/>
              <a:t> 3: </a:t>
            </a:r>
            <a:r>
              <a:rPr lang="en-US" altLang="en-US" dirty="0" err="1">
                <a:solidFill>
                  <a:srgbClr val="000000"/>
                </a:solidFill>
              </a:rPr>
              <a:t>Phân</a:t>
            </a:r>
            <a:r>
              <a:rPr lang="en-US" altLang="en-US" dirty="0">
                <a:solidFill>
                  <a:srgbClr val="000000"/>
                </a:solidFill>
              </a:rPr>
              <a:t> </a:t>
            </a:r>
            <a:r>
              <a:rPr lang="en-US" altLang="en-US" dirty="0" err="1">
                <a:solidFill>
                  <a:srgbClr val="000000"/>
                </a:solidFill>
              </a:rPr>
              <a:t>phối</a:t>
            </a:r>
            <a:r>
              <a:rPr lang="en-US" altLang="en-US" dirty="0">
                <a:solidFill>
                  <a:srgbClr val="000000"/>
                </a:solidFill>
              </a:rPr>
              <a:t> </a:t>
            </a:r>
            <a:r>
              <a:rPr lang="en-US" altLang="en-US" dirty="0" err="1">
                <a:solidFill>
                  <a:srgbClr val="000000"/>
                </a:solidFill>
              </a:rPr>
              <a:t>chứng</a:t>
            </a:r>
            <a:r>
              <a:rPr lang="en-US" altLang="en-US" dirty="0">
                <a:solidFill>
                  <a:srgbClr val="000000"/>
                </a:solidFill>
              </a:rPr>
              <a:t> </a:t>
            </a:r>
            <a:r>
              <a:rPr lang="en-US" altLang="en-US" dirty="0" err="1">
                <a:solidFill>
                  <a:srgbClr val="000000"/>
                </a:solidFill>
              </a:rPr>
              <a:t>khoán</a:t>
            </a:r>
            <a:r>
              <a:rPr lang="en-US" altLang="en-US" dirty="0">
                <a:solidFill>
                  <a:srgbClr val="000000"/>
                </a:solidFill>
              </a:rPr>
              <a:t> </a:t>
            </a:r>
            <a:r>
              <a:rPr lang="en-US" altLang="en-US" dirty="0" err="1">
                <a:solidFill>
                  <a:srgbClr val="000000"/>
                </a:solidFill>
              </a:rPr>
              <a:t>ra</a:t>
            </a:r>
            <a:r>
              <a:rPr lang="en-US" altLang="en-US" dirty="0">
                <a:solidFill>
                  <a:srgbClr val="000000"/>
                </a:solidFill>
              </a:rPr>
              <a:t> </a:t>
            </a:r>
            <a:r>
              <a:rPr lang="en-US" altLang="en-US" dirty="0" err="1">
                <a:solidFill>
                  <a:srgbClr val="000000"/>
                </a:solidFill>
              </a:rPr>
              <a:t>công</a:t>
            </a:r>
            <a:r>
              <a:rPr lang="en-US" altLang="en-US" dirty="0">
                <a:solidFill>
                  <a:srgbClr val="000000"/>
                </a:solidFill>
              </a:rPr>
              <a:t> </a:t>
            </a:r>
            <a:r>
              <a:rPr lang="en-US" altLang="en-US" dirty="0" err="1" smtClean="0">
                <a:solidFill>
                  <a:srgbClr val="000000"/>
                </a:solidFill>
              </a:rPr>
              <a:t>chúng</a:t>
            </a:r>
            <a:endParaRPr lang="en-US" altLang="en-US" dirty="0" smtClean="0">
              <a:solidFill>
                <a:srgbClr val="000000"/>
              </a:solidFill>
            </a:endParaRPr>
          </a:p>
          <a:p>
            <a:r>
              <a:rPr lang="en-US" altLang="en-US" dirty="0" err="1" smtClean="0">
                <a:solidFill>
                  <a:srgbClr val="000000"/>
                </a:solidFill>
              </a:rPr>
              <a:t>Bước</a:t>
            </a:r>
            <a:r>
              <a:rPr lang="en-US" altLang="en-US" dirty="0" smtClean="0">
                <a:solidFill>
                  <a:srgbClr val="000000"/>
                </a:solidFill>
              </a:rPr>
              <a:t> 4: </a:t>
            </a:r>
            <a:r>
              <a:rPr lang="en-US" altLang="en-US" dirty="0" err="1">
                <a:solidFill>
                  <a:srgbClr val="000000"/>
                </a:solidFill>
              </a:rPr>
              <a:t>Khóa</a:t>
            </a:r>
            <a:r>
              <a:rPr lang="en-US" altLang="en-US" dirty="0">
                <a:solidFill>
                  <a:srgbClr val="000000"/>
                </a:solidFill>
              </a:rPr>
              <a:t> </a:t>
            </a:r>
            <a:r>
              <a:rPr lang="en-US" altLang="en-US" dirty="0" err="1">
                <a:solidFill>
                  <a:srgbClr val="000000"/>
                </a:solidFill>
              </a:rPr>
              <a:t>sổ</a:t>
            </a:r>
            <a:r>
              <a:rPr lang="en-US" altLang="en-US" dirty="0">
                <a:solidFill>
                  <a:srgbClr val="000000"/>
                </a:solidFill>
              </a:rPr>
              <a:t> </a:t>
            </a:r>
            <a:r>
              <a:rPr lang="en-US" altLang="en-US" dirty="0" err="1">
                <a:solidFill>
                  <a:srgbClr val="000000"/>
                </a:solidFill>
              </a:rPr>
              <a:t>đợt</a:t>
            </a:r>
            <a:r>
              <a:rPr lang="en-US" altLang="en-US" dirty="0">
                <a:solidFill>
                  <a:srgbClr val="000000"/>
                </a:solidFill>
              </a:rPr>
              <a:t> </a:t>
            </a:r>
            <a:r>
              <a:rPr lang="en-US" altLang="en-US" dirty="0" err="1">
                <a:solidFill>
                  <a:srgbClr val="000000"/>
                </a:solidFill>
              </a:rPr>
              <a:t>chào</a:t>
            </a:r>
            <a:r>
              <a:rPr lang="en-US" altLang="en-US" dirty="0">
                <a:solidFill>
                  <a:srgbClr val="000000"/>
                </a:solidFill>
              </a:rPr>
              <a:t> </a:t>
            </a:r>
            <a:r>
              <a:rPr lang="en-US" altLang="en-US" dirty="0" err="1" smtClean="0">
                <a:solidFill>
                  <a:srgbClr val="000000"/>
                </a:solidFill>
              </a:rPr>
              <a:t>bán</a:t>
            </a:r>
            <a:endParaRPr lang="en-US" altLang="en-US" dirty="0" smtClean="0">
              <a:solidFill>
                <a:srgbClr val="000000"/>
              </a:solidFill>
            </a:endParaRPr>
          </a:p>
          <a:p>
            <a:r>
              <a:rPr lang="en-US" altLang="en-US" dirty="0" err="1" smtClean="0">
                <a:solidFill>
                  <a:srgbClr val="000000"/>
                </a:solidFill>
              </a:rPr>
              <a:t>Bước</a:t>
            </a:r>
            <a:r>
              <a:rPr lang="en-US" altLang="en-US" dirty="0" smtClean="0">
                <a:solidFill>
                  <a:srgbClr val="000000"/>
                </a:solidFill>
              </a:rPr>
              <a:t> 5: </a:t>
            </a:r>
            <a:r>
              <a:rPr lang="en-US" altLang="en-US" dirty="0" err="1">
                <a:solidFill>
                  <a:srgbClr val="000000"/>
                </a:solidFill>
              </a:rPr>
              <a:t>Bình</a:t>
            </a:r>
            <a:r>
              <a:rPr lang="en-US" altLang="en-US" dirty="0">
                <a:solidFill>
                  <a:srgbClr val="000000"/>
                </a:solidFill>
              </a:rPr>
              <a:t> </a:t>
            </a:r>
            <a:r>
              <a:rPr lang="en-US" altLang="en-US" dirty="0" err="1">
                <a:solidFill>
                  <a:srgbClr val="000000"/>
                </a:solidFill>
              </a:rPr>
              <a:t>ổn</a:t>
            </a:r>
            <a:r>
              <a:rPr lang="en-US" altLang="en-US" dirty="0">
                <a:solidFill>
                  <a:srgbClr val="000000"/>
                </a:solidFill>
              </a:rPr>
              <a:t> </a:t>
            </a:r>
            <a:r>
              <a:rPr lang="en-US" altLang="en-US" dirty="0" err="1">
                <a:solidFill>
                  <a:srgbClr val="000000"/>
                </a:solidFill>
              </a:rPr>
              <a:t>và</a:t>
            </a:r>
            <a:r>
              <a:rPr lang="en-US" altLang="en-US" dirty="0">
                <a:solidFill>
                  <a:srgbClr val="000000"/>
                </a:solidFill>
              </a:rPr>
              <a:t> </a:t>
            </a:r>
            <a:r>
              <a:rPr lang="en-US" altLang="en-US" dirty="0" err="1">
                <a:solidFill>
                  <a:srgbClr val="000000"/>
                </a:solidFill>
              </a:rPr>
              <a:t>điều</a:t>
            </a:r>
            <a:r>
              <a:rPr lang="en-US" altLang="en-US" dirty="0">
                <a:solidFill>
                  <a:srgbClr val="000000"/>
                </a:solidFill>
              </a:rPr>
              <a:t> </a:t>
            </a:r>
            <a:r>
              <a:rPr lang="en-US" altLang="en-US" dirty="0" err="1">
                <a:solidFill>
                  <a:srgbClr val="000000"/>
                </a:solidFill>
              </a:rPr>
              <a:t>hòa</a:t>
            </a:r>
            <a:r>
              <a:rPr lang="en-US" altLang="en-US" dirty="0">
                <a:solidFill>
                  <a:srgbClr val="000000"/>
                </a:solidFill>
              </a:rPr>
              <a:t> </a:t>
            </a:r>
            <a:r>
              <a:rPr lang="en-US" altLang="en-US" dirty="0" err="1">
                <a:solidFill>
                  <a:srgbClr val="000000"/>
                </a:solidFill>
              </a:rPr>
              <a:t>thị</a:t>
            </a:r>
            <a:r>
              <a:rPr lang="en-US" altLang="en-US" dirty="0">
                <a:solidFill>
                  <a:srgbClr val="000000"/>
                </a:solidFill>
              </a:rPr>
              <a:t> </a:t>
            </a:r>
            <a:r>
              <a:rPr lang="en-US" altLang="en-US" dirty="0" err="1" smtClean="0">
                <a:solidFill>
                  <a:srgbClr val="000000"/>
                </a:solidFill>
              </a:rPr>
              <a:t>trường</a:t>
            </a:r>
            <a:endParaRPr lang="en-US" altLang="en-US" dirty="0" smtClean="0">
              <a:solidFill>
                <a:srgbClr val="000000"/>
              </a:solidFill>
            </a:endParaRPr>
          </a:p>
          <a:p>
            <a:r>
              <a:rPr lang="en-US" altLang="en-US" dirty="0" err="1">
                <a:solidFill>
                  <a:srgbClr val="000000"/>
                </a:solidFill>
              </a:rPr>
              <a:t>Bước</a:t>
            </a:r>
            <a:r>
              <a:rPr lang="en-US" altLang="en-US" dirty="0">
                <a:solidFill>
                  <a:srgbClr val="000000"/>
                </a:solidFill>
              </a:rPr>
              <a:t> 6: </a:t>
            </a:r>
            <a:r>
              <a:rPr lang="en-US" altLang="en-US" dirty="0" err="1">
                <a:solidFill>
                  <a:srgbClr val="000000"/>
                </a:solidFill>
              </a:rPr>
              <a:t>Giải</a:t>
            </a:r>
            <a:r>
              <a:rPr lang="en-US" altLang="en-US" dirty="0">
                <a:solidFill>
                  <a:srgbClr val="000000"/>
                </a:solidFill>
              </a:rPr>
              <a:t> </a:t>
            </a:r>
            <a:r>
              <a:rPr lang="en-US" altLang="en-US" dirty="0" err="1">
                <a:solidFill>
                  <a:srgbClr val="000000"/>
                </a:solidFill>
              </a:rPr>
              <a:t>thể</a:t>
            </a:r>
            <a:r>
              <a:rPr lang="en-US" altLang="en-US" dirty="0">
                <a:solidFill>
                  <a:srgbClr val="000000"/>
                </a:solidFill>
              </a:rPr>
              <a:t> </a:t>
            </a:r>
            <a:r>
              <a:rPr lang="en-US" altLang="en-US" dirty="0" err="1">
                <a:solidFill>
                  <a:srgbClr val="000000"/>
                </a:solidFill>
              </a:rPr>
              <a:t>tổ</a:t>
            </a:r>
            <a:r>
              <a:rPr lang="en-US" altLang="en-US" dirty="0">
                <a:solidFill>
                  <a:srgbClr val="000000"/>
                </a:solidFill>
              </a:rPr>
              <a:t> </a:t>
            </a:r>
            <a:r>
              <a:rPr lang="en-US" altLang="en-US" dirty="0" err="1">
                <a:solidFill>
                  <a:srgbClr val="000000"/>
                </a:solidFill>
              </a:rPr>
              <a:t>hợp</a:t>
            </a:r>
            <a:endParaRPr lang="en-US" altLang="en-US" dirty="0">
              <a:solidFill>
                <a:srgbClr val="000000"/>
              </a:solidFill>
            </a:endParaRPr>
          </a:p>
          <a:p>
            <a:endParaRPr lang="en-US" altLang="en-US" dirty="0" smtClean="0">
              <a:solidFill>
                <a:srgbClr val="000000"/>
              </a:solidFill>
            </a:endParaRPr>
          </a:p>
          <a:p>
            <a:pPr marL="0" indent="0">
              <a:buNone/>
            </a:pPr>
            <a:endParaRPr lang="en-US" altLang="en-US" dirty="0">
              <a:solidFill>
                <a:srgbClr val="000000"/>
              </a:solidFill>
            </a:endParaRPr>
          </a:p>
          <a:p>
            <a:endParaRPr lang="en-US" dirty="0" smtClean="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20</a:t>
            </a:fld>
            <a:endParaRPr lang="en-US" altLang="en-US"/>
          </a:p>
        </p:txBody>
      </p:sp>
    </p:spTree>
    <p:extLst>
      <p:ext uri="{BB962C8B-B14F-4D97-AF65-F5344CB8AC3E}">
        <p14:creationId xmlns:p14="http://schemas.microsoft.com/office/powerpoint/2010/main" val="641486546"/>
      </p:ext>
    </p:extLst>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Tổng</a:t>
            </a:r>
            <a:r>
              <a:rPr lang="en-US" dirty="0" smtClean="0"/>
              <a:t> </a:t>
            </a:r>
            <a:r>
              <a:rPr lang="en-US" dirty="0" err="1" smtClean="0"/>
              <a:t>kết</a:t>
            </a:r>
            <a:r>
              <a:rPr lang="en-US" dirty="0" smtClean="0"/>
              <a:t> </a:t>
            </a:r>
            <a:r>
              <a:rPr lang="en-US" dirty="0" err="1" smtClean="0"/>
              <a:t>bài</a:t>
            </a:r>
            <a:endParaRPr lang="en-US" dirty="0"/>
          </a:p>
        </p:txBody>
      </p:sp>
      <p:sp>
        <p:nvSpPr>
          <p:cNvPr id="3" name="Content Placeholder 2"/>
          <p:cNvSpPr>
            <a:spLocks noGrp="1"/>
          </p:cNvSpPr>
          <p:nvPr>
            <p:ph idx="1"/>
          </p:nvPr>
        </p:nvSpPr>
        <p:spPr/>
        <p:txBody>
          <a:bodyPr/>
          <a:lstStyle/>
          <a:p>
            <a:pPr marL="0" indent="0" algn="ctr">
              <a:buNone/>
            </a:pPr>
            <a:r>
              <a:rPr lang="en-US" sz="7200" dirty="0" err="1"/>
              <a:t>Các</a:t>
            </a:r>
            <a:r>
              <a:rPr lang="en-US" sz="7200" dirty="0"/>
              <a:t> </a:t>
            </a:r>
            <a:r>
              <a:rPr lang="en-US" sz="7200" dirty="0" err="1"/>
              <a:t>bạn</a:t>
            </a:r>
            <a:r>
              <a:rPr lang="en-US" sz="7200" dirty="0"/>
              <a:t> </a:t>
            </a:r>
            <a:r>
              <a:rPr lang="en-US" sz="7200" dirty="0" err="1"/>
              <a:t>hiểu</a:t>
            </a:r>
            <a:r>
              <a:rPr lang="en-US" sz="7200" dirty="0"/>
              <a:t> </a:t>
            </a:r>
            <a:r>
              <a:rPr lang="en-US" sz="7200" dirty="0" err="1"/>
              <a:t>thê</a:t>
            </a:r>
            <a:r>
              <a:rPr lang="en-US" sz="7200" dirty="0"/>
              <a:t>́ </a:t>
            </a:r>
            <a:r>
              <a:rPr lang="en-US" sz="7200" dirty="0" err="1"/>
              <a:t>nào</a:t>
            </a:r>
            <a:r>
              <a:rPr lang="en-US" sz="7200" dirty="0"/>
              <a:t> </a:t>
            </a:r>
            <a:r>
              <a:rPr lang="en-US" sz="7200" dirty="0" err="1"/>
              <a:t>vê</a:t>
            </a:r>
            <a:r>
              <a:rPr lang="en-US" sz="7200" dirty="0"/>
              <a:t>̀ thị </a:t>
            </a:r>
            <a:r>
              <a:rPr lang="en-US" sz="7200" dirty="0" err="1"/>
              <a:t>trường</a:t>
            </a:r>
            <a:r>
              <a:rPr lang="en-US" sz="7200" dirty="0"/>
              <a:t> </a:t>
            </a:r>
            <a:r>
              <a:rPr lang="en-US" sz="7200" dirty="0" err="1"/>
              <a:t>phát</a:t>
            </a:r>
            <a:r>
              <a:rPr lang="en-US" sz="7200" dirty="0"/>
              <a:t> </a:t>
            </a:r>
            <a:r>
              <a:rPr lang="en-US" sz="7200" dirty="0" err="1" smtClean="0"/>
              <a:t>hành</a:t>
            </a:r>
            <a:r>
              <a:rPr lang="en-US" sz="7200" dirty="0" smtClean="0"/>
              <a:t>?</a:t>
            </a:r>
            <a:endParaRPr lang="en-US" sz="7200"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21</a:t>
            </a:fld>
            <a:endParaRPr lang="en-US" altLang="en-US"/>
          </a:p>
        </p:txBody>
      </p:sp>
    </p:spTree>
    <p:extLst>
      <p:ext uri="{BB962C8B-B14F-4D97-AF65-F5344CB8AC3E}">
        <p14:creationId xmlns:p14="http://schemas.microsoft.com/office/powerpoint/2010/main" val="1398352579"/>
      </p:ext>
    </p:extLst>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ctr">
              <a:buNone/>
            </a:pPr>
            <a:endParaRPr lang="en-US" sz="7200" dirty="0" smtClean="0"/>
          </a:p>
          <a:p>
            <a:pPr marL="0" indent="0" algn="ctr">
              <a:buNone/>
            </a:pPr>
            <a:r>
              <a:rPr lang="en-US" sz="7200" dirty="0" smtClean="0"/>
              <a:t>Thank you!</a:t>
            </a:r>
            <a:endParaRPr lang="en-US" sz="7200" dirty="0"/>
          </a:p>
        </p:txBody>
      </p:sp>
      <p:sp>
        <p:nvSpPr>
          <p:cNvPr id="4" name="Slide Number Placeholder 3"/>
          <p:cNvSpPr>
            <a:spLocks noGrp="1"/>
          </p:cNvSpPr>
          <p:nvPr>
            <p:ph type="sldNum" sz="quarter" idx="12"/>
          </p:nvPr>
        </p:nvSpPr>
        <p:spPr/>
        <p:txBody>
          <a:bodyPr/>
          <a:lstStyle/>
          <a:p>
            <a:fld id="{70EFE2FC-958E-4852-88CF-4523749B4C01}" type="slidenum">
              <a:rPr lang="en-US" altLang="en-US" smtClean="0"/>
              <a:pPr/>
              <a:t>22</a:t>
            </a:fld>
            <a:endParaRPr lang="en-US" altLang="en-US"/>
          </a:p>
        </p:txBody>
      </p:sp>
    </p:spTree>
    <p:extLst>
      <p:ext uri="{BB962C8B-B14F-4D97-AF65-F5344CB8AC3E}">
        <p14:creationId xmlns:p14="http://schemas.microsoft.com/office/powerpoint/2010/main" val="779307136"/>
      </p:ext>
    </p:extLst>
  </p:cSld>
  <p:clrMapOvr>
    <a:masterClrMapping/>
  </p:clrMapOvr>
  <p:transition>
    <p:zoom/>
  </p:transition>
  <p:timing>
    <p:tnLst>
      <p:par>
        <p:cTn id="1" dur="indefinite" restart="never" nodeType="tmRoot"/>
      </p:par>
    </p:tnLst>
  </p:timing>
</p:sld>
</file>

<file path=ppt/theme/theme1.xml><?xml version="1.0" encoding="utf-8"?>
<a:theme xmlns:a="http://schemas.openxmlformats.org/drawingml/2006/main"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2706</TotalTime>
  <Words>1399</Words>
  <Application>Microsoft Office PowerPoint</Application>
  <PresentationFormat>Widescreen</PresentationFormat>
  <Paragraphs>143</Paragraphs>
  <Slides>22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Times New Roman</vt:lpstr>
      <vt:lpstr>Wingdings</vt:lpstr>
      <vt:lpstr>Layers</vt:lpstr>
      <vt:lpstr>TRÊN THỊ TRƯỜNG CHỨNG KHOÁN SƠ CẤP</vt:lpstr>
      <vt:lpstr>Mục tiêu </vt:lpstr>
      <vt:lpstr>1. Khái niệm, chức năng</vt:lpstr>
      <vt:lpstr>Đặc điểm của thị trường</vt:lpstr>
      <vt:lpstr>2. Chủ thể phát hành chứng khoán </vt:lpstr>
      <vt:lpstr>3. Phương thức chào bán chứng khoán</vt:lpstr>
      <vt:lpstr>4. Chào bán chứng khoán lần đầu ra công chúng (IPO)</vt:lpstr>
      <vt:lpstr>So sánh chào bán riêng lẻ và chào bán ra công chúng</vt:lpstr>
      <vt:lpstr>PowerPoint Presentation</vt:lpstr>
      <vt:lpstr>Điều kiện IPOs </vt:lpstr>
      <vt:lpstr>Điều kiện IPOs tại Việt Nam</vt:lpstr>
      <vt:lpstr>Thủ tục IPOs</vt:lpstr>
      <vt:lpstr>Bảo lãnh phát hành chứng khoán </vt:lpstr>
      <vt:lpstr>Các hình thức bảo lãnh phát hành: </vt:lpstr>
      <vt:lpstr>Các Phương thức bảo lãnh phát hành</vt:lpstr>
      <vt:lpstr>BLPH theo phương thức dự phòng (stand-by commitment) </vt:lpstr>
      <vt:lpstr>BLPH với cố gắng cao nhất (best effort)</vt:lpstr>
      <vt:lpstr>BLPH theo phương thức tất cả hoặc không (all or none) </vt:lpstr>
      <vt:lpstr>BLPH theo phương thức tối thiểu – tối đa (Min – Max commitment):  </vt:lpstr>
      <vt:lpstr>Quy trình thực hiện bảo lãnh phát hành tại VN </vt:lpstr>
      <vt:lpstr>Tổng kết bài</vt:lpstr>
      <vt:lpstr>PowerPoint Presentation</vt:lpstr>
    </vt:vector>
  </TitlesOfParts>
  <Company>TAS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Chuyên đề  THỊ TRƯỜNG CHỨNG KHOÁN  SƠ CẤP</dc:title>
  <dc:creator>yennh</dc:creator>
  <cp:lastModifiedBy>Nguyen Hoang Linh</cp:lastModifiedBy>
  <cp:revision>157</cp:revision>
  <dcterms:created xsi:type="dcterms:W3CDTF">2007-07-09T01:30:41Z</dcterms:created>
  <dcterms:modified xsi:type="dcterms:W3CDTF">2024-09-24T01:18:25Z</dcterms:modified>
</cp:coreProperties>
</file>