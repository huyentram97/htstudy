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6" r:id="rId2"/>
    <p:sldId id="338" r:id="rId3"/>
    <p:sldId id="337" r:id="rId4"/>
    <p:sldId id="350" r:id="rId5"/>
    <p:sldId id="351" r:id="rId6"/>
    <p:sldId id="294" r:id="rId7"/>
    <p:sldId id="267" r:id="rId8"/>
    <p:sldId id="295" r:id="rId9"/>
    <p:sldId id="291" r:id="rId10"/>
    <p:sldId id="273" r:id="rId11"/>
    <p:sldId id="346" r:id="rId12"/>
    <p:sldId id="347" r:id="rId13"/>
    <p:sldId id="349" r:id="rId14"/>
    <p:sldId id="348" r:id="rId15"/>
    <p:sldId id="275" r:id="rId16"/>
    <p:sldId id="272" r:id="rId17"/>
    <p:sldId id="303" r:id="rId18"/>
    <p:sldId id="270" r:id="rId19"/>
    <p:sldId id="304" r:id="rId20"/>
    <p:sldId id="339" r:id="rId21"/>
    <p:sldId id="340" r:id="rId22"/>
    <p:sldId id="341" r:id="rId23"/>
    <p:sldId id="344" r:id="rId24"/>
    <p:sldId id="296" r:id="rId25"/>
    <p:sldId id="342" r:id="rId26"/>
    <p:sldId id="343" r:id="rId27"/>
    <p:sldId id="352" r:id="rId28"/>
    <p:sldId id="353" r:id="rId29"/>
    <p:sldId id="354" r:id="rId30"/>
    <p:sldId id="355" r:id="rId31"/>
    <p:sldId id="356" r:id="rId32"/>
    <p:sldId id="288" r:id="rId33"/>
  </p:sldIdLst>
  <p:sldSz cx="18288000" cy="10287000"/>
  <p:notesSz cx="6858000" cy="9144000"/>
  <p:embeddedFontLst>
    <p:embeddedFont>
      <p:font typeface="Arimo Bold Italics" panose="020B0604020202020204" charset="0"/>
      <p:regular r:id="rId35"/>
    </p:embeddedFont>
    <p:embeddedFont>
      <p:font typeface="Calibri" panose="020F0502020204030204" pitchFamily="34" charset="0"/>
      <p:regular r:id="rId36"/>
      <p:bold r:id="rId37"/>
      <p:italic r:id="rId38"/>
      <p:boldItalic r:id="rId39"/>
    </p:embeddedFont>
    <p:embeddedFont>
      <p:font typeface="Noto Sans" panose="020B0604020202020204" charset="0"/>
      <p:regular r:id="rId40"/>
    </p:embeddedFont>
    <p:embeddedFont>
      <p:font typeface="Poppins" panose="020B0604020202020204" charset="0"/>
      <p:regular r:id="rId41"/>
      <p:bold r:id="rId42"/>
      <p:italic r:id="rId43"/>
      <p:boldItalic r:id="rId44"/>
    </p:embeddedFont>
    <p:embeddedFont>
      <p:font typeface="Poppins Bold" panose="020B0604020202020204" charset="0"/>
      <p:regular r:id="rId45"/>
    </p:embeddedFont>
    <p:embeddedFont>
      <p:font typeface="Poppins Medium" panose="020B0604020202020204" charset="0"/>
      <p:regular r:id="rId46"/>
      <p: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0734" autoAdjust="0"/>
  </p:normalViewPr>
  <p:slideViewPr>
    <p:cSldViewPr>
      <p:cViewPr varScale="1">
        <p:scale>
          <a:sx n="46" d="100"/>
          <a:sy n="46" d="100"/>
        </p:scale>
        <p:origin x="343"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D731CA-F3C1-48F2-AF69-EE323C9725BD}"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4C8663F4-D508-40F2-AB3D-754745A67D7F}">
      <dgm:prSet phldrT="[Text]"/>
      <dgm:spPr/>
      <dgm:t>
        <a:bodyPr/>
        <a:lstStyle/>
        <a:p>
          <a:r>
            <a:rPr lang="en-US" dirty="0" err="1">
              <a:latin typeface="Times New Roman (Headings)"/>
            </a:rPr>
            <a:t>Giám</a:t>
          </a:r>
          <a:r>
            <a:rPr lang="en-US" dirty="0">
              <a:latin typeface="Times New Roman (Headings)"/>
            </a:rPr>
            <a:t> </a:t>
          </a:r>
          <a:r>
            <a:rPr lang="en-US" dirty="0" err="1">
              <a:latin typeface="Times New Roman (Headings)"/>
            </a:rPr>
            <a:t>sát</a:t>
          </a:r>
          <a:endParaRPr lang="en-US" dirty="0">
            <a:latin typeface="Times New Roman (Headings)"/>
          </a:endParaRPr>
        </a:p>
      </dgm:t>
    </dgm:pt>
    <dgm:pt modelId="{B9603F0B-D346-4A7B-901A-61D7DBBCB42D}" type="parTrans" cxnId="{E06375D0-0E81-44FB-ACBA-2716BCB9CF95}">
      <dgm:prSet/>
      <dgm:spPr/>
      <dgm:t>
        <a:bodyPr/>
        <a:lstStyle/>
        <a:p>
          <a:endParaRPr lang="en-US"/>
        </a:p>
      </dgm:t>
    </dgm:pt>
    <dgm:pt modelId="{0699DFF4-D6FB-4DA7-A3DF-473F0EE911E6}" type="sibTrans" cxnId="{E06375D0-0E81-44FB-ACBA-2716BCB9CF95}">
      <dgm:prSet/>
      <dgm:spPr/>
      <dgm:t>
        <a:bodyPr/>
        <a:lstStyle/>
        <a:p>
          <a:endParaRPr lang="en-US"/>
        </a:p>
      </dgm:t>
    </dgm:pt>
    <dgm:pt modelId="{2001D332-F1ED-45A7-9CC3-5685B7FAC101}">
      <dgm:prSet phldrT="[Text]" custT="1"/>
      <dgm:spPr/>
      <dgm:t>
        <a:bodyPr/>
        <a:lstStyle/>
        <a:p>
          <a:r>
            <a:rPr lang="en-US" sz="3000" dirty="0" err="1">
              <a:latin typeface="Times New Roman" panose="02020603050405020304" pitchFamily="18" charset="0"/>
              <a:cs typeface="Times New Roman" panose="02020603050405020304" pitchFamily="18" charset="0"/>
            </a:rPr>
            <a:t>Đơn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vị</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giám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sát</a:t>
          </a:r>
          <a:r>
            <a:rPr lang="en-US" sz="3000" dirty="0">
              <a:latin typeface="Times New Roman" panose="02020603050405020304" pitchFamily="18" charset="0"/>
              <a:cs typeface="Times New Roman" panose="02020603050405020304" pitchFamily="18" charset="0"/>
            </a:rPr>
            <a:t>: CTCK, </a:t>
          </a:r>
          <a:r>
            <a:rPr lang="en-US" sz="3000" dirty="0" err="1">
              <a:latin typeface="Times New Roman" panose="02020603050405020304" pitchFamily="18" charset="0"/>
              <a:cs typeface="Times New Roman" panose="02020603050405020304" pitchFamily="18" charset="0"/>
            </a:rPr>
            <a:t>Sở</a:t>
          </a:r>
          <a:r>
            <a:rPr lang="en-US" sz="3000" dirty="0">
              <a:latin typeface="Times New Roman" panose="02020603050405020304" pitchFamily="18" charset="0"/>
              <a:cs typeface="Times New Roman" panose="02020603050405020304" pitchFamily="18" charset="0"/>
            </a:rPr>
            <a:t> GDCK, UBCKNN</a:t>
          </a:r>
        </a:p>
      </dgm:t>
    </dgm:pt>
    <dgm:pt modelId="{C7B85970-C827-4698-A3B3-2C1F151F80B0}" type="parTrans" cxnId="{CBB3EA90-3E09-4E92-B9BB-2557D73FF5CB}">
      <dgm:prSet/>
      <dgm:spPr/>
      <dgm:t>
        <a:bodyPr/>
        <a:lstStyle/>
        <a:p>
          <a:endParaRPr lang="en-US"/>
        </a:p>
      </dgm:t>
    </dgm:pt>
    <dgm:pt modelId="{B6489EE9-B866-4C54-8B3B-86B30EA14D8F}" type="sibTrans" cxnId="{CBB3EA90-3E09-4E92-B9BB-2557D73FF5CB}">
      <dgm:prSet/>
      <dgm:spPr/>
      <dgm:t>
        <a:bodyPr/>
        <a:lstStyle/>
        <a:p>
          <a:endParaRPr lang="en-US"/>
        </a:p>
      </dgm:t>
    </dgm:pt>
    <dgm:pt modelId="{85CDB535-9490-4E0E-9FA8-4D1DDD13473E}">
      <dgm:prSet phldrT="[Text]"/>
      <dgm:spPr/>
      <dgm:t>
        <a:bodyPr/>
        <a:lstStyle/>
        <a:p>
          <a:r>
            <a:rPr lang="en-US" dirty="0" err="1">
              <a:latin typeface="Times New Roman (Headings)"/>
            </a:rPr>
            <a:t>Kiểm</a:t>
          </a:r>
          <a:r>
            <a:rPr lang="en-US" dirty="0">
              <a:latin typeface="Times New Roman (Headings)"/>
            </a:rPr>
            <a:t> </a:t>
          </a:r>
          <a:r>
            <a:rPr lang="en-US" dirty="0" err="1">
              <a:latin typeface="Times New Roman (Headings)"/>
            </a:rPr>
            <a:t>tra</a:t>
          </a:r>
          <a:endParaRPr lang="en-US" dirty="0">
            <a:latin typeface="Times New Roman (Headings)"/>
          </a:endParaRPr>
        </a:p>
      </dgm:t>
    </dgm:pt>
    <dgm:pt modelId="{F30AED20-9264-4DE6-B751-38E3645D0154}" type="parTrans" cxnId="{79A6E23A-4EC0-40FA-9B0E-FF4469EA1933}">
      <dgm:prSet/>
      <dgm:spPr/>
      <dgm:t>
        <a:bodyPr/>
        <a:lstStyle/>
        <a:p>
          <a:endParaRPr lang="en-US"/>
        </a:p>
      </dgm:t>
    </dgm:pt>
    <dgm:pt modelId="{9A60D95D-E4B2-46D5-A7C5-2C3198AC3760}" type="sibTrans" cxnId="{79A6E23A-4EC0-40FA-9B0E-FF4469EA1933}">
      <dgm:prSet/>
      <dgm:spPr/>
      <dgm:t>
        <a:bodyPr/>
        <a:lstStyle/>
        <a:p>
          <a:endParaRPr lang="en-US"/>
        </a:p>
      </dgm:t>
    </dgm:pt>
    <dgm:pt modelId="{A8901428-124B-41A0-BC8C-3B1F74710BF1}">
      <dgm:prSet phldrT="[Text]" custT="1"/>
      <dgm:spPr/>
      <dgm:t>
        <a:bodyPr/>
        <a:lstStyle/>
        <a:p>
          <a:r>
            <a:rPr lang="en-US" sz="3000" dirty="0" err="1">
              <a:latin typeface="Times New Roman" panose="02020603050405020304" pitchFamily="18" charset="0"/>
              <a:cs typeface="Times New Roman" panose="02020603050405020304" pitchFamily="18" charset="0"/>
            </a:rPr>
            <a:t>Kiểm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tra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tại</a:t>
          </a:r>
          <a:r>
            <a:rPr lang="en-US" sz="3000" dirty="0">
              <a:latin typeface="Times New Roman" panose="02020603050405020304" pitchFamily="18" charset="0"/>
              <a:cs typeface="Times New Roman" panose="02020603050405020304" pitchFamily="18" charset="0"/>
            </a:rPr>
            <a:t> CTCK</a:t>
          </a:r>
        </a:p>
      </dgm:t>
    </dgm:pt>
    <dgm:pt modelId="{49EB4CF5-0433-48E2-A12F-DD5192EC8399}" type="parTrans" cxnId="{21668BBC-16B9-4F4E-ADA6-CBFDD5CDB5EB}">
      <dgm:prSet/>
      <dgm:spPr/>
      <dgm:t>
        <a:bodyPr/>
        <a:lstStyle/>
        <a:p>
          <a:endParaRPr lang="en-US"/>
        </a:p>
      </dgm:t>
    </dgm:pt>
    <dgm:pt modelId="{5BB8E322-E785-41E8-97E6-9125EEE9B133}" type="sibTrans" cxnId="{21668BBC-16B9-4F4E-ADA6-CBFDD5CDB5EB}">
      <dgm:prSet/>
      <dgm:spPr/>
      <dgm:t>
        <a:bodyPr/>
        <a:lstStyle/>
        <a:p>
          <a:endParaRPr lang="en-US"/>
        </a:p>
      </dgm:t>
    </dgm:pt>
    <dgm:pt modelId="{D59E8DAA-5448-43BB-96A7-E6058374F563}">
      <dgm:prSet phldrT="[Text]" custT="1"/>
      <dgm:spPr/>
      <dgm:t>
        <a:bodyPr/>
        <a:lstStyle/>
        <a:p>
          <a:r>
            <a:rPr lang="en-US" sz="3000" dirty="0" err="1">
              <a:latin typeface="Times New Roman" panose="02020603050405020304" pitchFamily="18" charset="0"/>
              <a:cs typeface="Times New Roman" panose="02020603050405020304" pitchFamily="18" charset="0"/>
            </a:rPr>
            <a:t>Làm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việc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với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nhà</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đầu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tư</a:t>
          </a:r>
          <a:endParaRPr lang="en-US" sz="3000" dirty="0">
            <a:latin typeface="Times New Roman" panose="02020603050405020304" pitchFamily="18" charset="0"/>
            <a:cs typeface="Times New Roman" panose="02020603050405020304" pitchFamily="18" charset="0"/>
          </a:endParaRPr>
        </a:p>
      </dgm:t>
    </dgm:pt>
    <dgm:pt modelId="{184D59B9-A111-4747-ADCB-6BC284B470FD}" type="parTrans" cxnId="{AD0C25C5-9AD1-4FD6-9921-6BB7EF97068E}">
      <dgm:prSet/>
      <dgm:spPr/>
      <dgm:t>
        <a:bodyPr/>
        <a:lstStyle/>
        <a:p>
          <a:endParaRPr lang="en-US"/>
        </a:p>
      </dgm:t>
    </dgm:pt>
    <dgm:pt modelId="{E8009592-40BA-42E1-9366-8C8779E4E1FC}" type="sibTrans" cxnId="{AD0C25C5-9AD1-4FD6-9921-6BB7EF97068E}">
      <dgm:prSet/>
      <dgm:spPr/>
      <dgm:t>
        <a:bodyPr/>
        <a:lstStyle/>
        <a:p>
          <a:endParaRPr lang="en-US"/>
        </a:p>
      </dgm:t>
    </dgm:pt>
    <dgm:pt modelId="{EA2CEDC4-F367-4028-8B54-76A70CE10DDC}">
      <dgm:prSet phldrT="[Text]"/>
      <dgm:spPr/>
      <dgm:t>
        <a:bodyPr/>
        <a:lstStyle/>
        <a:p>
          <a:r>
            <a:rPr lang="en-US" dirty="0" err="1">
              <a:latin typeface="Times New Roman (Headings)"/>
            </a:rPr>
            <a:t>Xử</a:t>
          </a:r>
          <a:r>
            <a:rPr lang="en-US" dirty="0">
              <a:latin typeface="Times New Roman (Headings)"/>
            </a:rPr>
            <a:t> </a:t>
          </a:r>
          <a:r>
            <a:rPr lang="en-US" dirty="0" err="1">
              <a:latin typeface="Times New Roman (Headings)"/>
            </a:rPr>
            <a:t>lý</a:t>
          </a:r>
          <a:r>
            <a:rPr lang="en-US" dirty="0">
              <a:latin typeface="Times New Roman (Headings)"/>
            </a:rPr>
            <a:t> </a:t>
          </a:r>
          <a:r>
            <a:rPr lang="en-US" dirty="0" err="1">
              <a:latin typeface="Times New Roman (Headings)"/>
            </a:rPr>
            <a:t>sau</a:t>
          </a:r>
          <a:r>
            <a:rPr lang="en-US" dirty="0">
              <a:latin typeface="Times New Roman (Headings)"/>
            </a:rPr>
            <a:t> </a:t>
          </a:r>
          <a:r>
            <a:rPr lang="en-US" dirty="0" err="1">
              <a:latin typeface="Times New Roman (Headings)"/>
            </a:rPr>
            <a:t>kiểm</a:t>
          </a:r>
          <a:r>
            <a:rPr lang="en-US" dirty="0">
              <a:latin typeface="Times New Roman (Headings)"/>
            </a:rPr>
            <a:t> </a:t>
          </a:r>
          <a:r>
            <a:rPr lang="en-US" dirty="0" err="1">
              <a:latin typeface="Times New Roman (Headings)"/>
            </a:rPr>
            <a:t>tra</a:t>
          </a:r>
          <a:endParaRPr lang="en-US" dirty="0">
            <a:latin typeface="Times New Roman (Headings)"/>
          </a:endParaRPr>
        </a:p>
      </dgm:t>
    </dgm:pt>
    <dgm:pt modelId="{7044D2E6-850C-45BA-A621-B52E158731AA}" type="parTrans" cxnId="{22AD1316-8B3B-423D-804C-E6E2576D8300}">
      <dgm:prSet/>
      <dgm:spPr/>
      <dgm:t>
        <a:bodyPr/>
        <a:lstStyle/>
        <a:p>
          <a:endParaRPr lang="en-US"/>
        </a:p>
      </dgm:t>
    </dgm:pt>
    <dgm:pt modelId="{07AACEAA-431E-480C-848D-64BCDF168DB9}" type="sibTrans" cxnId="{22AD1316-8B3B-423D-804C-E6E2576D8300}">
      <dgm:prSet/>
      <dgm:spPr/>
      <dgm:t>
        <a:bodyPr/>
        <a:lstStyle/>
        <a:p>
          <a:endParaRPr lang="en-US"/>
        </a:p>
      </dgm:t>
    </dgm:pt>
    <dgm:pt modelId="{F1BB3836-ED5B-49BE-9199-3FF877A4CF10}">
      <dgm:prSet phldrT="[Text]" custT="1"/>
      <dgm:spPr/>
      <dgm:t>
        <a:bodyPr/>
        <a:lstStyle/>
        <a:p>
          <a:r>
            <a:rPr lang="en-US" sz="3000" dirty="0" err="1">
              <a:latin typeface="Times New Roman" panose="02020603050405020304" pitchFamily="18" charset="0"/>
              <a:cs typeface="Times New Roman" panose="02020603050405020304" pitchFamily="18" charset="0"/>
            </a:rPr>
            <a:t>Tiếp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tục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làm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việc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với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nhà</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đầu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tư</a:t>
          </a:r>
          <a:endParaRPr lang="en-US" sz="3000" dirty="0">
            <a:latin typeface="Times New Roman" panose="02020603050405020304" pitchFamily="18" charset="0"/>
            <a:cs typeface="Times New Roman" panose="02020603050405020304" pitchFamily="18" charset="0"/>
          </a:endParaRPr>
        </a:p>
      </dgm:t>
    </dgm:pt>
    <dgm:pt modelId="{29CBFC34-A02D-4389-B7FF-718734705F67}" type="parTrans" cxnId="{69389F39-46BF-43AA-8F8B-9B760B09C400}">
      <dgm:prSet/>
      <dgm:spPr/>
      <dgm:t>
        <a:bodyPr/>
        <a:lstStyle/>
        <a:p>
          <a:endParaRPr lang="en-US"/>
        </a:p>
      </dgm:t>
    </dgm:pt>
    <dgm:pt modelId="{917F6AED-C2A2-46E4-92A2-17CFF37D1699}" type="sibTrans" cxnId="{69389F39-46BF-43AA-8F8B-9B760B09C400}">
      <dgm:prSet/>
      <dgm:spPr/>
      <dgm:t>
        <a:bodyPr/>
        <a:lstStyle/>
        <a:p>
          <a:endParaRPr lang="en-US"/>
        </a:p>
      </dgm:t>
    </dgm:pt>
    <dgm:pt modelId="{A84FF439-98E7-4B2E-9FC8-B64A62EC34B6}">
      <dgm:prSet phldrT="[Text]" custT="1"/>
      <dgm:spPr/>
      <dgm:t>
        <a:bodyPr/>
        <a:lstStyle/>
        <a:p>
          <a:r>
            <a:rPr lang="en-US" sz="3000" dirty="0" err="1">
              <a:latin typeface="Times New Roman" panose="02020603050405020304" pitchFamily="18" charset="0"/>
              <a:cs typeface="Times New Roman" panose="02020603050405020304" pitchFamily="18" charset="0"/>
            </a:rPr>
            <a:t>Chuyển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Cơ</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quan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công</a:t>
          </a:r>
          <a:r>
            <a:rPr lang="en-US" sz="3000" dirty="0">
              <a:latin typeface="Times New Roman" panose="02020603050405020304" pitchFamily="18" charset="0"/>
              <a:cs typeface="Times New Roman" panose="02020603050405020304" pitchFamily="18" charset="0"/>
            </a:rPr>
            <a:t> an</a:t>
          </a:r>
        </a:p>
      </dgm:t>
    </dgm:pt>
    <dgm:pt modelId="{4288A301-5309-4984-8B54-4AA2217B8C1D}" type="parTrans" cxnId="{50C452FD-C8E9-43BD-8490-7BAF02F28B22}">
      <dgm:prSet/>
      <dgm:spPr/>
      <dgm:t>
        <a:bodyPr/>
        <a:lstStyle/>
        <a:p>
          <a:endParaRPr lang="en-US"/>
        </a:p>
      </dgm:t>
    </dgm:pt>
    <dgm:pt modelId="{CDBAB6F2-0147-49F6-8661-2A68CFBEA3E6}" type="sibTrans" cxnId="{50C452FD-C8E9-43BD-8490-7BAF02F28B22}">
      <dgm:prSet/>
      <dgm:spPr/>
      <dgm:t>
        <a:bodyPr/>
        <a:lstStyle/>
        <a:p>
          <a:endParaRPr lang="en-US"/>
        </a:p>
      </dgm:t>
    </dgm:pt>
    <dgm:pt modelId="{50365074-87A1-4A35-AA80-8E6260DDD265}">
      <dgm:prSet phldrT="[Text]" custT="1"/>
      <dgm:spPr/>
      <dgm:t>
        <a:bodyPr/>
        <a:lstStyle/>
        <a:p>
          <a:r>
            <a:rPr lang="en-US" sz="3000" dirty="0" err="1">
              <a:latin typeface="Times New Roman" panose="02020603050405020304" pitchFamily="18" charset="0"/>
              <a:cs typeface="Times New Roman" panose="02020603050405020304" pitchFamily="18" charset="0"/>
            </a:rPr>
            <a:t>Làm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việc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với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môi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giới</a:t>
          </a:r>
          <a:endParaRPr lang="en-US" sz="3000" dirty="0">
            <a:latin typeface="Times New Roman" panose="02020603050405020304" pitchFamily="18" charset="0"/>
            <a:cs typeface="Times New Roman" panose="02020603050405020304" pitchFamily="18" charset="0"/>
          </a:endParaRPr>
        </a:p>
      </dgm:t>
    </dgm:pt>
    <dgm:pt modelId="{42EAA998-8A5F-498C-96B2-960769F6C06B}" type="parTrans" cxnId="{F1CE9F4C-A83B-4B48-A138-FD4599C60D9E}">
      <dgm:prSet/>
      <dgm:spPr/>
      <dgm:t>
        <a:bodyPr/>
        <a:lstStyle/>
        <a:p>
          <a:endParaRPr lang="en-US"/>
        </a:p>
      </dgm:t>
    </dgm:pt>
    <dgm:pt modelId="{3F5AA8B7-E24F-40CB-BC09-C59EE733696A}" type="sibTrans" cxnId="{F1CE9F4C-A83B-4B48-A138-FD4599C60D9E}">
      <dgm:prSet/>
      <dgm:spPr/>
      <dgm:t>
        <a:bodyPr/>
        <a:lstStyle/>
        <a:p>
          <a:endParaRPr lang="en-US"/>
        </a:p>
      </dgm:t>
    </dgm:pt>
    <dgm:pt modelId="{4DB2E611-4072-427D-A8C9-9856905528C7}">
      <dgm:prSet phldrT="[Text]" custT="1"/>
      <dgm:spPr/>
      <dgm:t>
        <a:bodyPr/>
        <a:lstStyle/>
        <a:p>
          <a:r>
            <a:rPr lang="en-US" sz="3000" dirty="0" err="1">
              <a:latin typeface="Times New Roman" panose="02020603050405020304" pitchFamily="18" charset="0"/>
              <a:cs typeface="Times New Roman" panose="02020603050405020304" pitchFamily="18" charset="0"/>
            </a:rPr>
            <a:t>Lập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Biên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bản</a:t>
          </a:r>
          <a:r>
            <a:rPr lang="en-US" sz="3000" dirty="0">
              <a:latin typeface="Times New Roman" panose="02020603050405020304" pitchFamily="18" charset="0"/>
              <a:cs typeface="Times New Roman" panose="02020603050405020304" pitchFamily="18" charset="0"/>
            </a:rPr>
            <a:t> Vi </a:t>
          </a:r>
          <a:r>
            <a:rPr lang="en-US" sz="3000" dirty="0" err="1">
              <a:latin typeface="Times New Roman" panose="02020603050405020304" pitchFamily="18" charset="0"/>
              <a:cs typeface="Times New Roman" panose="02020603050405020304" pitchFamily="18" charset="0"/>
            </a:rPr>
            <a:t>phạm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Hành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chính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Xử</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phạt</a:t>
          </a:r>
          <a:r>
            <a:rPr lang="en-US" sz="3000" dirty="0">
              <a:latin typeface="Times New Roman" panose="02020603050405020304" pitchFamily="18" charset="0"/>
              <a:cs typeface="Times New Roman" panose="02020603050405020304" pitchFamily="18" charset="0"/>
            </a:rPr>
            <a:t> Vi </a:t>
          </a:r>
          <a:r>
            <a:rPr lang="en-US" sz="3000" dirty="0" err="1">
              <a:latin typeface="Times New Roman" panose="02020603050405020304" pitchFamily="18" charset="0"/>
              <a:cs typeface="Times New Roman" panose="02020603050405020304" pitchFamily="18" charset="0"/>
            </a:rPr>
            <a:t>phạm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Hành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chính</a:t>
          </a:r>
          <a:endParaRPr lang="en-US" sz="3000" dirty="0">
            <a:latin typeface="Times New Roman" panose="02020603050405020304" pitchFamily="18" charset="0"/>
            <a:cs typeface="Times New Roman" panose="02020603050405020304" pitchFamily="18" charset="0"/>
          </a:endParaRPr>
        </a:p>
      </dgm:t>
    </dgm:pt>
    <dgm:pt modelId="{801A842C-B45B-4F26-B6F2-B5A10561D2A6}" type="parTrans" cxnId="{D6C32DAA-09CC-4B5B-BE11-26D0E6AB40E5}">
      <dgm:prSet/>
      <dgm:spPr/>
      <dgm:t>
        <a:bodyPr/>
        <a:lstStyle/>
        <a:p>
          <a:endParaRPr lang="en-US"/>
        </a:p>
      </dgm:t>
    </dgm:pt>
    <dgm:pt modelId="{59BC0EF6-319E-49C0-B7BB-FEAE7D933402}" type="sibTrans" cxnId="{D6C32DAA-09CC-4B5B-BE11-26D0E6AB40E5}">
      <dgm:prSet/>
      <dgm:spPr/>
      <dgm:t>
        <a:bodyPr/>
        <a:lstStyle/>
        <a:p>
          <a:endParaRPr lang="en-US"/>
        </a:p>
      </dgm:t>
    </dgm:pt>
    <dgm:pt modelId="{F30DDAF3-1CC4-4893-A9EC-0F448DD3F89E}">
      <dgm:prSet phldrT="[Text]" custT="1"/>
      <dgm:spPr/>
      <dgm:t>
        <a:bodyPr/>
        <a:lstStyle/>
        <a:p>
          <a:r>
            <a:rPr lang="en-US" sz="3000" dirty="0">
              <a:latin typeface="Times New Roman" panose="02020603050405020304" pitchFamily="18" charset="0"/>
              <a:cs typeface="Times New Roman" panose="02020603050405020304" pitchFamily="18" charset="0"/>
            </a:rPr>
            <a:t>Thu </a:t>
          </a:r>
          <a:r>
            <a:rPr lang="en-US" sz="3000" dirty="0" err="1">
              <a:latin typeface="Times New Roman" panose="02020603050405020304" pitchFamily="18" charset="0"/>
              <a:cs typeface="Times New Roman" panose="02020603050405020304" pitchFamily="18" charset="0"/>
            </a:rPr>
            <a:t>thập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thông</a:t>
          </a:r>
          <a:r>
            <a:rPr lang="en-US" sz="3000" dirty="0">
              <a:latin typeface="Times New Roman" panose="02020603050405020304" pitchFamily="18" charset="0"/>
              <a:cs typeface="Times New Roman" panose="02020603050405020304" pitchFamily="18" charset="0"/>
            </a:rPr>
            <a:t> tin: </a:t>
          </a:r>
        </a:p>
      </dgm:t>
    </dgm:pt>
    <dgm:pt modelId="{45BE3AAB-898A-49B4-A1D8-359D6612301D}" type="sibTrans" cxnId="{5B45647F-1B00-40FC-A69C-5F61A7714BEB}">
      <dgm:prSet/>
      <dgm:spPr/>
      <dgm:t>
        <a:bodyPr/>
        <a:lstStyle/>
        <a:p>
          <a:endParaRPr lang="en-US"/>
        </a:p>
      </dgm:t>
    </dgm:pt>
    <dgm:pt modelId="{77EB2AAB-1576-404F-9BD3-76479BB14379}" type="parTrans" cxnId="{5B45647F-1B00-40FC-A69C-5F61A7714BEB}">
      <dgm:prSet/>
      <dgm:spPr/>
      <dgm:t>
        <a:bodyPr/>
        <a:lstStyle/>
        <a:p>
          <a:endParaRPr lang="en-US"/>
        </a:p>
      </dgm:t>
    </dgm:pt>
    <dgm:pt modelId="{42738EB7-0138-47EE-BB93-C2C87CCD578C}">
      <dgm:prSet phldrT="[Text]" custT="1"/>
      <dgm:spPr/>
      <dgm:t>
        <a:bodyPr/>
        <a:lstStyle/>
        <a:p>
          <a:r>
            <a:rPr lang="en-US" sz="3000" dirty="0" err="1">
              <a:latin typeface="Times New Roman" panose="02020603050405020304" pitchFamily="18" charset="0"/>
              <a:cs typeface="Times New Roman" panose="02020603050405020304" pitchFamily="18" charset="0"/>
            </a:rPr>
            <a:t>Lập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báo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cáo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phân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tích</a:t>
          </a:r>
          <a:endParaRPr lang="en-US" sz="3000" dirty="0">
            <a:latin typeface="Times New Roman" panose="02020603050405020304" pitchFamily="18" charset="0"/>
            <a:cs typeface="Times New Roman" panose="02020603050405020304" pitchFamily="18" charset="0"/>
          </a:endParaRPr>
        </a:p>
      </dgm:t>
    </dgm:pt>
    <dgm:pt modelId="{84B905A0-78BC-4795-A8FA-8FE7FE81235B}" type="sibTrans" cxnId="{6A395975-F555-4752-808A-E5690C758A8F}">
      <dgm:prSet/>
      <dgm:spPr/>
      <dgm:t>
        <a:bodyPr/>
        <a:lstStyle/>
        <a:p>
          <a:endParaRPr lang="en-US"/>
        </a:p>
      </dgm:t>
    </dgm:pt>
    <dgm:pt modelId="{432A966B-CF09-4683-9967-00ECA12ABF1F}" type="parTrans" cxnId="{6A395975-F555-4752-808A-E5690C758A8F}">
      <dgm:prSet/>
      <dgm:spPr/>
      <dgm:t>
        <a:bodyPr/>
        <a:lstStyle/>
        <a:p>
          <a:endParaRPr lang="en-US"/>
        </a:p>
      </dgm:t>
    </dgm:pt>
    <dgm:pt modelId="{1DEF01AD-633D-4587-864B-7A36AF5A0AAE}">
      <dgm:prSet phldrT="[Text]" custT="1"/>
      <dgm:spPr/>
      <dgm:t>
        <a:bodyPr/>
        <a:lstStyle/>
        <a:p>
          <a:r>
            <a:rPr lang="en-US" sz="3000">
              <a:latin typeface="Times New Roman" panose="02020603050405020304" pitchFamily="18" charset="0"/>
              <a:cs typeface="Times New Roman" panose="02020603050405020304" pitchFamily="18" charset="0"/>
            </a:rPr>
            <a:t>Làm việc với các cá nhân, tổ chức có liên quan khác</a:t>
          </a:r>
          <a:endParaRPr lang="en-US" sz="3000" dirty="0">
            <a:latin typeface="Times New Roman" panose="02020603050405020304" pitchFamily="18" charset="0"/>
            <a:cs typeface="Times New Roman" panose="02020603050405020304" pitchFamily="18" charset="0"/>
          </a:endParaRPr>
        </a:p>
      </dgm:t>
    </dgm:pt>
    <dgm:pt modelId="{A82F2286-1AEA-4B19-A7D4-4EA374322262}" type="parTrans" cxnId="{28040600-7BA6-4BF4-806C-CBE5CBBA3493}">
      <dgm:prSet/>
      <dgm:spPr/>
      <dgm:t>
        <a:bodyPr/>
        <a:lstStyle/>
        <a:p>
          <a:endParaRPr lang="en-US"/>
        </a:p>
      </dgm:t>
    </dgm:pt>
    <dgm:pt modelId="{339B7DCF-E57B-4521-836C-7F511611A0E7}" type="sibTrans" cxnId="{28040600-7BA6-4BF4-806C-CBE5CBBA3493}">
      <dgm:prSet/>
      <dgm:spPr/>
      <dgm:t>
        <a:bodyPr/>
        <a:lstStyle/>
        <a:p>
          <a:endParaRPr lang="en-US"/>
        </a:p>
      </dgm:t>
    </dgm:pt>
    <dgm:pt modelId="{7623F336-8710-4914-9627-BDC4163A3A54}" type="pres">
      <dgm:prSet presAssocID="{FCD731CA-F3C1-48F2-AF69-EE323C9725BD}" presName="linearFlow" presStyleCnt="0">
        <dgm:presLayoutVars>
          <dgm:dir/>
          <dgm:animLvl val="lvl"/>
          <dgm:resizeHandles val="exact"/>
        </dgm:presLayoutVars>
      </dgm:prSet>
      <dgm:spPr/>
    </dgm:pt>
    <dgm:pt modelId="{D2442910-3F0D-4E3A-99FC-FA9EBA429D3B}" type="pres">
      <dgm:prSet presAssocID="{4C8663F4-D508-40F2-AB3D-754745A67D7F}" presName="composite" presStyleCnt="0"/>
      <dgm:spPr/>
    </dgm:pt>
    <dgm:pt modelId="{274FF8DE-30C4-46D9-B85A-F3FC3CA0B8EE}" type="pres">
      <dgm:prSet presAssocID="{4C8663F4-D508-40F2-AB3D-754745A67D7F}" presName="parentText" presStyleLbl="alignNode1" presStyleIdx="0" presStyleCnt="3">
        <dgm:presLayoutVars>
          <dgm:chMax val="1"/>
          <dgm:bulletEnabled val="1"/>
        </dgm:presLayoutVars>
      </dgm:prSet>
      <dgm:spPr/>
    </dgm:pt>
    <dgm:pt modelId="{48FD9E60-361E-4EFD-B4F7-8BF738D02503}" type="pres">
      <dgm:prSet presAssocID="{4C8663F4-D508-40F2-AB3D-754745A67D7F}" presName="descendantText" presStyleLbl="alignAcc1" presStyleIdx="0" presStyleCnt="3">
        <dgm:presLayoutVars>
          <dgm:bulletEnabled val="1"/>
        </dgm:presLayoutVars>
      </dgm:prSet>
      <dgm:spPr/>
    </dgm:pt>
    <dgm:pt modelId="{91B1FD4D-CDDF-46BD-BE2E-9B1C08698E61}" type="pres">
      <dgm:prSet presAssocID="{0699DFF4-D6FB-4DA7-A3DF-473F0EE911E6}" presName="sp" presStyleCnt="0"/>
      <dgm:spPr/>
    </dgm:pt>
    <dgm:pt modelId="{28EA4F36-781D-4D65-A968-1CE4572DA9F0}" type="pres">
      <dgm:prSet presAssocID="{85CDB535-9490-4E0E-9FA8-4D1DDD13473E}" presName="composite" presStyleCnt="0"/>
      <dgm:spPr/>
    </dgm:pt>
    <dgm:pt modelId="{5D7F3123-3104-400F-8E1E-9D6496C799CB}" type="pres">
      <dgm:prSet presAssocID="{85CDB535-9490-4E0E-9FA8-4D1DDD13473E}" presName="parentText" presStyleLbl="alignNode1" presStyleIdx="1" presStyleCnt="3">
        <dgm:presLayoutVars>
          <dgm:chMax val="1"/>
          <dgm:bulletEnabled val="1"/>
        </dgm:presLayoutVars>
      </dgm:prSet>
      <dgm:spPr/>
    </dgm:pt>
    <dgm:pt modelId="{3E9D7963-049F-4432-8D71-5217B229E465}" type="pres">
      <dgm:prSet presAssocID="{85CDB535-9490-4E0E-9FA8-4D1DDD13473E}" presName="descendantText" presStyleLbl="alignAcc1" presStyleIdx="1" presStyleCnt="3">
        <dgm:presLayoutVars>
          <dgm:bulletEnabled val="1"/>
        </dgm:presLayoutVars>
      </dgm:prSet>
      <dgm:spPr/>
    </dgm:pt>
    <dgm:pt modelId="{39E0A725-5F42-40E0-B729-023F20C17D18}" type="pres">
      <dgm:prSet presAssocID="{9A60D95D-E4B2-46D5-A7C5-2C3198AC3760}" presName="sp" presStyleCnt="0"/>
      <dgm:spPr/>
    </dgm:pt>
    <dgm:pt modelId="{70C562F6-8C03-44FB-BF9E-1229AF840CA6}" type="pres">
      <dgm:prSet presAssocID="{EA2CEDC4-F367-4028-8B54-76A70CE10DDC}" presName="composite" presStyleCnt="0"/>
      <dgm:spPr/>
    </dgm:pt>
    <dgm:pt modelId="{6CB7AB0F-9177-4C1D-8E5B-AEC019D35A81}" type="pres">
      <dgm:prSet presAssocID="{EA2CEDC4-F367-4028-8B54-76A70CE10DDC}" presName="parentText" presStyleLbl="alignNode1" presStyleIdx="2" presStyleCnt="3">
        <dgm:presLayoutVars>
          <dgm:chMax val="1"/>
          <dgm:bulletEnabled val="1"/>
        </dgm:presLayoutVars>
      </dgm:prSet>
      <dgm:spPr/>
    </dgm:pt>
    <dgm:pt modelId="{12418D68-6690-4814-9B65-D3160AA91476}" type="pres">
      <dgm:prSet presAssocID="{EA2CEDC4-F367-4028-8B54-76A70CE10DDC}" presName="descendantText" presStyleLbl="alignAcc1" presStyleIdx="2" presStyleCnt="3">
        <dgm:presLayoutVars>
          <dgm:bulletEnabled val="1"/>
        </dgm:presLayoutVars>
      </dgm:prSet>
      <dgm:spPr/>
    </dgm:pt>
  </dgm:ptLst>
  <dgm:cxnLst>
    <dgm:cxn modelId="{28040600-7BA6-4BF4-806C-CBE5CBBA3493}" srcId="{85CDB535-9490-4E0E-9FA8-4D1DDD13473E}" destId="{1DEF01AD-633D-4587-864B-7A36AF5A0AAE}" srcOrd="3" destOrd="0" parTransId="{A82F2286-1AEA-4B19-A7D4-4EA374322262}" sibTransId="{339B7DCF-E57B-4521-836C-7F511611A0E7}"/>
    <dgm:cxn modelId="{8901D014-8F0D-42A4-80A4-CE3094AB1F8E}" type="presOf" srcId="{D59E8DAA-5448-43BB-96A7-E6058374F563}" destId="{3E9D7963-049F-4432-8D71-5217B229E465}" srcOrd="0" destOrd="2" presId="urn:microsoft.com/office/officeart/2005/8/layout/chevron2"/>
    <dgm:cxn modelId="{22AD1316-8B3B-423D-804C-E6E2576D8300}" srcId="{FCD731CA-F3C1-48F2-AF69-EE323C9725BD}" destId="{EA2CEDC4-F367-4028-8B54-76A70CE10DDC}" srcOrd="2" destOrd="0" parTransId="{7044D2E6-850C-45BA-A621-B52E158731AA}" sibTransId="{07AACEAA-431E-480C-848D-64BCDF168DB9}"/>
    <dgm:cxn modelId="{8151541B-DC45-4FF6-BF0D-4D41107A016D}" type="presOf" srcId="{A84FF439-98E7-4B2E-9FC8-B64A62EC34B6}" destId="{12418D68-6690-4814-9B65-D3160AA91476}" srcOrd="0" destOrd="2" presId="urn:microsoft.com/office/officeart/2005/8/layout/chevron2"/>
    <dgm:cxn modelId="{3DC93134-33CD-4CFB-AD99-74B4BF35A997}" type="presOf" srcId="{4DB2E611-4072-427D-A8C9-9856905528C7}" destId="{12418D68-6690-4814-9B65-D3160AA91476}" srcOrd="0" destOrd="1" presId="urn:microsoft.com/office/officeart/2005/8/layout/chevron2"/>
    <dgm:cxn modelId="{4A3A6D39-E595-4E94-87A9-C6F805C8066B}" type="presOf" srcId="{42738EB7-0138-47EE-BB93-C2C87CCD578C}" destId="{48FD9E60-361E-4EFD-B4F7-8BF738D02503}" srcOrd="0" destOrd="2" presId="urn:microsoft.com/office/officeart/2005/8/layout/chevron2"/>
    <dgm:cxn modelId="{69389F39-46BF-43AA-8F8B-9B760B09C400}" srcId="{EA2CEDC4-F367-4028-8B54-76A70CE10DDC}" destId="{F1BB3836-ED5B-49BE-9199-3FF877A4CF10}" srcOrd="0" destOrd="0" parTransId="{29CBFC34-A02D-4389-B7FF-718734705F67}" sibTransId="{917F6AED-C2A2-46E4-92A2-17CFF37D1699}"/>
    <dgm:cxn modelId="{79A6E23A-4EC0-40FA-9B0E-FF4469EA1933}" srcId="{FCD731CA-F3C1-48F2-AF69-EE323C9725BD}" destId="{85CDB535-9490-4E0E-9FA8-4D1DDD13473E}" srcOrd="1" destOrd="0" parTransId="{F30AED20-9264-4DE6-B751-38E3645D0154}" sibTransId="{9A60D95D-E4B2-46D5-A7C5-2C3198AC3760}"/>
    <dgm:cxn modelId="{800C1444-AC66-404E-9371-C036AC330E4A}" type="presOf" srcId="{EA2CEDC4-F367-4028-8B54-76A70CE10DDC}" destId="{6CB7AB0F-9177-4C1D-8E5B-AEC019D35A81}" srcOrd="0" destOrd="0" presId="urn:microsoft.com/office/officeart/2005/8/layout/chevron2"/>
    <dgm:cxn modelId="{F97B6E44-BDBA-4D43-B104-E4C892823405}" type="presOf" srcId="{A8901428-124B-41A0-BC8C-3B1F74710BF1}" destId="{3E9D7963-049F-4432-8D71-5217B229E465}" srcOrd="0" destOrd="0" presId="urn:microsoft.com/office/officeart/2005/8/layout/chevron2"/>
    <dgm:cxn modelId="{00FD3B66-D99C-4CEF-B8F4-D9D57E4687B8}" type="presOf" srcId="{85CDB535-9490-4E0E-9FA8-4D1DDD13473E}" destId="{5D7F3123-3104-400F-8E1E-9D6496C799CB}" srcOrd="0" destOrd="0" presId="urn:microsoft.com/office/officeart/2005/8/layout/chevron2"/>
    <dgm:cxn modelId="{A912836B-BFCB-44BB-8E7E-182BE1C70E28}" type="presOf" srcId="{F30DDAF3-1CC4-4893-A9EC-0F448DD3F89E}" destId="{48FD9E60-361E-4EFD-B4F7-8BF738D02503}" srcOrd="0" destOrd="1" presId="urn:microsoft.com/office/officeart/2005/8/layout/chevron2"/>
    <dgm:cxn modelId="{59DF604C-B809-4C02-AA89-24BAD2C7C625}" type="presOf" srcId="{1DEF01AD-633D-4587-864B-7A36AF5A0AAE}" destId="{3E9D7963-049F-4432-8D71-5217B229E465}" srcOrd="0" destOrd="3" presId="urn:microsoft.com/office/officeart/2005/8/layout/chevron2"/>
    <dgm:cxn modelId="{F1CE9F4C-A83B-4B48-A138-FD4599C60D9E}" srcId="{85CDB535-9490-4E0E-9FA8-4D1DDD13473E}" destId="{50365074-87A1-4A35-AA80-8E6260DDD265}" srcOrd="1" destOrd="0" parTransId="{42EAA998-8A5F-498C-96B2-960769F6C06B}" sibTransId="{3F5AA8B7-E24F-40CB-BC09-C59EE733696A}"/>
    <dgm:cxn modelId="{985F3C4F-1CFB-4EBB-A8CB-1A2140D4B4FA}" type="presOf" srcId="{2001D332-F1ED-45A7-9CC3-5685B7FAC101}" destId="{48FD9E60-361E-4EFD-B4F7-8BF738D02503}" srcOrd="0" destOrd="0" presId="urn:microsoft.com/office/officeart/2005/8/layout/chevron2"/>
    <dgm:cxn modelId="{6A395975-F555-4752-808A-E5690C758A8F}" srcId="{4C8663F4-D508-40F2-AB3D-754745A67D7F}" destId="{42738EB7-0138-47EE-BB93-C2C87CCD578C}" srcOrd="2" destOrd="0" parTransId="{432A966B-CF09-4683-9967-00ECA12ABF1F}" sibTransId="{84B905A0-78BC-4795-A8FA-8FE7FE81235B}"/>
    <dgm:cxn modelId="{D6BCB378-8B02-468E-9F1F-92E9EDA86CDC}" type="presOf" srcId="{FCD731CA-F3C1-48F2-AF69-EE323C9725BD}" destId="{7623F336-8710-4914-9627-BDC4163A3A54}" srcOrd="0" destOrd="0" presId="urn:microsoft.com/office/officeart/2005/8/layout/chevron2"/>
    <dgm:cxn modelId="{5B45647F-1B00-40FC-A69C-5F61A7714BEB}" srcId="{4C8663F4-D508-40F2-AB3D-754745A67D7F}" destId="{F30DDAF3-1CC4-4893-A9EC-0F448DD3F89E}" srcOrd="1" destOrd="0" parTransId="{77EB2AAB-1576-404F-9BD3-76479BB14379}" sibTransId="{45BE3AAB-898A-49B4-A1D8-359D6612301D}"/>
    <dgm:cxn modelId="{CBB3EA90-3E09-4E92-B9BB-2557D73FF5CB}" srcId="{4C8663F4-D508-40F2-AB3D-754745A67D7F}" destId="{2001D332-F1ED-45A7-9CC3-5685B7FAC101}" srcOrd="0" destOrd="0" parTransId="{C7B85970-C827-4698-A3B3-2C1F151F80B0}" sibTransId="{B6489EE9-B866-4C54-8B3B-86B30EA14D8F}"/>
    <dgm:cxn modelId="{D6C32DAA-09CC-4B5B-BE11-26D0E6AB40E5}" srcId="{EA2CEDC4-F367-4028-8B54-76A70CE10DDC}" destId="{4DB2E611-4072-427D-A8C9-9856905528C7}" srcOrd="1" destOrd="0" parTransId="{801A842C-B45B-4F26-B6F2-B5A10561D2A6}" sibTransId="{59BC0EF6-319E-49C0-B7BB-FEAE7D933402}"/>
    <dgm:cxn modelId="{21668BBC-16B9-4F4E-ADA6-CBFDD5CDB5EB}" srcId="{85CDB535-9490-4E0E-9FA8-4D1DDD13473E}" destId="{A8901428-124B-41A0-BC8C-3B1F74710BF1}" srcOrd="0" destOrd="0" parTransId="{49EB4CF5-0433-48E2-A12F-DD5192EC8399}" sibTransId="{5BB8E322-E785-41E8-97E6-9125EEE9B133}"/>
    <dgm:cxn modelId="{0893CEC4-35D7-40C4-B49A-5A5BF8FC1AC6}" type="presOf" srcId="{F1BB3836-ED5B-49BE-9199-3FF877A4CF10}" destId="{12418D68-6690-4814-9B65-D3160AA91476}" srcOrd="0" destOrd="0" presId="urn:microsoft.com/office/officeart/2005/8/layout/chevron2"/>
    <dgm:cxn modelId="{AD0C25C5-9AD1-4FD6-9921-6BB7EF97068E}" srcId="{85CDB535-9490-4E0E-9FA8-4D1DDD13473E}" destId="{D59E8DAA-5448-43BB-96A7-E6058374F563}" srcOrd="2" destOrd="0" parTransId="{184D59B9-A111-4747-ADCB-6BC284B470FD}" sibTransId="{E8009592-40BA-42E1-9366-8C8779E4E1FC}"/>
    <dgm:cxn modelId="{E06375D0-0E81-44FB-ACBA-2716BCB9CF95}" srcId="{FCD731CA-F3C1-48F2-AF69-EE323C9725BD}" destId="{4C8663F4-D508-40F2-AB3D-754745A67D7F}" srcOrd="0" destOrd="0" parTransId="{B9603F0B-D346-4A7B-901A-61D7DBBCB42D}" sibTransId="{0699DFF4-D6FB-4DA7-A3DF-473F0EE911E6}"/>
    <dgm:cxn modelId="{FF70B0D6-5239-488B-A276-B1FA47B27EFB}" type="presOf" srcId="{50365074-87A1-4A35-AA80-8E6260DDD265}" destId="{3E9D7963-049F-4432-8D71-5217B229E465}" srcOrd="0" destOrd="1" presId="urn:microsoft.com/office/officeart/2005/8/layout/chevron2"/>
    <dgm:cxn modelId="{E41B00EC-75CA-401C-8227-A074C5F672B2}" type="presOf" srcId="{4C8663F4-D508-40F2-AB3D-754745A67D7F}" destId="{274FF8DE-30C4-46D9-B85A-F3FC3CA0B8EE}" srcOrd="0" destOrd="0" presId="urn:microsoft.com/office/officeart/2005/8/layout/chevron2"/>
    <dgm:cxn modelId="{50C452FD-C8E9-43BD-8490-7BAF02F28B22}" srcId="{EA2CEDC4-F367-4028-8B54-76A70CE10DDC}" destId="{A84FF439-98E7-4B2E-9FC8-B64A62EC34B6}" srcOrd="2" destOrd="0" parTransId="{4288A301-5309-4984-8B54-4AA2217B8C1D}" sibTransId="{CDBAB6F2-0147-49F6-8661-2A68CFBEA3E6}"/>
    <dgm:cxn modelId="{F1656551-18A4-4BB1-84EA-8D9C6C1F3718}" type="presParOf" srcId="{7623F336-8710-4914-9627-BDC4163A3A54}" destId="{D2442910-3F0D-4E3A-99FC-FA9EBA429D3B}" srcOrd="0" destOrd="0" presId="urn:microsoft.com/office/officeart/2005/8/layout/chevron2"/>
    <dgm:cxn modelId="{1A493FDF-18BF-4DB8-8595-E25CF68B8B88}" type="presParOf" srcId="{D2442910-3F0D-4E3A-99FC-FA9EBA429D3B}" destId="{274FF8DE-30C4-46D9-B85A-F3FC3CA0B8EE}" srcOrd="0" destOrd="0" presId="urn:microsoft.com/office/officeart/2005/8/layout/chevron2"/>
    <dgm:cxn modelId="{6AD436CF-1FC4-4A19-8B41-8B39DA04D15C}" type="presParOf" srcId="{D2442910-3F0D-4E3A-99FC-FA9EBA429D3B}" destId="{48FD9E60-361E-4EFD-B4F7-8BF738D02503}" srcOrd="1" destOrd="0" presId="urn:microsoft.com/office/officeart/2005/8/layout/chevron2"/>
    <dgm:cxn modelId="{919EE5D4-4B41-408B-B0D9-8059C64A2CD5}" type="presParOf" srcId="{7623F336-8710-4914-9627-BDC4163A3A54}" destId="{91B1FD4D-CDDF-46BD-BE2E-9B1C08698E61}" srcOrd="1" destOrd="0" presId="urn:microsoft.com/office/officeart/2005/8/layout/chevron2"/>
    <dgm:cxn modelId="{1D145934-3EA4-442F-977B-B558DB4693A4}" type="presParOf" srcId="{7623F336-8710-4914-9627-BDC4163A3A54}" destId="{28EA4F36-781D-4D65-A968-1CE4572DA9F0}" srcOrd="2" destOrd="0" presId="urn:microsoft.com/office/officeart/2005/8/layout/chevron2"/>
    <dgm:cxn modelId="{E4B61504-4C46-4AB4-A213-81A62481C11F}" type="presParOf" srcId="{28EA4F36-781D-4D65-A968-1CE4572DA9F0}" destId="{5D7F3123-3104-400F-8E1E-9D6496C799CB}" srcOrd="0" destOrd="0" presId="urn:microsoft.com/office/officeart/2005/8/layout/chevron2"/>
    <dgm:cxn modelId="{9EEE872F-3A87-4A69-9361-B1FFE64412D0}" type="presParOf" srcId="{28EA4F36-781D-4D65-A968-1CE4572DA9F0}" destId="{3E9D7963-049F-4432-8D71-5217B229E465}" srcOrd="1" destOrd="0" presId="urn:microsoft.com/office/officeart/2005/8/layout/chevron2"/>
    <dgm:cxn modelId="{92771918-C712-4C40-8367-BD8F53C7FE5A}" type="presParOf" srcId="{7623F336-8710-4914-9627-BDC4163A3A54}" destId="{39E0A725-5F42-40E0-B729-023F20C17D18}" srcOrd="3" destOrd="0" presId="urn:microsoft.com/office/officeart/2005/8/layout/chevron2"/>
    <dgm:cxn modelId="{367DE58C-1CB5-4AF3-B435-BA5CB7EA113F}" type="presParOf" srcId="{7623F336-8710-4914-9627-BDC4163A3A54}" destId="{70C562F6-8C03-44FB-BF9E-1229AF840CA6}" srcOrd="4" destOrd="0" presId="urn:microsoft.com/office/officeart/2005/8/layout/chevron2"/>
    <dgm:cxn modelId="{DF805339-D811-4AA2-80CB-20FD183B01F0}" type="presParOf" srcId="{70C562F6-8C03-44FB-BF9E-1229AF840CA6}" destId="{6CB7AB0F-9177-4C1D-8E5B-AEC019D35A81}" srcOrd="0" destOrd="0" presId="urn:microsoft.com/office/officeart/2005/8/layout/chevron2"/>
    <dgm:cxn modelId="{44123734-367E-43E2-A531-6A4150E6BF54}" type="presParOf" srcId="{70C562F6-8C03-44FB-BF9E-1229AF840CA6}" destId="{12418D68-6690-4814-9B65-D3160AA9147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4FF8DE-30C4-46D9-B85A-F3FC3CA0B8EE}">
      <dsp:nvSpPr>
        <dsp:cNvPr id="0" name=""/>
        <dsp:cNvSpPr/>
      </dsp:nvSpPr>
      <dsp:spPr>
        <a:xfrm rot="5400000">
          <a:off x="-416331" y="424092"/>
          <a:ext cx="2775543" cy="1942880"/>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err="1">
              <a:latin typeface="Times New Roman (Headings)"/>
            </a:rPr>
            <a:t>Giám</a:t>
          </a:r>
          <a:r>
            <a:rPr lang="en-US" sz="3000" kern="1200" dirty="0">
              <a:latin typeface="Times New Roman (Headings)"/>
            </a:rPr>
            <a:t> </a:t>
          </a:r>
          <a:r>
            <a:rPr lang="en-US" sz="3000" kern="1200" dirty="0" err="1">
              <a:latin typeface="Times New Roman (Headings)"/>
            </a:rPr>
            <a:t>sát</a:t>
          </a:r>
          <a:endParaRPr lang="en-US" sz="3000" kern="1200" dirty="0">
            <a:latin typeface="Times New Roman (Headings)"/>
          </a:endParaRPr>
        </a:p>
      </dsp:txBody>
      <dsp:txXfrm rot="-5400000">
        <a:off x="1" y="979200"/>
        <a:ext cx="1942880" cy="832663"/>
      </dsp:txXfrm>
    </dsp:sp>
    <dsp:sp modelId="{48FD9E60-361E-4EFD-B4F7-8BF738D02503}">
      <dsp:nvSpPr>
        <dsp:cNvPr id="0" name=""/>
        <dsp:cNvSpPr/>
      </dsp:nvSpPr>
      <dsp:spPr>
        <a:xfrm rot="5400000">
          <a:off x="8345746" y="-6395105"/>
          <a:ext cx="1804103" cy="1460983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Char char="•"/>
          </a:pPr>
          <a:r>
            <a:rPr lang="en-US" sz="3000" kern="1200" dirty="0" err="1">
              <a:latin typeface="Times New Roman" panose="02020603050405020304" pitchFamily="18" charset="0"/>
              <a:cs typeface="Times New Roman" panose="02020603050405020304" pitchFamily="18" charset="0"/>
            </a:rPr>
            <a:t>Đơn</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vị</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giám</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sát</a:t>
          </a:r>
          <a:r>
            <a:rPr lang="en-US" sz="3000" kern="1200" dirty="0">
              <a:latin typeface="Times New Roman" panose="02020603050405020304" pitchFamily="18" charset="0"/>
              <a:cs typeface="Times New Roman" panose="02020603050405020304" pitchFamily="18" charset="0"/>
            </a:rPr>
            <a:t>: CTCK, </a:t>
          </a:r>
          <a:r>
            <a:rPr lang="en-US" sz="3000" kern="1200" dirty="0" err="1">
              <a:latin typeface="Times New Roman" panose="02020603050405020304" pitchFamily="18" charset="0"/>
              <a:cs typeface="Times New Roman" panose="02020603050405020304" pitchFamily="18" charset="0"/>
            </a:rPr>
            <a:t>Sở</a:t>
          </a:r>
          <a:r>
            <a:rPr lang="en-US" sz="3000" kern="1200" dirty="0">
              <a:latin typeface="Times New Roman" panose="02020603050405020304" pitchFamily="18" charset="0"/>
              <a:cs typeface="Times New Roman" panose="02020603050405020304" pitchFamily="18" charset="0"/>
            </a:rPr>
            <a:t> GDCK, UBCKNN</a:t>
          </a:r>
        </a:p>
        <a:p>
          <a:pPr marL="285750" lvl="1" indent="-285750" algn="l" defTabSz="1333500">
            <a:lnSpc>
              <a:spcPct val="90000"/>
            </a:lnSpc>
            <a:spcBef>
              <a:spcPct val="0"/>
            </a:spcBef>
            <a:spcAft>
              <a:spcPct val="15000"/>
            </a:spcAft>
            <a:buChar char="•"/>
          </a:pPr>
          <a:r>
            <a:rPr lang="en-US" sz="3000" kern="1200" dirty="0">
              <a:latin typeface="Times New Roman" panose="02020603050405020304" pitchFamily="18" charset="0"/>
              <a:cs typeface="Times New Roman" panose="02020603050405020304" pitchFamily="18" charset="0"/>
            </a:rPr>
            <a:t>Thu </a:t>
          </a:r>
          <a:r>
            <a:rPr lang="en-US" sz="3000" kern="1200" dirty="0" err="1">
              <a:latin typeface="Times New Roman" panose="02020603050405020304" pitchFamily="18" charset="0"/>
              <a:cs typeface="Times New Roman" panose="02020603050405020304" pitchFamily="18" charset="0"/>
            </a:rPr>
            <a:t>thập</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thông</a:t>
          </a:r>
          <a:r>
            <a:rPr lang="en-US" sz="3000" kern="1200" dirty="0">
              <a:latin typeface="Times New Roman" panose="02020603050405020304" pitchFamily="18" charset="0"/>
              <a:cs typeface="Times New Roman" panose="02020603050405020304" pitchFamily="18" charset="0"/>
            </a:rPr>
            <a:t> tin: </a:t>
          </a:r>
        </a:p>
        <a:p>
          <a:pPr marL="285750" lvl="1" indent="-285750" algn="l" defTabSz="1333500">
            <a:lnSpc>
              <a:spcPct val="90000"/>
            </a:lnSpc>
            <a:spcBef>
              <a:spcPct val="0"/>
            </a:spcBef>
            <a:spcAft>
              <a:spcPct val="15000"/>
            </a:spcAft>
            <a:buChar char="•"/>
          </a:pPr>
          <a:r>
            <a:rPr lang="en-US" sz="3000" kern="1200" dirty="0" err="1">
              <a:latin typeface="Times New Roman" panose="02020603050405020304" pitchFamily="18" charset="0"/>
              <a:cs typeface="Times New Roman" panose="02020603050405020304" pitchFamily="18" charset="0"/>
            </a:rPr>
            <a:t>Lập</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báo</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cáo</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phân</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tích</a:t>
          </a:r>
          <a:endParaRPr lang="en-US" sz="3000" kern="1200" dirty="0">
            <a:latin typeface="Times New Roman" panose="02020603050405020304" pitchFamily="18" charset="0"/>
            <a:cs typeface="Times New Roman" panose="02020603050405020304" pitchFamily="18" charset="0"/>
          </a:endParaRPr>
        </a:p>
      </dsp:txBody>
      <dsp:txXfrm rot="-5400000">
        <a:off x="1942881" y="95829"/>
        <a:ext cx="14521766" cy="1627965"/>
      </dsp:txXfrm>
    </dsp:sp>
    <dsp:sp modelId="{5D7F3123-3104-400F-8E1E-9D6496C799CB}">
      <dsp:nvSpPr>
        <dsp:cNvPr id="0" name=""/>
        <dsp:cNvSpPr/>
      </dsp:nvSpPr>
      <dsp:spPr>
        <a:xfrm rot="5400000">
          <a:off x="-416331" y="3013062"/>
          <a:ext cx="2775543" cy="1942880"/>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err="1">
              <a:latin typeface="Times New Roman (Headings)"/>
            </a:rPr>
            <a:t>Kiểm</a:t>
          </a:r>
          <a:r>
            <a:rPr lang="en-US" sz="3000" kern="1200" dirty="0">
              <a:latin typeface="Times New Roman (Headings)"/>
            </a:rPr>
            <a:t> </a:t>
          </a:r>
          <a:r>
            <a:rPr lang="en-US" sz="3000" kern="1200" dirty="0" err="1">
              <a:latin typeface="Times New Roman (Headings)"/>
            </a:rPr>
            <a:t>tra</a:t>
          </a:r>
          <a:endParaRPr lang="en-US" sz="3000" kern="1200" dirty="0">
            <a:latin typeface="Times New Roman (Headings)"/>
          </a:endParaRPr>
        </a:p>
      </dsp:txBody>
      <dsp:txXfrm rot="-5400000">
        <a:off x="1" y="3568170"/>
        <a:ext cx="1942880" cy="832663"/>
      </dsp:txXfrm>
    </dsp:sp>
    <dsp:sp modelId="{3E9D7963-049F-4432-8D71-5217B229E465}">
      <dsp:nvSpPr>
        <dsp:cNvPr id="0" name=""/>
        <dsp:cNvSpPr/>
      </dsp:nvSpPr>
      <dsp:spPr>
        <a:xfrm rot="5400000">
          <a:off x="8345746" y="-3806134"/>
          <a:ext cx="1804103" cy="1460983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Char char="•"/>
          </a:pPr>
          <a:r>
            <a:rPr lang="en-US" sz="3000" kern="1200" dirty="0" err="1">
              <a:latin typeface="Times New Roman" panose="02020603050405020304" pitchFamily="18" charset="0"/>
              <a:cs typeface="Times New Roman" panose="02020603050405020304" pitchFamily="18" charset="0"/>
            </a:rPr>
            <a:t>Kiểm</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tra</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tại</a:t>
          </a:r>
          <a:r>
            <a:rPr lang="en-US" sz="3000" kern="1200" dirty="0">
              <a:latin typeface="Times New Roman" panose="02020603050405020304" pitchFamily="18" charset="0"/>
              <a:cs typeface="Times New Roman" panose="02020603050405020304" pitchFamily="18" charset="0"/>
            </a:rPr>
            <a:t> CTCK</a:t>
          </a:r>
        </a:p>
        <a:p>
          <a:pPr marL="285750" lvl="1" indent="-285750" algn="l" defTabSz="1333500">
            <a:lnSpc>
              <a:spcPct val="90000"/>
            </a:lnSpc>
            <a:spcBef>
              <a:spcPct val="0"/>
            </a:spcBef>
            <a:spcAft>
              <a:spcPct val="15000"/>
            </a:spcAft>
            <a:buChar char="•"/>
          </a:pPr>
          <a:r>
            <a:rPr lang="en-US" sz="3000" kern="1200" dirty="0" err="1">
              <a:latin typeface="Times New Roman" panose="02020603050405020304" pitchFamily="18" charset="0"/>
              <a:cs typeface="Times New Roman" panose="02020603050405020304" pitchFamily="18" charset="0"/>
            </a:rPr>
            <a:t>Làm</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việc</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với</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môi</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giới</a:t>
          </a:r>
          <a:endParaRPr lang="en-US" sz="3000" kern="1200" dirty="0">
            <a:latin typeface="Times New Roman" panose="02020603050405020304" pitchFamily="18" charset="0"/>
            <a:cs typeface="Times New Roman" panose="02020603050405020304" pitchFamily="18" charset="0"/>
          </a:endParaRPr>
        </a:p>
        <a:p>
          <a:pPr marL="285750" lvl="1" indent="-285750" algn="l" defTabSz="1333500">
            <a:lnSpc>
              <a:spcPct val="90000"/>
            </a:lnSpc>
            <a:spcBef>
              <a:spcPct val="0"/>
            </a:spcBef>
            <a:spcAft>
              <a:spcPct val="15000"/>
            </a:spcAft>
            <a:buChar char="•"/>
          </a:pPr>
          <a:r>
            <a:rPr lang="en-US" sz="3000" kern="1200" dirty="0" err="1">
              <a:latin typeface="Times New Roman" panose="02020603050405020304" pitchFamily="18" charset="0"/>
              <a:cs typeface="Times New Roman" panose="02020603050405020304" pitchFamily="18" charset="0"/>
            </a:rPr>
            <a:t>Làm</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việc</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với</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nhà</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đầu</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tư</a:t>
          </a:r>
          <a:endParaRPr lang="en-US" sz="3000" kern="1200" dirty="0">
            <a:latin typeface="Times New Roman" panose="02020603050405020304" pitchFamily="18" charset="0"/>
            <a:cs typeface="Times New Roman" panose="02020603050405020304" pitchFamily="18" charset="0"/>
          </a:endParaRPr>
        </a:p>
        <a:p>
          <a:pPr marL="285750" lvl="1" indent="-285750" algn="l" defTabSz="1333500">
            <a:lnSpc>
              <a:spcPct val="90000"/>
            </a:lnSpc>
            <a:spcBef>
              <a:spcPct val="0"/>
            </a:spcBef>
            <a:spcAft>
              <a:spcPct val="15000"/>
            </a:spcAft>
            <a:buChar char="•"/>
          </a:pPr>
          <a:r>
            <a:rPr lang="en-US" sz="3000" kern="1200">
              <a:latin typeface="Times New Roman" panose="02020603050405020304" pitchFamily="18" charset="0"/>
              <a:cs typeface="Times New Roman" panose="02020603050405020304" pitchFamily="18" charset="0"/>
            </a:rPr>
            <a:t>Làm việc với các cá nhân, tổ chức có liên quan khác</a:t>
          </a:r>
          <a:endParaRPr lang="en-US" sz="3000" kern="1200" dirty="0">
            <a:latin typeface="Times New Roman" panose="02020603050405020304" pitchFamily="18" charset="0"/>
            <a:cs typeface="Times New Roman" panose="02020603050405020304" pitchFamily="18" charset="0"/>
          </a:endParaRPr>
        </a:p>
      </dsp:txBody>
      <dsp:txXfrm rot="-5400000">
        <a:off x="1942881" y="2684800"/>
        <a:ext cx="14521766" cy="1627965"/>
      </dsp:txXfrm>
    </dsp:sp>
    <dsp:sp modelId="{6CB7AB0F-9177-4C1D-8E5B-AEC019D35A81}">
      <dsp:nvSpPr>
        <dsp:cNvPr id="0" name=""/>
        <dsp:cNvSpPr/>
      </dsp:nvSpPr>
      <dsp:spPr>
        <a:xfrm rot="5400000">
          <a:off x="-416331" y="5602033"/>
          <a:ext cx="2775543" cy="1942880"/>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err="1">
              <a:latin typeface="Times New Roman (Headings)"/>
            </a:rPr>
            <a:t>Xử</a:t>
          </a:r>
          <a:r>
            <a:rPr lang="en-US" sz="3000" kern="1200" dirty="0">
              <a:latin typeface="Times New Roman (Headings)"/>
            </a:rPr>
            <a:t> </a:t>
          </a:r>
          <a:r>
            <a:rPr lang="en-US" sz="3000" kern="1200" dirty="0" err="1">
              <a:latin typeface="Times New Roman (Headings)"/>
            </a:rPr>
            <a:t>lý</a:t>
          </a:r>
          <a:r>
            <a:rPr lang="en-US" sz="3000" kern="1200" dirty="0">
              <a:latin typeface="Times New Roman (Headings)"/>
            </a:rPr>
            <a:t> </a:t>
          </a:r>
          <a:r>
            <a:rPr lang="en-US" sz="3000" kern="1200" dirty="0" err="1">
              <a:latin typeface="Times New Roman (Headings)"/>
            </a:rPr>
            <a:t>sau</a:t>
          </a:r>
          <a:r>
            <a:rPr lang="en-US" sz="3000" kern="1200" dirty="0">
              <a:latin typeface="Times New Roman (Headings)"/>
            </a:rPr>
            <a:t> </a:t>
          </a:r>
          <a:r>
            <a:rPr lang="en-US" sz="3000" kern="1200" dirty="0" err="1">
              <a:latin typeface="Times New Roman (Headings)"/>
            </a:rPr>
            <a:t>kiểm</a:t>
          </a:r>
          <a:r>
            <a:rPr lang="en-US" sz="3000" kern="1200" dirty="0">
              <a:latin typeface="Times New Roman (Headings)"/>
            </a:rPr>
            <a:t> </a:t>
          </a:r>
          <a:r>
            <a:rPr lang="en-US" sz="3000" kern="1200" dirty="0" err="1">
              <a:latin typeface="Times New Roman (Headings)"/>
            </a:rPr>
            <a:t>tra</a:t>
          </a:r>
          <a:endParaRPr lang="en-US" sz="3000" kern="1200" dirty="0">
            <a:latin typeface="Times New Roman (Headings)"/>
          </a:endParaRPr>
        </a:p>
      </dsp:txBody>
      <dsp:txXfrm rot="-5400000">
        <a:off x="1" y="6157141"/>
        <a:ext cx="1942880" cy="832663"/>
      </dsp:txXfrm>
    </dsp:sp>
    <dsp:sp modelId="{12418D68-6690-4814-9B65-D3160AA91476}">
      <dsp:nvSpPr>
        <dsp:cNvPr id="0" name=""/>
        <dsp:cNvSpPr/>
      </dsp:nvSpPr>
      <dsp:spPr>
        <a:xfrm rot="5400000">
          <a:off x="8345746" y="-1217164"/>
          <a:ext cx="1804103" cy="1460983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Char char="•"/>
          </a:pPr>
          <a:r>
            <a:rPr lang="en-US" sz="3000" kern="1200" dirty="0" err="1">
              <a:latin typeface="Times New Roman" panose="02020603050405020304" pitchFamily="18" charset="0"/>
              <a:cs typeface="Times New Roman" panose="02020603050405020304" pitchFamily="18" charset="0"/>
            </a:rPr>
            <a:t>Tiếp</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tục</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làm</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việc</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với</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nhà</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đầu</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tư</a:t>
          </a:r>
          <a:endParaRPr lang="en-US" sz="3000" kern="1200" dirty="0">
            <a:latin typeface="Times New Roman" panose="02020603050405020304" pitchFamily="18" charset="0"/>
            <a:cs typeface="Times New Roman" panose="02020603050405020304" pitchFamily="18" charset="0"/>
          </a:endParaRPr>
        </a:p>
        <a:p>
          <a:pPr marL="285750" lvl="1" indent="-285750" algn="l" defTabSz="1333500">
            <a:lnSpc>
              <a:spcPct val="90000"/>
            </a:lnSpc>
            <a:spcBef>
              <a:spcPct val="0"/>
            </a:spcBef>
            <a:spcAft>
              <a:spcPct val="15000"/>
            </a:spcAft>
            <a:buChar char="•"/>
          </a:pPr>
          <a:r>
            <a:rPr lang="en-US" sz="3000" kern="1200" dirty="0" err="1">
              <a:latin typeface="Times New Roman" panose="02020603050405020304" pitchFamily="18" charset="0"/>
              <a:cs typeface="Times New Roman" panose="02020603050405020304" pitchFamily="18" charset="0"/>
            </a:rPr>
            <a:t>Lập</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Biên</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bản</a:t>
          </a:r>
          <a:r>
            <a:rPr lang="en-US" sz="3000" kern="1200" dirty="0">
              <a:latin typeface="Times New Roman" panose="02020603050405020304" pitchFamily="18" charset="0"/>
              <a:cs typeface="Times New Roman" panose="02020603050405020304" pitchFamily="18" charset="0"/>
            </a:rPr>
            <a:t> Vi </a:t>
          </a:r>
          <a:r>
            <a:rPr lang="en-US" sz="3000" kern="1200" dirty="0" err="1">
              <a:latin typeface="Times New Roman" panose="02020603050405020304" pitchFamily="18" charset="0"/>
              <a:cs typeface="Times New Roman" panose="02020603050405020304" pitchFamily="18" charset="0"/>
            </a:rPr>
            <a:t>phạm</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Hành</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chính</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Xử</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phạt</a:t>
          </a:r>
          <a:r>
            <a:rPr lang="en-US" sz="3000" kern="1200" dirty="0">
              <a:latin typeface="Times New Roman" panose="02020603050405020304" pitchFamily="18" charset="0"/>
              <a:cs typeface="Times New Roman" panose="02020603050405020304" pitchFamily="18" charset="0"/>
            </a:rPr>
            <a:t> Vi </a:t>
          </a:r>
          <a:r>
            <a:rPr lang="en-US" sz="3000" kern="1200" dirty="0" err="1">
              <a:latin typeface="Times New Roman" panose="02020603050405020304" pitchFamily="18" charset="0"/>
              <a:cs typeface="Times New Roman" panose="02020603050405020304" pitchFamily="18" charset="0"/>
            </a:rPr>
            <a:t>phạm</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Hành</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chính</a:t>
          </a:r>
          <a:endParaRPr lang="en-US" sz="3000" kern="1200" dirty="0">
            <a:latin typeface="Times New Roman" panose="02020603050405020304" pitchFamily="18" charset="0"/>
            <a:cs typeface="Times New Roman" panose="02020603050405020304" pitchFamily="18" charset="0"/>
          </a:endParaRPr>
        </a:p>
        <a:p>
          <a:pPr marL="285750" lvl="1" indent="-285750" algn="l" defTabSz="1333500">
            <a:lnSpc>
              <a:spcPct val="90000"/>
            </a:lnSpc>
            <a:spcBef>
              <a:spcPct val="0"/>
            </a:spcBef>
            <a:spcAft>
              <a:spcPct val="15000"/>
            </a:spcAft>
            <a:buChar char="•"/>
          </a:pPr>
          <a:r>
            <a:rPr lang="en-US" sz="3000" kern="1200" dirty="0" err="1">
              <a:latin typeface="Times New Roman" panose="02020603050405020304" pitchFamily="18" charset="0"/>
              <a:cs typeface="Times New Roman" panose="02020603050405020304" pitchFamily="18" charset="0"/>
            </a:rPr>
            <a:t>Chuyển</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Cơ</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quan</a:t>
          </a:r>
          <a:r>
            <a:rPr lang="en-US" sz="3000" kern="1200" dirty="0">
              <a:latin typeface="Times New Roman" panose="02020603050405020304" pitchFamily="18" charset="0"/>
              <a:cs typeface="Times New Roman" panose="02020603050405020304" pitchFamily="18" charset="0"/>
            </a:rPr>
            <a:t> </a:t>
          </a:r>
          <a:r>
            <a:rPr lang="en-US" sz="3000" kern="1200" dirty="0" err="1">
              <a:latin typeface="Times New Roman" panose="02020603050405020304" pitchFamily="18" charset="0"/>
              <a:cs typeface="Times New Roman" panose="02020603050405020304" pitchFamily="18" charset="0"/>
            </a:rPr>
            <a:t>công</a:t>
          </a:r>
          <a:r>
            <a:rPr lang="en-US" sz="3000" kern="1200" dirty="0">
              <a:latin typeface="Times New Roman" panose="02020603050405020304" pitchFamily="18" charset="0"/>
              <a:cs typeface="Times New Roman" panose="02020603050405020304" pitchFamily="18" charset="0"/>
            </a:rPr>
            <a:t> an</a:t>
          </a:r>
        </a:p>
      </dsp:txBody>
      <dsp:txXfrm rot="-5400000">
        <a:off x="1942881" y="5273770"/>
        <a:ext cx="14521766" cy="162796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B1668-C933-4F8B-A146-0F3DB0864AAB}" type="datetimeFigureOut">
              <a:rPr lang="en-US" smtClean="0"/>
              <a:t>10/3/2024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F13318-C45B-4B97-8CDB-E400C7AB6C3C}" type="slidenum">
              <a:rPr lang="en-US" smtClean="0"/>
              <a:t>‹#›</a:t>
            </a:fld>
            <a:endParaRPr lang="en-US"/>
          </a:p>
        </p:txBody>
      </p:sp>
    </p:spTree>
    <p:extLst>
      <p:ext uri="{BB962C8B-B14F-4D97-AF65-F5344CB8AC3E}">
        <p14:creationId xmlns:p14="http://schemas.microsoft.com/office/powerpoint/2010/main" val="2260430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4</a:t>
            </a:fld>
            <a:endParaRPr lang="en-US"/>
          </a:p>
        </p:txBody>
      </p:sp>
    </p:spTree>
    <p:extLst>
      <p:ext uri="{BB962C8B-B14F-4D97-AF65-F5344CB8AC3E}">
        <p14:creationId xmlns:p14="http://schemas.microsoft.com/office/powerpoint/2010/main" val="277108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5</a:t>
            </a:fld>
            <a:endParaRPr lang="en-US"/>
          </a:p>
        </p:txBody>
      </p:sp>
    </p:spTree>
    <p:extLst>
      <p:ext uri="{BB962C8B-B14F-4D97-AF65-F5344CB8AC3E}">
        <p14:creationId xmlns:p14="http://schemas.microsoft.com/office/powerpoint/2010/main" val="264296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6</a:t>
            </a:fld>
            <a:endParaRPr lang="en-US"/>
          </a:p>
        </p:txBody>
      </p:sp>
    </p:spTree>
    <p:extLst>
      <p:ext uri="{BB962C8B-B14F-4D97-AF65-F5344CB8AC3E}">
        <p14:creationId xmlns:p14="http://schemas.microsoft.com/office/powerpoint/2010/main" val="1080108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7</a:t>
            </a:fld>
            <a:endParaRPr lang="en-US"/>
          </a:p>
        </p:txBody>
      </p:sp>
    </p:spTree>
    <p:extLst>
      <p:ext uri="{BB962C8B-B14F-4D97-AF65-F5344CB8AC3E}">
        <p14:creationId xmlns:p14="http://schemas.microsoft.com/office/powerpoint/2010/main" val="624155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10</a:t>
            </a:fld>
            <a:endParaRPr lang="en-US"/>
          </a:p>
        </p:txBody>
      </p:sp>
    </p:spTree>
    <p:extLst>
      <p:ext uri="{BB962C8B-B14F-4D97-AF65-F5344CB8AC3E}">
        <p14:creationId xmlns:p14="http://schemas.microsoft.com/office/powerpoint/2010/main" val="982645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11</a:t>
            </a:fld>
            <a:endParaRPr lang="en-US"/>
          </a:p>
        </p:txBody>
      </p:sp>
    </p:spTree>
    <p:extLst>
      <p:ext uri="{BB962C8B-B14F-4D97-AF65-F5344CB8AC3E}">
        <p14:creationId xmlns:p14="http://schemas.microsoft.com/office/powerpoint/2010/main" val="3926044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12</a:t>
            </a:fld>
            <a:endParaRPr lang="en-US"/>
          </a:p>
        </p:txBody>
      </p:sp>
    </p:spTree>
    <p:extLst>
      <p:ext uri="{BB962C8B-B14F-4D97-AF65-F5344CB8AC3E}">
        <p14:creationId xmlns:p14="http://schemas.microsoft.com/office/powerpoint/2010/main" val="694394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13</a:t>
            </a:fld>
            <a:endParaRPr lang="en-US"/>
          </a:p>
        </p:txBody>
      </p:sp>
    </p:spTree>
    <p:extLst>
      <p:ext uri="{BB962C8B-B14F-4D97-AF65-F5344CB8AC3E}">
        <p14:creationId xmlns:p14="http://schemas.microsoft.com/office/powerpoint/2010/main" val="4113559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14</a:t>
            </a:fld>
            <a:endParaRPr lang="en-US"/>
          </a:p>
        </p:txBody>
      </p:sp>
    </p:spTree>
    <p:extLst>
      <p:ext uri="{BB962C8B-B14F-4D97-AF65-F5344CB8AC3E}">
        <p14:creationId xmlns:p14="http://schemas.microsoft.com/office/powerpoint/2010/main" val="2716938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17</a:t>
            </a:fld>
            <a:endParaRPr lang="en-US"/>
          </a:p>
        </p:txBody>
      </p:sp>
    </p:spTree>
    <p:extLst>
      <p:ext uri="{BB962C8B-B14F-4D97-AF65-F5344CB8AC3E}">
        <p14:creationId xmlns:p14="http://schemas.microsoft.com/office/powerpoint/2010/main" val="384045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18</a:t>
            </a:fld>
            <a:endParaRPr lang="en-US"/>
          </a:p>
        </p:txBody>
      </p:sp>
    </p:spTree>
    <p:extLst>
      <p:ext uri="{BB962C8B-B14F-4D97-AF65-F5344CB8AC3E}">
        <p14:creationId xmlns:p14="http://schemas.microsoft.com/office/powerpoint/2010/main" val="1397427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20</a:t>
            </a:fld>
            <a:endParaRPr lang="en-US"/>
          </a:p>
        </p:txBody>
      </p:sp>
    </p:spTree>
    <p:extLst>
      <p:ext uri="{BB962C8B-B14F-4D97-AF65-F5344CB8AC3E}">
        <p14:creationId xmlns:p14="http://schemas.microsoft.com/office/powerpoint/2010/main" val="2557370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27</a:t>
            </a:fld>
            <a:endParaRPr lang="en-US"/>
          </a:p>
        </p:txBody>
      </p:sp>
    </p:spTree>
    <p:extLst>
      <p:ext uri="{BB962C8B-B14F-4D97-AF65-F5344CB8AC3E}">
        <p14:creationId xmlns:p14="http://schemas.microsoft.com/office/powerpoint/2010/main" val="2017540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28</a:t>
            </a:fld>
            <a:endParaRPr lang="en-US"/>
          </a:p>
        </p:txBody>
      </p:sp>
    </p:spTree>
    <p:extLst>
      <p:ext uri="{BB962C8B-B14F-4D97-AF65-F5344CB8AC3E}">
        <p14:creationId xmlns:p14="http://schemas.microsoft.com/office/powerpoint/2010/main" val="2371059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3318-C45B-4B97-8CDB-E400C7AB6C3C}" type="slidenum">
              <a:rPr lang="en-US" smtClean="0"/>
              <a:t>30</a:t>
            </a:fld>
            <a:endParaRPr lang="en-US"/>
          </a:p>
        </p:txBody>
      </p:sp>
    </p:spTree>
    <p:extLst>
      <p:ext uri="{BB962C8B-B14F-4D97-AF65-F5344CB8AC3E}">
        <p14:creationId xmlns:p14="http://schemas.microsoft.com/office/powerpoint/2010/main" val="4201986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3125" b="3125"/>
          <a:stretch>
            <a:fillRect/>
          </a:stretch>
        </p:blipFill>
        <p:spPr>
          <a:xfrm>
            <a:off x="0" y="86217"/>
            <a:ext cx="20242732" cy="10287000"/>
          </a:xfrm>
          <a:prstGeom prst="rect">
            <a:avLst/>
          </a:prstGeom>
        </p:spPr>
      </p:pic>
      <p:grpSp>
        <p:nvGrpSpPr>
          <p:cNvPr id="6" name="Group 6"/>
          <p:cNvGrpSpPr/>
          <p:nvPr/>
        </p:nvGrpSpPr>
        <p:grpSpPr>
          <a:xfrm>
            <a:off x="9170348" y="1286851"/>
            <a:ext cx="11927794" cy="8009544"/>
            <a:chOff x="0" y="0"/>
            <a:chExt cx="575658" cy="302389"/>
          </a:xfrm>
        </p:grpSpPr>
        <p:sp>
          <p:nvSpPr>
            <p:cNvPr id="7" name="Freeform 7"/>
            <p:cNvSpPr/>
            <p:nvPr/>
          </p:nvSpPr>
          <p:spPr>
            <a:xfrm>
              <a:off x="0" y="0"/>
              <a:ext cx="575658" cy="302389"/>
            </a:xfrm>
            <a:custGeom>
              <a:avLst/>
              <a:gdLst/>
              <a:ahLst/>
              <a:cxnLst/>
              <a:rect l="l" t="t" r="r" b="b"/>
              <a:pathLst>
                <a:path w="575658" h="302389">
                  <a:moveTo>
                    <a:pt x="203200" y="0"/>
                  </a:moveTo>
                  <a:lnTo>
                    <a:pt x="575658" y="0"/>
                  </a:lnTo>
                  <a:lnTo>
                    <a:pt x="372458" y="302389"/>
                  </a:lnTo>
                  <a:lnTo>
                    <a:pt x="0" y="302389"/>
                  </a:lnTo>
                  <a:lnTo>
                    <a:pt x="203200" y="0"/>
                  </a:lnTo>
                  <a:close/>
                </a:path>
              </a:pathLst>
            </a:custGeom>
            <a:solidFill>
              <a:srgbClr val="FFFFFF"/>
            </a:solidFill>
          </p:spPr>
        </p:sp>
        <p:sp>
          <p:nvSpPr>
            <p:cNvPr id="8" name="TextBox 8"/>
            <p:cNvSpPr txBox="1"/>
            <p:nvPr/>
          </p:nvSpPr>
          <p:spPr>
            <a:xfrm>
              <a:off x="101600" y="-76200"/>
              <a:ext cx="609600" cy="685800"/>
            </a:xfrm>
            <a:prstGeom prst="rect">
              <a:avLst/>
            </a:prstGeom>
          </p:spPr>
          <p:txBody>
            <a:bodyPr lIns="50800" tIns="50800" rIns="50800" bIns="50800" rtlCol="0" anchor="ctr"/>
            <a:lstStyle/>
            <a:p>
              <a:pPr algn="ctr">
                <a:lnSpc>
                  <a:spcPts val="3518"/>
                </a:lnSpc>
              </a:pPr>
              <a:endParaRPr/>
            </a:p>
          </p:txBody>
        </p:sp>
      </p:grpSp>
      <p:grpSp>
        <p:nvGrpSpPr>
          <p:cNvPr id="9" name="Group 9"/>
          <p:cNvGrpSpPr>
            <a:grpSpLocks noChangeAspect="1"/>
          </p:cNvGrpSpPr>
          <p:nvPr/>
        </p:nvGrpSpPr>
        <p:grpSpPr>
          <a:xfrm>
            <a:off x="10253724" y="1239239"/>
            <a:ext cx="9965154" cy="8057161"/>
            <a:chOff x="0" y="0"/>
            <a:chExt cx="37874435" cy="21093443"/>
          </a:xfrm>
        </p:grpSpPr>
        <p:sp>
          <p:nvSpPr>
            <p:cNvPr id="10" name="Freeform 10"/>
            <p:cNvSpPr/>
            <p:nvPr/>
          </p:nvSpPr>
          <p:spPr>
            <a:xfrm>
              <a:off x="0" y="0"/>
              <a:ext cx="37874448" cy="21093430"/>
            </a:xfrm>
            <a:custGeom>
              <a:avLst/>
              <a:gdLst/>
              <a:ahLst/>
              <a:cxnLst/>
              <a:rect l="l" t="t" r="r" b="b"/>
              <a:pathLst>
                <a:path w="37874448" h="21093430">
                  <a:moveTo>
                    <a:pt x="14343507" y="0"/>
                  </a:moveTo>
                  <a:lnTo>
                    <a:pt x="0" y="21093430"/>
                  </a:lnTo>
                  <a:lnTo>
                    <a:pt x="37874448" y="21093430"/>
                  </a:lnTo>
                  <a:lnTo>
                    <a:pt x="37874448" y="0"/>
                  </a:lnTo>
                  <a:close/>
                </a:path>
              </a:pathLst>
            </a:custGeom>
            <a:blipFill>
              <a:blip r:embed="rId3"/>
              <a:stretch>
                <a:fillRect t="-5391" b="-14237"/>
              </a:stretch>
            </a:blipFill>
          </p:spPr>
        </p:sp>
      </p:grpSp>
      <p:grpSp>
        <p:nvGrpSpPr>
          <p:cNvPr id="14" name="Group 14"/>
          <p:cNvGrpSpPr/>
          <p:nvPr/>
        </p:nvGrpSpPr>
        <p:grpSpPr>
          <a:xfrm>
            <a:off x="11518787" y="-455290"/>
            <a:ext cx="8901066" cy="1407281"/>
            <a:chOff x="0" y="0"/>
            <a:chExt cx="1942276" cy="307079"/>
          </a:xfrm>
        </p:grpSpPr>
        <p:sp>
          <p:nvSpPr>
            <p:cNvPr id="15" name="Freeform 15"/>
            <p:cNvSpPr/>
            <p:nvPr/>
          </p:nvSpPr>
          <p:spPr>
            <a:xfrm>
              <a:off x="0" y="0"/>
              <a:ext cx="1942276" cy="307079"/>
            </a:xfrm>
            <a:custGeom>
              <a:avLst/>
              <a:gdLst/>
              <a:ahLst/>
              <a:cxnLst/>
              <a:rect l="l" t="t" r="r" b="b"/>
              <a:pathLst>
                <a:path w="1942276" h="307079">
                  <a:moveTo>
                    <a:pt x="203200" y="0"/>
                  </a:moveTo>
                  <a:lnTo>
                    <a:pt x="1942276" y="0"/>
                  </a:lnTo>
                  <a:lnTo>
                    <a:pt x="1739076" y="307079"/>
                  </a:lnTo>
                  <a:lnTo>
                    <a:pt x="0" y="307079"/>
                  </a:lnTo>
                  <a:lnTo>
                    <a:pt x="203200" y="0"/>
                  </a:lnTo>
                  <a:close/>
                </a:path>
              </a:pathLst>
            </a:custGeom>
            <a:solidFill>
              <a:srgbClr val="FFFFFF"/>
            </a:solidFill>
          </p:spPr>
        </p:sp>
        <p:sp>
          <p:nvSpPr>
            <p:cNvPr id="16" name="TextBox 16"/>
            <p:cNvSpPr txBox="1"/>
            <p:nvPr/>
          </p:nvSpPr>
          <p:spPr>
            <a:xfrm>
              <a:off x="101600" y="-76200"/>
              <a:ext cx="609600" cy="685800"/>
            </a:xfrm>
            <a:prstGeom prst="rect">
              <a:avLst/>
            </a:prstGeom>
          </p:spPr>
          <p:txBody>
            <a:bodyPr lIns="50800" tIns="50800" rIns="50800" bIns="50800" rtlCol="0" anchor="ctr"/>
            <a:lstStyle/>
            <a:p>
              <a:pPr algn="ctr">
                <a:lnSpc>
                  <a:spcPts val="3518"/>
                </a:lnSpc>
              </a:pPr>
              <a:endParaRPr/>
            </a:p>
          </p:txBody>
        </p:sp>
      </p:grpSp>
      <p:grpSp>
        <p:nvGrpSpPr>
          <p:cNvPr id="17" name="Group 17"/>
          <p:cNvGrpSpPr/>
          <p:nvPr/>
        </p:nvGrpSpPr>
        <p:grpSpPr>
          <a:xfrm>
            <a:off x="1149441" y="9296400"/>
            <a:ext cx="22198569" cy="1488825"/>
            <a:chOff x="0" y="0"/>
            <a:chExt cx="4218183" cy="282907"/>
          </a:xfrm>
        </p:grpSpPr>
        <p:sp>
          <p:nvSpPr>
            <p:cNvPr id="18" name="Freeform 18"/>
            <p:cNvSpPr/>
            <p:nvPr/>
          </p:nvSpPr>
          <p:spPr>
            <a:xfrm>
              <a:off x="0" y="0"/>
              <a:ext cx="4218184" cy="282907"/>
            </a:xfrm>
            <a:custGeom>
              <a:avLst/>
              <a:gdLst/>
              <a:ahLst/>
              <a:cxnLst/>
              <a:rect l="l" t="t" r="r" b="b"/>
              <a:pathLst>
                <a:path w="4218184" h="282907">
                  <a:moveTo>
                    <a:pt x="203200" y="0"/>
                  </a:moveTo>
                  <a:lnTo>
                    <a:pt x="4218184" y="0"/>
                  </a:lnTo>
                  <a:lnTo>
                    <a:pt x="4014984" y="282907"/>
                  </a:lnTo>
                  <a:lnTo>
                    <a:pt x="0" y="282907"/>
                  </a:lnTo>
                  <a:lnTo>
                    <a:pt x="203200" y="0"/>
                  </a:lnTo>
                  <a:close/>
                </a:path>
              </a:pathLst>
            </a:custGeom>
            <a:solidFill>
              <a:srgbClr val="082E2D"/>
            </a:solidFill>
          </p:spPr>
        </p:sp>
        <p:sp>
          <p:nvSpPr>
            <p:cNvPr id="19" name="TextBox 19"/>
            <p:cNvSpPr txBox="1"/>
            <p:nvPr/>
          </p:nvSpPr>
          <p:spPr>
            <a:xfrm>
              <a:off x="101600" y="-76200"/>
              <a:ext cx="609600" cy="685800"/>
            </a:xfrm>
            <a:prstGeom prst="rect">
              <a:avLst/>
            </a:prstGeom>
          </p:spPr>
          <p:txBody>
            <a:bodyPr lIns="50800" tIns="50800" rIns="50800" bIns="50800" rtlCol="0" anchor="ctr"/>
            <a:lstStyle/>
            <a:p>
              <a:pPr algn="ctr">
                <a:lnSpc>
                  <a:spcPts val="3518"/>
                </a:lnSpc>
              </a:pPr>
              <a:endParaRPr/>
            </a:p>
          </p:txBody>
        </p:sp>
      </p:grpSp>
      <p:grpSp>
        <p:nvGrpSpPr>
          <p:cNvPr id="20" name="Group 20"/>
          <p:cNvGrpSpPr/>
          <p:nvPr/>
        </p:nvGrpSpPr>
        <p:grpSpPr>
          <a:xfrm>
            <a:off x="8245833" y="-340058"/>
            <a:ext cx="3851856" cy="2814779"/>
            <a:chOff x="0" y="0"/>
            <a:chExt cx="812800" cy="593961"/>
          </a:xfrm>
        </p:grpSpPr>
        <p:sp>
          <p:nvSpPr>
            <p:cNvPr id="21" name="Freeform 21"/>
            <p:cNvSpPr/>
            <p:nvPr/>
          </p:nvSpPr>
          <p:spPr>
            <a:xfrm>
              <a:off x="0" y="0"/>
              <a:ext cx="812800" cy="593961"/>
            </a:xfrm>
            <a:custGeom>
              <a:avLst/>
              <a:gdLst/>
              <a:ahLst/>
              <a:cxnLst/>
              <a:rect l="l" t="t" r="r" b="b"/>
              <a:pathLst>
                <a:path w="812800" h="593961">
                  <a:moveTo>
                    <a:pt x="406400" y="593961"/>
                  </a:moveTo>
                  <a:lnTo>
                    <a:pt x="812800" y="0"/>
                  </a:lnTo>
                  <a:lnTo>
                    <a:pt x="0" y="0"/>
                  </a:lnTo>
                  <a:lnTo>
                    <a:pt x="406400" y="593961"/>
                  </a:lnTo>
                  <a:close/>
                </a:path>
              </a:pathLst>
            </a:custGeom>
            <a:solidFill>
              <a:srgbClr val="D87A40"/>
            </a:solidFill>
          </p:spPr>
        </p:sp>
        <p:sp>
          <p:nvSpPr>
            <p:cNvPr id="22" name="TextBox 22"/>
            <p:cNvSpPr txBox="1"/>
            <p:nvPr/>
          </p:nvSpPr>
          <p:spPr>
            <a:xfrm>
              <a:off x="127000" y="-25400"/>
              <a:ext cx="558800" cy="406400"/>
            </a:xfrm>
            <a:prstGeom prst="rect">
              <a:avLst/>
            </a:prstGeom>
          </p:spPr>
          <p:txBody>
            <a:bodyPr lIns="50800" tIns="50800" rIns="50800" bIns="50800" rtlCol="0" anchor="ctr"/>
            <a:lstStyle/>
            <a:p>
              <a:pPr algn="ctr">
                <a:lnSpc>
                  <a:spcPts val="3518"/>
                </a:lnSpc>
              </a:pPr>
              <a:endParaRPr/>
            </a:p>
          </p:txBody>
        </p:sp>
      </p:grpSp>
      <p:sp>
        <p:nvSpPr>
          <p:cNvPr id="24" name="Freeform 24"/>
          <p:cNvSpPr/>
          <p:nvPr/>
        </p:nvSpPr>
        <p:spPr>
          <a:xfrm>
            <a:off x="199906" y="371344"/>
            <a:ext cx="3711232" cy="1488830"/>
          </a:xfrm>
          <a:custGeom>
            <a:avLst/>
            <a:gdLst/>
            <a:ahLst/>
            <a:cxnLst/>
            <a:rect l="l" t="t" r="r" b="b"/>
            <a:pathLst>
              <a:path w="3711232" h="1488830">
                <a:moveTo>
                  <a:pt x="0" y="0"/>
                </a:moveTo>
                <a:lnTo>
                  <a:pt x="3711233" y="0"/>
                </a:lnTo>
                <a:lnTo>
                  <a:pt x="3711233" y="1488831"/>
                </a:lnTo>
                <a:lnTo>
                  <a:pt x="0" y="1488831"/>
                </a:lnTo>
                <a:lnTo>
                  <a:pt x="0" y="0"/>
                </a:lnTo>
                <a:close/>
              </a:path>
            </a:pathLst>
          </a:custGeom>
          <a:blipFill>
            <a:blip r:embed="rId4"/>
            <a:stretch>
              <a:fillRect l="-57939" t="-101567" r="-37610" b="-143038"/>
            </a:stretch>
          </a:blipFill>
        </p:spPr>
      </p:sp>
      <p:sp>
        <p:nvSpPr>
          <p:cNvPr id="25" name="TextBox 25"/>
          <p:cNvSpPr txBox="1"/>
          <p:nvPr/>
        </p:nvSpPr>
        <p:spPr>
          <a:xfrm>
            <a:off x="199906" y="2543421"/>
            <a:ext cx="10815244" cy="1653017"/>
          </a:xfrm>
          <a:prstGeom prst="rect">
            <a:avLst/>
          </a:prstGeom>
        </p:spPr>
        <p:txBody>
          <a:bodyPr wrap="square" lIns="0" tIns="0" rIns="0" bIns="0" rtlCol="0" anchor="t">
            <a:spAutoFit/>
          </a:bodyPr>
          <a:lstStyle/>
          <a:p>
            <a:pPr>
              <a:lnSpc>
                <a:spcPts val="6804"/>
              </a:lnSpc>
            </a:pPr>
            <a:r>
              <a:rPr lang="en-US" sz="4349" b="1" i="1" dirty="0">
                <a:solidFill>
                  <a:srgbClr val="FFFFFF"/>
                </a:solidFill>
                <a:latin typeface="Arimo Bold Italics"/>
                <a:ea typeface="Arimo Bold Italics"/>
                <a:cs typeface="Arimo Bold Italics"/>
              </a:rPr>
              <a:t>QUẢN LÝ, GIÁM SÁT GIAO DỊCH TRÊN THỊ TRƯỜNG CHỨNG KHOÁN VIỆT NAM</a:t>
            </a:r>
          </a:p>
        </p:txBody>
      </p:sp>
      <p:sp>
        <p:nvSpPr>
          <p:cNvPr id="26" name="TextBox 26"/>
          <p:cNvSpPr txBox="1"/>
          <p:nvPr/>
        </p:nvSpPr>
        <p:spPr>
          <a:xfrm>
            <a:off x="13009190" y="8198449"/>
            <a:ext cx="4250110" cy="408785"/>
          </a:xfrm>
          <a:prstGeom prst="rect">
            <a:avLst/>
          </a:prstGeom>
        </p:spPr>
        <p:txBody>
          <a:bodyPr lIns="0" tIns="0" rIns="0" bIns="0" rtlCol="0" anchor="t">
            <a:spAutoFit/>
          </a:bodyPr>
          <a:lstStyle/>
          <a:p>
            <a:pPr algn="r">
              <a:lnSpc>
                <a:spcPts val="3193"/>
              </a:lnSpc>
            </a:pPr>
            <a:r>
              <a:rPr lang="en-US" sz="2281">
                <a:solidFill>
                  <a:srgbClr val="082E2D"/>
                </a:solidFill>
                <a:latin typeface="Poppins Medium"/>
              </a:rPr>
              <a:t>www.reallygreatsite.com</a:t>
            </a:r>
          </a:p>
        </p:txBody>
      </p:sp>
      <p:sp>
        <p:nvSpPr>
          <p:cNvPr id="27" name="TextBox 27"/>
          <p:cNvSpPr txBox="1"/>
          <p:nvPr/>
        </p:nvSpPr>
        <p:spPr>
          <a:xfrm>
            <a:off x="-177121" y="6219800"/>
            <a:ext cx="7521504" cy="461665"/>
          </a:xfrm>
          <a:prstGeom prst="rect">
            <a:avLst/>
          </a:prstGeom>
        </p:spPr>
        <p:txBody>
          <a:bodyPr wrap="square" lIns="0" tIns="0" rIns="0" bIns="0" rtlCol="0" anchor="t">
            <a:spAutoFit/>
          </a:bodyPr>
          <a:lstStyle/>
          <a:p>
            <a:pPr algn="r"/>
            <a:r>
              <a:rPr lang="en-US" sz="3000" b="1" i="1" dirty="0">
                <a:solidFill>
                  <a:srgbClr val="FFFFFF"/>
                </a:solidFill>
                <a:latin typeface="Arimo Bold Italics"/>
                <a:ea typeface="Arimo Bold Italics"/>
                <a:cs typeface="Arimo Bold Italics"/>
              </a:rPr>
              <a:t>HÀ NỘI, NGÀY 03 THÁNG 10 NĂM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3125" b="3125"/>
          <a:stretch>
            <a:fillRect/>
          </a:stretch>
        </p:blipFill>
        <p:spPr>
          <a:xfrm>
            <a:off x="-304800" y="0"/>
            <a:ext cx="20242732" cy="10287000"/>
          </a:xfrm>
          <a:prstGeom prst="rect">
            <a:avLst/>
          </a:prstGeom>
        </p:spPr>
      </p:pic>
      <p:grpSp>
        <p:nvGrpSpPr>
          <p:cNvPr id="28" name="Group 13">
            <a:extLst>
              <a:ext uri="{FF2B5EF4-FFF2-40B4-BE49-F238E27FC236}">
                <a16:creationId xmlns:a16="http://schemas.microsoft.com/office/drawing/2014/main" id="{A164D441-2706-49AC-8784-C0F132E9FCF0}"/>
              </a:ext>
            </a:extLst>
          </p:cNvPr>
          <p:cNvGrpSpPr/>
          <p:nvPr/>
        </p:nvGrpSpPr>
        <p:grpSpPr>
          <a:xfrm>
            <a:off x="1528914" y="2401705"/>
            <a:ext cx="14473086" cy="1240367"/>
            <a:chOff x="0" y="0"/>
            <a:chExt cx="17627933" cy="1653823"/>
          </a:xfrm>
        </p:grpSpPr>
        <p:sp>
          <p:nvSpPr>
            <p:cNvPr id="29" name="Freeform 14">
              <a:extLst>
                <a:ext uri="{FF2B5EF4-FFF2-40B4-BE49-F238E27FC236}">
                  <a16:creationId xmlns:a16="http://schemas.microsoft.com/office/drawing/2014/main" id="{DBDEFF52-D5D0-4AB4-9DE5-C06332BFDCE3}"/>
                </a:ext>
              </a:extLst>
            </p:cNvPr>
            <p:cNvSpPr/>
            <p:nvPr/>
          </p:nvSpPr>
          <p:spPr>
            <a:xfrm>
              <a:off x="4366077" y="1034553"/>
              <a:ext cx="619269" cy="619269"/>
            </a:xfrm>
            <a:custGeom>
              <a:avLst/>
              <a:gdLst/>
              <a:ahLst/>
              <a:cxnLst/>
              <a:rect l="l" t="t" r="r" b="b"/>
              <a:pathLst>
                <a:path w="619269" h="619269">
                  <a:moveTo>
                    <a:pt x="0" y="0"/>
                  </a:moveTo>
                  <a:lnTo>
                    <a:pt x="619270" y="0"/>
                  </a:lnTo>
                  <a:lnTo>
                    <a:pt x="619270" y="619270"/>
                  </a:lnTo>
                  <a:lnTo>
                    <a:pt x="0" y="6192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0" name="Group 15">
              <a:extLst>
                <a:ext uri="{FF2B5EF4-FFF2-40B4-BE49-F238E27FC236}">
                  <a16:creationId xmlns:a16="http://schemas.microsoft.com/office/drawing/2014/main" id="{F74FA3F0-3A1A-47E5-8CDC-FBD38A3EEB98}"/>
                </a:ext>
              </a:extLst>
            </p:cNvPr>
            <p:cNvGrpSpPr/>
            <p:nvPr/>
          </p:nvGrpSpPr>
          <p:grpSpPr>
            <a:xfrm>
              <a:off x="0" y="0"/>
              <a:ext cx="17627933" cy="1320691"/>
              <a:chOff x="0" y="0"/>
              <a:chExt cx="3482061" cy="260877"/>
            </a:xfrm>
          </p:grpSpPr>
          <p:sp>
            <p:nvSpPr>
              <p:cNvPr id="31" name="Freeform 16">
                <a:extLst>
                  <a:ext uri="{FF2B5EF4-FFF2-40B4-BE49-F238E27FC236}">
                    <a16:creationId xmlns:a16="http://schemas.microsoft.com/office/drawing/2014/main" id="{563B356B-B6B7-4A69-949D-BA6A85FD92B3}"/>
                  </a:ext>
                </a:extLst>
              </p:cNvPr>
              <p:cNvSpPr/>
              <p:nvPr/>
            </p:nvSpPr>
            <p:spPr>
              <a:xfrm>
                <a:off x="0" y="0"/>
                <a:ext cx="3482061" cy="260877"/>
              </a:xfrm>
              <a:custGeom>
                <a:avLst/>
                <a:gdLst/>
                <a:ahLst/>
                <a:cxnLst/>
                <a:rect l="l" t="t" r="r" b="b"/>
                <a:pathLst>
                  <a:path w="3482061" h="260877">
                    <a:moveTo>
                      <a:pt x="29865" y="0"/>
                    </a:moveTo>
                    <a:lnTo>
                      <a:pt x="3452197" y="0"/>
                    </a:lnTo>
                    <a:cubicBezTo>
                      <a:pt x="3468690" y="0"/>
                      <a:pt x="3482061" y="13371"/>
                      <a:pt x="3482061" y="29865"/>
                    </a:cubicBezTo>
                    <a:lnTo>
                      <a:pt x="3482061" y="231013"/>
                    </a:lnTo>
                    <a:cubicBezTo>
                      <a:pt x="3482061" y="238933"/>
                      <a:pt x="3478915" y="246529"/>
                      <a:pt x="3473314" y="252130"/>
                    </a:cubicBezTo>
                    <a:cubicBezTo>
                      <a:pt x="3467713" y="257731"/>
                      <a:pt x="3460117" y="260877"/>
                      <a:pt x="3452197" y="260877"/>
                    </a:cubicBezTo>
                    <a:lnTo>
                      <a:pt x="29865" y="260877"/>
                    </a:lnTo>
                    <a:cubicBezTo>
                      <a:pt x="13371" y="260877"/>
                      <a:pt x="0" y="247506"/>
                      <a:pt x="0" y="231013"/>
                    </a:cubicBezTo>
                    <a:lnTo>
                      <a:pt x="0" y="29865"/>
                    </a:lnTo>
                    <a:cubicBezTo>
                      <a:pt x="0" y="13371"/>
                      <a:pt x="13371" y="0"/>
                      <a:pt x="29865" y="0"/>
                    </a:cubicBezTo>
                    <a:close/>
                  </a:path>
                </a:pathLst>
              </a:custGeom>
              <a:solidFill>
                <a:srgbClr val="1458DB"/>
              </a:solidFill>
            </p:spPr>
          </p:sp>
          <p:sp>
            <p:nvSpPr>
              <p:cNvPr id="32" name="TextBox 17">
                <a:extLst>
                  <a:ext uri="{FF2B5EF4-FFF2-40B4-BE49-F238E27FC236}">
                    <a16:creationId xmlns:a16="http://schemas.microsoft.com/office/drawing/2014/main" id="{28E1EED1-305B-4162-8B1A-F780814C2F91}"/>
                  </a:ext>
                </a:extLst>
              </p:cNvPr>
              <p:cNvSpPr txBox="1"/>
              <p:nvPr/>
            </p:nvSpPr>
            <p:spPr>
              <a:xfrm>
                <a:off x="0" y="-57150"/>
                <a:ext cx="3482061" cy="318027"/>
              </a:xfrm>
              <a:prstGeom prst="rect">
                <a:avLst/>
              </a:prstGeom>
            </p:spPr>
            <p:txBody>
              <a:bodyPr lIns="50800" tIns="50800" rIns="50800" bIns="50800" rtlCol="0" anchor="ctr"/>
              <a:lstStyle/>
              <a:p>
                <a:pPr algn="ctr">
                  <a:lnSpc>
                    <a:spcPts val="3638"/>
                  </a:lnSpc>
                </a:pPr>
                <a:endParaRPr/>
              </a:p>
            </p:txBody>
          </p:sp>
        </p:grpSp>
      </p:grpSp>
      <p:grpSp>
        <p:nvGrpSpPr>
          <p:cNvPr id="33" name="Group 29">
            <a:extLst>
              <a:ext uri="{FF2B5EF4-FFF2-40B4-BE49-F238E27FC236}">
                <a16:creationId xmlns:a16="http://schemas.microsoft.com/office/drawing/2014/main" id="{E659FC15-F80C-4CF2-A1F3-AB4C4B59CA7E}"/>
              </a:ext>
            </a:extLst>
          </p:cNvPr>
          <p:cNvGrpSpPr/>
          <p:nvPr/>
        </p:nvGrpSpPr>
        <p:grpSpPr>
          <a:xfrm>
            <a:off x="1689588" y="2538564"/>
            <a:ext cx="729717" cy="729717"/>
            <a:chOff x="0" y="0"/>
            <a:chExt cx="972956" cy="972956"/>
          </a:xfrm>
        </p:grpSpPr>
        <p:sp>
          <p:nvSpPr>
            <p:cNvPr id="34" name="Freeform 30">
              <a:extLst>
                <a:ext uri="{FF2B5EF4-FFF2-40B4-BE49-F238E27FC236}">
                  <a16:creationId xmlns:a16="http://schemas.microsoft.com/office/drawing/2014/main" id="{99F7FA68-FDD3-4BCB-9B0B-8EA9518EC5A9}"/>
                </a:ext>
              </a:extLst>
            </p:cNvPr>
            <p:cNvSpPr/>
            <p:nvPr/>
          </p:nvSpPr>
          <p:spPr>
            <a:xfrm>
              <a:off x="0" y="0"/>
              <a:ext cx="972947" cy="972947"/>
            </a:xfrm>
            <a:custGeom>
              <a:avLst/>
              <a:gdLst/>
              <a:ahLst/>
              <a:cxnLst/>
              <a:rect l="l" t="t" r="r" b="b"/>
              <a:pathLst>
                <a:path w="972947" h="972947">
                  <a:moveTo>
                    <a:pt x="486537" y="0"/>
                  </a:moveTo>
                  <a:cubicBezTo>
                    <a:pt x="217805" y="0"/>
                    <a:pt x="0" y="217805"/>
                    <a:pt x="0" y="486537"/>
                  </a:cubicBezTo>
                  <a:cubicBezTo>
                    <a:pt x="0" y="755269"/>
                    <a:pt x="217805" y="972947"/>
                    <a:pt x="486537" y="972947"/>
                  </a:cubicBezTo>
                  <a:cubicBezTo>
                    <a:pt x="755269" y="972947"/>
                    <a:pt x="972947" y="755142"/>
                    <a:pt x="972947" y="486537"/>
                  </a:cubicBezTo>
                  <a:cubicBezTo>
                    <a:pt x="972947" y="217932"/>
                    <a:pt x="755142" y="0"/>
                    <a:pt x="486537" y="0"/>
                  </a:cubicBezTo>
                  <a:close/>
                </a:path>
              </a:pathLst>
            </a:custGeom>
            <a:gradFill rotWithShape="1">
              <a:gsLst>
                <a:gs pos="0">
                  <a:srgbClr val="8C52FF">
                    <a:alpha val="100000"/>
                  </a:srgbClr>
                </a:gs>
                <a:gs pos="100000">
                  <a:srgbClr val="FF914D">
                    <a:alpha val="100000"/>
                  </a:srgbClr>
                </a:gs>
              </a:gsLst>
              <a:lin ang="0"/>
            </a:gradFill>
          </p:spPr>
        </p:sp>
      </p:grpSp>
      <p:sp>
        <p:nvSpPr>
          <p:cNvPr id="36" name="TextBox 37">
            <a:extLst>
              <a:ext uri="{FF2B5EF4-FFF2-40B4-BE49-F238E27FC236}">
                <a16:creationId xmlns:a16="http://schemas.microsoft.com/office/drawing/2014/main" id="{A3713A2D-6375-4555-9AA8-0D431DD42C9C}"/>
              </a:ext>
            </a:extLst>
          </p:cNvPr>
          <p:cNvSpPr txBox="1"/>
          <p:nvPr/>
        </p:nvSpPr>
        <p:spPr>
          <a:xfrm>
            <a:off x="2664908" y="2551226"/>
            <a:ext cx="12927338" cy="602729"/>
          </a:xfrm>
          <a:prstGeom prst="rect">
            <a:avLst/>
          </a:prstGeom>
        </p:spPr>
        <p:txBody>
          <a:bodyPr lIns="0" tIns="0" rIns="0" bIns="0" rtlCol="0" anchor="t">
            <a:spAutoFit/>
          </a:bodyPr>
          <a:lstStyle/>
          <a:p>
            <a:pPr algn="l">
              <a:lnSpc>
                <a:spcPts val="4723"/>
              </a:lnSpc>
            </a:pPr>
            <a:r>
              <a:rPr lang="en-US" sz="4000" dirty="0" err="1">
                <a:solidFill>
                  <a:srgbClr val="FFFFFF"/>
                </a:solidFill>
                <a:latin typeface="Noto Sans"/>
                <a:ea typeface="Noto Sans"/>
                <a:cs typeface="Noto Sans"/>
                <a:sym typeface="Noto Sans"/>
              </a:rPr>
              <a:t>Quy</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định</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pháp</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lý</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về</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giám</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sát</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giao</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dịch</a:t>
            </a:r>
            <a:endParaRPr lang="en-US" sz="4000" dirty="0">
              <a:solidFill>
                <a:srgbClr val="FFFFFF"/>
              </a:solidFill>
              <a:latin typeface="Noto Sans"/>
              <a:ea typeface="Noto Sans"/>
              <a:cs typeface="Noto Sans"/>
              <a:sym typeface="Noto Sans"/>
            </a:endParaRPr>
          </a:p>
        </p:txBody>
      </p:sp>
      <p:sp>
        <p:nvSpPr>
          <p:cNvPr id="37" name="TextBox 35">
            <a:extLst>
              <a:ext uri="{FF2B5EF4-FFF2-40B4-BE49-F238E27FC236}">
                <a16:creationId xmlns:a16="http://schemas.microsoft.com/office/drawing/2014/main" id="{53F2BA84-233D-4ABE-8BFC-6711EAE8E8A2}"/>
              </a:ext>
            </a:extLst>
          </p:cNvPr>
          <p:cNvSpPr txBox="1"/>
          <p:nvPr/>
        </p:nvSpPr>
        <p:spPr>
          <a:xfrm>
            <a:off x="1612780" y="1006257"/>
            <a:ext cx="13170020" cy="756617"/>
          </a:xfrm>
          <a:prstGeom prst="rect">
            <a:avLst/>
          </a:prstGeom>
        </p:spPr>
        <p:txBody>
          <a:bodyPr wrap="square" lIns="0" tIns="0" rIns="0" bIns="0" rtlCol="0" anchor="t">
            <a:spAutoFit/>
          </a:bodyPr>
          <a:lstStyle/>
          <a:p>
            <a:pPr algn="l">
              <a:lnSpc>
                <a:spcPts val="5934"/>
              </a:lnSpc>
            </a:pPr>
            <a:r>
              <a:rPr lang="en-US" sz="5652" b="1" i="1" dirty="0" err="1">
                <a:solidFill>
                  <a:srgbClr val="FFFFFF"/>
                </a:solidFill>
                <a:latin typeface="Arimo Bold Italics"/>
                <a:ea typeface="Arimo Bold Italics"/>
                <a:cs typeface="Arimo Bold Italics"/>
                <a:sym typeface="Arimo Bold Italics"/>
              </a:rPr>
              <a:t>Nội</a:t>
            </a:r>
            <a:r>
              <a:rPr lang="en-US" sz="5652" b="1" i="1" dirty="0">
                <a:solidFill>
                  <a:srgbClr val="FFFFFF"/>
                </a:solidFill>
                <a:latin typeface="Arimo Bold Italics"/>
                <a:ea typeface="Arimo Bold Italics"/>
                <a:cs typeface="Arimo Bold Italics"/>
                <a:sym typeface="Arimo Bold Italics"/>
              </a:rPr>
              <a:t> dung </a:t>
            </a:r>
            <a:r>
              <a:rPr lang="en-US" sz="5652" b="1" i="1" dirty="0" err="1">
                <a:solidFill>
                  <a:srgbClr val="FFFFFF"/>
                </a:solidFill>
                <a:latin typeface="Arimo Bold Italics"/>
                <a:ea typeface="Arimo Bold Italics"/>
                <a:cs typeface="Arimo Bold Italics"/>
                <a:sym typeface="Arimo Bold Italics"/>
              </a:rPr>
              <a:t>về</a:t>
            </a:r>
            <a:r>
              <a:rPr lang="en-US" sz="5652" b="1" i="1" dirty="0">
                <a:solidFill>
                  <a:srgbClr val="FFFFFF"/>
                </a:solidFill>
                <a:latin typeface="Arimo Bold Italics"/>
                <a:ea typeface="Arimo Bold Italics"/>
                <a:cs typeface="Arimo Bold Italics"/>
                <a:sym typeface="Arimo Bold Italics"/>
              </a:rPr>
              <a:t> </a:t>
            </a:r>
            <a:r>
              <a:rPr lang="en-US" sz="5652" b="1" i="1" dirty="0" err="1">
                <a:solidFill>
                  <a:srgbClr val="FFFFFF"/>
                </a:solidFill>
                <a:latin typeface="Arimo Bold Italics"/>
                <a:ea typeface="Arimo Bold Italics"/>
                <a:cs typeface="Arimo Bold Italics"/>
                <a:sym typeface="Arimo Bold Italics"/>
              </a:rPr>
              <a:t>giám</a:t>
            </a:r>
            <a:r>
              <a:rPr lang="en-US" sz="5652" b="1" i="1" dirty="0">
                <a:solidFill>
                  <a:srgbClr val="FFFFFF"/>
                </a:solidFill>
                <a:latin typeface="Arimo Bold Italics"/>
                <a:ea typeface="Arimo Bold Italics"/>
                <a:cs typeface="Arimo Bold Italics"/>
                <a:sym typeface="Arimo Bold Italics"/>
              </a:rPr>
              <a:t> </a:t>
            </a:r>
            <a:r>
              <a:rPr lang="en-US" sz="5652" b="1" i="1" dirty="0" err="1">
                <a:solidFill>
                  <a:srgbClr val="FFFFFF"/>
                </a:solidFill>
                <a:latin typeface="Arimo Bold Italics"/>
                <a:ea typeface="Arimo Bold Italics"/>
                <a:cs typeface="Arimo Bold Italics"/>
                <a:sym typeface="Arimo Bold Italics"/>
              </a:rPr>
              <a:t>sát</a:t>
            </a:r>
            <a:r>
              <a:rPr lang="en-US" sz="5652" b="1" i="1" dirty="0">
                <a:solidFill>
                  <a:srgbClr val="FFFFFF"/>
                </a:solidFill>
                <a:latin typeface="Arimo Bold Italics"/>
                <a:ea typeface="Arimo Bold Italics"/>
                <a:cs typeface="Arimo Bold Italics"/>
                <a:sym typeface="Arimo Bold Italics"/>
              </a:rPr>
              <a:t> </a:t>
            </a:r>
            <a:r>
              <a:rPr lang="en-US" sz="5652" b="1" i="1" dirty="0" err="1">
                <a:solidFill>
                  <a:srgbClr val="FFFFFF"/>
                </a:solidFill>
                <a:latin typeface="Arimo Bold Italics"/>
                <a:ea typeface="Arimo Bold Italics"/>
                <a:cs typeface="Arimo Bold Italics"/>
                <a:sym typeface="Arimo Bold Italics"/>
              </a:rPr>
              <a:t>giao</a:t>
            </a:r>
            <a:r>
              <a:rPr lang="en-US" sz="5652" b="1" i="1" dirty="0">
                <a:solidFill>
                  <a:srgbClr val="FFFFFF"/>
                </a:solidFill>
                <a:latin typeface="Arimo Bold Italics"/>
                <a:ea typeface="Arimo Bold Italics"/>
                <a:cs typeface="Arimo Bold Italics"/>
                <a:sym typeface="Arimo Bold Italics"/>
              </a:rPr>
              <a:t> </a:t>
            </a:r>
            <a:r>
              <a:rPr lang="en-US" sz="5652" b="1" i="1" dirty="0" err="1">
                <a:solidFill>
                  <a:srgbClr val="FFFFFF"/>
                </a:solidFill>
                <a:latin typeface="Arimo Bold Italics"/>
                <a:ea typeface="Arimo Bold Italics"/>
                <a:cs typeface="Arimo Bold Italics"/>
                <a:sym typeface="Arimo Bold Italics"/>
              </a:rPr>
              <a:t>dịch</a:t>
            </a:r>
            <a:endParaRPr lang="en-US" sz="5652" b="1" i="1" dirty="0">
              <a:solidFill>
                <a:srgbClr val="FFFFFF"/>
              </a:solidFill>
              <a:latin typeface="Arimo Bold Italics"/>
              <a:ea typeface="Arimo Bold Italics"/>
              <a:cs typeface="Arimo Bold Italics"/>
              <a:sym typeface="Arimo Bold Italics"/>
            </a:endParaRPr>
          </a:p>
        </p:txBody>
      </p:sp>
      <p:grpSp>
        <p:nvGrpSpPr>
          <p:cNvPr id="54" name="Group 13">
            <a:extLst>
              <a:ext uri="{FF2B5EF4-FFF2-40B4-BE49-F238E27FC236}">
                <a16:creationId xmlns:a16="http://schemas.microsoft.com/office/drawing/2014/main" id="{ACF30129-C446-4BB9-825E-909A3E339C98}"/>
              </a:ext>
            </a:extLst>
          </p:cNvPr>
          <p:cNvGrpSpPr/>
          <p:nvPr/>
        </p:nvGrpSpPr>
        <p:grpSpPr>
          <a:xfrm>
            <a:off x="1436003" y="3898579"/>
            <a:ext cx="14565998" cy="1240367"/>
            <a:chOff x="0" y="0"/>
            <a:chExt cx="17627933" cy="1653823"/>
          </a:xfrm>
        </p:grpSpPr>
        <p:sp>
          <p:nvSpPr>
            <p:cNvPr id="55" name="Freeform 14">
              <a:extLst>
                <a:ext uri="{FF2B5EF4-FFF2-40B4-BE49-F238E27FC236}">
                  <a16:creationId xmlns:a16="http://schemas.microsoft.com/office/drawing/2014/main" id="{691F472C-D07F-463F-95FD-85B08361DCA8}"/>
                </a:ext>
              </a:extLst>
            </p:cNvPr>
            <p:cNvSpPr/>
            <p:nvPr/>
          </p:nvSpPr>
          <p:spPr>
            <a:xfrm>
              <a:off x="4366077" y="1034553"/>
              <a:ext cx="619269" cy="619269"/>
            </a:xfrm>
            <a:custGeom>
              <a:avLst/>
              <a:gdLst/>
              <a:ahLst/>
              <a:cxnLst/>
              <a:rect l="l" t="t" r="r" b="b"/>
              <a:pathLst>
                <a:path w="619269" h="619269">
                  <a:moveTo>
                    <a:pt x="0" y="0"/>
                  </a:moveTo>
                  <a:lnTo>
                    <a:pt x="619270" y="0"/>
                  </a:lnTo>
                  <a:lnTo>
                    <a:pt x="619270" y="619270"/>
                  </a:lnTo>
                  <a:lnTo>
                    <a:pt x="0" y="6192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6" name="Group 15">
              <a:extLst>
                <a:ext uri="{FF2B5EF4-FFF2-40B4-BE49-F238E27FC236}">
                  <a16:creationId xmlns:a16="http://schemas.microsoft.com/office/drawing/2014/main" id="{6D84BFB4-21C5-4A28-8304-8E286334F111}"/>
                </a:ext>
              </a:extLst>
            </p:cNvPr>
            <p:cNvGrpSpPr/>
            <p:nvPr/>
          </p:nvGrpSpPr>
          <p:grpSpPr>
            <a:xfrm>
              <a:off x="0" y="0"/>
              <a:ext cx="17627933" cy="1320691"/>
              <a:chOff x="0" y="0"/>
              <a:chExt cx="3482061" cy="260877"/>
            </a:xfrm>
          </p:grpSpPr>
          <p:sp>
            <p:nvSpPr>
              <p:cNvPr id="57" name="Freeform 16">
                <a:extLst>
                  <a:ext uri="{FF2B5EF4-FFF2-40B4-BE49-F238E27FC236}">
                    <a16:creationId xmlns:a16="http://schemas.microsoft.com/office/drawing/2014/main" id="{67587283-FD08-4E8C-8BC8-483BED32345B}"/>
                  </a:ext>
                </a:extLst>
              </p:cNvPr>
              <p:cNvSpPr/>
              <p:nvPr/>
            </p:nvSpPr>
            <p:spPr>
              <a:xfrm>
                <a:off x="0" y="0"/>
                <a:ext cx="3482061" cy="260877"/>
              </a:xfrm>
              <a:custGeom>
                <a:avLst/>
                <a:gdLst/>
                <a:ahLst/>
                <a:cxnLst/>
                <a:rect l="l" t="t" r="r" b="b"/>
                <a:pathLst>
                  <a:path w="3482061" h="260877">
                    <a:moveTo>
                      <a:pt x="29865" y="0"/>
                    </a:moveTo>
                    <a:lnTo>
                      <a:pt x="3452197" y="0"/>
                    </a:lnTo>
                    <a:cubicBezTo>
                      <a:pt x="3468690" y="0"/>
                      <a:pt x="3482061" y="13371"/>
                      <a:pt x="3482061" y="29865"/>
                    </a:cubicBezTo>
                    <a:lnTo>
                      <a:pt x="3482061" y="231013"/>
                    </a:lnTo>
                    <a:cubicBezTo>
                      <a:pt x="3482061" y="238933"/>
                      <a:pt x="3478915" y="246529"/>
                      <a:pt x="3473314" y="252130"/>
                    </a:cubicBezTo>
                    <a:cubicBezTo>
                      <a:pt x="3467713" y="257731"/>
                      <a:pt x="3460117" y="260877"/>
                      <a:pt x="3452197" y="260877"/>
                    </a:cubicBezTo>
                    <a:lnTo>
                      <a:pt x="29865" y="260877"/>
                    </a:lnTo>
                    <a:cubicBezTo>
                      <a:pt x="13371" y="260877"/>
                      <a:pt x="0" y="247506"/>
                      <a:pt x="0" y="231013"/>
                    </a:cubicBezTo>
                    <a:lnTo>
                      <a:pt x="0" y="29865"/>
                    </a:lnTo>
                    <a:cubicBezTo>
                      <a:pt x="0" y="13371"/>
                      <a:pt x="13371" y="0"/>
                      <a:pt x="29865" y="0"/>
                    </a:cubicBezTo>
                    <a:close/>
                  </a:path>
                </a:pathLst>
              </a:custGeom>
              <a:solidFill>
                <a:srgbClr val="1458DB"/>
              </a:solidFill>
            </p:spPr>
          </p:sp>
          <p:sp>
            <p:nvSpPr>
              <p:cNvPr id="58" name="TextBox 17">
                <a:extLst>
                  <a:ext uri="{FF2B5EF4-FFF2-40B4-BE49-F238E27FC236}">
                    <a16:creationId xmlns:a16="http://schemas.microsoft.com/office/drawing/2014/main" id="{487B355E-6F42-4626-8D1B-DD5D1143EA43}"/>
                  </a:ext>
                </a:extLst>
              </p:cNvPr>
              <p:cNvSpPr txBox="1"/>
              <p:nvPr/>
            </p:nvSpPr>
            <p:spPr>
              <a:xfrm>
                <a:off x="0" y="-57150"/>
                <a:ext cx="3482061" cy="318027"/>
              </a:xfrm>
              <a:prstGeom prst="rect">
                <a:avLst/>
              </a:prstGeom>
            </p:spPr>
            <p:txBody>
              <a:bodyPr lIns="50800" tIns="50800" rIns="50800" bIns="50800" rtlCol="0" anchor="ctr"/>
              <a:lstStyle/>
              <a:p>
                <a:pPr algn="ctr">
                  <a:lnSpc>
                    <a:spcPts val="3638"/>
                  </a:lnSpc>
                </a:pPr>
                <a:endParaRPr/>
              </a:p>
            </p:txBody>
          </p:sp>
        </p:grpSp>
      </p:grpSp>
      <p:grpSp>
        <p:nvGrpSpPr>
          <p:cNvPr id="59" name="Group 29">
            <a:extLst>
              <a:ext uri="{FF2B5EF4-FFF2-40B4-BE49-F238E27FC236}">
                <a16:creationId xmlns:a16="http://schemas.microsoft.com/office/drawing/2014/main" id="{AE920767-1619-4242-ADFE-1CE97D0B6810}"/>
              </a:ext>
            </a:extLst>
          </p:cNvPr>
          <p:cNvGrpSpPr/>
          <p:nvPr/>
        </p:nvGrpSpPr>
        <p:grpSpPr>
          <a:xfrm>
            <a:off x="1615480" y="4082344"/>
            <a:ext cx="729717" cy="729717"/>
            <a:chOff x="0" y="0"/>
            <a:chExt cx="972956" cy="972956"/>
          </a:xfrm>
        </p:grpSpPr>
        <p:sp>
          <p:nvSpPr>
            <p:cNvPr id="60" name="Freeform 30">
              <a:extLst>
                <a:ext uri="{FF2B5EF4-FFF2-40B4-BE49-F238E27FC236}">
                  <a16:creationId xmlns:a16="http://schemas.microsoft.com/office/drawing/2014/main" id="{032B4589-6EC7-4879-9676-857509A102F7}"/>
                </a:ext>
              </a:extLst>
            </p:cNvPr>
            <p:cNvSpPr/>
            <p:nvPr/>
          </p:nvSpPr>
          <p:spPr>
            <a:xfrm>
              <a:off x="0" y="0"/>
              <a:ext cx="972947" cy="972947"/>
            </a:xfrm>
            <a:custGeom>
              <a:avLst/>
              <a:gdLst/>
              <a:ahLst/>
              <a:cxnLst/>
              <a:rect l="l" t="t" r="r" b="b"/>
              <a:pathLst>
                <a:path w="972947" h="972947">
                  <a:moveTo>
                    <a:pt x="486537" y="0"/>
                  </a:moveTo>
                  <a:cubicBezTo>
                    <a:pt x="217805" y="0"/>
                    <a:pt x="0" y="217805"/>
                    <a:pt x="0" y="486537"/>
                  </a:cubicBezTo>
                  <a:cubicBezTo>
                    <a:pt x="0" y="755269"/>
                    <a:pt x="217805" y="972947"/>
                    <a:pt x="486537" y="972947"/>
                  </a:cubicBezTo>
                  <a:cubicBezTo>
                    <a:pt x="755269" y="972947"/>
                    <a:pt x="972947" y="755142"/>
                    <a:pt x="972947" y="486537"/>
                  </a:cubicBezTo>
                  <a:cubicBezTo>
                    <a:pt x="972947" y="217932"/>
                    <a:pt x="755142" y="0"/>
                    <a:pt x="486537" y="0"/>
                  </a:cubicBezTo>
                  <a:close/>
                </a:path>
              </a:pathLst>
            </a:custGeom>
            <a:gradFill rotWithShape="1">
              <a:gsLst>
                <a:gs pos="0">
                  <a:srgbClr val="8C52FF">
                    <a:alpha val="100000"/>
                  </a:srgbClr>
                </a:gs>
                <a:gs pos="100000">
                  <a:srgbClr val="FF914D">
                    <a:alpha val="100000"/>
                  </a:srgbClr>
                </a:gs>
              </a:gsLst>
              <a:lin ang="0"/>
            </a:gradFill>
          </p:spPr>
        </p:sp>
      </p:grpSp>
      <p:sp>
        <p:nvSpPr>
          <p:cNvPr id="61" name="TextBox 37">
            <a:extLst>
              <a:ext uri="{FF2B5EF4-FFF2-40B4-BE49-F238E27FC236}">
                <a16:creationId xmlns:a16="http://schemas.microsoft.com/office/drawing/2014/main" id="{05AAA448-1527-4EC9-9120-1290FBA67D81}"/>
              </a:ext>
            </a:extLst>
          </p:cNvPr>
          <p:cNvSpPr txBox="1"/>
          <p:nvPr/>
        </p:nvSpPr>
        <p:spPr>
          <a:xfrm>
            <a:off x="2590800" y="4095006"/>
            <a:ext cx="12927338" cy="602729"/>
          </a:xfrm>
          <a:prstGeom prst="rect">
            <a:avLst/>
          </a:prstGeom>
        </p:spPr>
        <p:txBody>
          <a:bodyPr lIns="0" tIns="0" rIns="0" bIns="0" rtlCol="0" anchor="t">
            <a:spAutoFit/>
          </a:bodyPr>
          <a:lstStyle/>
          <a:p>
            <a:pPr algn="l">
              <a:lnSpc>
                <a:spcPts val="4723"/>
              </a:lnSpc>
            </a:pPr>
            <a:r>
              <a:rPr lang="en-US" sz="4000" dirty="0" err="1">
                <a:solidFill>
                  <a:srgbClr val="FFFFFF"/>
                </a:solidFill>
                <a:latin typeface="Noto Sans"/>
                <a:sym typeface="Noto Sans"/>
              </a:rPr>
              <a:t>Xác</a:t>
            </a:r>
            <a:r>
              <a:rPr lang="en-US" sz="4000" dirty="0">
                <a:solidFill>
                  <a:srgbClr val="FFFFFF"/>
                </a:solidFill>
                <a:latin typeface="Noto Sans"/>
                <a:sym typeface="Noto Sans"/>
              </a:rPr>
              <a:t> </a:t>
            </a:r>
            <a:r>
              <a:rPr lang="en-US" sz="4000" dirty="0" err="1">
                <a:solidFill>
                  <a:srgbClr val="FFFFFF"/>
                </a:solidFill>
                <a:latin typeface="Noto Sans"/>
                <a:sym typeface="Noto Sans"/>
              </a:rPr>
              <a:t>định</a:t>
            </a:r>
            <a:r>
              <a:rPr lang="en-US" sz="4000" dirty="0">
                <a:solidFill>
                  <a:srgbClr val="FFFFFF"/>
                </a:solidFill>
                <a:latin typeface="Noto Sans"/>
                <a:sym typeface="Noto Sans"/>
              </a:rPr>
              <a:t> </a:t>
            </a:r>
            <a:r>
              <a:rPr lang="en-US" sz="4000" dirty="0" err="1">
                <a:solidFill>
                  <a:srgbClr val="FFFFFF"/>
                </a:solidFill>
                <a:latin typeface="Noto Sans"/>
                <a:sym typeface="Noto Sans"/>
              </a:rPr>
              <a:t>khoản</a:t>
            </a:r>
            <a:r>
              <a:rPr lang="en-US" sz="4000" dirty="0">
                <a:solidFill>
                  <a:srgbClr val="FFFFFF"/>
                </a:solidFill>
                <a:latin typeface="Noto Sans"/>
                <a:sym typeface="Noto Sans"/>
              </a:rPr>
              <a:t> </a:t>
            </a:r>
            <a:r>
              <a:rPr lang="en-US" sz="4000" dirty="0" err="1">
                <a:solidFill>
                  <a:srgbClr val="FFFFFF"/>
                </a:solidFill>
                <a:latin typeface="Noto Sans"/>
                <a:sym typeface="Noto Sans"/>
              </a:rPr>
              <a:t>thu</a:t>
            </a:r>
            <a:r>
              <a:rPr lang="en-US" sz="4000" dirty="0">
                <a:solidFill>
                  <a:srgbClr val="FFFFFF"/>
                </a:solidFill>
                <a:latin typeface="Noto Sans"/>
                <a:sym typeface="Noto Sans"/>
              </a:rPr>
              <a:t> </a:t>
            </a:r>
            <a:r>
              <a:rPr lang="en-US" sz="4000" dirty="0" err="1">
                <a:solidFill>
                  <a:srgbClr val="FFFFFF"/>
                </a:solidFill>
                <a:latin typeface="Noto Sans"/>
                <a:sym typeface="Noto Sans"/>
              </a:rPr>
              <a:t>trái</a:t>
            </a:r>
            <a:r>
              <a:rPr lang="en-US" sz="4000" dirty="0">
                <a:solidFill>
                  <a:srgbClr val="FFFFFF"/>
                </a:solidFill>
                <a:latin typeface="Noto Sans"/>
                <a:sym typeface="Noto Sans"/>
              </a:rPr>
              <a:t> </a:t>
            </a:r>
            <a:r>
              <a:rPr lang="en-US" sz="4000" dirty="0" err="1">
                <a:solidFill>
                  <a:srgbClr val="FFFFFF"/>
                </a:solidFill>
                <a:latin typeface="Noto Sans"/>
                <a:sym typeface="Noto Sans"/>
              </a:rPr>
              <a:t>pháp</a:t>
            </a:r>
            <a:r>
              <a:rPr lang="en-US" sz="4000" dirty="0">
                <a:solidFill>
                  <a:srgbClr val="FFFFFF"/>
                </a:solidFill>
                <a:latin typeface="Noto Sans"/>
                <a:sym typeface="Noto Sans"/>
              </a:rPr>
              <a:t> </a:t>
            </a:r>
            <a:r>
              <a:rPr lang="en-US" sz="4000" dirty="0" err="1">
                <a:solidFill>
                  <a:srgbClr val="FFFFFF"/>
                </a:solidFill>
                <a:latin typeface="Noto Sans"/>
                <a:sym typeface="Noto Sans"/>
              </a:rPr>
              <a:t>luật</a:t>
            </a:r>
            <a:r>
              <a:rPr lang="en-US" sz="4000" dirty="0">
                <a:solidFill>
                  <a:srgbClr val="FFFFFF"/>
                </a:solidFill>
                <a:latin typeface="Noto Sans"/>
                <a:sym typeface="Noto Sans"/>
              </a:rPr>
              <a:t>, </a:t>
            </a:r>
            <a:r>
              <a:rPr lang="en-US" sz="4000" dirty="0" err="1">
                <a:solidFill>
                  <a:srgbClr val="FFFFFF"/>
                </a:solidFill>
                <a:latin typeface="Noto Sans"/>
                <a:sym typeface="Noto Sans"/>
              </a:rPr>
              <a:t>số</a:t>
            </a:r>
            <a:r>
              <a:rPr lang="en-US" sz="4000" dirty="0">
                <a:solidFill>
                  <a:srgbClr val="FFFFFF"/>
                </a:solidFill>
                <a:latin typeface="Noto Sans"/>
                <a:sym typeface="Noto Sans"/>
              </a:rPr>
              <a:t> </a:t>
            </a:r>
            <a:r>
              <a:rPr lang="en-US" sz="4000" dirty="0" err="1">
                <a:solidFill>
                  <a:srgbClr val="FFFFFF"/>
                </a:solidFill>
                <a:latin typeface="Noto Sans"/>
                <a:sym typeface="Noto Sans"/>
              </a:rPr>
              <a:t>lợi</a:t>
            </a:r>
            <a:r>
              <a:rPr lang="en-US" sz="4000" dirty="0">
                <a:solidFill>
                  <a:srgbClr val="FFFFFF"/>
                </a:solidFill>
                <a:latin typeface="Noto Sans"/>
                <a:sym typeface="Noto Sans"/>
              </a:rPr>
              <a:t> </a:t>
            </a:r>
            <a:r>
              <a:rPr lang="en-US" sz="4000" dirty="0" err="1">
                <a:solidFill>
                  <a:srgbClr val="FFFFFF"/>
                </a:solidFill>
                <a:latin typeface="Noto Sans"/>
                <a:sym typeface="Noto Sans"/>
              </a:rPr>
              <a:t>bất</a:t>
            </a:r>
            <a:r>
              <a:rPr lang="en-US" sz="4000" dirty="0">
                <a:solidFill>
                  <a:srgbClr val="FFFFFF"/>
                </a:solidFill>
                <a:latin typeface="Noto Sans"/>
                <a:sym typeface="Noto Sans"/>
              </a:rPr>
              <a:t> </a:t>
            </a:r>
            <a:r>
              <a:rPr lang="en-US" sz="4000" dirty="0" err="1">
                <a:solidFill>
                  <a:srgbClr val="FFFFFF"/>
                </a:solidFill>
                <a:latin typeface="Noto Sans"/>
                <a:sym typeface="Noto Sans"/>
              </a:rPr>
              <a:t>hợp</a:t>
            </a:r>
            <a:r>
              <a:rPr lang="en-US" sz="4000" dirty="0">
                <a:solidFill>
                  <a:srgbClr val="FFFFFF"/>
                </a:solidFill>
                <a:latin typeface="Noto Sans"/>
                <a:sym typeface="Noto Sans"/>
              </a:rPr>
              <a:t> </a:t>
            </a:r>
            <a:r>
              <a:rPr lang="en-US" sz="4000" dirty="0" err="1">
                <a:solidFill>
                  <a:srgbClr val="FFFFFF"/>
                </a:solidFill>
                <a:latin typeface="Noto Sans"/>
                <a:sym typeface="Noto Sans"/>
              </a:rPr>
              <a:t>pháp</a:t>
            </a:r>
            <a:endParaRPr lang="en-US" sz="4000" dirty="0">
              <a:solidFill>
                <a:srgbClr val="FFFFFF"/>
              </a:solidFill>
              <a:latin typeface="Noto Sans"/>
              <a:sym typeface="Noto Sans"/>
            </a:endParaRPr>
          </a:p>
        </p:txBody>
      </p:sp>
      <p:grpSp>
        <p:nvGrpSpPr>
          <p:cNvPr id="38" name="Group 13">
            <a:extLst>
              <a:ext uri="{FF2B5EF4-FFF2-40B4-BE49-F238E27FC236}">
                <a16:creationId xmlns:a16="http://schemas.microsoft.com/office/drawing/2014/main" id="{458217B6-3663-4B52-B570-F9B7313C5BDB}"/>
              </a:ext>
            </a:extLst>
          </p:cNvPr>
          <p:cNvGrpSpPr/>
          <p:nvPr/>
        </p:nvGrpSpPr>
        <p:grpSpPr>
          <a:xfrm>
            <a:off x="1454806" y="5421549"/>
            <a:ext cx="14547194" cy="1240367"/>
            <a:chOff x="0" y="0"/>
            <a:chExt cx="17627933" cy="1653823"/>
          </a:xfrm>
        </p:grpSpPr>
        <p:sp>
          <p:nvSpPr>
            <p:cNvPr id="39" name="Freeform 14">
              <a:extLst>
                <a:ext uri="{FF2B5EF4-FFF2-40B4-BE49-F238E27FC236}">
                  <a16:creationId xmlns:a16="http://schemas.microsoft.com/office/drawing/2014/main" id="{7B70B86D-6D38-4126-802D-E03657708267}"/>
                </a:ext>
              </a:extLst>
            </p:cNvPr>
            <p:cNvSpPr/>
            <p:nvPr/>
          </p:nvSpPr>
          <p:spPr>
            <a:xfrm>
              <a:off x="4366077" y="1034553"/>
              <a:ext cx="619269" cy="619269"/>
            </a:xfrm>
            <a:custGeom>
              <a:avLst/>
              <a:gdLst/>
              <a:ahLst/>
              <a:cxnLst/>
              <a:rect l="l" t="t" r="r" b="b"/>
              <a:pathLst>
                <a:path w="619269" h="619269">
                  <a:moveTo>
                    <a:pt x="0" y="0"/>
                  </a:moveTo>
                  <a:lnTo>
                    <a:pt x="619270" y="0"/>
                  </a:lnTo>
                  <a:lnTo>
                    <a:pt x="619270" y="619270"/>
                  </a:lnTo>
                  <a:lnTo>
                    <a:pt x="0" y="6192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0" name="Group 15">
              <a:extLst>
                <a:ext uri="{FF2B5EF4-FFF2-40B4-BE49-F238E27FC236}">
                  <a16:creationId xmlns:a16="http://schemas.microsoft.com/office/drawing/2014/main" id="{B4CAB365-6273-4531-84E2-790C362CD5EE}"/>
                </a:ext>
              </a:extLst>
            </p:cNvPr>
            <p:cNvGrpSpPr/>
            <p:nvPr/>
          </p:nvGrpSpPr>
          <p:grpSpPr>
            <a:xfrm>
              <a:off x="0" y="0"/>
              <a:ext cx="17627933" cy="1320691"/>
              <a:chOff x="0" y="0"/>
              <a:chExt cx="3482061" cy="260877"/>
            </a:xfrm>
          </p:grpSpPr>
          <p:sp>
            <p:nvSpPr>
              <p:cNvPr id="41" name="Freeform 16">
                <a:extLst>
                  <a:ext uri="{FF2B5EF4-FFF2-40B4-BE49-F238E27FC236}">
                    <a16:creationId xmlns:a16="http://schemas.microsoft.com/office/drawing/2014/main" id="{30C2B324-CDCF-4287-85D8-5991B7A19554}"/>
                  </a:ext>
                </a:extLst>
              </p:cNvPr>
              <p:cNvSpPr/>
              <p:nvPr/>
            </p:nvSpPr>
            <p:spPr>
              <a:xfrm>
                <a:off x="0" y="0"/>
                <a:ext cx="3482061" cy="260877"/>
              </a:xfrm>
              <a:custGeom>
                <a:avLst/>
                <a:gdLst/>
                <a:ahLst/>
                <a:cxnLst/>
                <a:rect l="l" t="t" r="r" b="b"/>
                <a:pathLst>
                  <a:path w="3482061" h="260877">
                    <a:moveTo>
                      <a:pt x="29865" y="0"/>
                    </a:moveTo>
                    <a:lnTo>
                      <a:pt x="3452197" y="0"/>
                    </a:lnTo>
                    <a:cubicBezTo>
                      <a:pt x="3468690" y="0"/>
                      <a:pt x="3482061" y="13371"/>
                      <a:pt x="3482061" y="29865"/>
                    </a:cubicBezTo>
                    <a:lnTo>
                      <a:pt x="3482061" y="231013"/>
                    </a:lnTo>
                    <a:cubicBezTo>
                      <a:pt x="3482061" y="238933"/>
                      <a:pt x="3478915" y="246529"/>
                      <a:pt x="3473314" y="252130"/>
                    </a:cubicBezTo>
                    <a:cubicBezTo>
                      <a:pt x="3467713" y="257731"/>
                      <a:pt x="3460117" y="260877"/>
                      <a:pt x="3452197" y="260877"/>
                    </a:cubicBezTo>
                    <a:lnTo>
                      <a:pt x="29865" y="260877"/>
                    </a:lnTo>
                    <a:cubicBezTo>
                      <a:pt x="13371" y="260877"/>
                      <a:pt x="0" y="247506"/>
                      <a:pt x="0" y="231013"/>
                    </a:cubicBezTo>
                    <a:lnTo>
                      <a:pt x="0" y="29865"/>
                    </a:lnTo>
                    <a:cubicBezTo>
                      <a:pt x="0" y="13371"/>
                      <a:pt x="13371" y="0"/>
                      <a:pt x="29865" y="0"/>
                    </a:cubicBezTo>
                    <a:close/>
                  </a:path>
                </a:pathLst>
              </a:custGeom>
              <a:solidFill>
                <a:srgbClr val="1458DB"/>
              </a:solidFill>
            </p:spPr>
          </p:sp>
          <p:sp>
            <p:nvSpPr>
              <p:cNvPr id="42" name="TextBox 17">
                <a:extLst>
                  <a:ext uri="{FF2B5EF4-FFF2-40B4-BE49-F238E27FC236}">
                    <a16:creationId xmlns:a16="http://schemas.microsoft.com/office/drawing/2014/main" id="{BF3963AA-4EEF-488A-9864-D3F969555D3F}"/>
                  </a:ext>
                </a:extLst>
              </p:cNvPr>
              <p:cNvSpPr txBox="1"/>
              <p:nvPr/>
            </p:nvSpPr>
            <p:spPr>
              <a:xfrm>
                <a:off x="0" y="-57150"/>
                <a:ext cx="3482061" cy="318027"/>
              </a:xfrm>
              <a:prstGeom prst="rect">
                <a:avLst/>
              </a:prstGeom>
            </p:spPr>
            <p:txBody>
              <a:bodyPr lIns="50800" tIns="50800" rIns="50800" bIns="50800" rtlCol="0" anchor="ctr"/>
              <a:lstStyle/>
              <a:p>
                <a:pPr algn="ctr">
                  <a:lnSpc>
                    <a:spcPts val="3638"/>
                  </a:lnSpc>
                </a:pPr>
                <a:endParaRPr/>
              </a:p>
            </p:txBody>
          </p:sp>
        </p:grpSp>
      </p:grpSp>
      <p:grpSp>
        <p:nvGrpSpPr>
          <p:cNvPr id="43" name="Group 29">
            <a:extLst>
              <a:ext uri="{FF2B5EF4-FFF2-40B4-BE49-F238E27FC236}">
                <a16:creationId xmlns:a16="http://schemas.microsoft.com/office/drawing/2014/main" id="{80251288-0772-4988-9B80-1D970F277D84}"/>
              </a:ext>
            </a:extLst>
          </p:cNvPr>
          <p:cNvGrpSpPr/>
          <p:nvPr/>
        </p:nvGrpSpPr>
        <p:grpSpPr>
          <a:xfrm>
            <a:off x="1615480" y="5558408"/>
            <a:ext cx="729717" cy="729717"/>
            <a:chOff x="0" y="0"/>
            <a:chExt cx="972956" cy="972956"/>
          </a:xfrm>
        </p:grpSpPr>
        <p:sp>
          <p:nvSpPr>
            <p:cNvPr id="44" name="Freeform 30">
              <a:extLst>
                <a:ext uri="{FF2B5EF4-FFF2-40B4-BE49-F238E27FC236}">
                  <a16:creationId xmlns:a16="http://schemas.microsoft.com/office/drawing/2014/main" id="{94EA2FA1-BB07-40AD-8FAF-B32B2FD380AD}"/>
                </a:ext>
              </a:extLst>
            </p:cNvPr>
            <p:cNvSpPr/>
            <p:nvPr/>
          </p:nvSpPr>
          <p:spPr>
            <a:xfrm>
              <a:off x="0" y="0"/>
              <a:ext cx="972947" cy="972947"/>
            </a:xfrm>
            <a:custGeom>
              <a:avLst/>
              <a:gdLst/>
              <a:ahLst/>
              <a:cxnLst/>
              <a:rect l="l" t="t" r="r" b="b"/>
              <a:pathLst>
                <a:path w="972947" h="972947">
                  <a:moveTo>
                    <a:pt x="486537" y="0"/>
                  </a:moveTo>
                  <a:cubicBezTo>
                    <a:pt x="217805" y="0"/>
                    <a:pt x="0" y="217805"/>
                    <a:pt x="0" y="486537"/>
                  </a:cubicBezTo>
                  <a:cubicBezTo>
                    <a:pt x="0" y="755269"/>
                    <a:pt x="217805" y="972947"/>
                    <a:pt x="486537" y="972947"/>
                  </a:cubicBezTo>
                  <a:cubicBezTo>
                    <a:pt x="755269" y="972947"/>
                    <a:pt x="972947" y="755142"/>
                    <a:pt x="972947" y="486537"/>
                  </a:cubicBezTo>
                  <a:cubicBezTo>
                    <a:pt x="972947" y="217932"/>
                    <a:pt x="755142" y="0"/>
                    <a:pt x="486537" y="0"/>
                  </a:cubicBezTo>
                  <a:close/>
                </a:path>
              </a:pathLst>
            </a:custGeom>
            <a:gradFill rotWithShape="1">
              <a:gsLst>
                <a:gs pos="0">
                  <a:srgbClr val="8C52FF">
                    <a:alpha val="100000"/>
                  </a:srgbClr>
                </a:gs>
                <a:gs pos="100000">
                  <a:srgbClr val="FF914D">
                    <a:alpha val="100000"/>
                  </a:srgbClr>
                </a:gs>
              </a:gsLst>
              <a:lin ang="0"/>
            </a:gradFill>
          </p:spPr>
        </p:sp>
      </p:grpSp>
      <p:sp>
        <p:nvSpPr>
          <p:cNvPr id="45" name="TextBox 37">
            <a:extLst>
              <a:ext uri="{FF2B5EF4-FFF2-40B4-BE49-F238E27FC236}">
                <a16:creationId xmlns:a16="http://schemas.microsoft.com/office/drawing/2014/main" id="{80F17B1E-4943-4395-98B1-5C2427F34E7C}"/>
              </a:ext>
            </a:extLst>
          </p:cNvPr>
          <p:cNvSpPr txBox="1"/>
          <p:nvPr/>
        </p:nvSpPr>
        <p:spPr>
          <a:xfrm>
            <a:off x="2590800" y="5571070"/>
            <a:ext cx="11734800" cy="602729"/>
          </a:xfrm>
          <a:prstGeom prst="rect">
            <a:avLst/>
          </a:prstGeom>
        </p:spPr>
        <p:txBody>
          <a:bodyPr wrap="square" lIns="0" tIns="0" rIns="0" bIns="0" rtlCol="0" anchor="t">
            <a:spAutoFit/>
          </a:bodyPr>
          <a:lstStyle/>
          <a:p>
            <a:pPr algn="l">
              <a:lnSpc>
                <a:spcPts val="4723"/>
              </a:lnSpc>
            </a:pPr>
            <a:r>
              <a:rPr lang="en-US" sz="4000" dirty="0" err="1">
                <a:solidFill>
                  <a:srgbClr val="FFFFFF"/>
                </a:solidFill>
                <a:latin typeface="Noto Sans"/>
                <a:sym typeface="Noto Sans"/>
              </a:rPr>
              <a:t>Chế</a:t>
            </a:r>
            <a:r>
              <a:rPr lang="en-US" sz="4000" dirty="0">
                <a:solidFill>
                  <a:srgbClr val="FFFFFF"/>
                </a:solidFill>
                <a:latin typeface="Noto Sans"/>
                <a:sym typeface="Noto Sans"/>
              </a:rPr>
              <a:t> </a:t>
            </a:r>
            <a:r>
              <a:rPr lang="en-US" sz="4000" dirty="0" err="1">
                <a:solidFill>
                  <a:srgbClr val="FFFFFF"/>
                </a:solidFill>
                <a:latin typeface="Noto Sans"/>
                <a:sym typeface="Noto Sans"/>
              </a:rPr>
              <a:t>tài</a:t>
            </a:r>
            <a:r>
              <a:rPr lang="en-US" sz="4000" dirty="0">
                <a:solidFill>
                  <a:srgbClr val="FFFFFF"/>
                </a:solidFill>
                <a:latin typeface="Noto Sans"/>
                <a:sym typeface="Noto Sans"/>
              </a:rPr>
              <a:t> </a:t>
            </a:r>
            <a:r>
              <a:rPr lang="en-US" sz="4000" dirty="0" err="1">
                <a:solidFill>
                  <a:srgbClr val="FFFFFF"/>
                </a:solidFill>
                <a:latin typeface="Noto Sans"/>
                <a:sym typeface="Noto Sans"/>
              </a:rPr>
              <a:t>xử</a:t>
            </a:r>
            <a:r>
              <a:rPr lang="en-US" sz="4000" dirty="0">
                <a:solidFill>
                  <a:srgbClr val="FFFFFF"/>
                </a:solidFill>
                <a:latin typeface="Noto Sans"/>
                <a:sym typeface="Noto Sans"/>
              </a:rPr>
              <a:t> </a:t>
            </a:r>
            <a:r>
              <a:rPr lang="en-US" sz="4000" dirty="0" err="1">
                <a:solidFill>
                  <a:srgbClr val="FFFFFF"/>
                </a:solidFill>
                <a:latin typeface="Noto Sans"/>
                <a:sym typeface="Noto Sans"/>
              </a:rPr>
              <a:t>lý</a:t>
            </a:r>
            <a:r>
              <a:rPr lang="en-US" sz="4000" dirty="0">
                <a:solidFill>
                  <a:srgbClr val="FFFFFF"/>
                </a:solidFill>
                <a:latin typeface="Noto Sans"/>
                <a:sym typeface="Noto Sans"/>
              </a:rPr>
              <a:t> </a:t>
            </a:r>
            <a:r>
              <a:rPr lang="en-US" sz="4000" dirty="0" err="1">
                <a:solidFill>
                  <a:srgbClr val="FFFFFF"/>
                </a:solidFill>
                <a:latin typeface="Noto Sans"/>
                <a:sym typeface="Noto Sans"/>
              </a:rPr>
              <a:t>các</a:t>
            </a:r>
            <a:r>
              <a:rPr lang="en-US" sz="4000" dirty="0">
                <a:solidFill>
                  <a:srgbClr val="FFFFFF"/>
                </a:solidFill>
                <a:latin typeface="Noto Sans"/>
                <a:sym typeface="Noto Sans"/>
              </a:rPr>
              <a:t> </a:t>
            </a:r>
            <a:r>
              <a:rPr lang="en-US" sz="4000" dirty="0" err="1">
                <a:solidFill>
                  <a:srgbClr val="FFFFFF"/>
                </a:solidFill>
                <a:latin typeface="Noto Sans"/>
                <a:sym typeface="Noto Sans"/>
              </a:rPr>
              <a:t>hành</a:t>
            </a:r>
            <a:r>
              <a:rPr lang="en-US" sz="4000" dirty="0">
                <a:solidFill>
                  <a:srgbClr val="FFFFFF"/>
                </a:solidFill>
                <a:latin typeface="Noto Sans"/>
                <a:sym typeface="Noto Sans"/>
              </a:rPr>
              <a:t> vi </a:t>
            </a:r>
            <a:r>
              <a:rPr lang="en-US" sz="4000" dirty="0" err="1">
                <a:solidFill>
                  <a:srgbClr val="FFFFFF"/>
                </a:solidFill>
                <a:latin typeface="Noto Sans"/>
                <a:sym typeface="Noto Sans"/>
              </a:rPr>
              <a:t>vi</a:t>
            </a:r>
            <a:r>
              <a:rPr lang="en-US" sz="4000" dirty="0">
                <a:solidFill>
                  <a:srgbClr val="FFFFFF"/>
                </a:solidFill>
                <a:latin typeface="Noto Sans"/>
                <a:sym typeface="Noto Sans"/>
              </a:rPr>
              <a:t> </a:t>
            </a:r>
            <a:r>
              <a:rPr lang="en-US" sz="4000" dirty="0" err="1">
                <a:solidFill>
                  <a:srgbClr val="FFFFFF"/>
                </a:solidFill>
                <a:latin typeface="Noto Sans"/>
                <a:sym typeface="Noto Sans"/>
              </a:rPr>
              <a:t>phạm</a:t>
            </a:r>
            <a:endParaRPr lang="en-US" sz="4000" dirty="0">
              <a:solidFill>
                <a:srgbClr val="FFFFFF"/>
              </a:solidFill>
              <a:latin typeface="Noto Sans"/>
              <a:sym typeface="Noto Sans"/>
            </a:endParaRPr>
          </a:p>
        </p:txBody>
      </p:sp>
      <p:grpSp>
        <p:nvGrpSpPr>
          <p:cNvPr id="62" name="Group 13">
            <a:extLst>
              <a:ext uri="{FF2B5EF4-FFF2-40B4-BE49-F238E27FC236}">
                <a16:creationId xmlns:a16="http://schemas.microsoft.com/office/drawing/2014/main" id="{7160BB7A-235F-4DCD-8AA6-2D833D9DD5DF}"/>
              </a:ext>
            </a:extLst>
          </p:cNvPr>
          <p:cNvGrpSpPr/>
          <p:nvPr/>
        </p:nvGrpSpPr>
        <p:grpSpPr>
          <a:xfrm>
            <a:off x="1436003" y="6874933"/>
            <a:ext cx="14547194" cy="1240367"/>
            <a:chOff x="0" y="0"/>
            <a:chExt cx="17627933" cy="1653823"/>
          </a:xfrm>
        </p:grpSpPr>
        <p:sp>
          <p:nvSpPr>
            <p:cNvPr id="63" name="Freeform 14">
              <a:extLst>
                <a:ext uri="{FF2B5EF4-FFF2-40B4-BE49-F238E27FC236}">
                  <a16:creationId xmlns:a16="http://schemas.microsoft.com/office/drawing/2014/main" id="{6882B085-BCF6-46DE-B4CD-56D8DC55F46C}"/>
                </a:ext>
              </a:extLst>
            </p:cNvPr>
            <p:cNvSpPr/>
            <p:nvPr/>
          </p:nvSpPr>
          <p:spPr>
            <a:xfrm>
              <a:off x="4366077" y="1034553"/>
              <a:ext cx="619269" cy="619269"/>
            </a:xfrm>
            <a:custGeom>
              <a:avLst/>
              <a:gdLst/>
              <a:ahLst/>
              <a:cxnLst/>
              <a:rect l="l" t="t" r="r" b="b"/>
              <a:pathLst>
                <a:path w="619269" h="619269">
                  <a:moveTo>
                    <a:pt x="0" y="0"/>
                  </a:moveTo>
                  <a:lnTo>
                    <a:pt x="619270" y="0"/>
                  </a:lnTo>
                  <a:lnTo>
                    <a:pt x="619270" y="619270"/>
                  </a:lnTo>
                  <a:lnTo>
                    <a:pt x="0" y="6192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4" name="Group 15">
              <a:extLst>
                <a:ext uri="{FF2B5EF4-FFF2-40B4-BE49-F238E27FC236}">
                  <a16:creationId xmlns:a16="http://schemas.microsoft.com/office/drawing/2014/main" id="{92F7E7F4-F33F-4183-BAF8-FA75177FABC2}"/>
                </a:ext>
              </a:extLst>
            </p:cNvPr>
            <p:cNvGrpSpPr/>
            <p:nvPr/>
          </p:nvGrpSpPr>
          <p:grpSpPr>
            <a:xfrm>
              <a:off x="0" y="0"/>
              <a:ext cx="17627933" cy="1320691"/>
              <a:chOff x="0" y="0"/>
              <a:chExt cx="3482061" cy="260877"/>
            </a:xfrm>
          </p:grpSpPr>
          <p:sp>
            <p:nvSpPr>
              <p:cNvPr id="65" name="Freeform 16">
                <a:extLst>
                  <a:ext uri="{FF2B5EF4-FFF2-40B4-BE49-F238E27FC236}">
                    <a16:creationId xmlns:a16="http://schemas.microsoft.com/office/drawing/2014/main" id="{424D1029-E28E-4E2F-88E9-57562D24DBC9}"/>
                  </a:ext>
                </a:extLst>
              </p:cNvPr>
              <p:cNvSpPr/>
              <p:nvPr/>
            </p:nvSpPr>
            <p:spPr>
              <a:xfrm>
                <a:off x="0" y="0"/>
                <a:ext cx="3482061" cy="260877"/>
              </a:xfrm>
              <a:custGeom>
                <a:avLst/>
                <a:gdLst/>
                <a:ahLst/>
                <a:cxnLst/>
                <a:rect l="l" t="t" r="r" b="b"/>
                <a:pathLst>
                  <a:path w="3482061" h="260877">
                    <a:moveTo>
                      <a:pt x="29865" y="0"/>
                    </a:moveTo>
                    <a:lnTo>
                      <a:pt x="3452197" y="0"/>
                    </a:lnTo>
                    <a:cubicBezTo>
                      <a:pt x="3468690" y="0"/>
                      <a:pt x="3482061" y="13371"/>
                      <a:pt x="3482061" y="29865"/>
                    </a:cubicBezTo>
                    <a:lnTo>
                      <a:pt x="3482061" y="231013"/>
                    </a:lnTo>
                    <a:cubicBezTo>
                      <a:pt x="3482061" y="238933"/>
                      <a:pt x="3478915" y="246529"/>
                      <a:pt x="3473314" y="252130"/>
                    </a:cubicBezTo>
                    <a:cubicBezTo>
                      <a:pt x="3467713" y="257731"/>
                      <a:pt x="3460117" y="260877"/>
                      <a:pt x="3452197" y="260877"/>
                    </a:cubicBezTo>
                    <a:lnTo>
                      <a:pt x="29865" y="260877"/>
                    </a:lnTo>
                    <a:cubicBezTo>
                      <a:pt x="13371" y="260877"/>
                      <a:pt x="0" y="247506"/>
                      <a:pt x="0" y="231013"/>
                    </a:cubicBezTo>
                    <a:lnTo>
                      <a:pt x="0" y="29865"/>
                    </a:lnTo>
                    <a:cubicBezTo>
                      <a:pt x="0" y="13371"/>
                      <a:pt x="13371" y="0"/>
                      <a:pt x="29865" y="0"/>
                    </a:cubicBezTo>
                    <a:close/>
                  </a:path>
                </a:pathLst>
              </a:custGeom>
              <a:solidFill>
                <a:srgbClr val="1458DB"/>
              </a:solidFill>
            </p:spPr>
          </p:sp>
          <p:sp>
            <p:nvSpPr>
              <p:cNvPr id="66" name="TextBox 17">
                <a:extLst>
                  <a:ext uri="{FF2B5EF4-FFF2-40B4-BE49-F238E27FC236}">
                    <a16:creationId xmlns:a16="http://schemas.microsoft.com/office/drawing/2014/main" id="{19EADC62-1E69-4C36-9307-31AA7AA9A720}"/>
                  </a:ext>
                </a:extLst>
              </p:cNvPr>
              <p:cNvSpPr txBox="1"/>
              <p:nvPr/>
            </p:nvSpPr>
            <p:spPr>
              <a:xfrm>
                <a:off x="0" y="-57150"/>
                <a:ext cx="3482061" cy="318027"/>
              </a:xfrm>
              <a:prstGeom prst="rect">
                <a:avLst/>
              </a:prstGeom>
            </p:spPr>
            <p:txBody>
              <a:bodyPr lIns="50800" tIns="50800" rIns="50800" bIns="50800" rtlCol="0" anchor="ctr"/>
              <a:lstStyle/>
              <a:p>
                <a:pPr algn="ctr">
                  <a:lnSpc>
                    <a:spcPts val="3638"/>
                  </a:lnSpc>
                </a:pPr>
                <a:endParaRPr/>
              </a:p>
            </p:txBody>
          </p:sp>
        </p:grpSp>
      </p:grpSp>
      <p:grpSp>
        <p:nvGrpSpPr>
          <p:cNvPr id="67" name="Group 29">
            <a:extLst>
              <a:ext uri="{FF2B5EF4-FFF2-40B4-BE49-F238E27FC236}">
                <a16:creationId xmlns:a16="http://schemas.microsoft.com/office/drawing/2014/main" id="{658802EC-CF12-41C0-8F11-16E624FF2506}"/>
              </a:ext>
            </a:extLst>
          </p:cNvPr>
          <p:cNvGrpSpPr/>
          <p:nvPr/>
        </p:nvGrpSpPr>
        <p:grpSpPr>
          <a:xfrm>
            <a:off x="1596677" y="7011792"/>
            <a:ext cx="729717" cy="729717"/>
            <a:chOff x="0" y="0"/>
            <a:chExt cx="972956" cy="972956"/>
          </a:xfrm>
        </p:grpSpPr>
        <p:sp>
          <p:nvSpPr>
            <p:cNvPr id="68" name="Freeform 30">
              <a:extLst>
                <a:ext uri="{FF2B5EF4-FFF2-40B4-BE49-F238E27FC236}">
                  <a16:creationId xmlns:a16="http://schemas.microsoft.com/office/drawing/2014/main" id="{E9E006CE-930A-4CF6-AF33-DC4004329F02}"/>
                </a:ext>
              </a:extLst>
            </p:cNvPr>
            <p:cNvSpPr/>
            <p:nvPr/>
          </p:nvSpPr>
          <p:spPr>
            <a:xfrm>
              <a:off x="0" y="0"/>
              <a:ext cx="972947" cy="972947"/>
            </a:xfrm>
            <a:custGeom>
              <a:avLst/>
              <a:gdLst/>
              <a:ahLst/>
              <a:cxnLst/>
              <a:rect l="l" t="t" r="r" b="b"/>
              <a:pathLst>
                <a:path w="972947" h="972947">
                  <a:moveTo>
                    <a:pt x="486537" y="0"/>
                  </a:moveTo>
                  <a:cubicBezTo>
                    <a:pt x="217805" y="0"/>
                    <a:pt x="0" y="217805"/>
                    <a:pt x="0" y="486537"/>
                  </a:cubicBezTo>
                  <a:cubicBezTo>
                    <a:pt x="0" y="755269"/>
                    <a:pt x="217805" y="972947"/>
                    <a:pt x="486537" y="972947"/>
                  </a:cubicBezTo>
                  <a:cubicBezTo>
                    <a:pt x="755269" y="972947"/>
                    <a:pt x="972947" y="755142"/>
                    <a:pt x="972947" y="486537"/>
                  </a:cubicBezTo>
                  <a:cubicBezTo>
                    <a:pt x="972947" y="217932"/>
                    <a:pt x="755142" y="0"/>
                    <a:pt x="486537" y="0"/>
                  </a:cubicBezTo>
                  <a:close/>
                </a:path>
              </a:pathLst>
            </a:custGeom>
            <a:gradFill rotWithShape="1">
              <a:gsLst>
                <a:gs pos="0">
                  <a:srgbClr val="8C52FF">
                    <a:alpha val="100000"/>
                  </a:srgbClr>
                </a:gs>
                <a:gs pos="100000">
                  <a:srgbClr val="FF914D">
                    <a:alpha val="100000"/>
                  </a:srgbClr>
                </a:gs>
              </a:gsLst>
              <a:lin ang="0"/>
            </a:gradFill>
          </p:spPr>
        </p:sp>
      </p:grpSp>
      <p:sp>
        <p:nvSpPr>
          <p:cNvPr id="69" name="TextBox 37">
            <a:extLst>
              <a:ext uri="{FF2B5EF4-FFF2-40B4-BE49-F238E27FC236}">
                <a16:creationId xmlns:a16="http://schemas.microsoft.com/office/drawing/2014/main" id="{D81F5BC4-46D1-4FEF-9CDE-905E5EECFFC7}"/>
              </a:ext>
            </a:extLst>
          </p:cNvPr>
          <p:cNvSpPr txBox="1"/>
          <p:nvPr/>
        </p:nvSpPr>
        <p:spPr>
          <a:xfrm>
            <a:off x="2571997" y="7024454"/>
            <a:ext cx="11734800" cy="602729"/>
          </a:xfrm>
          <a:prstGeom prst="rect">
            <a:avLst/>
          </a:prstGeom>
        </p:spPr>
        <p:txBody>
          <a:bodyPr wrap="square" lIns="0" tIns="0" rIns="0" bIns="0" rtlCol="0" anchor="t">
            <a:spAutoFit/>
          </a:bodyPr>
          <a:lstStyle/>
          <a:p>
            <a:pPr algn="l">
              <a:lnSpc>
                <a:spcPts val="4723"/>
              </a:lnSpc>
            </a:pPr>
            <a:r>
              <a:rPr lang="en-US" sz="4000" dirty="0" err="1">
                <a:solidFill>
                  <a:srgbClr val="FFFFFF"/>
                </a:solidFill>
                <a:latin typeface="Noto Sans"/>
                <a:sym typeface="Noto Sans"/>
              </a:rPr>
              <a:t>Quy</a:t>
            </a:r>
            <a:r>
              <a:rPr lang="en-US" sz="4000" dirty="0">
                <a:solidFill>
                  <a:srgbClr val="FFFFFF"/>
                </a:solidFill>
                <a:latin typeface="Noto Sans"/>
                <a:sym typeface="Noto Sans"/>
              </a:rPr>
              <a:t> </a:t>
            </a:r>
            <a:r>
              <a:rPr lang="en-US" sz="4000" dirty="0" err="1">
                <a:solidFill>
                  <a:srgbClr val="FFFFFF"/>
                </a:solidFill>
                <a:latin typeface="Noto Sans"/>
                <a:sym typeface="Noto Sans"/>
              </a:rPr>
              <a:t>trình</a:t>
            </a:r>
            <a:r>
              <a:rPr lang="en-US" sz="4000" dirty="0">
                <a:solidFill>
                  <a:srgbClr val="FFFFFF"/>
                </a:solidFill>
                <a:latin typeface="Noto Sans"/>
                <a:sym typeface="Noto Sans"/>
              </a:rPr>
              <a:t> </a:t>
            </a:r>
            <a:r>
              <a:rPr lang="en-US" sz="4000" dirty="0" err="1">
                <a:solidFill>
                  <a:srgbClr val="FFFFFF"/>
                </a:solidFill>
                <a:latin typeface="Noto Sans"/>
                <a:sym typeface="Noto Sans"/>
              </a:rPr>
              <a:t>giám</a:t>
            </a:r>
            <a:r>
              <a:rPr lang="en-US" sz="4000" dirty="0">
                <a:solidFill>
                  <a:srgbClr val="FFFFFF"/>
                </a:solidFill>
                <a:latin typeface="Noto Sans"/>
                <a:sym typeface="Noto Sans"/>
              </a:rPr>
              <a:t> </a:t>
            </a:r>
            <a:r>
              <a:rPr lang="en-US" sz="4000" dirty="0" err="1">
                <a:solidFill>
                  <a:srgbClr val="FFFFFF"/>
                </a:solidFill>
                <a:latin typeface="Noto Sans"/>
                <a:sym typeface="Noto Sans"/>
              </a:rPr>
              <a:t>sát</a:t>
            </a:r>
            <a:r>
              <a:rPr lang="en-US" sz="4000" dirty="0">
                <a:solidFill>
                  <a:srgbClr val="FFFFFF"/>
                </a:solidFill>
                <a:latin typeface="Noto Sans"/>
                <a:sym typeface="Noto Sans"/>
              </a:rPr>
              <a:t> </a:t>
            </a:r>
            <a:r>
              <a:rPr lang="en-US" sz="4000" dirty="0" err="1">
                <a:solidFill>
                  <a:srgbClr val="FFFFFF"/>
                </a:solidFill>
                <a:latin typeface="Noto Sans"/>
                <a:sym typeface="Noto Sans"/>
              </a:rPr>
              <a:t>tại</a:t>
            </a:r>
            <a:r>
              <a:rPr lang="en-US" sz="4000" dirty="0">
                <a:solidFill>
                  <a:srgbClr val="FFFFFF"/>
                </a:solidFill>
                <a:latin typeface="Noto Sans"/>
                <a:sym typeface="Noto Sans"/>
              </a:rPr>
              <a:t> UBCKNN</a:t>
            </a:r>
          </a:p>
        </p:txBody>
      </p:sp>
    </p:spTree>
    <p:extLst>
      <p:ext uri="{BB962C8B-B14F-4D97-AF65-F5344CB8AC3E}">
        <p14:creationId xmlns:p14="http://schemas.microsoft.com/office/powerpoint/2010/main" val="230308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12179300" cy="6845300"/>
            </a:xfrm>
            <a:prstGeom prst="rect">
              <a:avLst/>
            </a:prstGeom>
            <a:solidFill>
              <a:srgbClr val="D87A40"/>
            </a:solidFill>
          </p:spPr>
          <p:txBody>
            <a:bodyPr/>
            <a:lstStyle/>
            <a:p>
              <a:endParaRPr lang="en-US"/>
            </a:p>
          </p:txBody>
        </p:sp>
        <p:sp>
          <p:nvSpPr>
            <p:cNvPr id="4" name="AutoShape 4"/>
            <p:cNvSpPr/>
            <p:nvPr/>
          </p:nvSpPr>
          <p:spPr>
            <a:xfrm>
              <a:off x="12204700" y="0"/>
              <a:ext cx="12179300" cy="6845300"/>
            </a:xfrm>
            <a:prstGeom prst="rect">
              <a:avLst/>
            </a:prstGeom>
            <a:solidFill>
              <a:srgbClr val="D87A40"/>
            </a:solidFill>
          </p:spPr>
        </p:sp>
        <p:sp>
          <p:nvSpPr>
            <p:cNvPr id="5" name="AutoShape 5"/>
            <p:cNvSpPr/>
            <p:nvPr/>
          </p:nvSpPr>
          <p:spPr>
            <a:xfrm>
              <a:off x="0" y="6870700"/>
              <a:ext cx="12179300" cy="6845300"/>
            </a:xfrm>
            <a:prstGeom prst="rect">
              <a:avLst/>
            </a:prstGeom>
            <a:solidFill>
              <a:srgbClr val="D87A40"/>
            </a:solidFill>
          </p:spPr>
        </p:sp>
        <p:sp>
          <p:nvSpPr>
            <p:cNvPr id="6" name="AutoShape 6"/>
            <p:cNvSpPr/>
            <p:nvPr/>
          </p:nvSpPr>
          <p:spPr>
            <a:xfrm>
              <a:off x="12204700" y="6870700"/>
              <a:ext cx="12179300" cy="6845300"/>
            </a:xfrm>
            <a:prstGeom prst="rect">
              <a:avLst/>
            </a:prstGeom>
            <a:solidFill>
              <a:srgbClr val="D87A40"/>
            </a:solidFill>
          </p:spPr>
        </p:sp>
      </p:grpSp>
      <p:sp>
        <p:nvSpPr>
          <p:cNvPr id="9" name="TextBox 9"/>
          <p:cNvSpPr txBox="1"/>
          <p:nvPr/>
        </p:nvSpPr>
        <p:spPr>
          <a:xfrm>
            <a:off x="1028700" y="1005364"/>
            <a:ext cx="6438900" cy="872034"/>
          </a:xfrm>
          <a:prstGeom prst="rect">
            <a:avLst/>
          </a:prstGeom>
        </p:spPr>
        <p:txBody>
          <a:bodyPr wrap="square" lIns="0" tIns="0" rIns="0" bIns="0" rtlCol="0" anchor="t">
            <a:spAutoFit/>
          </a:bodyPr>
          <a:lstStyle/>
          <a:p>
            <a:pPr marL="0" lvl="0" indent="0" algn="l">
              <a:lnSpc>
                <a:spcPts val="3359"/>
              </a:lnSpc>
              <a:spcBef>
                <a:spcPct val="0"/>
              </a:spcBef>
            </a:pPr>
            <a:r>
              <a:rPr lang="en-US" sz="3000" u="none" dirty="0" err="1">
                <a:solidFill>
                  <a:schemeClr val="bg1"/>
                </a:solidFill>
                <a:latin typeface="Times New Roman" panose="02020603050405020304" pitchFamily="18" charset="0"/>
                <a:cs typeface="Times New Roman" panose="02020603050405020304" pitchFamily="18" charset="0"/>
              </a:rPr>
              <a:t>Luật</a:t>
            </a:r>
            <a:r>
              <a:rPr lang="en-US" sz="3000" u="none" dirty="0">
                <a:solidFill>
                  <a:schemeClr val="bg1"/>
                </a:solidFill>
                <a:latin typeface="Times New Roman" panose="02020603050405020304" pitchFamily="18" charset="0"/>
                <a:cs typeface="Times New Roman" panose="02020603050405020304" pitchFamily="18" charset="0"/>
              </a:rPr>
              <a:t> </a:t>
            </a:r>
            <a:r>
              <a:rPr lang="en-US" sz="3000" u="none" dirty="0" err="1">
                <a:solidFill>
                  <a:schemeClr val="bg1"/>
                </a:solidFill>
                <a:latin typeface="Times New Roman" panose="02020603050405020304" pitchFamily="18" charset="0"/>
                <a:cs typeface="Times New Roman" panose="02020603050405020304" pitchFamily="18" charset="0"/>
              </a:rPr>
              <a:t>chứng</a:t>
            </a:r>
            <a:r>
              <a:rPr lang="en-US" sz="3000" u="none" dirty="0">
                <a:solidFill>
                  <a:schemeClr val="bg1"/>
                </a:solidFill>
                <a:latin typeface="Times New Roman" panose="02020603050405020304" pitchFamily="18" charset="0"/>
                <a:cs typeface="Times New Roman" panose="02020603050405020304" pitchFamily="18" charset="0"/>
              </a:rPr>
              <a:t> </a:t>
            </a:r>
            <a:r>
              <a:rPr lang="en-US" sz="3000" u="none" dirty="0" err="1">
                <a:solidFill>
                  <a:schemeClr val="bg1"/>
                </a:solidFill>
                <a:latin typeface="Times New Roman" panose="02020603050405020304" pitchFamily="18" charset="0"/>
                <a:cs typeface="Times New Roman" panose="02020603050405020304" pitchFamily="18" charset="0"/>
              </a:rPr>
              <a:t>khoán</a:t>
            </a:r>
            <a:r>
              <a:rPr lang="en-US" sz="3000" u="none" dirty="0">
                <a:solidFill>
                  <a:schemeClr val="bg1"/>
                </a:solidFill>
                <a:latin typeface="Times New Roman" panose="02020603050405020304" pitchFamily="18" charset="0"/>
                <a:cs typeface="Times New Roman" panose="02020603050405020304" pitchFamily="18" charset="0"/>
              </a:rPr>
              <a:t> 2019</a:t>
            </a:r>
          </a:p>
          <a:p>
            <a:pPr marL="0" lvl="0" indent="0" algn="l">
              <a:lnSpc>
                <a:spcPts val="3359"/>
              </a:lnSpc>
              <a:spcBef>
                <a:spcPct val="0"/>
              </a:spcBef>
            </a:pPr>
            <a:r>
              <a:rPr lang="fr-FR" sz="3000" kern="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Bộ</a:t>
            </a:r>
            <a:r>
              <a:rPr lang="fr-FR" sz="3000" kern="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3000" kern="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luật</a:t>
            </a:r>
            <a:r>
              <a:rPr lang="fr-FR" sz="3000" kern="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3000" kern="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Hình</a:t>
            </a:r>
            <a:r>
              <a:rPr lang="fr-FR" sz="3000" kern="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3000" kern="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sự</a:t>
            </a:r>
            <a:r>
              <a:rPr lang="fr-FR" sz="3000" kern="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2015 </a:t>
            </a:r>
            <a:r>
              <a:rPr lang="fr-FR" sz="3000" kern="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sửa</a:t>
            </a:r>
            <a:r>
              <a:rPr lang="fr-FR" sz="3000" kern="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3000" kern="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đổi</a:t>
            </a:r>
            <a:r>
              <a:rPr lang="fr-FR" sz="3000" kern="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fr-FR" sz="3000" kern="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năm</a:t>
            </a:r>
            <a:r>
              <a:rPr lang="fr-FR" sz="3000" kern="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2017</a:t>
            </a:r>
            <a:endParaRPr lang="en-US" sz="3000" u="none" dirty="0">
              <a:solidFill>
                <a:schemeClr val="bg1"/>
              </a:solidFill>
              <a:latin typeface="Times New Roman" panose="02020603050405020304" pitchFamily="18" charset="0"/>
              <a:cs typeface="Times New Roman" panose="02020603050405020304" pitchFamily="18" charset="0"/>
            </a:endParaRPr>
          </a:p>
        </p:txBody>
      </p:sp>
      <p:sp>
        <p:nvSpPr>
          <p:cNvPr id="12" name="TextBox 12"/>
          <p:cNvSpPr txBox="1"/>
          <p:nvPr/>
        </p:nvSpPr>
        <p:spPr>
          <a:xfrm>
            <a:off x="463174" y="5600446"/>
            <a:ext cx="5328025" cy="4154984"/>
          </a:xfrm>
          <a:prstGeom prst="rect">
            <a:avLst/>
          </a:prstGeom>
        </p:spPr>
        <p:txBody>
          <a:bodyPr wrap="square" lIns="0" tIns="0" rIns="0" bIns="0" rtlCol="0" anchor="t">
            <a:spAutoFit/>
          </a:bodyPr>
          <a:lstStyle/>
          <a:p>
            <a:pPr marR="0" lvl="0" algn="just" defTabSz="914400" rtl="0" eaLnBrk="1" fontAlgn="auto" latinLnBrk="0" hangingPunct="1">
              <a:lnSpc>
                <a:spcPct val="100000"/>
              </a:lnSpc>
              <a:spcBef>
                <a:spcPts val="0"/>
              </a:spcBef>
              <a:spcAft>
                <a:spcPts val="0"/>
              </a:spcAft>
              <a:buClrTx/>
              <a:buSzTx/>
              <a:buFontTx/>
              <a:buChar char="-"/>
              <a:tabLst/>
              <a:defRPr/>
            </a:pP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Thông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tư</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95/2020/TT-BTC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về</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hướng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dẫn</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giám</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sát</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giao</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dịch</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chứng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khoán</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trên</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TTCK</a:t>
            </a:r>
          </a:p>
          <a:p>
            <a:pPr marR="0" lvl="0" algn="just" defTabSz="914400" rtl="0" eaLnBrk="1" fontAlgn="auto" latinLnBrk="0" hangingPunct="1">
              <a:lnSpc>
                <a:spcPct val="100000"/>
              </a:lnSpc>
              <a:spcBef>
                <a:spcPts val="0"/>
              </a:spcBef>
              <a:spcAft>
                <a:spcPts val="0"/>
              </a:spcAft>
              <a:buClrTx/>
              <a:buSzTx/>
              <a:buFontTx/>
              <a:buChar char="-"/>
              <a:tabLst/>
              <a:defRPr/>
            </a:pP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Thông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tư</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96/2020/TT-BTC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hướng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dẫn</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công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bố</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thông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tin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trên</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TTCK</a:t>
            </a:r>
          </a:p>
          <a:p>
            <a:pPr marR="0" lvl="0" algn="just" defTabSz="914400" rtl="0" eaLnBrk="1" fontAlgn="auto" latinLnBrk="0" hangingPunct="1">
              <a:lnSpc>
                <a:spcPct val="100000"/>
              </a:lnSpc>
              <a:spcBef>
                <a:spcPts val="0"/>
              </a:spcBef>
              <a:spcAft>
                <a:spcPts val="0"/>
              </a:spcAft>
              <a:buClrTx/>
              <a:buSzTx/>
              <a:buFontTx/>
              <a:buChar char="-"/>
              <a:tabLst/>
              <a:defRPr/>
            </a:pP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Thông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tư</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58/2021/TT-BTC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về</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hướng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dẫn</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một</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số</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điều</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của</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Nghị</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158/2020/NĐ-CP</a:t>
            </a:r>
          </a:p>
        </p:txBody>
      </p:sp>
      <p:sp>
        <p:nvSpPr>
          <p:cNvPr id="14" name="TextBox 14"/>
          <p:cNvSpPr txBox="1"/>
          <p:nvPr/>
        </p:nvSpPr>
        <p:spPr>
          <a:xfrm>
            <a:off x="12357228" y="6862237"/>
            <a:ext cx="5026223" cy="1935145"/>
          </a:xfrm>
          <a:prstGeom prst="rect">
            <a:avLst/>
          </a:prstGeom>
        </p:spPr>
        <p:txBody>
          <a:bodyPr lIns="0" tIns="0" rIns="0" bIns="0" rtlCol="0" anchor="t">
            <a:spAutoFit/>
          </a:bodyPr>
          <a:lstStyle/>
          <a:p>
            <a:pPr algn="just">
              <a:lnSpc>
                <a:spcPts val="3045"/>
              </a:lnSpc>
              <a:spcBef>
                <a:spcPct val="0"/>
              </a:spcBef>
            </a:pPr>
            <a:r>
              <a:rPr lang="nl-NL"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Biên bản phối hợp giám sát liên thị trường vào ngày 10/08/2018 </a:t>
            </a:r>
            <a:r>
              <a:rPr lang="vi-VN"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để làm cơ sở triển khai hoạt động giám sát liên thị trường</a:t>
            </a:r>
            <a:endPar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r">
              <a:lnSpc>
                <a:spcPts val="3045"/>
              </a:lnSpc>
              <a:spcBef>
                <a:spcPct val="0"/>
              </a:spcBef>
            </a:pPr>
            <a:r>
              <a:rPr lang="en-US" sz="3000" u="none" dirty="0">
                <a:solidFill>
                  <a:srgbClr val="082E2D"/>
                </a:solidFill>
                <a:latin typeface="Poppins"/>
              </a:rPr>
              <a:t>.</a:t>
            </a:r>
          </a:p>
        </p:txBody>
      </p:sp>
      <p:sp>
        <p:nvSpPr>
          <p:cNvPr id="18" name="TextBox 18"/>
          <p:cNvSpPr txBox="1"/>
          <p:nvPr/>
        </p:nvSpPr>
        <p:spPr>
          <a:xfrm>
            <a:off x="12233077" y="1005364"/>
            <a:ext cx="5445323" cy="3488134"/>
          </a:xfrm>
          <a:prstGeom prst="rect">
            <a:avLst/>
          </a:prstGeom>
        </p:spPr>
        <p:txBody>
          <a:bodyPr wrap="square" lIns="0" tIns="0" rIns="0" bIns="0" rtlCol="0" anchor="t">
            <a:spAutoFit/>
          </a:bodyPr>
          <a:lstStyle/>
          <a:p>
            <a:pPr lvl="0" indent="-342900" algn="just">
              <a:lnSpc>
                <a:spcPts val="3359"/>
              </a:lnSpc>
              <a:spcBef>
                <a:spcPct val="0"/>
              </a:spcBef>
              <a:buFontTx/>
              <a:buChar char="-"/>
            </a:pP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Nghị</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đinh</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156/2020/NĐ-CP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quy</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định</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về</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xử</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phạt</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trong</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lĩnh</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vực</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chứng</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khoán</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và</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thị</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trường</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chứng</a:t>
            </a:r>
            <a:r>
              <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khoán</a:t>
            </a:r>
            <a:endParaRPr lang="en-US" sz="3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ts val="3359"/>
              </a:lnSpc>
              <a:spcBef>
                <a:spcPct val="0"/>
              </a:spcBef>
            </a:pP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Nghị</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158/2020/NĐ-CP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về</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chứng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khoán</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phái</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sinh</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thị</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trường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chứng</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khoán</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phái</a:t>
            </a:r>
            <a:r>
              <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sinh</a:t>
            </a:r>
            <a:endParaRPr lang="en-US" sz="3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r">
              <a:lnSpc>
                <a:spcPts val="3359"/>
              </a:lnSpc>
              <a:spcBef>
                <a:spcPct val="0"/>
              </a:spcBef>
              <a:buFontTx/>
              <a:buChar char="-"/>
            </a:pPr>
            <a:endParaRPr lang="en-US" sz="3000" u="none" dirty="0">
              <a:solidFill>
                <a:srgbClr val="082E2D"/>
              </a:solidFill>
              <a:latin typeface="Poppins Bold"/>
            </a:endParaRPr>
          </a:p>
        </p:txBody>
      </p:sp>
      <p:grpSp>
        <p:nvGrpSpPr>
          <p:cNvPr id="19" name="Group 19"/>
          <p:cNvGrpSpPr/>
          <p:nvPr/>
        </p:nvGrpSpPr>
        <p:grpSpPr>
          <a:xfrm>
            <a:off x="6678405" y="3010559"/>
            <a:ext cx="4925510" cy="3841010"/>
            <a:chOff x="0" y="0"/>
            <a:chExt cx="7648293" cy="5975492"/>
          </a:xfrm>
        </p:grpSpPr>
        <p:grpSp>
          <p:nvGrpSpPr>
            <p:cNvPr id="20" name="Group 20"/>
            <p:cNvGrpSpPr/>
            <p:nvPr/>
          </p:nvGrpSpPr>
          <p:grpSpPr>
            <a:xfrm>
              <a:off x="0" y="0"/>
              <a:ext cx="7648293" cy="5975492"/>
              <a:chOff x="0" y="0"/>
              <a:chExt cx="2404597" cy="1878674"/>
            </a:xfrm>
          </p:grpSpPr>
          <p:sp>
            <p:nvSpPr>
              <p:cNvPr id="21" name="Freeform 21"/>
              <p:cNvSpPr/>
              <p:nvPr/>
            </p:nvSpPr>
            <p:spPr>
              <a:xfrm>
                <a:off x="0" y="0"/>
                <a:ext cx="2404596" cy="1878674"/>
              </a:xfrm>
              <a:custGeom>
                <a:avLst/>
                <a:gdLst/>
                <a:ahLst/>
                <a:cxnLst/>
                <a:rect l="l" t="t" r="r" b="b"/>
                <a:pathLst>
                  <a:path w="2404596" h="1878674">
                    <a:moveTo>
                      <a:pt x="0" y="0"/>
                    </a:moveTo>
                    <a:lnTo>
                      <a:pt x="2404596" y="0"/>
                    </a:lnTo>
                    <a:lnTo>
                      <a:pt x="2404596" y="1878674"/>
                    </a:lnTo>
                    <a:lnTo>
                      <a:pt x="0" y="1878674"/>
                    </a:lnTo>
                    <a:close/>
                  </a:path>
                </a:pathLst>
              </a:custGeom>
              <a:solidFill>
                <a:srgbClr val="FFFFFF"/>
              </a:solidFill>
            </p:spPr>
          </p:sp>
        </p:grpSp>
        <p:sp>
          <p:nvSpPr>
            <p:cNvPr id="22" name="TextBox 22"/>
            <p:cNvSpPr txBox="1"/>
            <p:nvPr/>
          </p:nvSpPr>
          <p:spPr>
            <a:xfrm>
              <a:off x="759140" y="1252292"/>
              <a:ext cx="6130013" cy="2633458"/>
            </a:xfrm>
            <a:prstGeom prst="rect">
              <a:avLst/>
            </a:prstGeom>
          </p:spPr>
          <p:txBody>
            <a:bodyPr lIns="0" tIns="0" rIns="0" bIns="0" rtlCol="0" anchor="t">
              <a:spAutoFit/>
            </a:bodyPr>
            <a:lstStyle/>
            <a:p>
              <a:pPr marL="0" lvl="0" indent="0" algn="ctr">
                <a:lnSpc>
                  <a:spcPts val="6614"/>
                </a:lnSpc>
                <a:spcBef>
                  <a:spcPct val="0"/>
                </a:spcBef>
              </a:pPr>
              <a:r>
                <a:rPr lang="en-US" sz="6749" u="none" dirty="0" err="1">
                  <a:solidFill>
                    <a:srgbClr val="082E2D"/>
                  </a:solidFill>
                  <a:latin typeface="Times New Roman" panose="02020603050405020304" pitchFamily="18" charset="0"/>
                  <a:cs typeface="Times New Roman" panose="02020603050405020304" pitchFamily="18" charset="0"/>
                </a:rPr>
                <a:t>Quy</a:t>
              </a:r>
              <a:r>
                <a:rPr lang="en-US" sz="6749" u="none" dirty="0">
                  <a:solidFill>
                    <a:srgbClr val="082E2D"/>
                  </a:solidFill>
                  <a:latin typeface="Times New Roman" panose="02020603050405020304" pitchFamily="18" charset="0"/>
                  <a:cs typeface="Times New Roman" panose="02020603050405020304" pitchFamily="18" charset="0"/>
                </a:rPr>
                <a:t> </a:t>
              </a:r>
              <a:r>
                <a:rPr lang="en-US" sz="6749" u="none" dirty="0" err="1">
                  <a:solidFill>
                    <a:srgbClr val="082E2D"/>
                  </a:solidFill>
                  <a:latin typeface="Times New Roman" panose="02020603050405020304" pitchFamily="18" charset="0"/>
                  <a:cs typeface="Times New Roman" panose="02020603050405020304" pitchFamily="18" charset="0"/>
                </a:rPr>
                <a:t>định</a:t>
              </a:r>
              <a:r>
                <a:rPr lang="en-US" sz="6749" u="none" dirty="0">
                  <a:solidFill>
                    <a:srgbClr val="082E2D"/>
                  </a:solidFill>
                  <a:latin typeface="Times New Roman" panose="02020603050405020304" pitchFamily="18" charset="0"/>
                  <a:cs typeface="Times New Roman" panose="02020603050405020304" pitchFamily="18" charset="0"/>
                </a:rPr>
                <a:t> </a:t>
              </a:r>
              <a:r>
                <a:rPr lang="en-US" sz="6749" dirty="0" err="1">
                  <a:solidFill>
                    <a:srgbClr val="082E2D"/>
                  </a:solidFill>
                  <a:latin typeface="Times New Roman" panose="02020603050405020304" pitchFamily="18" charset="0"/>
                  <a:cs typeface="Times New Roman" panose="02020603050405020304" pitchFamily="18" charset="0"/>
                </a:rPr>
                <a:t>P</a:t>
              </a:r>
              <a:r>
                <a:rPr lang="en-US" sz="6749" u="none" dirty="0" err="1">
                  <a:solidFill>
                    <a:srgbClr val="082E2D"/>
                  </a:solidFill>
                  <a:latin typeface="Times New Roman" panose="02020603050405020304" pitchFamily="18" charset="0"/>
                  <a:cs typeface="Times New Roman" panose="02020603050405020304" pitchFamily="18" charset="0"/>
                </a:rPr>
                <a:t>háp</a:t>
              </a:r>
              <a:r>
                <a:rPr lang="en-US" sz="6749" u="none" dirty="0">
                  <a:solidFill>
                    <a:srgbClr val="082E2D"/>
                  </a:solidFill>
                  <a:latin typeface="Times New Roman" panose="02020603050405020304" pitchFamily="18" charset="0"/>
                  <a:cs typeface="Times New Roman" panose="02020603050405020304" pitchFamily="18" charset="0"/>
                </a:rPr>
                <a:t> </a:t>
              </a:r>
              <a:r>
                <a:rPr lang="en-US" sz="6749" u="none" dirty="0" err="1">
                  <a:solidFill>
                    <a:srgbClr val="082E2D"/>
                  </a:solidFill>
                  <a:latin typeface="Times New Roman" panose="02020603050405020304" pitchFamily="18" charset="0"/>
                  <a:cs typeface="Times New Roman" panose="02020603050405020304" pitchFamily="18" charset="0"/>
                </a:rPr>
                <a:t>lý</a:t>
              </a:r>
              <a:endParaRPr lang="en-US" sz="6749" u="none" dirty="0">
                <a:solidFill>
                  <a:srgbClr val="082E2D"/>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768410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10" name="TextBox 10"/>
          <p:cNvSpPr txBox="1"/>
          <p:nvPr/>
        </p:nvSpPr>
        <p:spPr>
          <a:xfrm>
            <a:off x="457200" y="1257300"/>
            <a:ext cx="17373600" cy="5447645"/>
          </a:xfrm>
          <a:prstGeom prst="rect">
            <a:avLst/>
          </a:prstGeom>
        </p:spPr>
        <p:txBody>
          <a:bodyPr wrap="square" lIns="0" tIns="0" rIns="0" bIns="0" rtlCol="0" anchor="t">
            <a:spAutoFit/>
          </a:bodyPr>
          <a:lstStyle/>
          <a:p>
            <a:pPr algn="just">
              <a:lnSpc>
                <a:spcPct val="150000"/>
              </a:lnSpc>
            </a:pPr>
            <a:r>
              <a:rPr lang="en-US" sz="3200" b="1" i="1" dirty="0" err="1">
                <a:solidFill>
                  <a:schemeClr val="bg1"/>
                </a:solidFill>
                <a:effectLst/>
                <a:latin typeface="Times New Roman" panose="02020603050405020304" pitchFamily="18" charset="0"/>
                <a:cs typeface="Times New Roman" panose="02020603050405020304" pitchFamily="18" charset="0"/>
              </a:rPr>
              <a:t>Chủ</a:t>
            </a:r>
            <a:r>
              <a:rPr lang="en-US" sz="3200" b="1" i="1" dirty="0">
                <a:solidFill>
                  <a:schemeClr val="bg1"/>
                </a:solidFill>
                <a:effectLst/>
                <a:latin typeface="Times New Roman" panose="02020603050405020304" pitchFamily="18" charset="0"/>
                <a:cs typeface="Times New Roman" panose="02020603050405020304" pitchFamily="18" charset="0"/>
              </a:rPr>
              <a:t> </a:t>
            </a:r>
            <a:r>
              <a:rPr lang="en-US" sz="3200" b="1" i="1" dirty="0" err="1">
                <a:solidFill>
                  <a:schemeClr val="bg1"/>
                </a:solidFill>
                <a:effectLst/>
                <a:latin typeface="Times New Roman" panose="02020603050405020304" pitchFamily="18" charset="0"/>
                <a:cs typeface="Times New Roman" panose="02020603050405020304" pitchFamily="18" charset="0"/>
              </a:rPr>
              <a:t>thể</a:t>
            </a:r>
            <a:r>
              <a:rPr lang="en-US" sz="3200" b="1" i="1" dirty="0">
                <a:solidFill>
                  <a:schemeClr val="bg1"/>
                </a:solidFill>
                <a:effectLst/>
                <a:latin typeface="Times New Roman" panose="02020603050405020304" pitchFamily="18" charset="0"/>
                <a:cs typeface="Times New Roman" panose="02020603050405020304" pitchFamily="18" charset="0"/>
              </a:rPr>
              <a:t> </a:t>
            </a:r>
            <a:r>
              <a:rPr lang="en-US" sz="3200" b="1" i="1" dirty="0" err="1">
                <a:solidFill>
                  <a:schemeClr val="bg1"/>
                </a:solidFill>
                <a:effectLst/>
                <a:latin typeface="Times New Roman" panose="02020603050405020304" pitchFamily="18" charset="0"/>
                <a:cs typeface="Times New Roman" panose="02020603050405020304" pitchFamily="18" charset="0"/>
              </a:rPr>
              <a:t>giám</a:t>
            </a:r>
            <a:r>
              <a:rPr lang="en-US" sz="3200" b="1" i="1" dirty="0">
                <a:solidFill>
                  <a:schemeClr val="bg1"/>
                </a:solidFill>
                <a:effectLst/>
                <a:latin typeface="Times New Roman" panose="02020603050405020304" pitchFamily="18" charset="0"/>
                <a:cs typeface="Times New Roman" panose="02020603050405020304" pitchFamily="18" charset="0"/>
              </a:rPr>
              <a:t> </a:t>
            </a:r>
            <a:r>
              <a:rPr lang="en-US" sz="3200" b="1" i="1" dirty="0" err="1">
                <a:solidFill>
                  <a:schemeClr val="bg1"/>
                </a:solidFill>
                <a:effectLst/>
                <a:latin typeface="Times New Roman" panose="02020603050405020304" pitchFamily="18" charset="0"/>
                <a:cs typeface="Times New Roman" panose="02020603050405020304" pitchFamily="18" charset="0"/>
              </a:rPr>
              <a:t>sát</a:t>
            </a:r>
            <a:r>
              <a:rPr lang="en-US" sz="3200" b="1" i="1" dirty="0">
                <a:solidFill>
                  <a:schemeClr val="bg1"/>
                </a:solidFill>
                <a:effectLst/>
                <a:latin typeface="Times New Roman" panose="02020603050405020304" pitchFamily="18" charset="0"/>
                <a:cs typeface="Times New Roman" panose="02020603050405020304" pitchFamily="18" charset="0"/>
              </a:rPr>
              <a:t> – </a:t>
            </a:r>
            <a:r>
              <a:rPr lang="en-US" sz="3200" b="1" i="1" dirty="0" err="1">
                <a:solidFill>
                  <a:schemeClr val="bg1"/>
                </a:solidFill>
                <a:effectLst/>
                <a:latin typeface="Times New Roman" panose="02020603050405020304" pitchFamily="18" charset="0"/>
                <a:cs typeface="Times New Roman" panose="02020603050405020304" pitchFamily="18" charset="0"/>
              </a:rPr>
              <a:t>Quy</a:t>
            </a:r>
            <a:r>
              <a:rPr lang="en-US" sz="3200" b="1" i="1" dirty="0">
                <a:solidFill>
                  <a:schemeClr val="bg1"/>
                </a:solidFill>
                <a:effectLst/>
                <a:latin typeface="Times New Roman" panose="02020603050405020304" pitchFamily="18" charset="0"/>
                <a:cs typeface="Times New Roman" panose="02020603050405020304" pitchFamily="18" charset="0"/>
              </a:rPr>
              <a:t> </a:t>
            </a:r>
            <a:r>
              <a:rPr lang="en-US" sz="3200" b="1" i="1" dirty="0" err="1">
                <a:solidFill>
                  <a:schemeClr val="bg1"/>
                </a:solidFill>
                <a:effectLst/>
                <a:latin typeface="Times New Roman" panose="02020603050405020304" pitchFamily="18" charset="0"/>
                <a:cs typeface="Times New Roman" panose="02020603050405020304" pitchFamily="18" charset="0"/>
              </a:rPr>
              <a:t>định</a:t>
            </a:r>
            <a:r>
              <a:rPr lang="en-US" sz="3200" b="1" i="1" dirty="0">
                <a:solidFill>
                  <a:schemeClr val="bg1"/>
                </a:solidFill>
                <a:effectLst/>
                <a:latin typeface="Times New Roman" panose="02020603050405020304" pitchFamily="18" charset="0"/>
                <a:cs typeface="Times New Roman" panose="02020603050405020304" pitchFamily="18" charset="0"/>
              </a:rPr>
              <a:t> </a:t>
            </a:r>
            <a:r>
              <a:rPr lang="en-US" sz="3200" b="1" i="1" dirty="0" err="1">
                <a:solidFill>
                  <a:schemeClr val="bg1"/>
                </a:solidFill>
                <a:effectLst/>
                <a:latin typeface="Times New Roman" panose="02020603050405020304" pitchFamily="18" charset="0"/>
                <a:cs typeface="Times New Roman" panose="02020603050405020304" pitchFamily="18" charset="0"/>
              </a:rPr>
              <a:t>tại</a:t>
            </a:r>
            <a:r>
              <a:rPr lang="en-US" sz="3200" b="1" i="1" dirty="0">
                <a:solidFill>
                  <a:schemeClr val="bg1"/>
                </a:solidFill>
                <a:effectLst/>
                <a:latin typeface="Times New Roman" panose="02020603050405020304" pitchFamily="18" charset="0"/>
                <a:cs typeface="Times New Roman" panose="02020603050405020304" pitchFamily="18" charset="0"/>
              </a:rPr>
              <a:t> </a:t>
            </a:r>
            <a:r>
              <a:rPr lang="en-US" sz="3200" b="1" i="1" dirty="0" err="1">
                <a:solidFill>
                  <a:schemeClr val="bg1"/>
                </a:solidFill>
                <a:effectLst/>
                <a:latin typeface="Times New Roman" panose="02020603050405020304" pitchFamily="18" charset="0"/>
                <a:cs typeface="Times New Roman" panose="02020603050405020304" pitchFamily="18" charset="0"/>
              </a:rPr>
              <a:t>khoản</a:t>
            </a:r>
            <a:r>
              <a:rPr lang="en-US" sz="3200" b="1" i="1" dirty="0">
                <a:solidFill>
                  <a:schemeClr val="bg1"/>
                </a:solidFill>
                <a:effectLst/>
                <a:latin typeface="Times New Roman" panose="02020603050405020304" pitchFamily="18" charset="0"/>
                <a:cs typeface="Times New Roman" panose="02020603050405020304" pitchFamily="18" charset="0"/>
              </a:rPr>
              <a:t> 1 </a:t>
            </a:r>
            <a:r>
              <a:rPr lang="en-US" sz="3200" b="1" i="1" dirty="0" err="1">
                <a:solidFill>
                  <a:schemeClr val="bg1"/>
                </a:solidFill>
                <a:effectLst/>
                <a:latin typeface="Times New Roman" panose="02020603050405020304" pitchFamily="18" charset="0"/>
                <a:cs typeface="Times New Roman" panose="02020603050405020304" pitchFamily="18" charset="0"/>
              </a:rPr>
              <a:t>Điều</a:t>
            </a:r>
            <a:r>
              <a:rPr lang="en-US" sz="3200" b="1" i="1" dirty="0">
                <a:solidFill>
                  <a:schemeClr val="bg1"/>
                </a:solidFill>
                <a:effectLst/>
                <a:latin typeface="Times New Roman" panose="02020603050405020304" pitchFamily="18" charset="0"/>
                <a:cs typeface="Times New Roman" panose="02020603050405020304" pitchFamily="18" charset="0"/>
              </a:rPr>
              <a:t> 2 </a:t>
            </a:r>
            <a:r>
              <a:rPr lang="en-US" sz="3200" b="1" i="1" dirty="0" err="1">
                <a:solidFill>
                  <a:schemeClr val="bg1"/>
                </a:solidFill>
                <a:effectLst/>
                <a:latin typeface="Times New Roman" panose="02020603050405020304" pitchFamily="18" charset="0"/>
                <a:cs typeface="Times New Roman" panose="02020603050405020304" pitchFamily="18" charset="0"/>
              </a:rPr>
              <a:t>Thông</a:t>
            </a:r>
            <a:r>
              <a:rPr lang="en-US" sz="3200" b="1" i="1" dirty="0">
                <a:solidFill>
                  <a:schemeClr val="bg1"/>
                </a:solidFill>
                <a:effectLst/>
                <a:latin typeface="Times New Roman" panose="02020603050405020304" pitchFamily="18" charset="0"/>
                <a:cs typeface="Times New Roman" panose="02020603050405020304" pitchFamily="18" charset="0"/>
              </a:rPr>
              <a:t> </a:t>
            </a:r>
            <a:r>
              <a:rPr lang="en-US" sz="3200" b="1" i="1" dirty="0" err="1">
                <a:solidFill>
                  <a:schemeClr val="bg1"/>
                </a:solidFill>
                <a:effectLst/>
                <a:latin typeface="Times New Roman" panose="02020603050405020304" pitchFamily="18" charset="0"/>
                <a:cs typeface="Times New Roman" panose="02020603050405020304" pitchFamily="18" charset="0"/>
              </a:rPr>
              <a:t>tư</a:t>
            </a:r>
            <a:r>
              <a:rPr lang="en-US" sz="3200" b="1" i="1" dirty="0">
                <a:solidFill>
                  <a:schemeClr val="bg1"/>
                </a:solidFill>
                <a:effectLst/>
                <a:latin typeface="Times New Roman" panose="02020603050405020304" pitchFamily="18" charset="0"/>
                <a:cs typeface="Times New Roman" panose="02020603050405020304" pitchFamily="18" charset="0"/>
              </a:rPr>
              <a:t> 95/2020/TT-BTC</a:t>
            </a:r>
          </a:p>
          <a:p>
            <a:pPr algn="l">
              <a:spcBef>
                <a:spcPts val="600"/>
              </a:spcBef>
              <a:spcAft>
                <a:spcPts val="600"/>
              </a:spcAft>
            </a:pPr>
            <a:r>
              <a:rPr lang="vi-VN" sz="3200" b="0" i="0" dirty="0">
                <a:solidFill>
                  <a:schemeClr val="bg1"/>
                </a:solidFill>
                <a:effectLst/>
                <a:latin typeface="Times New Roman" panose="02020603050405020304" pitchFamily="18" charset="0"/>
                <a:cs typeface="Times New Roman" panose="02020603050405020304" pitchFamily="18" charset="0"/>
              </a:rPr>
              <a:t>a) Ủy ban Chứng khoán Nhà nước;</a:t>
            </a:r>
          </a:p>
          <a:p>
            <a:pPr algn="l">
              <a:spcBef>
                <a:spcPts val="600"/>
              </a:spcBef>
              <a:spcAft>
                <a:spcPts val="600"/>
              </a:spcAft>
            </a:pPr>
            <a:r>
              <a:rPr lang="vi-VN" sz="3200" b="0" i="0" dirty="0">
                <a:solidFill>
                  <a:schemeClr val="bg1"/>
                </a:solidFill>
                <a:effectLst/>
                <a:latin typeface="Times New Roman" panose="02020603050405020304" pitchFamily="18" charset="0"/>
                <a:cs typeface="Times New Roman" panose="02020603050405020304" pitchFamily="18" charset="0"/>
              </a:rPr>
              <a:t>b) Sở giao dịch chứng khoán Việt Nam;</a:t>
            </a:r>
          </a:p>
          <a:p>
            <a:pPr algn="l">
              <a:spcBef>
                <a:spcPts val="600"/>
              </a:spcBef>
              <a:spcAft>
                <a:spcPts val="600"/>
              </a:spcAft>
            </a:pPr>
            <a:r>
              <a:rPr lang="vi-VN" sz="3200" b="0" i="0" dirty="0">
                <a:solidFill>
                  <a:schemeClr val="bg1"/>
                </a:solidFill>
                <a:effectLst/>
                <a:latin typeface="Times New Roman" panose="02020603050405020304" pitchFamily="18" charset="0"/>
                <a:cs typeface="Times New Roman" panose="02020603050405020304" pitchFamily="18" charset="0"/>
              </a:rPr>
              <a:t>c) Các công ty con của Sở giao dịch chứng khoán Việt Nam bao gồm Sở giao dịch chứng khoán Hà Nội, Sở giao dịch chứng khoán thành phố Hồ Chí Minh (sau đây gọi chung là Sở giao dịch chứng khoán);</a:t>
            </a:r>
          </a:p>
          <a:p>
            <a:pPr algn="l">
              <a:spcBef>
                <a:spcPts val="600"/>
              </a:spcBef>
              <a:spcAft>
                <a:spcPts val="600"/>
              </a:spcAft>
            </a:pPr>
            <a:r>
              <a:rPr lang="vi-VN" sz="3200" b="0" i="0" dirty="0">
                <a:solidFill>
                  <a:schemeClr val="bg1"/>
                </a:solidFill>
                <a:effectLst/>
                <a:latin typeface="Times New Roman" panose="02020603050405020304" pitchFamily="18" charset="0"/>
                <a:cs typeface="Times New Roman" panose="02020603050405020304" pitchFamily="18" charset="0"/>
              </a:rPr>
              <a:t>d) Tổng Công ty lưu ký và bù trừ chứng khoán Việt Nam;</a:t>
            </a:r>
          </a:p>
          <a:p>
            <a:pPr algn="l">
              <a:spcBef>
                <a:spcPts val="600"/>
              </a:spcBef>
              <a:spcAft>
                <a:spcPts val="600"/>
              </a:spcAft>
            </a:pPr>
            <a:r>
              <a:rPr lang="vi-VN" sz="3200" b="0" i="0" dirty="0">
                <a:solidFill>
                  <a:schemeClr val="bg1"/>
                </a:solidFill>
                <a:effectLst/>
                <a:latin typeface="Times New Roman" panose="02020603050405020304" pitchFamily="18" charset="0"/>
                <a:cs typeface="Times New Roman" panose="02020603050405020304" pitchFamily="18" charset="0"/>
              </a:rPr>
              <a:t>đ) Thành viên giao dịch (không bao gồm thành viên giao dịch đặc biệt trên thị trường chứng khoán phái sinh và thị trường trái phiếu Chính phủ).</a:t>
            </a:r>
          </a:p>
          <a:p>
            <a:pPr algn="just"/>
            <a:endParaRPr lang="en-US" sz="3200" b="1" i="1" dirty="0">
              <a:solidFill>
                <a:schemeClr val="bg1"/>
              </a:solidFill>
              <a:latin typeface="Times New Roman" panose="02020603050405020304" pitchFamily="18" charset="0"/>
              <a:cs typeface="Times New Roman" panose="02020603050405020304" pitchFamily="18" charset="0"/>
            </a:endParaRPr>
          </a:p>
        </p:txBody>
      </p:sp>
      <p:sp>
        <p:nvSpPr>
          <p:cNvPr id="12" name="TextBox 12"/>
          <p:cNvSpPr txBox="1"/>
          <p:nvPr/>
        </p:nvSpPr>
        <p:spPr>
          <a:xfrm>
            <a:off x="11344275" y="3206797"/>
            <a:ext cx="4819650" cy="1161600"/>
          </a:xfrm>
          <a:prstGeom prst="rect">
            <a:avLst/>
          </a:prstGeom>
        </p:spPr>
        <p:txBody>
          <a:bodyPr lIns="0" tIns="0" rIns="0" bIns="0" rtlCol="0" anchor="t">
            <a:spAutoFit/>
          </a:bodyPr>
          <a:lstStyle/>
          <a:p>
            <a:pPr marL="0" lvl="0" indent="0" algn="ctr">
              <a:lnSpc>
                <a:spcPts val="4608"/>
              </a:lnSpc>
            </a:pPr>
            <a:endParaRPr lang="en-US" sz="3600">
              <a:solidFill>
                <a:srgbClr val="FFFFFF"/>
              </a:solidFill>
              <a:latin typeface="Poppins Bold"/>
            </a:endParaRPr>
          </a:p>
          <a:p>
            <a:pPr marL="0" lvl="0" indent="0" algn="ctr">
              <a:lnSpc>
                <a:spcPts val="4608"/>
              </a:lnSpc>
            </a:pPr>
            <a:endParaRPr lang="en-US" sz="3600">
              <a:solidFill>
                <a:srgbClr val="FFFFFF"/>
              </a:solidFill>
              <a:latin typeface="Poppins Bold"/>
            </a:endParaRPr>
          </a:p>
        </p:txBody>
      </p:sp>
    </p:spTree>
    <p:extLst>
      <p:ext uri="{BB962C8B-B14F-4D97-AF65-F5344CB8AC3E}">
        <p14:creationId xmlns:p14="http://schemas.microsoft.com/office/powerpoint/2010/main" val="400373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10" name="TextBox 10"/>
          <p:cNvSpPr txBox="1"/>
          <p:nvPr/>
        </p:nvSpPr>
        <p:spPr>
          <a:xfrm>
            <a:off x="457200" y="1257300"/>
            <a:ext cx="17373600" cy="5647700"/>
          </a:xfrm>
          <a:prstGeom prst="rect">
            <a:avLst/>
          </a:prstGeom>
        </p:spPr>
        <p:txBody>
          <a:bodyPr wrap="square" lIns="0" tIns="0" rIns="0" bIns="0" rtlCol="0" anchor="t">
            <a:spAutoFit/>
          </a:bodyPr>
          <a:lstStyle/>
          <a:p>
            <a:pPr algn="just"/>
            <a:r>
              <a:rPr lang="en-US" sz="3200" b="1" i="1" dirty="0" err="1">
                <a:solidFill>
                  <a:schemeClr val="bg1"/>
                </a:solidFill>
                <a:latin typeface="Times New Roman" panose="02020603050405020304" pitchFamily="18" charset="0"/>
                <a:cs typeface="Times New Roman" panose="02020603050405020304" pitchFamily="18" charset="0"/>
              </a:rPr>
              <a:t>Khoản</a:t>
            </a:r>
            <a:r>
              <a:rPr lang="en-US" sz="3200" b="1" i="1" dirty="0">
                <a:solidFill>
                  <a:schemeClr val="bg1"/>
                </a:solidFill>
                <a:latin typeface="Times New Roman" panose="02020603050405020304" pitchFamily="18" charset="0"/>
                <a:cs typeface="Times New Roman" panose="02020603050405020304" pitchFamily="18" charset="0"/>
              </a:rPr>
              <a:t> 3 </a:t>
            </a:r>
            <a:r>
              <a:rPr lang="en-US" sz="3200" b="1" i="1" dirty="0" err="1">
                <a:solidFill>
                  <a:schemeClr val="bg1"/>
                </a:solidFill>
                <a:latin typeface="Times New Roman" panose="02020603050405020304" pitchFamily="18" charset="0"/>
                <a:cs typeface="Times New Roman" panose="02020603050405020304" pitchFamily="18" charset="0"/>
              </a:rPr>
              <a:t>Điều</a:t>
            </a:r>
            <a:r>
              <a:rPr lang="en-US" sz="3200" b="1" i="1" dirty="0">
                <a:solidFill>
                  <a:schemeClr val="bg1"/>
                </a:solidFill>
                <a:latin typeface="Times New Roman" panose="02020603050405020304" pitchFamily="18" charset="0"/>
                <a:cs typeface="Times New Roman" panose="02020603050405020304" pitchFamily="18" charset="0"/>
              </a:rPr>
              <a:t> 12 </a:t>
            </a:r>
            <a:r>
              <a:rPr lang="en-US" sz="3200" b="1" i="1" dirty="0" err="1">
                <a:solidFill>
                  <a:schemeClr val="bg1"/>
                </a:solidFill>
                <a:latin typeface="Times New Roman" panose="02020603050405020304" pitchFamily="18" charset="0"/>
                <a:cs typeface="Times New Roman" panose="02020603050405020304" pitchFamily="18" charset="0"/>
              </a:rPr>
              <a:t>Luật</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Chứng</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khoán</a:t>
            </a:r>
            <a:r>
              <a:rPr lang="en-US" sz="3200" b="1" i="1" dirty="0">
                <a:solidFill>
                  <a:schemeClr val="bg1"/>
                </a:solidFill>
                <a:latin typeface="Times New Roman" panose="02020603050405020304" pitchFamily="18" charset="0"/>
                <a:cs typeface="Times New Roman" panose="02020603050405020304" pitchFamily="18" charset="0"/>
              </a:rPr>
              <a:t> 2019 &lt;</a:t>
            </a:r>
            <a:r>
              <a:rPr lang="en-US" sz="3200" b="1" i="1" dirty="0" err="1">
                <a:solidFill>
                  <a:schemeClr val="bg1"/>
                </a:solidFill>
                <a:latin typeface="Times New Roman" panose="02020603050405020304" pitchFamily="18" charset="0"/>
                <a:cs typeface="Times New Roman" panose="02020603050405020304" pitchFamily="18" charset="0"/>
              </a:rPr>
              <a:t>Các</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hành</a:t>
            </a:r>
            <a:r>
              <a:rPr lang="en-US" sz="3200" b="1" i="1" dirty="0">
                <a:solidFill>
                  <a:schemeClr val="bg1"/>
                </a:solidFill>
                <a:latin typeface="Times New Roman" panose="02020603050405020304" pitchFamily="18" charset="0"/>
                <a:cs typeface="Times New Roman" panose="02020603050405020304" pitchFamily="18" charset="0"/>
              </a:rPr>
              <a:t> vi </a:t>
            </a:r>
            <a:r>
              <a:rPr lang="en-US" sz="3200" b="1" i="1" dirty="0" err="1">
                <a:solidFill>
                  <a:schemeClr val="bg1"/>
                </a:solidFill>
                <a:latin typeface="Times New Roman" panose="02020603050405020304" pitchFamily="18" charset="0"/>
                <a:cs typeface="Times New Roman" panose="02020603050405020304" pitchFamily="18" charset="0"/>
              </a:rPr>
              <a:t>bị</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nghiêm</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cấm</a:t>
            </a:r>
            <a:r>
              <a:rPr lang="en-US" sz="3200" b="1" i="1" dirty="0">
                <a:solidFill>
                  <a:schemeClr val="bg1"/>
                </a:solidFill>
                <a:latin typeface="Times New Roman" panose="02020603050405020304" pitchFamily="18" charset="0"/>
                <a:cs typeface="Times New Roman" panose="02020603050405020304" pitchFamily="18" charset="0"/>
              </a:rPr>
              <a:t>&gt;:</a:t>
            </a:r>
          </a:p>
          <a:p>
            <a:pPr marL="0" indent="0" algn="just">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2. Sử dụng thông tin nội bộ để mua, bán chứng khoán cho ch</a:t>
            </a:r>
            <a:r>
              <a:rPr lang="en-US" sz="3200" dirty="0">
                <a:solidFill>
                  <a:schemeClr val="bg1"/>
                </a:solidFill>
                <a:effectLst/>
                <a:latin typeface="Times New Roman" panose="02020603050405020304" pitchFamily="18" charset="0"/>
                <a:ea typeface="Times New Roman" panose="02020603050405020304" pitchFamily="18" charset="0"/>
              </a:rPr>
              <a:t>í</a:t>
            </a:r>
            <a:r>
              <a:rPr lang="vi-VN" sz="3200" dirty="0">
                <a:solidFill>
                  <a:schemeClr val="bg1"/>
                </a:solidFill>
                <a:effectLst/>
                <a:latin typeface="Times New Roman" panose="02020603050405020304" pitchFamily="18" charset="0"/>
                <a:ea typeface="Times New Roman" panose="02020603050405020304" pitchFamily="18" charset="0"/>
              </a:rPr>
              <a:t>nh mình hoặc cho người khác; tiết lộ, cung cấp thông tin nội bộ hoặc tư vấn cho người khác mua, bán chứng khoán trên cơ sở thông tin nội bộ.</a:t>
            </a:r>
            <a:endParaRPr lang="en-US" sz="3200" dirty="0">
              <a:solidFill>
                <a:schemeClr val="bg1"/>
              </a:solidFill>
              <a:effectLst/>
              <a:latin typeface="Times New Roman" panose="02020603050405020304" pitchFamily="18" charset="0"/>
              <a:ea typeface="Times New Roman" panose="02020603050405020304" pitchFamily="18" charset="0"/>
            </a:endParaRPr>
          </a:p>
          <a:p>
            <a:pPr marL="0" indent="0" algn="just">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3. Sử dụng một hoặc nhiều tài khoản giao dịch của mình hoặc của người khác hoặc thông đồng để thực hiện việc mua, bán chứng khoán nhằm tạo ra cung, cầu giả tạo; giao dịch chứng khoán bằng hình thức cấu kết, lôi kéo người khác mua, bán để thao túng giá chứng khoán; kết hợp hoặc sử dụng các phương pháp giao dịch khác hoặc kết hợp tung tin đồn sai sự thật, cung cấp thông tin sai lệch ra công chúng để thao túng giá chứng khoán.</a:t>
            </a:r>
            <a:endParaRPr lang="en-US" sz="3200" dirty="0">
              <a:solidFill>
                <a:schemeClr val="bg1"/>
              </a:solidFill>
              <a:effectLst/>
              <a:latin typeface="Times New Roman" panose="02020603050405020304" pitchFamily="18" charset="0"/>
              <a:ea typeface="Times New Roman" panose="02020603050405020304" pitchFamily="18" charset="0"/>
            </a:endParaRPr>
          </a:p>
          <a:p>
            <a:pPr marL="0" indent="0" algn="just">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6. Cho người khác mượn tài khoản để giao dịch chứng khoán, đứng tên sở hữu chứng khoán hộ người khác dẫn đến hành vi thao túng giá chứng khoán.</a:t>
            </a:r>
            <a:endParaRPr lang="en-US" sz="3200" dirty="0">
              <a:solidFill>
                <a:schemeClr val="bg1"/>
              </a:solidFill>
              <a:effectLst/>
              <a:latin typeface="Times New Roman" panose="02020603050405020304" pitchFamily="18" charset="0"/>
              <a:ea typeface="Times New Roman" panose="02020603050405020304" pitchFamily="18" charset="0"/>
            </a:endParaRPr>
          </a:p>
          <a:p>
            <a:pPr algn="just"/>
            <a:r>
              <a:rPr lang="en-US" sz="3200" b="1" i="1" dirty="0">
                <a:solidFill>
                  <a:schemeClr val="bg1"/>
                </a:solidFill>
                <a:latin typeface="Times New Roman" panose="02020603050405020304" pitchFamily="18" charset="0"/>
                <a:cs typeface="Times New Roman" panose="02020603050405020304" pitchFamily="18" charset="0"/>
              </a:rPr>
              <a:t> </a:t>
            </a:r>
          </a:p>
        </p:txBody>
      </p:sp>
      <p:sp>
        <p:nvSpPr>
          <p:cNvPr id="12" name="TextBox 12"/>
          <p:cNvSpPr txBox="1"/>
          <p:nvPr/>
        </p:nvSpPr>
        <p:spPr>
          <a:xfrm>
            <a:off x="11344275" y="3206797"/>
            <a:ext cx="4819650" cy="1161600"/>
          </a:xfrm>
          <a:prstGeom prst="rect">
            <a:avLst/>
          </a:prstGeom>
        </p:spPr>
        <p:txBody>
          <a:bodyPr lIns="0" tIns="0" rIns="0" bIns="0" rtlCol="0" anchor="t">
            <a:spAutoFit/>
          </a:bodyPr>
          <a:lstStyle/>
          <a:p>
            <a:pPr marL="0" lvl="0" indent="0" algn="ctr">
              <a:lnSpc>
                <a:spcPts val="4608"/>
              </a:lnSpc>
            </a:pPr>
            <a:endParaRPr lang="en-US" sz="3600">
              <a:solidFill>
                <a:srgbClr val="FFFFFF"/>
              </a:solidFill>
              <a:latin typeface="Poppins Bold"/>
            </a:endParaRPr>
          </a:p>
          <a:p>
            <a:pPr marL="0" lvl="0" indent="0" algn="ctr">
              <a:lnSpc>
                <a:spcPts val="4608"/>
              </a:lnSpc>
            </a:pPr>
            <a:endParaRPr lang="en-US" sz="3600">
              <a:solidFill>
                <a:srgbClr val="FFFFFF"/>
              </a:solidFill>
              <a:latin typeface="Poppins Bold"/>
            </a:endParaRPr>
          </a:p>
        </p:txBody>
      </p:sp>
    </p:spTree>
    <p:extLst>
      <p:ext uri="{BB962C8B-B14F-4D97-AF65-F5344CB8AC3E}">
        <p14:creationId xmlns:p14="http://schemas.microsoft.com/office/powerpoint/2010/main" val="945494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10" name="TextBox 10"/>
          <p:cNvSpPr txBox="1"/>
          <p:nvPr/>
        </p:nvSpPr>
        <p:spPr>
          <a:xfrm>
            <a:off x="762000" y="2628900"/>
            <a:ext cx="16459200" cy="4173643"/>
          </a:xfrm>
          <a:prstGeom prst="rect">
            <a:avLst/>
          </a:prstGeom>
        </p:spPr>
        <p:txBody>
          <a:bodyPr wrap="square" lIns="0" tIns="0" rIns="0" bIns="0" rtlCol="0" anchor="t">
            <a:spAutoFit/>
          </a:bodyPr>
          <a:lstStyle/>
          <a:p>
            <a:pPr>
              <a:lnSpc>
                <a:spcPct val="150000"/>
              </a:lnSpc>
            </a:pPr>
            <a:r>
              <a:rPr lang="en-US" sz="3500" b="1" i="1" dirty="0" err="1">
                <a:solidFill>
                  <a:schemeClr val="bg1"/>
                </a:solidFill>
                <a:latin typeface="Times New Roman" panose="02020603050405020304" pitchFamily="18" charset="0"/>
                <a:cs typeface="Times New Roman" panose="02020603050405020304" pitchFamily="18" charset="0"/>
              </a:rPr>
              <a:t>Sử</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dụng</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thông</a:t>
            </a:r>
            <a:r>
              <a:rPr lang="en-US" sz="3500" b="1" i="1" dirty="0">
                <a:solidFill>
                  <a:schemeClr val="bg1"/>
                </a:solidFill>
                <a:latin typeface="Times New Roman" panose="02020603050405020304" pitchFamily="18" charset="0"/>
                <a:cs typeface="Times New Roman" panose="02020603050405020304" pitchFamily="18" charset="0"/>
              </a:rPr>
              <a:t> tin </a:t>
            </a:r>
            <a:r>
              <a:rPr lang="en-US" sz="3500" b="1" i="1" dirty="0" err="1">
                <a:solidFill>
                  <a:schemeClr val="bg1"/>
                </a:solidFill>
                <a:latin typeface="Times New Roman" panose="02020603050405020304" pitchFamily="18" charset="0"/>
                <a:cs typeface="Times New Roman" panose="02020603050405020304" pitchFamily="18" charset="0"/>
              </a:rPr>
              <a:t>nội</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bộ</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để</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mua</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bán</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chứng</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khoán</a:t>
            </a:r>
            <a:r>
              <a:rPr lang="en-US" sz="3500" b="1" i="1" dirty="0">
                <a:solidFill>
                  <a:schemeClr val="bg1"/>
                </a:solidFill>
                <a:latin typeface="Times New Roman" panose="02020603050405020304" pitchFamily="18" charset="0"/>
                <a:cs typeface="Times New Roman" panose="02020603050405020304" pitchFamily="18" charset="0"/>
              </a:rPr>
              <a:t> - </a:t>
            </a:r>
            <a:r>
              <a:rPr lang="en-US" sz="3500" b="1" i="1" dirty="0" err="1">
                <a:solidFill>
                  <a:schemeClr val="bg1"/>
                </a:solidFill>
                <a:latin typeface="Times New Roman" panose="02020603050405020304" pitchFamily="18" charset="0"/>
                <a:cs typeface="Times New Roman" panose="02020603050405020304" pitchFamily="18" charset="0"/>
              </a:rPr>
              <a:t>Khoản</a:t>
            </a:r>
            <a:r>
              <a:rPr lang="en-US" sz="3500" b="1" i="1" dirty="0">
                <a:solidFill>
                  <a:schemeClr val="bg1"/>
                </a:solidFill>
                <a:latin typeface="Times New Roman" panose="02020603050405020304" pitchFamily="18" charset="0"/>
                <a:cs typeface="Times New Roman" panose="02020603050405020304" pitchFamily="18" charset="0"/>
              </a:rPr>
              <a:t> 1 </a:t>
            </a:r>
            <a:r>
              <a:rPr lang="en-US" sz="3500" b="1" i="1" dirty="0" err="1">
                <a:solidFill>
                  <a:schemeClr val="bg1"/>
                </a:solidFill>
                <a:latin typeface="Times New Roman" panose="02020603050405020304" pitchFamily="18" charset="0"/>
                <a:cs typeface="Times New Roman" panose="02020603050405020304" pitchFamily="18" charset="0"/>
              </a:rPr>
              <a:t>Điều</a:t>
            </a:r>
            <a:r>
              <a:rPr lang="en-US" sz="3500" b="1" i="1" dirty="0">
                <a:solidFill>
                  <a:schemeClr val="bg1"/>
                </a:solidFill>
                <a:latin typeface="Times New Roman" panose="02020603050405020304" pitchFamily="18" charset="0"/>
                <a:cs typeface="Times New Roman" panose="02020603050405020304" pitchFamily="18" charset="0"/>
              </a:rPr>
              <a:t> 3 </a:t>
            </a:r>
            <a:r>
              <a:rPr lang="en-US" sz="3500" b="1" i="1" dirty="0" err="1">
                <a:solidFill>
                  <a:schemeClr val="bg1"/>
                </a:solidFill>
                <a:latin typeface="Times New Roman" panose="02020603050405020304" pitchFamily="18" charset="0"/>
                <a:cs typeface="Times New Roman" panose="02020603050405020304" pitchFamily="18" charset="0"/>
              </a:rPr>
              <a:t>Nghị</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định</a:t>
            </a:r>
            <a:r>
              <a:rPr lang="en-US" sz="3500" b="1" i="1" dirty="0">
                <a:solidFill>
                  <a:schemeClr val="bg1"/>
                </a:solidFill>
                <a:latin typeface="Times New Roman" panose="02020603050405020304" pitchFamily="18" charset="0"/>
                <a:cs typeface="Times New Roman" panose="02020603050405020304" pitchFamily="18" charset="0"/>
              </a:rPr>
              <a:t> 156/2020/NĐ-CP &lt;</a:t>
            </a:r>
            <a:r>
              <a:rPr lang="en-US" sz="3500" b="1" i="1" dirty="0" err="1">
                <a:solidFill>
                  <a:schemeClr val="bg1"/>
                </a:solidFill>
                <a:latin typeface="Times New Roman" panose="02020603050405020304" pitchFamily="18" charset="0"/>
                <a:cs typeface="Times New Roman" panose="02020603050405020304" pitchFamily="18" charset="0"/>
              </a:rPr>
              <a:t>Giải</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thích</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từ</a:t>
            </a:r>
            <a:r>
              <a:rPr lang="en-US" sz="3500" b="1" i="1" dirty="0">
                <a:solidFill>
                  <a:schemeClr val="bg1"/>
                </a:solidFill>
                <a:latin typeface="Times New Roman" panose="02020603050405020304" pitchFamily="18" charset="0"/>
                <a:cs typeface="Times New Roman" panose="02020603050405020304" pitchFamily="18" charset="0"/>
              </a:rPr>
              <a:t> </a:t>
            </a:r>
            <a:r>
              <a:rPr lang="en-US" sz="3500" b="1" i="1" dirty="0" err="1">
                <a:solidFill>
                  <a:schemeClr val="bg1"/>
                </a:solidFill>
                <a:latin typeface="Times New Roman" panose="02020603050405020304" pitchFamily="18" charset="0"/>
                <a:cs typeface="Times New Roman" panose="02020603050405020304" pitchFamily="18" charset="0"/>
              </a:rPr>
              <a:t>ngữ</a:t>
            </a:r>
            <a:r>
              <a:rPr lang="en-US" sz="3500" b="1" i="1" dirty="0">
                <a:solidFill>
                  <a:schemeClr val="bg1"/>
                </a:solidFill>
                <a:latin typeface="Times New Roman" panose="02020603050405020304" pitchFamily="18" charset="0"/>
                <a:cs typeface="Times New Roman" panose="02020603050405020304" pitchFamily="18" charset="0"/>
              </a:rPr>
              <a:t>&gt;: </a:t>
            </a:r>
          </a:p>
          <a:p>
            <a:pPr algn="l">
              <a:lnSpc>
                <a:spcPct val="150000"/>
              </a:lnSpc>
              <a:spcBef>
                <a:spcPts val="600"/>
              </a:spcBef>
              <a:spcAft>
                <a:spcPts val="600"/>
              </a:spcAft>
            </a:pPr>
            <a:r>
              <a:rPr lang="vi-VN" sz="3500" dirty="0">
                <a:solidFill>
                  <a:schemeClr val="bg1"/>
                </a:solidFill>
                <a:latin typeface="Times New Roman" panose="02020603050405020304" pitchFamily="18" charset="0"/>
              </a:rPr>
              <a:t>a) Sử dụng thông tin nội bộ để mua, bán chứng khoán cho chính mình hoặc cho người khác;</a:t>
            </a:r>
          </a:p>
          <a:p>
            <a:pPr algn="l">
              <a:lnSpc>
                <a:spcPct val="150000"/>
              </a:lnSpc>
              <a:spcBef>
                <a:spcPts val="600"/>
              </a:spcBef>
              <a:spcAft>
                <a:spcPts val="600"/>
              </a:spcAft>
            </a:pPr>
            <a:r>
              <a:rPr lang="vi-VN" sz="3500" dirty="0">
                <a:solidFill>
                  <a:schemeClr val="bg1"/>
                </a:solidFill>
                <a:latin typeface="Times New Roman" panose="02020603050405020304" pitchFamily="18" charset="0"/>
              </a:rPr>
              <a:t>b) Tiết lộ, cung cấp thông tin nội bộ hoặc tư vấn cho người khác mua, bán chứng khoán trên cơ sở thông tin nội bộ.</a:t>
            </a:r>
          </a:p>
        </p:txBody>
      </p:sp>
      <p:sp>
        <p:nvSpPr>
          <p:cNvPr id="12" name="TextBox 12"/>
          <p:cNvSpPr txBox="1"/>
          <p:nvPr/>
        </p:nvSpPr>
        <p:spPr>
          <a:xfrm>
            <a:off x="11344275" y="3206797"/>
            <a:ext cx="4819650" cy="1161600"/>
          </a:xfrm>
          <a:prstGeom prst="rect">
            <a:avLst/>
          </a:prstGeom>
        </p:spPr>
        <p:txBody>
          <a:bodyPr lIns="0" tIns="0" rIns="0" bIns="0" rtlCol="0" anchor="t">
            <a:spAutoFit/>
          </a:bodyPr>
          <a:lstStyle/>
          <a:p>
            <a:pPr marL="0" lvl="0" indent="0" algn="ctr">
              <a:lnSpc>
                <a:spcPts val="4608"/>
              </a:lnSpc>
            </a:pPr>
            <a:endParaRPr lang="en-US" sz="3600">
              <a:solidFill>
                <a:srgbClr val="FFFFFF"/>
              </a:solidFill>
              <a:latin typeface="Poppins Bold"/>
            </a:endParaRPr>
          </a:p>
          <a:p>
            <a:pPr marL="0" lvl="0" indent="0" algn="ctr">
              <a:lnSpc>
                <a:spcPts val="4608"/>
              </a:lnSpc>
            </a:pPr>
            <a:endParaRPr lang="en-US" sz="3600">
              <a:solidFill>
                <a:srgbClr val="FFFFFF"/>
              </a:solidFill>
              <a:latin typeface="Poppins Bold"/>
            </a:endParaRPr>
          </a:p>
        </p:txBody>
      </p:sp>
    </p:spTree>
    <p:extLst>
      <p:ext uri="{BB962C8B-B14F-4D97-AF65-F5344CB8AC3E}">
        <p14:creationId xmlns:p14="http://schemas.microsoft.com/office/powerpoint/2010/main" val="3877293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10" name="TextBox 10"/>
          <p:cNvSpPr txBox="1"/>
          <p:nvPr/>
        </p:nvSpPr>
        <p:spPr>
          <a:xfrm>
            <a:off x="304799" y="952500"/>
            <a:ext cx="17449801" cy="8340745"/>
          </a:xfrm>
          <a:prstGeom prst="rect">
            <a:avLst/>
          </a:prstGeom>
        </p:spPr>
        <p:txBody>
          <a:bodyPr wrap="square" lIns="0" tIns="0" rIns="0" bIns="0" rtlCol="0" anchor="t">
            <a:spAutoFit/>
          </a:bodyPr>
          <a:lstStyle/>
          <a:p>
            <a:pPr algn="just"/>
            <a:r>
              <a:rPr lang="en-US" sz="3200" b="1" i="1" dirty="0">
                <a:solidFill>
                  <a:schemeClr val="bg1"/>
                </a:solidFill>
                <a:latin typeface="Times New Roman" panose="02020603050405020304" pitchFamily="18" charset="0"/>
                <a:cs typeface="Times New Roman" panose="02020603050405020304" pitchFamily="18" charset="0"/>
              </a:rPr>
              <a:t>Thao </a:t>
            </a:r>
            <a:r>
              <a:rPr lang="en-US" sz="3200" b="1" i="1" dirty="0" err="1">
                <a:solidFill>
                  <a:schemeClr val="bg1"/>
                </a:solidFill>
                <a:latin typeface="Times New Roman" panose="02020603050405020304" pitchFamily="18" charset="0"/>
                <a:cs typeface="Times New Roman" panose="02020603050405020304" pitchFamily="18" charset="0"/>
              </a:rPr>
              <a:t>túng</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thị</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trường</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chứng</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khoán</a:t>
            </a:r>
            <a:r>
              <a:rPr lang="en-US" sz="3200" b="1" i="1" dirty="0">
                <a:solidFill>
                  <a:schemeClr val="bg1"/>
                </a:solidFill>
                <a:latin typeface="Times New Roman" panose="02020603050405020304" pitchFamily="18" charset="0"/>
                <a:cs typeface="Times New Roman" panose="02020603050405020304" pitchFamily="18" charset="0"/>
              </a:rPr>
              <a:t> - </a:t>
            </a:r>
            <a:r>
              <a:rPr lang="en-US" sz="3200" b="1" i="1" dirty="0" err="1">
                <a:solidFill>
                  <a:schemeClr val="bg1"/>
                </a:solidFill>
                <a:latin typeface="Times New Roman" panose="02020603050405020304" pitchFamily="18" charset="0"/>
                <a:cs typeface="Times New Roman" panose="02020603050405020304" pitchFamily="18" charset="0"/>
              </a:rPr>
              <a:t>Khoản</a:t>
            </a:r>
            <a:r>
              <a:rPr lang="en-US" sz="3200" b="1" i="1" dirty="0">
                <a:solidFill>
                  <a:schemeClr val="bg1"/>
                </a:solidFill>
                <a:latin typeface="Times New Roman" panose="02020603050405020304" pitchFamily="18" charset="0"/>
                <a:cs typeface="Times New Roman" panose="02020603050405020304" pitchFamily="18" charset="0"/>
              </a:rPr>
              <a:t> 2 </a:t>
            </a:r>
            <a:r>
              <a:rPr lang="en-US" sz="3200" b="1" i="1" dirty="0" err="1">
                <a:solidFill>
                  <a:schemeClr val="bg1"/>
                </a:solidFill>
                <a:latin typeface="Times New Roman" panose="02020603050405020304" pitchFamily="18" charset="0"/>
                <a:cs typeface="Times New Roman" panose="02020603050405020304" pitchFamily="18" charset="0"/>
              </a:rPr>
              <a:t>Điều</a:t>
            </a:r>
            <a:r>
              <a:rPr lang="en-US" sz="3200" b="1" i="1" dirty="0">
                <a:solidFill>
                  <a:schemeClr val="bg1"/>
                </a:solidFill>
                <a:latin typeface="Times New Roman" panose="02020603050405020304" pitchFamily="18" charset="0"/>
                <a:cs typeface="Times New Roman" panose="02020603050405020304" pitchFamily="18" charset="0"/>
              </a:rPr>
              <a:t> 3 </a:t>
            </a:r>
            <a:r>
              <a:rPr lang="en-US" sz="3200" b="1" i="1" dirty="0" err="1">
                <a:solidFill>
                  <a:schemeClr val="bg1"/>
                </a:solidFill>
                <a:latin typeface="Times New Roman" panose="02020603050405020304" pitchFamily="18" charset="0"/>
                <a:cs typeface="Times New Roman" panose="02020603050405020304" pitchFamily="18" charset="0"/>
              </a:rPr>
              <a:t>Nghị</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định</a:t>
            </a:r>
            <a:r>
              <a:rPr lang="en-US" sz="3200" b="1" i="1" dirty="0">
                <a:solidFill>
                  <a:schemeClr val="bg1"/>
                </a:solidFill>
                <a:latin typeface="Times New Roman" panose="02020603050405020304" pitchFamily="18" charset="0"/>
                <a:cs typeface="Times New Roman" panose="02020603050405020304" pitchFamily="18" charset="0"/>
              </a:rPr>
              <a:t> 156/2020/NĐ-CP &lt;</a:t>
            </a:r>
            <a:r>
              <a:rPr lang="en-US" sz="3200" b="1" i="1" dirty="0" err="1">
                <a:solidFill>
                  <a:schemeClr val="bg1"/>
                </a:solidFill>
                <a:latin typeface="Times New Roman" panose="02020603050405020304" pitchFamily="18" charset="0"/>
                <a:cs typeface="Times New Roman" panose="02020603050405020304" pitchFamily="18" charset="0"/>
              </a:rPr>
              <a:t>Giải</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thích</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từ</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ngữ</a:t>
            </a:r>
            <a:r>
              <a:rPr lang="en-US" sz="3200" b="1" i="1" dirty="0">
                <a:solidFill>
                  <a:schemeClr val="bg1"/>
                </a:solidFill>
                <a:latin typeface="Times New Roman" panose="02020603050405020304" pitchFamily="18" charset="0"/>
                <a:cs typeface="Times New Roman" panose="02020603050405020304" pitchFamily="18" charset="0"/>
              </a:rPr>
              <a:t>&gt;: </a:t>
            </a:r>
          </a:p>
          <a:p>
            <a:pPr marL="0" indent="0" algn="just">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a) Sử dụng một hoặc nhiều tài khoản giao dịch của mình hoặc của người khác hoặc thông đồng liên tục mua, bán chứng khoán nhằm tạo ra cung, cầu giả tạo;</a:t>
            </a:r>
            <a:endParaRPr lang="en-US" sz="3200" dirty="0">
              <a:solidFill>
                <a:schemeClr val="bg1"/>
              </a:solidFill>
              <a:effectLst/>
              <a:latin typeface="Times New Roman" panose="02020603050405020304" pitchFamily="18" charset="0"/>
              <a:ea typeface="Times New Roman" panose="02020603050405020304" pitchFamily="18" charset="0"/>
            </a:endParaRPr>
          </a:p>
          <a:p>
            <a:pPr marL="0" indent="0" algn="just">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b) Đặt lệnh mua và bán cùng loại chứng khoán trong cùng ngày giao dịch hoặc thông đồng với nhau giao dịch mua, bán chứng khoán mà không dẫn đến chuyển nhượng thực sự quyền sở hữu hoặc quyền sở hữu chỉ luân chuyển giữa các thành viên trong nhóm nhằm tạo giá chứng khoán, cung cầu giả tạo;</a:t>
            </a:r>
            <a:endParaRPr lang="en-US" sz="3200" dirty="0">
              <a:solidFill>
                <a:schemeClr val="bg1"/>
              </a:solidFill>
              <a:effectLst/>
              <a:latin typeface="Times New Roman" panose="02020603050405020304" pitchFamily="18" charset="0"/>
              <a:ea typeface="Times New Roman" panose="02020603050405020304" pitchFamily="18" charset="0"/>
            </a:endParaRPr>
          </a:p>
          <a:p>
            <a:pPr marL="0" indent="0" algn="just">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c) Liên tục mua hoặc bán chứng khoán với khối lượng chi phối vào thời điểm mở cửa hoặc đóng cửa thị trường nhằm tạo ra mức giá đóng cửa hoặc giá mở cửa mới cho loại chứng khoán đó trên thị trường;</a:t>
            </a:r>
            <a:endParaRPr lang="en-US" sz="3200" dirty="0">
              <a:solidFill>
                <a:schemeClr val="bg1"/>
              </a:solidFill>
              <a:effectLst/>
              <a:latin typeface="Times New Roman" panose="02020603050405020304" pitchFamily="18" charset="0"/>
              <a:ea typeface="Times New Roman" panose="02020603050405020304" pitchFamily="18" charset="0"/>
            </a:endParaRPr>
          </a:p>
          <a:p>
            <a:pPr marL="0" indent="0" algn="just">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d) Giao dịch chứng khoán bằng hình thức cấu kết, lôi kéo người khác liên tục đặt lệnh mua, bán chứng khoán gây ảnh hưởng lớn đến cung cầu và giá chứng khoán, thao túng giá chứng khoán;</a:t>
            </a:r>
            <a:endParaRPr lang="en-US" sz="3200" dirty="0">
              <a:solidFill>
                <a:schemeClr val="bg1"/>
              </a:solidFill>
              <a:effectLst/>
              <a:latin typeface="Times New Roman" panose="02020603050405020304" pitchFamily="18" charset="0"/>
              <a:ea typeface="Times New Roman" panose="02020603050405020304" pitchFamily="18" charset="0"/>
            </a:endParaRPr>
          </a:p>
          <a:p>
            <a:pPr marL="0" indent="0" algn="just">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đ) Đưa ra ý kiến một cách trực tiếp hoặc gián tiếp thông qua phương tiện thông tin đại chúng về một loại chứng khoán, về tổ chức phát hành chứng khoán nhằm tạo ảnh hưởng đến giá của loại chứng khoán đó sau khi đã thực hiện giao dịch và nắm giữ vị thế đối với loại chứng khoán đó;</a:t>
            </a:r>
            <a:endParaRPr lang="en-US" sz="3200" dirty="0">
              <a:solidFill>
                <a:schemeClr val="bg1"/>
              </a:solidFill>
              <a:effectLst/>
              <a:latin typeface="Times New Roman" panose="02020603050405020304" pitchFamily="18" charset="0"/>
              <a:ea typeface="Times New Roman" panose="02020603050405020304" pitchFamily="18" charset="0"/>
            </a:endParaRPr>
          </a:p>
          <a:p>
            <a:pPr marL="0" indent="0" algn="just">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e) Sử dụng các phương thức hoặc thực hiện các hành vi giao dịch khác hoặc kết hợp tung tin đồn sai sự thật, cung cấp thông tin sai lệch ra công chúng để tạo cung cầu giả tạo, thao túng giá chứng khoán.</a:t>
            </a:r>
            <a:endParaRPr lang="en-US" sz="3200" dirty="0">
              <a:solidFill>
                <a:schemeClr val="bg1"/>
              </a:solidFill>
              <a:effectLst/>
              <a:latin typeface="Times New Roman" panose="02020603050405020304" pitchFamily="18" charset="0"/>
              <a:ea typeface="Times New Roman" panose="02020603050405020304" pitchFamily="18" charset="0"/>
            </a:endParaRPr>
          </a:p>
          <a:p>
            <a:pPr algn="just"/>
            <a:r>
              <a:rPr lang="en-US" sz="3200" b="1" i="1" dirty="0">
                <a:solidFill>
                  <a:schemeClr val="bg1"/>
                </a:solidFill>
                <a:latin typeface="Times New Roman" panose="02020603050405020304" pitchFamily="18" charset="0"/>
                <a:cs typeface="Times New Roman" panose="02020603050405020304" pitchFamily="18" charset="0"/>
              </a:rPr>
              <a:t> </a:t>
            </a:r>
          </a:p>
        </p:txBody>
      </p:sp>
      <p:sp>
        <p:nvSpPr>
          <p:cNvPr id="12" name="TextBox 12"/>
          <p:cNvSpPr txBox="1"/>
          <p:nvPr/>
        </p:nvSpPr>
        <p:spPr>
          <a:xfrm>
            <a:off x="11344275" y="3206797"/>
            <a:ext cx="4819650" cy="1161600"/>
          </a:xfrm>
          <a:prstGeom prst="rect">
            <a:avLst/>
          </a:prstGeom>
        </p:spPr>
        <p:txBody>
          <a:bodyPr lIns="0" tIns="0" rIns="0" bIns="0" rtlCol="0" anchor="t">
            <a:spAutoFit/>
          </a:bodyPr>
          <a:lstStyle/>
          <a:p>
            <a:pPr marL="0" lvl="0" indent="0" algn="ctr">
              <a:lnSpc>
                <a:spcPts val="4608"/>
              </a:lnSpc>
            </a:pPr>
            <a:endParaRPr lang="en-US" sz="3600">
              <a:solidFill>
                <a:srgbClr val="FFFFFF"/>
              </a:solidFill>
              <a:latin typeface="Poppins Bold"/>
            </a:endParaRPr>
          </a:p>
          <a:p>
            <a:pPr marL="0" lvl="0" indent="0" algn="ctr">
              <a:lnSpc>
                <a:spcPts val="4608"/>
              </a:lnSpc>
            </a:pPr>
            <a:endParaRPr lang="en-US" sz="3600">
              <a:solidFill>
                <a:srgbClr val="FFFFFF"/>
              </a:solidFill>
              <a:latin typeface="Poppin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10" name="TextBox 10"/>
          <p:cNvSpPr txBox="1"/>
          <p:nvPr/>
        </p:nvSpPr>
        <p:spPr>
          <a:xfrm>
            <a:off x="762000" y="1104900"/>
            <a:ext cx="16840200" cy="5312993"/>
          </a:xfrm>
          <a:prstGeom prst="rect">
            <a:avLst/>
          </a:prstGeom>
        </p:spPr>
        <p:txBody>
          <a:bodyPr wrap="square" lIns="0" tIns="0" rIns="0" bIns="0" rtlCol="0" anchor="t">
            <a:spAutoFit/>
          </a:bodyPr>
          <a:lstStyle/>
          <a:p>
            <a:pPr>
              <a:lnSpc>
                <a:spcPct val="150000"/>
              </a:lnSpc>
            </a:pPr>
            <a:r>
              <a:rPr lang="en-US" sz="3200" b="1" i="1" dirty="0">
                <a:solidFill>
                  <a:schemeClr val="bg1"/>
                </a:solidFill>
                <a:latin typeface="Times New Roman" panose="02020603050405020304" pitchFamily="18" charset="0"/>
                <a:cs typeface="Times New Roman" panose="02020603050405020304" pitchFamily="18" charset="0"/>
              </a:rPr>
              <a:t>Giao </a:t>
            </a:r>
            <a:r>
              <a:rPr lang="en-US" sz="3200" b="1" i="1" dirty="0" err="1">
                <a:solidFill>
                  <a:schemeClr val="bg1"/>
                </a:solidFill>
                <a:latin typeface="Times New Roman" panose="02020603050405020304" pitchFamily="18" charset="0"/>
                <a:cs typeface="Times New Roman" panose="02020603050405020304" pitchFamily="18" charset="0"/>
              </a:rPr>
              <a:t>dịch</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nội</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bộ</a:t>
            </a:r>
            <a:r>
              <a:rPr lang="en-US" sz="3200" b="1" i="1" dirty="0">
                <a:solidFill>
                  <a:schemeClr val="bg1"/>
                </a:solidFill>
                <a:latin typeface="Times New Roman" panose="02020603050405020304" pitchFamily="18" charset="0"/>
                <a:cs typeface="Times New Roman" panose="02020603050405020304" pitchFamily="18" charset="0"/>
              </a:rPr>
              <a:t> - </a:t>
            </a:r>
            <a:r>
              <a:rPr lang="en-US" sz="3200" b="1" i="1" dirty="0" err="1">
                <a:solidFill>
                  <a:schemeClr val="bg1"/>
                </a:solidFill>
                <a:latin typeface="Times New Roman" panose="02020603050405020304" pitchFamily="18" charset="0"/>
                <a:cs typeface="Times New Roman" panose="02020603050405020304" pitchFamily="18" charset="0"/>
              </a:rPr>
              <a:t>Khoản</a:t>
            </a:r>
            <a:r>
              <a:rPr lang="en-US" sz="3200" b="1" i="1" dirty="0">
                <a:solidFill>
                  <a:schemeClr val="bg1"/>
                </a:solidFill>
                <a:latin typeface="Times New Roman" panose="02020603050405020304" pitchFamily="18" charset="0"/>
                <a:cs typeface="Times New Roman" panose="02020603050405020304" pitchFamily="18" charset="0"/>
              </a:rPr>
              <a:t> 2 </a:t>
            </a:r>
            <a:r>
              <a:rPr lang="en-US" sz="3200" b="1" i="1" dirty="0" err="1">
                <a:solidFill>
                  <a:schemeClr val="bg1"/>
                </a:solidFill>
                <a:latin typeface="Times New Roman" panose="02020603050405020304" pitchFamily="18" charset="0"/>
                <a:cs typeface="Times New Roman" panose="02020603050405020304" pitchFamily="18" charset="0"/>
              </a:rPr>
              <a:t>Điều</a:t>
            </a:r>
            <a:r>
              <a:rPr lang="en-US" sz="3200" b="1" i="1" dirty="0">
                <a:solidFill>
                  <a:schemeClr val="bg1"/>
                </a:solidFill>
                <a:latin typeface="Times New Roman" panose="02020603050405020304" pitchFamily="18" charset="0"/>
                <a:cs typeface="Times New Roman" panose="02020603050405020304" pitchFamily="18" charset="0"/>
              </a:rPr>
              <a:t> 3 </a:t>
            </a:r>
            <a:r>
              <a:rPr lang="en-US" sz="3200" b="1" i="1" dirty="0" err="1">
                <a:solidFill>
                  <a:schemeClr val="bg1"/>
                </a:solidFill>
                <a:latin typeface="Times New Roman" panose="02020603050405020304" pitchFamily="18" charset="0"/>
                <a:cs typeface="Times New Roman" panose="02020603050405020304" pitchFamily="18" charset="0"/>
              </a:rPr>
              <a:t>Nghị</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định</a:t>
            </a:r>
            <a:r>
              <a:rPr lang="en-US" sz="3200" b="1" i="1" dirty="0">
                <a:solidFill>
                  <a:schemeClr val="bg1"/>
                </a:solidFill>
                <a:latin typeface="Times New Roman" panose="02020603050405020304" pitchFamily="18" charset="0"/>
                <a:cs typeface="Times New Roman" panose="02020603050405020304" pitchFamily="18" charset="0"/>
              </a:rPr>
              <a:t> 156/2020/NĐ-CP &lt;</a:t>
            </a:r>
            <a:r>
              <a:rPr lang="en-US" sz="3200" b="1" i="1" dirty="0" err="1">
                <a:solidFill>
                  <a:schemeClr val="bg1"/>
                </a:solidFill>
                <a:latin typeface="Times New Roman" panose="02020603050405020304" pitchFamily="18" charset="0"/>
                <a:cs typeface="Times New Roman" panose="02020603050405020304" pitchFamily="18" charset="0"/>
              </a:rPr>
              <a:t>Giải</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thích</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từ</a:t>
            </a:r>
            <a:r>
              <a:rPr lang="en-US" sz="3200" b="1" i="1" dirty="0">
                <a:solidFill>
                  <a:schemeClr val="bg1"/>
                </a:solidFill>
                <a:latin typeface="Times New Roman" panose="02020603050405020304" pitchFamily="18" charset="0"/>
                <a:cs typeface="Times New Roman" panose="02020603050405020304" pitchFamily="18" charset="0"/>
              </a:rPr>
              <a:t> </a:t>
            </a:r>
            <a:r>
              <a:rPr lang="en-US" sz="3200" b="1" i="1" dirty="0" err="1">
                <a:solidFill>
                  <a:schemeClr val="bg1"/>
                </a:solidFill>
                <a:latin typeface="Times New Roman" panose="02020603050405020304" pitchFamily="18" charset="0"/>
                <a:cs typeface="Times New Roman" panose="02020603050405020304" pitchFamily="18" charset="0"/>
              </a:rPr>
              <a:t>ngữ</a:t>
            </a:r>
            <a:r>
              <a:rPr lang="en-US" sz="3200" b="1" i="1" dirty="0">
                <a:solidFill>
                  <a:schemeClr val="bg1"/>
                </a:solidFill>
                <a:latin typeface="Times New Roman" panose="02020603050405020304" pitchFamily="18" charset="0"/>
                <a:cs typeface="Times New Roman" panose="02020603050405020304" pitchFamily="18" charset="0"/>
              </a:rPr>
              <a:t>&gt;: </a:t>
            </a:r>
          </a:p>
          <a:p>
            <a:pPr marL="0" indent="0" algn="just">
              <a:lnSpc>
                <a:spcPct val="150000"/>
              </a:lnSpc>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“Sử dụng thông tin nội bộ để mua, bán chứng khoán” là việc thực hiện hành vi bị nghiêm cấm trong hoạt động về chứng khoán và thị trường chứng khoán quy định tại khoản 2 Điều 12 Luật Chứng khoán, gồm một, một số hoặc tất cả các hành vi dưới đây:</a:t>
            </a:r>
            <a:endParaRPr lang="en-US" sz="3200" dirty="0">
              <a:solidFill>
                <a:schemeClr val="bg1"/>
              </a:solidFill>
              <a:effectLst/>
              <a:latin typeface="Times New Roman" panose="02020603050405020304" pitchFamily="18" charset="0"/>
              <a:ea typeface="Times New Roman" panose="02020603050405020304" pitchFamily="18" charset="0"/>
            </a:endParaRPr>
          </a:p>
          <a:p>
            <a:pPr marL="0" indent="0">
              <a:lnSpc>
                <a:spcPct val="150000"/>
              </a:lnSpc>
              <a:spcBef>
                <a:spcPts val="600"/>
              </a:spcBef>
              <a:buNone/>
            </a:pPr>
            <a:r>
              <a:rPr lang="en-US" sz="3200" dirty="0">
                <a:solidFill>
                  <a:schemeClr val="bg1"/>
                </a:solidFill>
                <a:latin typeface="Times New Roman" panose="02020603050405020304" pitchFamily="18" charset="0"/>
              </a:rPr>
              <a:t>a) </a:t>
            </a:r>
            <a:r>
              <a:rPr lang="vi-VN" sz="3200" dirty="0">
                <a:solidFill>
                  <a:schemeClr val="bg1"/>
                </a:solidFill>
                <a:latin typeface="Times New Roman" panose="02020603050405020304" pitchFamily="18" charset="0"/>
              </a:rPr>
              <a:t>Sử dụng thông tin nội bộ để mua, bán chứng khoán cho chính mình hoặc cho người khác;</a:t>
            </a:r>
            <a:endParaRPr lang="en-US" sz="3200" dirty="0">
              <a:solidFill>
                <a:schemeClr val="bg1"/>
              </a:solidFill>
              <a:latin typeface="Times New Roman" panose="02020603050405020304" pitchFamily="18" charset="0"/>
            </a:endParaRPr>
          </a:p>
          <a:p>
            <a:pPr marL="0" indent="0">
              <a:lnSpc>
                <a:spcPct val="150000"/>
              </a:lnSpc>
              <a:spcBef>
                <a:spcPts val="600"/>
              </a:spcBef>
              <a:buNone/>
            </a:pPr>
            <a:r>
              <a:rPr lang="vi-VN" sz="3200" dirty="0">
                <a:solidFill>
                  <a:schemeClr val="bg1"/>
                </a:solidFill>
                <a:effectLst/>
                <a:latin typeface="Times New Roman" panose="02020603050405020304" pitchFamily="18" charset="0"/>
                <a:ea typeface="Times New Roman" panose="02020603050405020304" pitchFamily="18" charset="0"/>
              </a:rPr>
              <a:t>b) Tiết lộ, cung cấp thông tin nội bộ hoặc tư vấn cho người khác mua, bán chứng khoán trên cơ sở thông tin nội bộ.</a:t>
            </a:r>
            <a:endParaRPr lang="en-US" sz="3200" dirty="0">
              <a:solidFill>
                <a:schemeClr val="bg1"/>
              </a:solidFill>
              <a:effectLst/>
              <a:latin typeface="Times New Roman" panose="02020603050405020304" pitchFamily="18" charset="0"/>
              <a:ea typeface="Times New Roman" panose="02020603050405020304" pitchFamily="18" charset="0"/>
            </a:endParaRPr>
          </a:p>
        </p:txBody>
      </p:sp>
      <p:sp>
        <p:nvSpPr>
          <p:cNvPr id="12" name="TextBox 12"/>
          <p:cNvSpPr txBox="1"/>
          <p:nvPr/>
        </p:nvSpPr>
        <p:spPr>
          <a:xfrm>
            <a:off x="11344275" y="3206797"/>
            <a:ext cx="4819650" cy="1161600"/>
          </a:xfrm>
          <a:prstGeom prst="rect">
            <a:avLst/>
          </a:prstGeom>
        </p:spPr>
        <p:txBody>
          <a:bodyPr lIns="0" tIns="0" rIns="0" bIns="0" rtlCol="0" anchor="t">
            <a:spAutoFit/>
          </a:bodyPr>
          <a:lstStyle/>
          <a:p>
            <a:pPr marL="0" lvl="0" indent="0" algn="ctr">
              <a:lnSpc>
                <a:spcPts val="4608"/>
              </a:lnSpc>
            </a:pPr>
            <a:endParaRPr lang="en-US" sz="3600">
              <a:solidFill>
                <a:srgbClr val="FFFFFF"/>
              </a:solidFill>
              <a:latin typeface="Poppins Bold"/>
            </a:endParaRPr>
          </a:p>
          <a:p>
            <a:pPr marL="0" lvl="0" indent="0" algn="ctr">
              <a:lnSpc>
                <a:spcPts val="4608"/>
              </a:lnSpc>
            </a:pPr>
            <a:endParaRPr lang="en-US" sz="3600">
              <a:solidFill>
                <a:srgbClr val="FFFFFF"/>
              </a:solidFill>
              <a:latin typeface="Poppins Bold"/>
            </a:endParaRPr>
          </a:p>
        </p:txBody>
      </p:sp>
    </p:spTree>
    <p:extLst>
      <p:ext uri="{BB962C8B-B14F-4D97-AF65-F5344CB8AC3E}">
        <p14:creationId xmlns:p14="http://schemas.microsoft.com/office/powerpoint/2010/main" val="2229995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8229600" cy="10288294"/>
            <a:chOff x="0" y="0"/>
            <a:chExt cx="13716000" cy="13717725"/>
          </a:xfrm>
        </p:grpSpPr>
        <p:grpSp>
          <p:nvGrpSpPr>
            <p:cNvPr id="3" name="Group 3"/>
            <p:cNvGrpSpPr/>
            <p:nvPr/>
          </p:nvGrpSpPr>
          <p:grpSpPr>
            <a:xfrm>
              <a:off x="0" y="1725"/>
              <a:ext cx="13716000" cy="13716000"/>
              <a:chOff x="0" y="0"/>
              <a:chExt cx="6350000" cy="6350000"/>
            </a:xfrm>
          </p:grpSpPr>
          <p:sp>
            <p:nvSpPr>
              <p:cNvPr id="4" name="Freeform 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D87A40"/>
              </a:solidFill>
            </p:spPr>
          </p:sp>
        </p:grpSp>
        <p:sp>
          <p:nvSpPr>
            <p:cNvPr id="5" name="AutoShape 5"/>
            <p:cNvSpPr/>
            <p:nvPr/>
          </p:nvSpPr>
          <p:spPr>
            <a:xfrm>
              <a:off x="0" y="0"/>
              <a:ext cx="6858000" cy="13717725"/>
            </a:xfrm>
            <a:prstGeom prst="rect">
              <a:avLst/>
            </a:prstGeom>
            <a:solidFill>
              <a:srgbClr val="D87A40"/>
            </a:solidFill>
          </p:spPr>
        </p:sp>
      </p:grpSp>
      <p:grpSp>
        <p:nvGrpSpPr>
          <p:cNvPr id="6" name="Group 6"/>
          <p:cNvGrpSpPr>
            <a:grpSpLocks noChangeAspect="1"/>
          </p:cNvGrpSpPr>
          <p:nvPr/>
        </p:nvGrpSpPr>
        <p:grpSpPr>
          <a:xfrm>
            <a:off x="16827427" y="7367147"/>
            <a:ext cx="2921147" cy="2921147"/>
            <a:chOff x="0" y="0"/>
            <a:chExt cx="1708150" cy="1708150"/>
          </a:xfrm>
        </p:grpSpPr>
        <p:sp>
          <p:nvSpPr>
            <p:cNvPr id="7" name="Freeform 7"/>
            <p:cNvSpPr/>
            <p:nvPr/>
          </p:nvSpPr>
          <p:spPr>
            <a:xfrm>
              <a:off x="0" y="0"/>
              <a:ext cx="1708150" cy="1708150"/>
            </a:xfrm>
            <a:custGeom>
              <a:avLst/>
              <a:gdLst/>
              <a:ahLst/>
              <a:cxnLst/>
              <a:rect l="l" t="t" r="r" b="b"/>
              <a:pathLst>
                <a:path w="1708150"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FFFFF"/>
            </a:solidFill>
          </p:spPr>
        </p:sp>
      </p:grpSp>
      <p:sp>
        <p:nvSpPr>
          <p:cNvPr id="9" name="TextBox 9"/>
          <p:cNvSpPr txBox="1"/>
          <p:nvPr/>
        </p:nvSpPr>
        <p:spPr>
          <a:xfrm>
            <a:off x="906102" y="1542514"/>
            <a:ext cx="5875697" cy="8386911"/>
          </a:xfrm>
          <a:prstGeom prst="rect">
            <a:avLst/>
          </a:prstGeom>
        </p:spPr>
        <p:txBody>
          <a:bodyPr wrap="square" lIns="0" tIns="0" rIns="0" bIns="0" rtlCol="0" anchor="t">
            <a:spAutoFit/>
          </a:bodyPr>
          <a:lstStyle/>
          <a:p>
            <a:pPr algn="just">
              <a:spcBef>
                <a:spcPts val="600"/>
              </a:spcBef>
              <a:spcAft>
                <a:spcPts val="600"/>
              </a:spcAft>
            </a:pPr>
            <a:r>
              <a:rPr lang="vi-VN" sz="3600" b="0" i="0" dirty="0">
                <a:solidFill>
                  <a:schemeClr val="bg1"/>
                </a:solidFill>
                <a:effectLst/>
                <a:latin typeface="Arial" panose="020B0604020202020204" pitchFamily="34" charset="0"/>
              </a:rPr>
              <a:t>Khoản thu trái pháp luật theo quy định tại </a:t>
            </a:r>
            <a:r>
              <a:rPr lang="vi-VN" sz="3600" b="0" i="0" u="none" strike="noStrike" dirty="0">
                <a:solidFill>
                  <a:schemeClr val="bg1"/>
                </a:solidFill>
                <a:effectLst/>
                <a:latin typeface="Arial" panose="020B0604020202020204" pitchFamily="34" charset="0"/>
              </a:rPr>
              <a:t>Điều 132 Luật Chứng khoán</a:t>
            </a:r>
            <a:r>
              <a:rPr lang="vi-VN" sz="3600" b="0" i="0" dirty="0">
                <a:solidFill>
                  <a:schemeClr val="bg1"/>
                </a:solidFill>
                <a:effectLst/>
                <a:latin typeface="Arial" panose="020B0604020202020204" pitchFamily="34" charset="0"/>
              </a:rPr>
              <a:t> là số lợi mà tổ chức, cá nhân có được do thực hiện hành vi thao túng thị trường chứng khoán, hành vi sử dụng thông tin nội bộ để mua, bán chứng khoán, sau khi trừ đi các khoản thuế, phí phải nộp. Các khoản thuế, phí phải nộp do công ty chứng khoán cung cấp và xác nhận.</a:t>
            </a:r>
          </a:p>
          <a:p>
            <a:br>
              <a:rPr lang="vi-VN" sz="3600" dirty="0">
                <a:solidFill>
                  <a:schemeClr val="bg1"/>
                </a:solidFill>
              </a:rPr>
            </a:b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12" name="TextBox 12"/>
          <p:cNvSpPr txBox="1"/>
          <p:nvPr/>
        </p:nvSpPr>
        <p:spPr>
          <a:xfrm>
            <a:off x="8594149" y="2922327"/>
            <a:ext cx="9372600" cy="2336665"/>
          </a:xfrm>
          <a:prstGeom prst="rect">
            <a:avLst/>
          </a:prstGeom>
        </p:spPr>
        <p:txBody>
          <a:bodyPr wrap="square" lIns="0" tIns="0" rIns="0" bIns="0" rtlCol="0" anchor="t">
            <a:spAutoFit/>
          </a:bodyPr>
          <a:lstStyle/>
          <a:p>
            <a:pPr marL="0" lvl="0" indent="0" algn="just">
              <a:lnSpc>
                <a:spcPts val="4608"/>
              </a:lnSpc>
            </a:pPr>
            <a:r>
              <a:rPr lang="vi-VN" sz="3600" dirty="0">
                <a:latin typeface="Times New Roman" panose="02020603050405020304" pitchFamily="18" charset="0"/>
                <a:cs typeface="Times New Roman" panose="02020603050405020304" pitchFamily="18" charset="0"/>
              </a:rPr>
              <a:t>Khoản thu trái pháp luật = (Giá bán bình quân - Giá mua bình quân) x (Khối lượng chứng khoán bán ra </a:t>
            </a:r>
            <a:r>
              <a:rPr lang="en-US" sz="3600" dirty="0">
                <a:latin typeface="Times New Roman" panose="02020603050405020304" pitchFamily="18" charset="0"/>
                <a:cs typeface="Times New Roman" panose="02020603050405020304" pitchFamily="18" charset="0"/>
              </a:rPr>
              <a:t>-</a:t>
            </a:r>
            <a:r>
              <a:rPr lang="vi-VN" sz="3600" dirty="0">
                <a:latin typeface="Times New Roman" panose="02020603050405020304" pitchFamily="18" charset="0"/>
                <a:cs typeface="Times New Roman" panose="02020603050405020304" pitchFamily="18" charset="0"/>
              </a:rPr>
              <a:t> Khối lượng chứng khoán giao dịch nội nhóm) - Các khoản thuế, phí phải nộp </a:t>
            </a:r>
            <a:r>
              <a:rPr lang="en-US" sz="3600" dirty="0">
                <a:solidFill>
                  <a:srgbClr val="FFFFFF"/>
                </a:solidFill>
                <a:latin typeface="Poppins Bold"/>
              </a:rPr>
              <a:t>ng</a:t>
            </a:r>
          </a:p>
        </p:txBody>
      </p:sp>
      <p:sp>
        <p:nvSpPr>
          <p:cNvPr id="14" name="Title 1">
            <a:extLst>
              <a:ext uri="{FF2B5EF4-FFF2-40B4-BE49-F238E27FC236}">
                <a16:creationId xmlns:a16="http://schemas.microsoft.com/office/drawing/2014/main" id="{2252CDCA-264D-4038-2333-E1249AA71D91}"/>
              </a:ext>
            </a:extLst>
          </p:cNvPr>
          <p:cNvSpPr txBox="1">
            <a:spLocks/>
          </p:cNvSpPr>
          <p:nvPr/>
        </p:nvSpPr>
        <p:spPr>
          <a:xfrm>
            <a:off x="8026730" y="952500"/>
            <a:ext cx="9961790" cy="180289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buClr>
                <a:schemeClr val="lt1"/>
              </a:buClr>
              <a:buSzPct val="25000"/>
            </a:pPr>
            <a:r>
              <a:rPr lang="en-US" sz="4000" b="1" dirty="0" err="1">
                <a:latin typeface="Times New Roman" panose="02020603050405020304" pitchFamily="18" charset="0"/>
                <a:cs typeface="Times New Roman" panose="02020603050405020304" pitchFamily="18" charset="0"/>
              </a:rPr>
              <a:t>Khoản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thu</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trái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pháp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luật</a:t>
            </a:r>
            <a:r>
              <a:rPr lang="en-US" sz="4000" b="1" dirty="0">
                <a:latin typeface="Times New Roman" panose="02020603050405020304" pitchFamily="18" charset="0"/>
                <a:cs typeface="Times New Roman" panose="02020603050405020304" pitchFamily="18" charset="0"/>
              </a:rPr>
              <a:t> </a:t>
            </a:r>
          </a:p>
          <a:p>
            <a:pPr>
              <a:buClr>
                <a:schemeClr val="lt1"/>
              </a:buClr>
              <a:buSzPct val="25000"/>
            </a:pPr>
            <a:r>
              <a:rPr lang="en-US" sz="4000" b="1" dirty="0">
                <a:latin typeface="Times New Roman" panose="02020603050405020304" pitchFamily="18" charset="0"/>
                <a:cs typeface="Times New Roman" panose="02020603050405020304" pitchFamily="18" charset="0"/>
              </a:rPr>
              <a:t>(</a:t>
            </a:r>
            <a:r>
              <a:rPr lang="en-US" sz="4000" b="1" dirty="0" err="1">
                <a:latin typeface="Times New Roman" panose="02020603050405020304" pitchFamily="18" charset="0"/>
                <a:cs typeface="Times New Roman" panose="02020603050405020304" pitchFamily="18" charset="0"/>
              </a:rPr>
              <a:t>Quy</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định</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tại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Điều</a:t>
            </a:r>
            <a:r>
              <a:rPr lang="en-US" sz="4000" b="1" dirty="0">
                <a:latin typeface="Times New Roman" panose="02020603050405020304" pitchFamily="18" charset="0"/>
                <a:cs typeface="Times New Roman" panose="02020603050405020304" pitchFamily="18" charset="0"/>
              </a:rPr>
              <a:t> 3 TT 117/2020/TT-BTC)</a:t>
            </a:r>
          </a:p>
        </p:txBody>
      </p:sp>
    </p:spTree>
    <p:extLst>
      <p:ext uri="{BB962C8B-B14F-4D97-AF65-F5344CB8AC3E}">
        <p14:creationId xmlns:p14="http://schemas.microsoft.com/office/powerpoint/2010/main" val="215546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37388" y="-5944"/>
            <a:ext cx="18288001" cy="1872844"/>
          </a:xfrm>
          <a:prstGeom prst="rect">
            <a:avLst/>
          </a:prstGeom>
          <a:solidFill>
            <a:srgbClr val="D87A40"/>
          </a:solidFill>
        </p:spPr>
      </p:sp>
      <p:sp>
        <p:nvSpPr>
          <p:cNvPr id="3" name="TextBox 3"/>
          <p:cNvSpPr txBox="1"/>
          <p:nvPr/>
        </p:nvSpPr>
        <p:spPr>
          <a:xfrm>
            <a:off x="1066800" y="266700"/>
            <a:ext cx="16154400" cy="1299395"/>
          </a:xfrm>
          <a:prstGeom prst="rect">
            <a:avLst/>
          </a:prstGeom>
        </p:spPr>
        <p:txBody>
          <a:bodyPr wrap="square" lIns="0" tIns="0" rIns="0" bIns="0" rtlCol="0" anchor="t">
            <a:spAutoFit/>
          </a:bodyPr>
          <a:lstStyle/>
          <a:p>
            <a:pPr marL="0" lvl="0" indent="0" algn="just">
              <a:lnSpc>
                <a:spcPct val="150000"/>
              </a:lnSpc>
            </a:pPr>
            <a:r>
              <a:rPr lang="en-US" sz="3000" b="1" i="1" dirty="0" err="1">
                <a:solidFill>
                  <a:schemeClr val="bg1"/>
                </a:solidFill>
                <a:latin typeface="Arimo Bold Italics"/>
              </a:rPr>
              <a:t>Nguyên</a:t>
            </a:r>
            <a:r>
              <a:rPr lang="en-US" sz="3000" b="1" i="1" dirty="0">
                <a:solidFill>
                  <a:schemeClr val="bg1"/>
                </a:solidFill>
                <a:latin typeface="Arimo Bold Italics"/>
              </a:rPr>
              <a:t> </a:t>
            </a:r>
            <a:r>
              <a:rPr lang="en-US" sz="3000" b="1" i="1" dirty="0" err="1">
                <a:solidFill>
                  <a:schemeClr val="bg1"/>
                </a:solidFill>
                <a:latin typeface="Arimo Bold Italics"/>
              </a:rPr>
              <a:t>tắc</a:t>
            </a:r>
            <a:r>
              <a:rPr lang="en-US" sz="3000" b="1" i="1" dirty="0">
                <a:solidFill>
                  <a:schemeClr val="bg1"/>
                </a:solidFill>
                <a:latin typeface="Arimo Bold Italics"/>
              </a:rPr>
              <a:t> </a:t>
            </a:r>
            <a:r>
              <a:rPr lang="en-US" sz="3000" b="1" i="1" dirty="0" err="1">
                <a:solidFill>
                  <a:schemeClr val="bg1"/>
                </a:solidFill>
                <a:latin typeface="Arimo Bold Italics"/>
              </a:rPr>
              <a:t>xác</a:t>
            </a:r>
            <a:r>
              <a:rPr lang="en-US" sz="3000" b="1" i="1" dirty="0">
                <a:solidFill>
                  <a:schemeClr val="bg1"/>
                </a:solidFill>
                <a:latin typeface="Arimo Bold Italics"/>
              </a:rPr>
              <a:t> </a:t>
            </a:r>
            <a:r>
              <a:rPr lang="en-US" sz="3000" b="1" i="1" dirty="0" err="1">
                <a:solidFill>
                  <a:schemeClr val="bg1"/>
                </a:solidFill>
                <a:latin typeface="Arimo Bold Italics"/>
              </a:rPr>
              <a:t>định</a:t>
            </a:r>
            <a:r>
              <a:rPr lang="en-US" sz="3000" b="1" i="1" dirty="0">
                <a:solidFill>
                  <a:schemeClr val="bg1"/>
                </a:solidFill>
                <a:latin typeface="Arimo Bold Italics"/>
              </a:rPr>
              <a:t> </a:t>
            </a:r>
            <a:r>
              <a:rPr lang="en-US" sz="3000" b="1" i="1" dirty="0" err="1">
                <a:solidFill>
                  <a:schemeClr val="bg1"/>
                </a:solidFill>
                <a:latin typeface="Arimo Bold Italics"/>
              </a:rPr>
              <a:t>khoản</a:t>
            </a:r>
            <a:r>
              <a:rPr lang="en-US" sz="3000" b="1" i="1" dirty="0">
                <a:solidFill>
                  <a:schemeClr val="bg1"/>
                </a:solidFill>
                <a:latin typeface="Arimo Bold Italics"/>
              </a:rPr>
              <a:t> </a:t>
            </a:r>
            <a:r>
              <a:rPr lang="en-US" sz="3000" b="1" i="1" dirty="0" err="1">
                <a:solidFill>
                  <a:schemeClr val="bg1"/>
                </a:solidFill>
                <a:latin typeface="Arimo Bold Italics"/>
              </a:rPr>
              <a:t>thu</a:t>
            </a:r>
            <a:r>
              <a:rPr lang="en-US" sz="3000" b="1" i="1" dirty="0">
                <a:solidFill>
                  <a:schemeClr val="bg1"/>
                </a:solidFill>
                <a:latin typeface="Arimo Bold Italics"/>
              </a:rPr>
              <a:t> </a:t>
            </a:r>
            <a:r>
              <a:rPr lang="en-US" sz="3000" b="1" i="1" dirty="0" err="1">
                <a:solidFill>
                  <a:schemeClr val="bg1"/>
                </a:solidFill>
                <a:latin typeface="Arimo Bold Italics"/>
              </a:rPr>
              <a:t>trái</a:t>
            </a:r>
            <a:r>
              <a:rPr lang="en-US" sz="3000" b="1" i="1" dirty="0">
                <a:solidFill>
                  <a:schemeClr val="bg1"/>
                </a:solidFill>
                <a:latin typeface="Arimo Bold Italics"/>
              </a:rPr>
              <a:t> </a:t>
            </a:r>
            <a:r>
              <a:rPr lang="en-US" sz="3000" b="1" i="1" dirty="0" err="1">
                <a:solidFill>
                  <a:schemeClr val="bg1"/>
                </a:solidFill>
                <a:latin typeface="Arimo Bold Italics"/>
              </a:rPr>
              <a:t>pháp</a:t>
            </a:r>
            <a:r>
              <a:rPr lang="en-US" sz="3000" b="1" i="1" dirty="0">
                <a:solidFill>
                  <a:schemeClr val="bg1"/>
                </a:solidFill>
                <a:latin typeface="Arimo Bold Italics"/>
              </a:rPr>
              <a:t> </a:t>
            </a:r>
            <a:r>
              <a:rPr lang="en-US" sz="3000" b="1" i="1" dirty="0" err="1">
                <a:solidFill>
                  <a:schemeClr val="bg1"/>
                </a:solidFill>
                <a:latin typeface="Arimo Bold Italics"/>
              </a:rPr>
              <a:t>luật</a:t>
            </a:r>
            <a:r>
              <a:rPr lang="en-US" sz="3000" b="1" i="1" dirty="0">
                <a:solidFill>
                  <a:schemeClr val="bg1"/>
                </a:solidFill>
                <a:latin typeface="Arimo Bold Italics"/>
              </a:rPr>
              <a:t> </a:t>
            </a:r>
            <a:r>
              <a:rPr lang="vi-VN" sz="3000" b="1" i="1" dirty="0">
                <a:solidFill>
                  <a:schemeClr val="bg1"/>
                </a:solidFill>
                <a:latin typeface="Arimo Bold Italics"/>
              </a:rPr>
              <a:t>có được do thực hiện hành vi thao túng thị trường chứng khoán, hành vi sử dụng thông tin nội bộ để mua, bán chứng khoán</a:t>
            </a:r>
            <a:endParaRPr lang="en-US" sz="3000" b="1" i="1" dirty="0">
              <a:solidFill>
                <a:schemeClr val="bg1"/>
              </a:solidFill>
              <a:latin typeface="Arimo Bold Italics"/>
            </a:endParaRPr>
          </a:p>
        </p:txBody>
      </p:sp>
      <p:sp>
        <p:nvSpPr>
          <p:cNvPr id="16" name="TextBox 4">
            <a:extLst>
              <a:ext uri="{FF2B5EF4-FFF2-40B4-BE49-F238E27FC236}">
                <a16:creationId xmlns:a16="http://schemas.microsoft.com/office/drawing/2014/main" id="{F41447CB-D04E-4A28-8F71-E8B5CBBBA413}"/>
              </a:ext>
            </a:extLst>
          </p:cNvPr>
          <p:cNvSpPr txBox="1"/>
          <p:nvPr/>
        </p:nvSpPr>
        <p:spPr>
          <a:xfrm>
            <a:off x="914400" y="2552700"/>
            <a:ext cx="16992600" cy="6647974"/>
          </a:xfrm>
          <a:prstGeom prst="rect">
            <a:avLst/>
          </a:prstGeom>
        </p:spPr>
        <p:txBody>
          <a:bodyPr wrap="square" lIns="0" tIns="0" rIns="0" bIns="0" rtlCol="0" anchor="t">
            <a:spAutoFit/>
          </a:bodyPr>
          <a:lstStyle/>
          <a:p>
            <a:pPr algn="l">
              <a:spcBef>
                <a:spcPts val="600"/>
              </a:spcBef>
              <a:spcAft>
                <a:spcPts val="600"/>
              </a:spcAft>
            </a:pPr>
            <a:r>
              <a:rPr lang="vi-VN" sz="2800" b="0" i="0" dirty="0">
                <a:solidFill>
                  <a:schemeClr val="bg1"/>
                </a:solidFill>
                <a:effectLst/>
                <a:latin typeface="Arial" panose="020B0604020202020204" pitchFamily="34" charset="0"/>
              </a:rPr>
              <a:t>a) Khoản thu trái pháp luật được xác định từ thời điểm bắt đầu thực hiện hành vi vi phạm đến thời điểm chấm dứt hành vi vi phạm;</a:t>
            </a:r>
          </a:p>
          <a:p>
            <a:pPr algn="l">
              <a:spcBef>
                <a:spcPts val="600"/>
              </a:spcBef>
              <a:spcAft>
                <a:spcPts val="600"/>
              </a:spcAft>
            </a:pPr>
            <a:r>
              <a:rPr lang="vi-VN" sz="2800" b="0" i="0" dirty="0">
                <a:solidFill>
                  <a:schemeClr val="bg1"/>
                </a:solidFill>
                <a:effectLst/>
                <a:latin typeface="Arial" panose="020B0604020202020204" pitchFamily="34" charset="0"/>
              </a:rPr>
              <a:t>b) Thời kỳ thao túng thị trường chứng khoán là giai đoạn người vi phạm thực hiện hành vi thao túng thị trường chứng khoán và được ghi nhận trong Biên bản vi phạm hành chính. Thời kỳ sử dụng thông tin nội bộ để mua, bán chứng khoán là giai đoạn người vi phạm thực hiện hành vi sử dụng thông tin nội bộ để mua, bán chứng khoán được ghi nhận trong Biên bản vi phạm hành chính. Số lượng tài khoản tham gia thực hiện hành vi thao túng thị trường chứng khoán hoặc sử dụng thông tin nội bộ để mua, bán chứng khoán được xác định trong Biên bản vi phạm hành chính;</a:t>
            </a:r>
          </a:p>
          <a:p>
            <a:pPr algn="l">
              <a:spcBef>
                <a:spcPts val="600"/>
              </a:spcBef>
              <a:spcAft>
                <a:spcPts val="600"/>
              </a:spcAft>
            </a:pPr>
            <a:r>
              <a:rPr lang="vi-VN" sz="2800" b="0" i="0" dirty="0">
                <a:solidFill>
                  <a:schemeClr val="bg1"/>
                </a:solidFill>
                <a:effectLst/>
                <a:latin typeface="Arial" panose="020B0604020202020204" pitchFamily="34" charset="0"/>
              </a:rPr>
              <a:t>c) Trường hợp tổ chức, cá nhân thực hiện nhiều hành vi vi phạm thì xác định khoản thu trái pháp luật có được theo từng hành vi vi phạm;</a:t>
            </a:r>
          </a:p>
          <a:p>
            <a:pPr algn="l">
              <a:spcBef>
                <a:spcPts val="600"/>
              </a:spcBef>
              <a:spcAft>
                <a:spcPts val="600"/>
              </a:spcAft>
            </a:pPr>
            <a:r>
              <a:rPr lang="vi-VN" sz="2800" b="0" i="0" dirty="0">
                <a:solidFill>
                  <a:schemeClr val="bg1"/>
                </a:solidFill>
                <a:effectLst/>
                <a:latin typeface="Arial" panose="020B0604020202020204" pitchFamily="34" charset="0"/>
              </a:rPr>
              <a:t>d) Trường hợp tổ chức, cá nhân thực hiện hành vi vi phạm nhiều lần thì xác định khoản thu trái pháp luật có được theo từng lần vi phạm;</a:t>
            </a:r>
            <a:endParaRPr lang="en-US" sz="2800" b="0" i="0" dirty="0">
              <a:solidFill>
                <a:schemeClr val="bg1"/>
              </a:solidFill>
              <a:effectLst/>
              <a:latin typeface="Arial" panose="020B0604020202020204" pitchFamily="34" charset="0"/>
            </a:endParaRPr>
          </a:p>
          <a:p>
            <a:pPr algn="l">
              <a:spcBef>
                <a:spcPts val="600"/>
              </a:spcBef>
              <a:spcAft>
                <a:spcPts val="600"/>
              </a:spcAft>
            </a:pPr>
            <a:r>
              <a:rPr lang="vi-VN" sz="2800" b="0" i="0" dirty="0">
                <a:solidFill>
                  <a:schemeClr val="bg1"/>
                </a:solidFill>
                <a:effectLst/>
                <a:latin typeface="Arial" panose="020B0604020202020204" pitchFamily="34" charset="0"/>
              </a:rPr>
              <a:t>đ) Trường hợp tổ chức, cá nhân thực hiện hành vi vi phạm đối với nhiều mã chứng khoán thì xác định khoản thu trái pháp luật theo từng mã chứng khoán;</a:t>
            </a:r>
            <a:endParaRPr lang="vi-VN" sz="2800" b="0" i="0" dirty="0">
              <a:solidFill>
                <a:srgbClr val="000000"/>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37388" y="-5944"/>
            <a:ext cx="18288001" cy="2253844"/>
          </a:xfrm>
          <a:prstGeom prst="rect">
            <a:avLst/>
          </a:prstGeom>
          <a:solidFill>
            <a:srgbClr val="D87A40"/>
          </a:solidFill>
        </p:spPr>
      </p:sp>
      <p:sp>
        <p:nvSpPr>
          <p:cNvPr id="3" name="TextBox 3"/>
          <p:cNvSpPr txBox="1"/>
          <p:nvPr/>
        </p:nvSpPr>
        <p:spPr>
          <a:xfrm>
            <a:off x="1066800" y="381433"/>
            <a:ext cx="16306800" cy="1299395"/>
          </a:xfrm>
          <a:prstGeom prst="rect">
            <a:avLst/>
          </a:prstGeom>
        </p:spPr>
        <p:txBody>
          <a:bodyPr wrap="square" lIns="0" tIns="0" rIns="0" bIns="0" rtlCol="0" anchor="t">
            <a:spAutoFit/>
          </a:bodyPr>
          <a:lstStyle/>
          <a:p>
            <a:pPr marL="0" lvl="0" indent="0" algn="just">
              <a:lnSpc>
                <a:spcPct val="150000"/>
              </a:lnSpc>
            </a:pPr>
            <a:r>
              <a:rPr lang="en-US" sz="3000" b="1" i="1" dirty="0" err="1">
                <a:solidFill>
                  <a:schemeClr val="bg1"/>
                </a:solidFill>
                <a:latin typeface="Arimo Bold Italics"/>
              </a:rPr>
              <a:t>Nguyên</a:t>
            </a:r>
            <a:r>
              <a:rPr lang="en-US" sz="3000" b="1" i="1" dirty="0">
                <a:solidFill>
                  <a:schemeClr val="bg1"/>
                </a:solidFill>
                <a:latin typeface="Arimo Bold Italics"/>
              </a:rPr>
              <a:t> </a:t>
            </a:r>
            <a:r>
              <a:rPr lang="en-US" sz="3000" b="1" i="1" dirty="0" err="1">
                <a:solidFill>
                  <a:schemeClr val="bg1"/>
                </a:solidFill>
                <a:latin typeface="Arimo Bold Italics"/>
              </a:rPr>
              <a:t>tắc</a:t>
            </a:r>
            <a:r>
              <a:rPr lang="en-US" sz="3000" b="1" i="1" dirty="0">
                <a:solidFill>
                  <a:schemeClr val="bg1"/>
                </a:solidFill>
                <a:latin typeface="Arimo Bold Italics"/>
              </a:rPr>
              <a:t> </a:t>
            </a:r>
            <a:r>
              <a:rPr lang="en-US" sz="3000" b="1" i="1" dirty="0" err="1">
                <a:solidFill>
                  <a:schemeClr val="bg1"/>
                </a:solidFill>
                <a:latin typeface="Arimo Bold Italics"/>
              </a:rPr>
              <a:t>xác</a:t>
            </a:r>
            <a:r>
              <a:rPr lang="en-US" sz="3000" b="1" i="1" dirty="0">
                <a:solidFill>
                  <a:schemeClr val="bg1"/>
                </a:solidFill>
                <a:latin typeface="Arimo Bold Italics"/>
              </a:rPr>
              <a:t> </a:t>
            </a:r>
            <a:r>
              <a:rPr lang="en-US" sz="3000" b="1" i="1" dirty="0" err="1">
                <a:solidFill>
                  <a:schemeClr val="bg1"/>
                </a:solidFill>
                <a:latin typeface="Arimo Bold Italics"/>
              </a:rPr>
              <a:t>định</a:t>
            </a:r>
            <a:r>
              <a:rPr lang="en-US" sz="3000" b="1" i="1" dirty="0">
                <a:solidFill>
                  <a:schemeClr val="bg1"/>
                </a:solidFill>
                <a:latin typeface="Arimo Bold Italics"/>
              </a:rPr>
              <a:t> </a:t>
            </a:r>
            <a:r>
              <a:rPr lang="en-US" sz="3000" b="1" i="1" dirty="0" err="1">
                <a:solidFill>
                  <a:schemeClr val="bg1"/>
                </a:solidFill>
                <a:latin typeface="Arimo Bold Italics"/>
              </a:rPr>
              <a:t>khoản</a:t>
            </a:r>
            <a:r>
              <a:rPr lang="en-US" sz="3000" b="1" i="1" dirty="0">
                <a:solidFill>
                  <a:schemeClr val="bg1"/>
                </a:solidFill>
                <a:latin typeface="Arimo Bold Italics"/>
              </a:rPr>
              <a:t> </a:t>
            </a:r>
            <a:r>
              <a:rPr lang="en-US" sz="3000" b="1" i="1" dirty="0" err="1">
                <a:solidFill>
                  <a:schemeClr val="bg1"/>
                </a:solidFill>
                <a:latin typeface="Arimo Bold Italics"/>
              </a:rPr>
              <a:t>thu</a:t>
            </a:r>
            <a:r>
              <a:rPr lang="en-US" sz="3000" b="1" i="1" dirty="0">
                <a:solidFill>
                  <a:schemeClr val="bg1"/>
                </a:solidFill>
                <a:latin typeface="Arimo Bold Italics"/>
              </a:rPr>
              <a:t> </a:t>
            </a:r>
            <a:r>
              <a:rPr lang="en-US" sz="3000" b="1" i="1" dirty="0" err="1">
                <a:solidFill>
                  <a:schemeClr val="bg1"/>
                </a:solidFill>
                <a:latin typeface="Arimo Bold Italics"/>
              </a:rPr>
              <a:t>trái</a:t>
            </a:r>
            <a:r>
              <a:rPr lang="en-US" sz="3000" b="1" i="1" dirty="0">
                <a:solidFill>
                  <a:schemeClr val="bg1"/>
                </a:solidFill>
                <a:latin typeface="Arimo Bold Italics"/>
              </a:rPr>
              <a:t> </a:t>
            </a:r>
            <a:r>
              <a:rPr lang="en-US" sz="3000" b="1" i="1" dirty="0" err="1">
                <a:solidFill>
                  <a:schemeClr val="bg1"/>
                </a:solidFill>
                <a:latin typeface="Arimo Bold Italics"/>
              </a:rPr>
              <a:t>pháp</a:t>
            </a:r>
            <a:r>
              <a:rPr lang="en-US" sz="3000" b="1" i="1" dirty="0">
                <a:solidFill>
                  <a:schemeClr val="bg1"/>
                </a:solidFill>
                <a:latin typeface="Arimo Bold Italics"/>
              </a:rPr>
              <a:t> </a:t>
            </a:r>
            <a:r>
              <a:rPr lang="en-US" sz="3000" b="1" i="1" dirty="0" err="1">
                <a:solidFill>
                  <a:schemeClr val="bg1"/>
                </a:solidFill>
                <a:latin typeface="Arimo Bold Italics"/>
              </a:rPr>
              <a:t>luật</a:t>
            </a:r>
            <a:r>
              <a:rPr lang="en-US" sz="3000" b="1" i="1" dirty="0">
                <a:solidFill>
                  <a:schemeClr val="bg1"/>
                </a:solidFill>
                <a:latin typeface="Arimo Bold Italics"/>
              </a:rPr>
              <a:t> </a:t>
            </a:r>
            <a:r>
              <a:rPr lang="vi-VN" sz="3000" b="1" i="1" dirty="0">
                <a:solidFill>
                  <a:schemeClr val="bg1"/>
                </a:solidFill>
                <a:latin typeface="Arimo Bold Italics"/>
              </a:rPr>
              <a:t>có được do thực hiện hành vi thao túng thị trường chứng khoán, hành vi sử dụng thông tin nội bộ để mua, bán chứng khoán</a:t>
            </a:r>
            <a:endParaRPr lang="en-US" sz="3000" b="1" i="1" dirty="0">
              <a:solidFill>
                <a:schemeClr val="bg1"/>
              </a:solidFill>
              <a:latin typeface="Arimo Bold Italics"/>
            </a:endParaRPr>
          </a:p>
        </p:txBody>
      </p:sp>
      <p:sp>
        <p:nvSpPr>
          <p:cNvPr id="16" name="TextBox 4">
            <a:extLst>
              <a:ext uri="{FF2B5EF4-FFF2-40B4-BE49-F238E27FC236}">
                <a16:creationId xmlns:a16="http://schemas.microsoft.com/office/drawing/2014/main" id="{F41447CB-D04E-4A28-8F71-E8B5CBBBA413}"/>
              </a:ext>
            </a:extLst>
          </p:cNvPr>
          <p:cNvSpPr txBox="1"/>
          <p:nvPr/>
        </p:nvSpPr>
        <p:spPr>
          <a:xfrm>
            <a:off x="838200" y="3009900"/>
            <a:ext cx="16992600" cy="6417141"/>
          </a:xfrm>
          <a:prstGeom prst="rect">
            <a:avLst/>
          </a:prstGeom>
        </p:spPr>
        <p:txBody>
          <a:bodyPr wrap="square" lIns="0" tIns="0" rIns="0" bIns="0" rtlCol="0" anchor="t">
            <a:spAutoFit/>
          </a:bodyPr>
          <a:lstStyle/>
          <a:p>
            <a:pPr algn="l">
              <a:spcBef>
                <a:spcPts val="600"/>
              </a:spcBef>
              <a:spcAft>
                <a:spcPts val="600"/>
              </a:spcAft>
            </a:pPr>
            <a:r>
              <a:rPr lang="vi-VN" sz="2800" b="0" i="0" dirty="0">
                <a:solidFill>
                  <a:schemeClr val="bg1"/>
                </a:solidFill>
                <a:effectLst/>
                <a:latin typeface="Arial" panose="020B0604020202020204" pitchFamily="34" charset="0"/>
              </a:rPr>
              <a:t>e) Trường hợp một tổ chức hoặc một cá nhân sử dụng nhiều tài khoản để thực hiện hành vi thao túng thị trường chứng khoán hoặc sử dụng thông tin nội bộ để mua, bán chứng khoán thì khoản thu trái pháp luật được tính trên tổng giao dịch của các tài khoản sử dụng để thực hiện hành vi vi phạm sau khi trừ giao dịch nội nhóm giữa các tài khoản (nếu có). Giao dịch nội nhóm là giao dịch giữa các tài khoản mà không dẫn đến chuyển nhượng thực sự quyền sở hữu hoặc quyền sở hữu chỉ luân chuyển giữa các tài khoản trong nhóm.</a:t>
            </a:r>
          </a:p>
          <a:p>
            <a:pPr algn="l">
              <a:spcBef>
                <a:spcPts val="600"/>
              </a:spcBef>
              <a:spcAft>
                <a:spcPts val="600"/>
              </a:spcAft>
            </a:pPr>
            <a:r>
              <a:rPr lang="vi-VN" sz="2800" b="0" i="0" dirty="0">
                <a:solidFill>
                  <a:schemeClr val="bg1"/>
                </a:solidFill>
                <a:effectLst/>
                <a:latin typeface="Arial" panose="020B0604020202020204" pitchFamily="34" charset="0"/>
              </a:rPr>
              <a:t>g) Trường hợp một nhóm tổ chức hoặc một nhóm cá nhân hoặc một nhóm tổ chức, cá nhân thực hiện hành vi thao túng thị trường chứng khoán hoặc sử dụng thông tin nội bộ để mua, bán chứng khoán thì khoản thu trái pháp luật được tính trên tổng giao dịch các tài khoản sử dụng để thực hiện hành vi vi phạm, sau khi trừ giao dịch nội nhóm giữa các tài khoản (nếu có);</a:t>
            </a:r>
          </a:p>
          <a:p>
            <a:pPr algn="l">
              <a:spcBef>
                <a:spcPts val="600"/>
              </a:spcBef>
              <a:spcAft>
                <a:spcPts val="600"/>
              </a:spcAft>
            </a:pPr>
            <a:r>
              <a:rPr lang="vi-VN" sz="2800" b="0" i="0" dirty="0">
                <a:solidFill>
                  <a:schemeClr val="bg1"/>
                </a:solidFill>
                <a:effectLst/>
                <a:latin typeface="Arial" panose="020B0604020202020204" pitchFamily="34" charset="0"/>
              </a:rPr>
              <a:t>Trường hợp không có cơ sở xác định được khoản thu trái pháp luật đối với từng tổ chức, cá nhân vi phạm thì khoản thu trái pháp luật được chia đều cho từng tổ chức, cá nhân vi phạm;</a:t>
            </a:r>
          </a:p>
          <a:p>
            <a:br>
              <a:rPr lang="vi-VN" sz="2800" dirty="0"/>
            </a:br>
            <a:endParaRPr lang="vi-VN" sz="28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805728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37388" y="-5944"/>
            <a:ext cx="18288001" cy="2101444"/>
          </a:xfrm>
          <a:prstGeom prst="rect">
            <a:avLst/>
          </a:prstGeom>
          <a:solidFill>
            <a:srgbClr val="D87A40"/>
          </a:solidFill>
        </p:spPr>
      </p:sp>
      <p:sp>
        <p:nvSpPr>
          <p:cNvPr id="3" name="TextBox 3"/>
          <p:cNvSpPr txBox="1"/>
          <p:nvPr/>
        </p:nvSpPr>
        <p:spPr>
          <a:xfrm>
            <a:off x="1066800" y="381433"/>
            <a:ext cx="16078200" cy="1299395"/>
          </a:xfrm>
          <a:prstGeom prst="rect">
            <a:avLst/>
          </a:prstGeom>
        </p:spPr>
        <p:txBody>
          <a:bodyPr wrap="square" lIns="0" tIns="0" rIns="0" bIns="0" rtlCol="0" anchor="t">
            <a:spAutoFit/>
          </a:bodyPr>
          <a:lstStyle/>
          <a:p>
            <a:pPr marL="0" lvl="0" indent="0" algn="just">
              <a:lnSpc>
                <a:spcPct val="150000"/>
              </a:lnSpc>
            </a:pPr>
            <a:r>
              <a:rPr lang="en-US" sz="3000" b="1" i="1" dirty="0" err="1">
                <a:solidFill>
                  <a:schemeClr val="bg1"/>
                </a:solidFill>
                <a:latin typeface="Arimo Bold Italics"/>
              </a:rPr>
              <a:t>Nguyên</a:t>
            </a:r>
            <a:r>
              <a:rPr lang="en-US" sz="3000" b="1" i="1" dirty="0">
                <a:solidFill>
                  <a:schemeClr val="bg1"/>
                </a:solidFill>
                <a:latin typeface="Arimo Bold Italics"/>
              </a:rPr>
              <a:t> </a:t>
            </a:r>
            <a:r>
              <a:rPr lang="en-US" sz="3000" b="1" i="1" dirty="0" err="1">
                <a:solidFill>
                  <a:schemeClr val="bg1"/>
                </a:solidFill>
                <a:latin typeface="Arimo Bold Italics"/>
              </a:rPr>
              <a:t>tắc</a:t>
            </a:r>
            <a:r>
              <a:rPr lang="en-US" sz="3000" b="1" i="1" dirty="0">
                <a:solidFill>
                  <a:schemeClr val="bg1"/>
                </a:solidFill>
                <a:latin typeface="Arimo Bold Italics"/>
              </a:rPr>
              <a:t> </a:t>
            </a:r>
            <a:r>
              <a:rPr lang="en-US" sz="3000" b="1" i="1" dirty="0" err="1">
                <a:solidFill>
                  <a:schemeClr val="bg1"/>
                </a:solidFill>
                <a:latin typeface="Arimo Bold Italics"/>
              </a:rPr>
              <a:t>xác</a:t>
            </a:r>
            <a:r>
              <a:rPr lang="en-US" sz="3000" b="1" i="1" dirty="0">
                <a:solidFill>
                  <a:schemeClr val="bg1"/>
                </a:solidFill>
                <a:latin typeface="Arimo Bold Italics"/>
              </a:rPr>
              <a:t> </a:t>
            </a:r>
            <a:r>
              <a:rPr lang="en-US" sz="3000" b="1" i="1" dirty="0" err="1">
                <a:solidFill>
                  <a:schemeClr val="bg1"/>
                </a:solidFill>
                <a:latin typeface="Arimo Bold Italics"/>
              </a:rPr>
              <a:t>định</a:t>
            </a:r>
            <a:r>
              <a:rPr lang="en-US" sz="3000" b="1" i="1" dirty="0">
                <a:solidFill>
                  <a:schemeClr val="bg1"/>
                </a:solidFill>
                <a:latin typeface="Arimo Bold Italics"/>
              </a:rPr>
              <a:t> </a:t>
            </a:r>
            <a:r>
              <a:rPr lang="en-US" sz="3000" b="1" i="1" dirty="0" err="1">
                <a:solidFill>
                  <a:schemeClr val="bg1"/>
                </a:solidFill>
                <a:latin typeface="Arimo Bold Italics"/>
              </a:rPr>
              <a:t>khoản</a:t>
            </a:r>
            <a:r>
              <a:rPr lang="en-US" sz="3000" b="1" i="1" dirty="0">
                <a:solidFill>
                  <a:schemeClr val="bg1"/>
                </a:solidFill>
                <a:latin typeface="Arimo Bold Italics"/>
              </a:rPr>
              <a:t> </a:t>
            </a:r>
            <a:r>
              <a:rPr lang="en-US" sz="3000" b="1" i="1" dirty="0" err="1">
                <a:solidFill>
                  <a:schemeClr val="bg1"/>
                </a:solidFill>
                <a:latin typeface="Arimo Bold Italics"/>
              </a:rPr>
              <a:t>thu</a:t>
            </a:r>
            <a:r>
              <a:rPr lang="en-US" sz="3000" b="1" i="1" dirty="0">
                <a:solidFill>
                  <a:schemeClr val="bg1"/>
                </a:solidFill>
                <a:latin typeface="Arimo Bold Italics"/>
              </a:rPr>
              <a:t> </a:t>
            </a:r>
            <a:r>
              <a:rPr lang="en-US" sz="3000" b="1" i="1" dirty="0" err="1">
                <a:solidFill>
                  <a:schemeClr val="bg1"/>
                </a:solidFill>
                <a:latin typeface="Arimo Bold Italics"/>
              </a:rPr>
              <a:t>trái</a:t>
            </a:r>
            <a:r>
              <a:rPr lang="en-US" sz="3000" b="1" i="1" dirty="0">
                <a:solidFill>
                  <a:schemeClr val="bg1"/>
                </a:solidFill>
                <a:latin typeface="Arimo Bold Italics"/>
              </a:rPr>
              <a:t> </a:t>
            </a:r>
            <a:r>
              <a:rPr lang="en-US" sz="3000" b="1" i="1" dirty="0" err="1">
                <a:solidFill>
                  <a:schemeClr val="bg1"/>
                </a:solidFill>
                <a:latin typeface="Arimo Bold Italics"/>
              </a:rPr>
              <a:t>pháp</a:t>
            </a:r>
            <a:r>
              <a:rPr lang="en-US" sz="3000" b="1" i="1" dirty="0">
                <a:solidFill>
                  <a:schemeClr val="bg1"/>
                </a:solidFill>
                <a:latin typeface="Arimo Bold Italics"/>
              </a:rPr>
              <a:t> </a:t>
            </a:r>
            <a:r>
              <a:rPr lang="en-US" sz="3000" b="1" i="1" dirty="0" err="1">
                <a:solidFill>
                  <a:schemeClr val="bg1"/>
                </a:solidFill>
                <a:latin typeface="Arimo Bold Italics"/>
              </a:rPr>
              <a:t>luật</a:t>
            </a:r>
            <a:r>
              <a:rPr lang="en-US" sz="3000" b="1" i="1" dirty="0">
                <a:solidFill>
                  <a:schemeClr val="bg1"/>
                </a:solidFill>
                <a:latin typeface="Arimo Bold Italics"/>
              </a:rPr>
              <a:t> </a:t>
            </a:r>
            <a:r>
              <a:rPr lang="vi-VN" sz="3000" b="1" i="1" dirty="0">
                <a:solidFill>
                  <a:schemeClr val="bg1"/>
                </a:solidFill>
                <a:latin typeface="Arimo Bold Italics"/>
              </a:rPr>
              <a:t>có được do thực hiện hành vi thao túng thị trường chứng khoán, hành vi sử dụng thông tin nội bộ để mua, bán chứng khoán</a:t>
            </a:r>
            <a:endParaRPr lang="en-US" sz="3000" b="1" i="1" dirty="0">
              <a:solidFill>
                <a:schemeClr val="bg1"/>
              </a:solidFill>
              <a:latin typeface="Arimo Bold Italics"/>
            </a:endParaRPr>
          </a:p>
        </p:txBody>
      </p:sp>
      <p:sp>
        <p:nvSpPr>
          <p:cNvPr id="16" name="TextBox 4">
            <a:extLst>
              <a:ext uri="{FF2B5EF4-FFF2-40B4-BE49-F238E27FC236}">
                <a16:creationId xmlns:a16="http://schemas.microsoft.com/office/drawing/2014/main" id="{F41447CB-D04E-4A28-8F71-E8B5CBBBA413}"/>
              </a:ext>
            </a:extLst>
          </p:cNvPr>
          <p:cNvSpPr txBox="1"/>
          <p:nvPr/>
        </p:nvSpPr>
        <p:spPr>
          <a:xfrm>
            <a:off x="838200" y="3619500"/>
            <a:ext cx="16992600" cy="5401479"/>
          </a:xfrm>
          <a:prstGeom prst="rect">
            <a:avLst/>
          </a:prstGeom>
        </p:spPr>
        <p:txBody>
          <a:bodyPr wrap="square" lIns="0" tIns="0" rIns="0" bIns="0" rtlCol="0" anchor="t">
            <a:spAutoFit/>
          </a:bodyPr>
          <a:lstStyle/>
          <a:p>
            <a:pPr algn="l">
              <a:spcBef>
                <a:spcPts val="600"/>
              </a:spcBef>
              <a:spcAft>
                <a:spcPts val="600"/>
              </a:spcAft>
            </a:pPr>
            <a:r>
              <a:rPr lang="vi-VN" sz="2800" b="0" i="0" dirty="0">
                <a:solidFill>
                  <a:schemeClr val="bg1"/>
                </a:solidFill>
                <a:effectLst/>
                <a:latin typeface="Arial" panose="020B0604020202020204" pitchFamily="34" charset="0"/>
              </a:rPr>
              <a:t>h) Trên cơ sở biên bản vi phạm hành chính đối với hành vi thao túng thị trường chứng khoán hoặc hành vi sử dụng thông tin nội bộ để mua, bán chứng khoán. Trưởng đoàn thanh tra hoặc Trưởng đoàn kiểm tra có trách nhiệm tính và lập Báo cáo về việc tính khoản thu trái pháp luật để Chủ tịch Ủy ban Chứng khoán Nhà nước xem xét, quyết định.</a:t>
            </a:r>
          </a:p>
          <a:p>
            <a:pPr algn="l">
              <a:spcBef>
                <a:spcPts val="600"/>
              </a:spcBef>
              <a:spcAft>
                <a:spcPts val="600"/>
              </a:spcAft>
            </a:pPr>
            <a:r>
              <a:rPr lang="vi-VN" sz="2800" b="0" i="0" dirty="0">
                <a:solidFill>
                  <a:schemeClr val="bg1"/>
                </a:solidFill>
                <a:effectLst/>
                <a:latin typeface="Arial" panose="020B0604020202020204" pitchFamily="34" charset="0"/>
              </a:rPr>
              <a:t>Trong trường hợp có khoản thu trái pháp luật từ hành vi thao túng thị trường chứng khoán hoặc hành vi sử dụng thông tin nội bộ để mua, bán chứng khoán. Chủ tịch Ủy ban Chứng khoán Nhà nước thành lập Hội đồng tính khoán thu trái pháp luật. Thành phần Hội đồng tính khoản thu trái pháp luật do Chủ tịch Ủy ban Chứng khoán Nhà nước quyết định. Chủ tịch Ủy ban Chứng khoán Nhà nước có thể tham vấn ý kiến của các chuyên gia từ Bộ Tài chính, tổ chức xã hội - nghề nghiệp về chứng khoán, cơ quan công an và cơ quan, tổ chức, cá nhân khác có liên quan.</a:t>
            </a:r>
          </a:p>
          <a:p>
            <a:br>
              <a:rPr lang="vi-VN" sz="2800" dirty="0"/>
            </a:br>
            <a:endParaRPr lang="vi-VN" sz="28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485645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3152"/>
            <a:ext cx="18288000" cy="10288294"/>
            <a:chOff x="0" y="0"/>
            <a:chExt cx="13716000" cy="13717725"/>
          </a:xfrm>
        </p:grpSpPr>
        <p:grpSp>
          <p:nvGrpSpPr>
            <p:cNvPr id="3" name="Group 3"/>
            <p:cNvGrpSpPr/>
            <p:nvPr/>
          </p:nvGrpSpPr>
          <p:grpSpPr>
            <a:xfrm>
              <a:off x="0" y="1725"/>
              <a:ext cx="13716000" cy="13716000"/>
              <a:chOff x="0" y="0"/>
              <a:chExt cx="6350000" cy="6350000"/>
            </a:xfrm>
          </p:grpSpPr>
          <p:sp>
            <p:nvSpPr>
              <p:cNvPr id="4" name="Freeform 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D87A40"/>
              </a:solidFill>
            </p:spPr>
          </p:sp>
        </p:grpSp>
        <p:sp>
          <p:nvSpPr>
            <p:cNvPr id="5" name="AutoShape 5"/>
            <p:cNvSpPr/>
            <p:nvPr/>
          </p:nvSpPr>
          <p:spPr>
            <a:xfrm>
              <a:off x="0" y="0"/>
              <a:ext cx="6858000" cy="13717725"/>
            </a:xfrm>
            <a:prstGeom prst="rect">
              <a:avLst/>
            </a:prstGeom>
            <a:solidFill>
              <a:srgbClr val="D87A40"/>
            </a:solidFill>
          </p:spPr>
        </p:sp>
      </p:grpSp>
      <p:grpSp>
        <p:nvGrpSpPr>
          <p:cNvPr id="6" name="Group 6"/>
          <p:cNvGrpSpPr>
            <a:grpSpLocks noChangeAspect="1"/>
          </p:cNvGrpSpPr>
          <p:nvPr/>
        </p:nvGrpSpPr>
        <p:grpSpPr>
          <a:xfrm>
            <a:off x="16827427" y="7367147"/>
            <a:ext cx="2921147" cy="2921147"/>
            <a:chOff x="0" y="0"/>
            <a:chExt cx="1708150" cy="1708150"/>
          </a:xfrm>
        </p:grpSpPr>
        <p:sp>
          <p:nvSpPr>
            <p:cNvPr id="7" name="Freeform 7"/>
            <p:cNvSpPr/>
            <p:nvPr/>
          </p:nvSpPr>
          <p:spPr>
            <a:xfrm>
              <a:off x="0" y="0"/>
              <a:ext cx="1708150" cy="1708150"/>
            </a:xfrm>
            <a:custGeom>
              <a:avLst/>
              <a:gdLst/>
              <a:ahLst/>
              <a:cxnLst/>
              <a:rect l="l" t="t" r="r" b="b"/>
              <a:pathLst>
                <a:path w="1708150"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FFFFF"/>
            </a:solidFill>
          </p:spPr>
        </p:sp>
      </p:grpSp>
      <p:sp>
        <p:nvSpPr>
          <p:cNvPr id="9" name="TextBox 9"/>
          <p:cNvSpPr txBox="1"/>
          <p:nvPr/>
        </p:nvSpPr>
        <p:spPr>
          <a:xfrm>
            <a:off x="2624570" y="3345758"/>
            <a:ext cx="10515600" cy="4985980"/>
          </a:xfrm>
          <a:prstGeom prst="rect">
            <a:avLst/>
          </a:prstGeom>
        </p:spPr>
        <p:txBody>
          <a:bodyPr wrap="square" lIns="0" tIns="0" rIns="0" bIns="0" rtlCol="0" anchor="t">
            <a:spAutoFit/>
          </a:bodyPr>
          <a:lstStyle/>
          <a:p>
            <a:pPr algn="just">
              <a:spcBef>
                <a:spcPts val="600"/>
              </a:spcBef>
              <a:spcAft>
                <a:spcPts val="600"/>
              </a:spcAft>
            </a:pPr>
            <a:r>
              <a:rPr lang="vi-VN" sz="3600" b="0" i="0" dirty="0">
                <a:solidFill>
                  <a:schemeClr val="bg1"/>
                </a:solidFill>
                <a:effectLst/>
                <a:latin typeface="Arial" panose="020B0604020202020204" pitchFamily="34" charset="0"/>
              </a:rPr>
              <a:t>Số lợi bất hợp pháp có được do thực hiện hành vi vi phạm pháp luật về chứng khoán và thị trường chứng khoán theo quy định lại </a:t>
            </a:r>
            <a:r>
              <a:rPr lang="vi-VN" sz="3600" b="0" i="0" u="none" strike="noStrike" dirty="0">
                <a:solidFill>
                  <a:schemeClr val="bg1"/>
                </a:solidFill>
                <a:effectLst/>
                <a:latin typeface="Arial" panose="020B0604020202020204" pitchFamily="34" charset="0"/>
              </a:rPr>
              <a:t>điểm d khoản 3 Điều 4 Nghị định số 156/2020/NĐ-CP</a:t>
            </a:r>
            <a:r>
              <a:rPr lang="vi-VN" sz="3600" b="0" i="0" dirty="0">
                <a:solidFill>
                  <a:schemeClr val="bg1"/>
                </a:solidFill>
                <a:effectLst/>
                <a:latin typeface="Arial" panose="020B0604020202020204" pitchFamily="34" charset="0"/>
              </a:rPr>
              <a:t> là số lợi bao gồm tiền, giấy tờ có giá, tài sản và vật có giá mà tổ chức, cá nhân có được do thực hiện hành vi vi phạm pháp luật về chứng khoán và thị trường chứng khoán sau khi trừ đi các khoản thuế, phí phải nộp</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14" name="Title 1">
            <a:extLst>
              <a:ext uri="{FF2B5EF4-FFF2-40B4-BE49-F238E27FC236}">
                <a16:creationId xmlns:a16="http://schemas.microsoft.com/office/drawing/2014/main" id="{2252CDCA-264D-4038-2333-E1249AA71D91}"/>
              </a:ext>
            </a:extLst>
          </p:cNvPr>
          <p:cNvSpPr txBox="1">
            <a:spLocks/>
          </p:cNvSpPr>
          <p:nvPr/>
        </p:nvSpPr>
        <p:spPr>
          <a:xfrm>
            <a:off x="2649310" y="1554246"/>
            <a:ext cx="9961790" cy="180289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buClr>
                <a:schemeClr val="lt1"/>
              </a:buClr>
              <a:buSzPct val="25000"/>
            </a:pPr>
            <a:r>
              <a:rPr lang="en-US" sz="4000" b="1" dirty="0" err="1">
                <a:solidFill>
                  <a:schemeClr val="bg1"/>
                </a:solidFill>
                <a:latin typeface="Times New Roman" panose="02020603050405020304" pitchFamily="18" charset="0"/>
                <a:cs typeface="Times New Roman" panose="02020603050405020304" pitchFamily="18" charset="0"/>
              </a:rPr>
              <a:t>Số</a:t>
            </a:r>
            <a:r>
              <a:rPr lang="en-US" sz="4000" b="1" dirty="0">
                <a:solidFill>
                  <a:schemeClr val="bg1"/>
                </a:solidFill>
                <a:latin typeface="Times New Roman" panose="02020603050405020304" pitchFamily="18" charset="0"/>
                <a:cs typeface="Times New Roman" panose="02020603050405020304" pitchFamily="18" charset="0"/>
              </a:rPr>
              <a:t> </a:t>
            </a:r>
            <a:r>
              <a:rPr lang="en-US" sz="4000" b="1" dirty="0" err="1">
                <a:solidFill>
                  <a:schemeClr val="bg1"/>
                </a:solidFill>
                <a:latin typeface="Times New Roman" panose="02020603050405020304" pitchFamily="18" charset="0"/>
                <a:cs typeface="Times New Roman" panose="02020603050405020304" pitchFamily="18" charset="0"/>
              </a:rPr>
              <a:t>lợi</a:t>
            </a:r>
            <a:r>
              <a:rPr lang="en-US" sz="4000" b="1" dirty="0">
                <a:solidFill>
                  <a:schemeClr val="bg1"/>
                </a:solidFill>
                <a:latin typeface="Times New Roman" panose="02020603050405020304" pitchFamily="18" charset="0"/>
                <a:cs typeface="Times New Roman" panose="02020603050405020304" pitchFamily="18" charset="0"/>
              </a:rPr>
              <a:t> </a:t>
            </a:r>
            <a:r>
              <a:rPr lang="en-US" sz="4000" b="1" dirty="0" err="1">
                <a:solidFill>
                  <a:schemeClr val="bg1"/>
                </a:solidFill>
                <a:latin typeface="Times New Roman" panose="02020603050405020304" pitchFamily="18" charset="0"/>
                <a:cs typeface="Times New Roman" panose="02020603050405020304" pitchFamily="18" charset="0"/>
              </a:rPr>
              <a:t>bất</a:t>
            </a:r>
            <a:r>
              <a:rPr lang="en-US" sz="4000" b="1" dirty="0">
                <a:solidFill>
                  <a:schemeClr val="bg1"/>
                </a:solidFill>
                <a:latin typeface="Times New Roman" panose="02020603050405020304" pitchFamily="18" charset="0"/>
                <a:cs typeface="Times New Roman" panose="02020603050405020304" pitchFamily="18" charset="0"/>
              </a:rPr>
              <a:t> </a:t>
            </a:r>
            <a:r>
              <a:rPr lang="en-US" sz="4000" b="1" dirty="0" err="1">
                <a:solidFill>
                  <a:schemeClr val="bg1"/>
                </a:solidFill>
                <a:latin typeface="Times New Roman" panose="02020603050405020304" pitchFamily="18" charset="0"/>
                <a:cs typeface="Times New Roman" panose="02020603050405020304" pitchFamily="18" charset="0"/>
              </a:rPr>
              <a:t>hợp</a:t>
            </a:r>
            <a:r>
              <a:rPr lang="en-US" sz="4000" b="1" dirty="0">
                <a:solidFill>
                  <a:schemeClr val="bg1"/>
                </a:solidFill>
                <a:latin typeface="Times New Roman" panose="02020603050405020304" pitchFamily="18" charset="0"/>
                <a:cs typeface="Times New Roman" panose="02020603050405020304" pitchFamily="18" charset="0"/>
              </a:rPr>
              <a:t> </a:t>
            </a:r>
            <a:r>
              <a:rPr lang="en-US" sz="4000" b="1" dirty="0" err="1">
                <a:solidFill>
                  <a:schemeClr val="bg1"/>
                </a:solidFill>
                <a:latin typeface="Times New Roman" panose="02020603050405020304" pitchFamily="18" charset="0"/>
                <a:cs typeface="Times New Roman" panose="02020603050405020304" pitchFamily="18" charset="0"/>
              </a:rPr>
              <a:t>pháp</a:t>
            </a:r>
            <a:endParaRPr lang="en-US" sz="4000" b="1" dirty="0">
              <a:solidFill>
                <a:schemeClr val="bg1"/>
              </a:solidFill>
              <a:latin typeface="Times New Roman" panose="02020603050405020304" pitchFamily="18" charset="0"/>
              <a:cs typeface="Times New Roman" panose="02020603050405020304" pitchFamily="18" charset="0"/>
            </a:endParaRPr>
          </a:p>
          <a:p>
            <a:pPr>
              <a:buClr>
                <a:schemeClr val="lt1"/>
              </a:buClr>
              <a:buSzPct val="25000"/>
            </a:pPr>
            <a:r>
              <a:rPr lang="en-US" sz="4000" b="1" dirty="0">
                <a:solidFill>
                  <a:schemeClr val="bg1"/>
                </a:solidFill>
                <a:latin typeface="Times New Roman" panose="02020603050405020304" pitchFamily="18" charset="0"/>
                <a:cs typeface="Times New Roman" panose="02020603050405020304" pitchFamily="18" charset="0"/>
              </a:rPr>
              <a:t>(</a:t>
            </a:r>
            <a:r>
              <a:rPr lang="en-US" sz="4000" b="1" dirty="0" err="1">
                <a:solidFill>
                  <a:schemeClr val="bg1"/>
                </a:solidFill>
                <a:latin typeface="Times New Roman" panose="02020603050405020304" pitchFamily="18" charset="0"/>
                <a:cs typeface="Times New Roman" panose="02020603050405020304" pitchFamily="18" charset="0"/>
              </a:rPr>
              <a:t>Quy</a:t>
            </a:r>
            <a:r>
              <a:rPr lang="en-US" sz="4000" b="1" dirty="0">
                <a:solidFill>
                  <a:schemeClr val="bg1"/>
                </a:solidFill>
                <a:latin typeface="Times New Roman" panose="02020603050405020304" pitchFamily="18" charset="0"/>
                <a:cs typeface="Times New Roman" panose="02020603050405020304" pitchFamily="18" charset="0"/>
              </a:rPr>
              <a:t> </a:t>
            </a:r>
            <a:r>
              <a:rPr lang="en-US" sz="4000" b="1" dirty="0" err="1">
                <a:solidFill>
                  <a:schemeClr val="bg1"/>
                </a:solidFill>
                <a:latin typeface="Times New Roman" panose="02020603050405020304" pitchFamily="18" charset="0"/>
                <a:cs typeface="Times New Roman" panose="02020603050405020304" pitchFamily="18" charset="0"/>
              </a:rPr>
              <a:t>định</a:t>
            </a:r>
            <a:r>
              <a:rPr lang="en-US" sz="4000" b="1" dirty="0">
                <a:solidFill>
                  <a:schemeClr val="bg1"/>
                </a:solidFill>
                <a:latin typeface="Times New Roman" panose="02020603050405020304" pitchFamily="18" charset="0"/>
                <a:cs typeface="Times New Roman" panose="02020603050405020304" pitchFamily="18" charset="0"/>
              </a:rPr>
              <a:t> </a:t>
            </a:r>
            <a:r>
              <a:rPr lang="en-US" sz="4000" b="1" dirty="0" err="1">
                <a:solidFill>
                  <a:schemeClr val="bg1"/>
                </a:solidFill>
                <a:latin typeface="Times New Roman" panose="02020603050405020304" pitchFamily="18" charset="0"/>
                <a:cs typeface="Times New Roman" panose="02020603050405020304" pitchFamily="18" charset="0"/>
              </a:rPr>
              <a:t>tại</a:t>
            </a:r>
            <a:r>
              <a:rPr lang="en-US" sz="4000" b="1" dirty="0">
                <a:solidFill>
                  <a:schemeClr val="bg1"/>
                </a:solidFill>
                <a:latin typeface="Times New Roman" panose="02020603050405020304" pitchFamily="18" charset="0"/>
                <a:cs typeface="Times New Roman" panose="02020603050405020304" pitchFamily="18" charset="0"/>
              </a:rPr>
              <a:t> </a:t>
            </a:r>
            <a:r>
              <a:rPr lang="en-US" sz="4000" b="1" dirty="0" err="1">
                <a:solidFill>
                  <a:schemeClr val="bg1"/>
                </a:solidFill>
                <a:latin typeface="Times New Roman" panose="02020603050405020304" pitchFamily="18" charset="0"/>
                <a:cs typeface="Times New Roman" panose="02020603050405020304" pitchFamily="18" charset="0"/>
              </a:rPr>
              <a:t>Điều</a:t>
            </a:r>
            <a:r>
              <a:rPr lang="en-US" sz="4000" b="1" dirty="0">
                <a:solidFill>
                  <a:schemeClr val="bg1"/>
                </a:solidFill>
                <a:latin typeface="Times New Roman" panose="02020603050405020304" pitchFamily="18" charset="0"/>
                <a:cs typeface="Times New Roman" panose="02020603050405020304" pitchFamily="18" charset="0"/>
              </a:rPr>
              <a:t> 4 TT 117/2020/TT-BTC)</a:t>
            </a:r>
          </a:p>
        </p:txBody>
      </p:sp>
    </p:spTree>
    <p:extLst>
      <p:ext uri="{BB962C8B-B14F-4D97-AF65-F5344CB8AC3E}">
        <p14:creationId xmlns:p14="http://schemas.microsoft.com/office/powerpoint/2010/main" val="2795751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37388" y="-5944"/>
            <a:ext cx="18288001" cy="2101444"/>
          </a:xfrm>
          <a:prstGeom prst="rect">
            <a:avLst/>
          </a:prstGeom>
          <a:solidFill>
            <a:srgbClr val="D87A40"/>
          </a:solidFill>
        </p:spPr>
      </p:sp>
      <p:sp>
        <p:nvSpPr>
          <p:cNvPr id="3" name="TextBox 3"/>
          <p:cNvSpPr txBox="1"/>
          <p:nvPr/>
        </p:nvSpPr>
        <p:spPr>
          <a:xfrm>
            <a:off x="1066800" y="381433"/>
            <a:ext cx="16078200" cy="1299395"/>
          </a:xfrm>
          <a:prstGeom prst="rect">
            <a:avLst/>
          </a:prstGeom>
        </p:spPr>
        <p:txBody>
          <a:bodyPr wrap="square" lIns="0" tIns="0" rIns="0" bIns="0" rtlCol="0" anchor="t">
            <a:spAutoFit/>
          </a:bodyPr>
          <a:lstStyle/>
          <a:p>
            <a:pPr marL="0" lvl="0" indent="0" algn="just">
              <a:lnSpc>
                <a:spcPct val="150000"/>
              </a:lnSpc>
            </a:pPr>
            <a:r>
              <a:rPr lang="en-US" sz="3000" b="1" i="1" dirty="0" err="1">
                <a:solidFill>
                  <a:schemeClr val="bg1"/>
                </a:solidFill>
                <a:latin typeface="Arimo Bold Italics"/>
              </a:rPr>
              <a:t>Nguyên</a:t>
            </a:r>
            <a:r>
              <a:rPr lang="en-US" sz="3000" b="1" i="1" dirty="0">
                <a:solidFill>
                  <a:schemeClr val="bg1"/>
                </a:solidFill>
                <a:latin typeface="Arimo Bold Italics"/>
              </a:rPr>
              <a:t> </a:t>
            </a:r>
            <a:r>
              <a:rPr lang="en-US" sz="3000" b="1" i="1" dirty="0" err="1">
                <a:solidFill>
                  <a:schemeClr val="bg1"/>
                </a:solidFill>
                <a:latin typeface="Arimo Bold Italics"/>
              </a:rPr>
              <a:t>tắc</a:t>
            </a:r>
            <a:r>
              <a:rPr lang="en-US" sz="3000" b="1" i="1" dirty="0">
                <a:solidFill>
                  <a:schemeClr val="bg1"/>
                </a:solidFill>
                <a:latin typeface="Arimo Bold Italics"/>
              </a:rPr>
              <a:t> </a:t>
            </a:r>
            <a:r>
              <a:rPr lang="en-US" sz="3000" b="1" i="1" dirty="0" err="1">
                <a:solidFill>
                  <a:schemeClr val="bg1"/>
                </a:solidFill>
                <a:latin typeface="Arimo Bold Italics"/>
              </a:rPr>
              <a:t>xác</a:t>
            </a:r>
            <a:r>
              <a:rPr lang="en-US" sz="3000" b="1" i="1" dirty="0">
                <a:solidFill>
                  <a:schemeClr val="bg1"/>
                </a:solidFill>
                <a:latin typeface="Arimo Bold Italics"/>
              </a:rPr>
              <a:t> </a:t>
            </a:r>
            <a:r>
              <a:rPr lang="en-US" sz="3000" b="1" i="1" dirty="0" err="1">
                <a:solidFill>
                  <a:schemeClr val="bg1"/>
                </a:solidFill>
                <a:latin typeface="Arimo Bold Italics"/>
              </a:rPr>
              <a:t>định</a:t>
            </a:r>
            <a:r>
              <a:rPr lang="en-US" sz="3000" b="1" i="1" dirty="0">
                <a:solidFill>
                  <a:schemeClr val="bg1"/>
                </a:solidFill>
                <a:latin typeface="Arimo Bold Italics"/>
              </a:rPr>
              <a:t> </a:t>
            </a:r>
            <a:r>
              <a:rPr lang="en-US" sz="3000" b="1" i="1" dirty="0" err="1">
                <a:solidFill>
                  <a:schemeClr val="bg1"/>
                </a:solidFill>
                <a:latin typeface="Arimo Bold Italics"/>
              </a:rPr>
              <a:t>số</a:t>
            </a:r>
            <a:r>
              <a:rPr lang="en-US" sz="3000" b="1" i="1" dirty="0">
                <a:solidFill>
                  <a:schemeClr val="bg1"/>
                </a:solidFill>
                <a:latin typeface="Arimo Bold Italics"/>
              </a:rPr>
              <a:t> </a:t>
            </a:r>
            <a:r>
              <a:rPr lang="en-US" sz="3000" b="1" i="1" dirty="0" err="1">
                <a:solidFill>
                  <a:schemeClr val="bg1"/>
                </a:solidFill>
                <a:latin typeface="Arimo Bold Italics"/>
              </a:rPr>
              <a:t>lợi</a:t>
            </a:r>
            <a:r>
              <a:rPr lang="en-US" sz="3000" b="1" i="1" dirty="0">
                <a:solidFill>
                  <a:schemeClr val="bg1"/>
                </a:solidFill>
                <a:latin typeface="Arimo Bold Italics"/>
              </a:rPr>
              <a:t> </a:t>
            </a:r>
            <a:r>
              <a:rPr lang="en-US" sz="3000" b="1" i="1" dirty="0" err="1">
                <a:solidFill>
                  <a:schemeClr val="bg1"/>
                </a:solidFill>
                <a:latin typeface="Arimo Bold Italics"/>
              </a:rPr>
              <a:t>bất</a:t>
            </a:r>
            <a:r>
              <a:rPr lang="en-US" sz="3000" b="1" i="1" dirty="0">
                <a:solidFill>
                  <a:schemeClr val="bg1"/>
                </a:solidFill>
                <a:latin typeface="Arimo Bold Italics"/>
              </a:rPr>
              <a:t> </a:t>
            </a:r>
            <a:r>
              <a:rPr lang="en-US" sz="3000" b="1" i="1" dirty="0" err="1">
                <a:solidFill>
                  <a:schemeClr val="bg1"/>
                </a:solidFill>
                <a:latin typeface="Arimo Bold Italics"/>
              </a:rPr>
              <a:t>hợp</a:t>
            </a:r>
            <a:r>
              <a:rPr lang="en-US" sz="3000" b="1" i="1" dirty="0">
                <a:solidFill>
                  <a:schemeClr val="bg1"/>
                </a:solidFill>
                <a:latin typeface="Arimo Bold Italics"/>
              </a:rPr>
              <a:t> </a:t>
            </a:r>
            <a:r>
              <a:rPr lang="en-US" sz="3000" b="1" i="1" dirty="0" err="1">
                <a:solidFill>
                  <a:schemeClr val="bg1"/>
                </a:solidFill>
                <a:latin typeface="Arimo Bold Italics"/>
              </a:rPr>
              <a:t>pháp</a:t>
            </a:r>
            <a:r>
              <a:rPr lang="en-US" sz="3000" b="1" i="1" dirty="0">
                <a:solidFill>
                  <a:schemeClr val="bg1"/>
                </a:solidFill>
                <a:latin typeface="Arimo Bold Italics"/>
              </a:rPr>
              <a:t> </a:t>
            </a:r>
            <a:r>
              <a:rPr lang="vi-VN" sz="3000" b="1" i="1" dirty="0">
                <a:solidFill>
                  <a:schemeClr val="bg1"/>
                </a:solidFill>
                <a:latin typeface="Arimo Bold Italics"/>
              </a:rPr>
              <a:t>có được do thực hiện hành vi vi phạm pháp luật về chứng khoán và thị trường chứng khoán</a:t>
            </a:r>
            <a:endParaRPr lang="en-US" sz="3000" b="1" i="1" dirty="0">
              <a:solidFill>
                <a:schemeClr val="bg1"/>
              </a:solidFill>
              <a:latin typeface="Arimo Bold Italics"/>
            </a:endParaRPr>
          </a:p>
        </p:txBody>
      </p:sp>
      <p:sp>
        <p:nvSpPr>
          <p:cNvPr id="16" name="TextBox 4">
            <a:extLst>
              <a:ext uri="{FF2B5EF4-FFF2-40B4-BE49-F238E27FC236}">
                <a16:creationId xmlns:a16="http://schemas.microsoft.com/office/drawing/2014/main" id="{F41447CB-D04E-4A28-8F71-E8B5CBBBA413}"/>
              </a:ext>
            </a:extLst>
          </p:cNvPr>
          <p:cNvSpPr txBox="1"/>
          <p:nvPr/>
        </p:nvSpPr>
        <p:spPr>
          <a:xfrm>
            <a:off x="838200" y="3619500"/>
            <a:ext cx="16992600" cy="4324261"/>
          </a:xfrm>
          <a:prstGeom prst="rect">
            <a:avLst/>
          </a:prstGeom>
        </p:spPr>
        <p:txBody>
          <a:bodyPr wrap="square" lIns="0" tIns="0" rIns="0" bIns="0" rtlCol="0" anchor="t">
            <a:spAutoFit/>
          </a:bodyPr>
          <a:lstStyle/>
          <a:p>
            <a:pPr algn="l">
              <a:spcBef>
                <a:spcPts val="600"/>
              </a:spcBef>
              <a:spcAft>
                <a:spcPts val="600"/>
              </a:spcAft>
            </a:pPr>
            <a:r>
              <a:rPr lang="vi-VN" sz="3200" b="0" i="0" dirty="0">
                <a:solidFill>
                  <a:schemeClr val="bg1"/>
                </a:solidFill>
                <a:effectLst/>
                <a:latin typeface="Arial" panose="020B0604020202020204" pitchFamily="34" charset="0"/>
              </a:rPr>
              <a:t>a) Trường hợp tổ chức, cá nhân thực hiện nhiều hành vi vi phạm thì xác định số lợi bất hợp pháp có được theo từng hành vi vi phạm:</a:t>
            </a:r>
          </a:p>
          <a:p>
            <a:pPr algn="l">
              <a:spcBef>
                <a:spcPts val="600"/>
              </a:spcBef>
              <a:spcAft>
                <a:spcPts val="600"/>
              </a:spcAft>
            </a:pPr>
            <a:r>
              <a:rPr lang="vi-VN" sz="3200" b="0" i="0" dirty="0">
                <a:solidFill>
                  <a:schemeClr val="bg1"/>
                </a:solidFill>
                <a:effectLst/>
                <a:latin typeface="Arial" panose="020B0604020202020204" pitchFamily="34" charset="0"/>
              </a:rPr>
              <a:t>b) Trường hợp tổ chức, cá nhân thực hiện hành vi vi phạm nhiều lần thì xác định số lợi bất hợp pháp có được do thực hiện hành vi vi phạm theo từng lần:</a:t>
            </a:r>
          </a:p>
          <a:p>
            <a:pPr algn="l">
              <a:spcBef>
                <a:spcPts val="600"/>
              </a:spcBef>
              <a:spcAft>
                <a:spcPts val="600"/>
              </a:spcAft>
            </a:pPr>
            <a:r>
              <a:rPr lang="vi-VN" sz="3200" b="0" i="0" dirty="0">
                <a:solidFill>
                  <a:schemeClr val="bg1"/>
                </a:solidFill>
                <a:effectLst/>
                <a:latin typeface="Arial" panose="020B0604020202020204" pitchFamily="34" charset="0"/>
              </a:rPr>
              <a:t>c) Trường hợp tổ chức, cá nhân thực hiện hành vi vi phạm đối với nhiều mã chứng khoán thì số lợi bất hợp pháp được tính theo từng mã chứng khoán.</a:t>
            </a:r>
          </a:p>
          <a:p>
            <a:br>
              <a:rPr lang="vi-VN" sz="3200" dirty="0">
                <a:solidFill>
                  <a:schemeClr val="bg1"/>
                </a:solidFill>
              </a:rPr>
            </a:br>
            <a:endParaRPr lang="vi-VN" sz="3200" b="0" i="0" dirty="0">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432224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TextBox 2"/>
          <p:cNvSpPr txBox="1"/>
          <p:nvPr/>
        </p:nvSpPr>
        <p:spPr>
          <a:xfrm>
            <a:off x="1031810" y="743627"/>
            <a:ext cx="16230600" cy="2113977"/>
          </a:xfrm>
          <a:prstGeom prst="rect">
            <a:avLst/>
          </a:prstGeom>
        </p:spPr>
        <p:txBody>
          <a:bodyPr lIns="0" tIns="0" rIns="0" bIns="0" rtlCol="0" anchor="t">
            <a:spAutoFit/>
          </a:bodyPr>
          <a:lstStyle/>
          <a:p>
            <a:pPr marL="0" lvl="0" indent="0" algn="ctr">
              <a:lnSpc>
                <a:spcPts val="8467"/>
              </a:lnSpc>
              <a:spcBef>
                <a:spcPct val="0"/>
              </a:spcBef>
            </a:pPr>
            <a:r>
              <a:rPr lang="vi-VN" sz="5000" b="1" i="1" dirty="0">
                <a:solidFill>
                  <a:srgbClr val="FFFFFF"/>
                </a:solidFill>
                <a:latin typeface="Arimo Bold Italics"/>
              </a:rPr>
              <a:t>Quy định xử lý hành chính đối với hành vi thao túng thị trường, giao dịch nội bộ</a:t>
            </a:r>
            <a:endParaRPr lang="en-US" sz="5000" b="1" i="1" dirty="0">
              <a:solidFill>
                <a:srgbClr val="FFFFFF"/>
              </a:solidFill>
              <a:latin typeface="Arimo Bold Italics"/>
            </a:endParaRPr>
          </a:p>
        </p:txBody>
      </p:sp>
      <p:sp>
        <p:nvSpPr>
          <p:cNvPr id="3" name="AutoShape 3"/>
          <p:cNvSpPr/>
          <p:nvPr/>
        </p:nvSpPr>
        <p:spPr>
          <a:xfrm>
            <a:off x="1028700" y="4095072"/>
            <a:ext cx="3651102" cy="6191928"/>
          </a:xfrm>
          <a:prstGeom prst="rect">
            <a:avLst/>
          </a:prstGeom>
          <a:solidFill>
            <a:srgbClr val="D87A40"/>
          </a:solidFill>
        </p:spPr>
      </p:sp>
      <p:sp>
        <p:nvSpPr>
          <p:cNvPr id="4" name="AutoShape 4"/>
          <p:cNvSpPr/>
          <p:nvPr/>
        </p:nvSpPr>
        <p:spPr>
          <a:xfrm>
            <a:off x="5215819" y="4095072"/>
            <a:ext cx="3651102" cy="6191928"/>
          </a:xfrm>
          <a:prstGeom prst="rect">
            <a:avLst/>
          </a:prstGeom>
          <a:solidFill>
            <a:srgbClr val="D87A40"/>
          </a:solidFill>
        </p:spPr>
      </p:sp>
      <p:sp>
        <p:nvSpPr>
          <p:cNvPr id="5" name="AutoShape 5"/>
          <p:cNvSpPr/>
          <p:nvPr/>
        </p:nvSpPr>
        <p:spPr>
          <a:xfrm>
            <a:off x="9406972" y="4095072"/>
            <a:ext cx="3651102" cy="6191928"/>
          </a:xfrm>
          <a:prstGeom prst="rect">
            <a:avLst/>
          </a:prstGeom>
          <a:solidFill>
            <a:srgbClr val="D87A40"/>
          </a:solidFill>
        </p:spPr>
      </p:sp>
      <p:sp>
        <p:nvSpPr>
          <p:cNvPr id="6" name="AutoShape 6"/>
          <p:cNvSpPr/>
          <p:nvPr/>
        </p:nvSpPr>
        <p:spPr>
          <a:xfrm>
            <a:off x="13608660" y="4095072"/>
            <a:ext cx="3651102" cy="6191928"/>
          </a:xfrm>
          <a:prstGeom prst="rect">
            <a:avLst/>
          </a:prstGeom>
          <a:solidFill>
            <a:srgbClr val="D87A40"/>
          </a:solidFill>
        </p:spPr>
      </p:sp>
      <p:sp>
        <p:nvSpPr>
          <p:cNvPr id="9" name="TextBox 9"/>
          <p:cNvSpPr txBox="1"/>
          <p:nvPr/>
        </p:nvSpPr>
        <p:spPr>
          <a:xfrm>
            <a:off x="1311237" y="4893002"/>
            <a:ext cx="3086028" cy="4308872"/>
          </a:xfrm>
          <a:prstGeom prst="rect">
            <a:avLst/>
          </a:prstGeom>
        </p:spPr>
        <p:txBody>
          <a:bodyPr lIns="0" tIns="0" rIns="0" bIns="0" rtlCol="0" anchor="t">
            <a:spAutoFit/>
          </a:bodyPr>
          <a:lstStyle/>
          <a:p>
            <a:pPr marL="0" lvl="0" indent="0" algn="ctr">
              <a:spcBef>
                <a:spcPct val="0"/>
              </a:spcBef>
            </a:pPr>
            <a:r>
              <a:rPr lang="en-US" sz="4000">
                <a:solidFill>
                  <a:srgbClr val="FFFFFF"/>
                </a:solidFill>
                <a:latin typeface="Times New Roman" panose="02020603050405020304" pitchFamily="18" charset="0"/>
                <a:cs typeface="Times New Roman" panose="02020603050405020304" pitchFamily="18" charset="0"/>
              </a:rPr>
              <a:t>Nghị định 36/2007/NĐ-CP: 30 đến 50 triệu đối với cá nhân, 50-70 triệu đối với tổ chức</a:t>
            </a:r>
          </a:p>
        </p:txBody>
      </p:sp>
      <p:sp>
        <p:nvSpPr>
          <p:cNvPr id="11" name="TextBox 11"/>
          <p:cNvSpPr txBox="1"/>
          <p:nvPr/>
        </p:nvSpPr>
        <p:spPr>
          <a:xfrm>
            <a:off x="9694297" y="4728696"/>
            <a:ext cx="3086028" cy="4924425"/>
          </a:xfrm>
          <a:prstGeom prst="rect">
            <a:avLst/>
          </a:prstGeom>
        </p:spPr>
        <p:txBody>
          <a:bodyPr lIns="0" tIns="0" rIns="0" bIns="0" rtlCol="0" anchor="t">
            <a:spAutoFit/>
          </a:bodyPr>
          <a:lstStyle/>
          <a:p>
            <a:pPr marL="0" lvl="0" indent="0" algn="ctr">
              <a:spcBef>
                <a:spcPct val="0"/>
              </a:spcBef>
            </a:pPr>
            <a:r>
              <a:rPr lang="en-US" sz="4000">
                <a:solidFill>
                  <a:srgbClr val="FFFFFF"/>
                </a:solidFill>
                <a:latin typeface="Times New Roman" panose="02020603050405020304" pitchFamily="18" charset="0"/>
                <a:cs typeface="Times New Roman" panose="02020603050405020304" pitchFamily="18" charset="0"/>
              </a:rPr>
              <a:t>Nghị định 108/2013/NĐ-CP (Nghị định 145/2016/NĐ-CP): 1 tỷ - 1,2 tỷ đối với tổ chức, cá nhân bằng một nửa</a:t>
            </a:r>
          </a:p>
        </p:txBody>
      </p:sp>
      <p:sp>
        <p:nvSpPr>
          <p:cNvPr id="14" name="TextBox 14"/>
          <p:cNvSpPr txBox="1"/>
          <p:nvPr/>
        </p:nvSpPr>
        <p:spPr>
          <a:xfrm>
            <a:off x="5498356" y="5829300"/>
            <a:ext cx="3086028" cy="2462213"/>
          </a:xfrm>
          <a:prstGeom prst="rect">
            <a:avLst/>
          </a:prstGeom>
        </p:spPr>
        <p:txBody>
          <a:bodyPr lIns="0" tIns="0" rIns="0" bIns="0" rtlCol="0" anchor="t">
            <a:spAutoFit/>
          </a:bodyPr>
          <a:lstStyle/>
          <a:p>
            <a:pPr algn="ctr">
              <a:spcBef>
                <a:spcPts val="600"/>
              </a:spcBef>
              <a:spcAft>
                <a:spcPts val="600"/>
              </a:spcAft>
            </a:pPr>
            <a:r>
              <a:rPr lang="en-US" sz="4000">
                <a:solidFill>
                  <a:schemeClr val="bg1"/>
                </a:solidFill>
                <a:latin typeface="Times New Roman" panose="02020603050405020304" pitchFamily="18" charset="0"/>
                <a:cs typeface="Times New Roman" panose="02020603050405020304" pitchFamily="18" charset="0"/>
              </a:rPr>
              <a:t>Nghị định 85/2010/NĐ-CP: 200-300 triệu</a:t>
            </a:r>
          </a:p>
        </p:txBody>
      </p:sp>
      <p:sp>
        <p:nvSpPr>
          <p:cNvPr id="18" name="TextBox 18"/>
          <p:cNvSpPr txBox="1"/>
          <p:nvPr/>
        </p:nvSpPr>
        <p:spPr>
          <a:xfrm>
            <a:off x="13608199" y="4585225"/>
            <a:ext cx="3651101" cy="4924425"/>
          </a:xfrm>
          <a:prstGeom prst="rect">
            <a:avLst/>
          </a:prstGeom>
        </p:spPr>
        <p:txBody>
          <a:bodyPr wrap="square" lIns="0" tIns="0" rIns="0" bIns="0" rtlCol="0" anchor="t">
            <a:spAutoFit/>
          </a:bodyPr>
          <a:lstStyle/>
          <a:p>
            <a:pPr marL="0" lvl="0" indent="0" algn="ctr">
              <a:spcBef>
                <a:spcPct val="0"/>
              </a:spcBef>
            </a:pPr>
            <a:r>
              <a:rPr lang="en-US" sz="4000">
                <a:solidFill>
                  <a:srgbClr val="FFFFFF"/>
                </a:solidFill>
                <a:latin typeface="Times New Roman" panose="02020603050405020304" pitchFamily="18" charset="0"/>
                <a:cs typeface="Times New Roman" panose="02020603050405020304" pitchFamily="18" charset="0"/>
              </a:rPr>
              <a:t>Nghị định 156/2020/NĐ-CP: 10 lần khoản thu trái pháp luật, tối thiểu 3 tỷ đối với tổ chức và 1,5 tỷ đối với cá nhân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12179300" cy="6845300"/>
            </a:xfrm>
            <a:prstGeom prst="rect">
              <a:avLst/>
            </a:prstGeom>
            <a:solidFill>
              <a:srgbClr val="D87A40"/>
            </a:solidFill>
          </p:spPr>
        </p:sp>
        <p:sp>
          <p:nvSpPr>
            <p:cNvPr id="4" name="AutoShape 4"/>
            <p:cNvSpPr/>
            <p:nvPr/>
          </p:nvSpPr>
          <p:spPr>
            <a:xfrm>
              <a:off x="12204700" y="0"/>
              <a:ext cx="12179300" cy="6845300"/>
            </a:xfrm>
            <a:prstGeom prst="rect">
              <a:avLst/>
            </a:prstGeom>
            <a:solidFill>
              <a:srgbClr val="D87A40"/>
            </a:solidFill>
          </p:spPr>
        </p:sp>
        <p:sp>
          <p:nvSpPr>
            <p:cNvPr id="5" name="AutoShape 5"/>
            <p:cNvSpPr/>
            <p:nvPr/>
          </p:nvSpPr>
          <p:spPr>
            <a:xfrm>
              <a:off x="0" y="6870700"/>
              <a:ext cx="12179300" cy="6845300"/>
            </a:xfrm>
            <a:prstGeom prst="rect">
              <a:avLst/>
            </a:prstGeom>
            <a:solidFill>
              <a:srgbClr val="D87A40"/>
            </a:solidFill>
          </p:spPr>
        </p:sp>
        <p:sp>
          <p:nvSpPr>
            <p:cNvPr id="6" name="AutoShape 6"/>
            <p:cNvSpPr/>
            <p:nvPr/>
          </p:nvSpPr>
          <p:spPr>
            <a:xfrm>
              <a:off x="12204700" y="6870700"/>
              <a:ext cx="12179300" cy="6845300"/>
            </a:xfrm>
            <a:prstGeom prst="rect">
              <a:avLst/>
            </a:prstGeom>
            <a:solidFill>
              <a:srgbClr val="D87A40"/>
            </a:solidFill>
          </p:spPr>
          <p:txBody>
            <a:bodyPr/>
            <a:lstStyle/>
            <a:p>
              <a:endParaRPr lang="en-US" dirty="0"/>
            </a:p>
          </p:txBody>
        </p:sp>
      </p:grpSp>
      <p:grpSp>
        <p:nvGrpSpPr>
          <p:cNvPr id="7" name="Group 7"/>
          <p:cNvGrpSpPr/>
          <p:nvPr/>
        </p:nvGrpSpPr>
        <p:grpSpPr>
          <a:xfrm>
            <a:off x="1018804" y="763219"/>
            <a:ext cx="4911966" cy="3488134"/>
            <a:chOff x="-13195" y="-274870"/>
            <a:chExt cx="6549288" cy="2999080"/>
          </a:xfrm>
        </p:grpSpPr>
        <p:sp>
          <p:nvSpPr>
            <p:cNvPr id="8" name="TextBox 8"/>
            <p:cNvSpPr txBox="1"/>
            <p:nvPr/>
          </p:nvSpPr>
          <p:spPr>
            <a:xfrm>
              <a:off x="0" y="865691"/>
              <a:ext cx="6536093" cy="311375"/>
            </a:xfrm>
            <a:prstGeom prst="rect">
              <a:avLst/>
            </a:prstGeom>
          </p:spPr>
          <p:txBody>
            <a:bodyPr lIns="0" tIns="0" rIns="0" bIns="0" rtlCol="0" anchor="t">
              <a:spAutoFit/>
            </a:bodyPr>
            <a:lstStyle/>
            <a:p>
              <a:pPr marL="0" lvl="0" indent="0" algn="just">
                <a:lnSpc>
                  <a:spcPts val="3045"/>
                </a:lnSpc>
                <a:spcBef>
                  <a:spcPct val="0"/>
                </a:spcBef>
              </a:pPr>
              <a:endParaRPr lang="en-US" sz="2175" u="none" dirty="0">
                <a:solidFill>
                  <a:srgbClr val="082E2D"/>
                </a:solidFill>
                <a:latin typeface="+mj-lt"/>
              </a:endParaRPr>
            </a:p>
          </p:txBody>
        </p:sp>
        <p:sp>
          <p:nvSpPr>
            <p:cNvPr id="9" name="TextBox 9"/>
            <p:cNvSpPr txBox="1"/>
            <p:nvPr/>
          </p:nvSpPr>
          <p:spPr>
            <a:xfrm>
              <a:off x="-13195" y="-274870"/>
              <a:ext cx="6536093" cy="2999080"/>
            </a:xfrm>
            <a:prstGeom prst="rect">
              <a:avLst/>
            </a:prstGeom>
          </p:spPr>
          <p:txBody>
            <a:bodyPr lIns="0" tIns="0" rIns="0" bIns="0" rtlCol="0" anchor="t">
              <a:spAutoFit/>
            </a:bodyPr>
            <a:lstStyle/>
            <a:p>
              <a:pPr marL="0" lvl="0" indent="0" algn="l">
                <a:lnSpc>
                  <a:spcPts val="3359"/>
                </a:lnSpc>
                <a:spcBef>
                  <a:spcPct val="0"/>
                </a:spcBef>
              </a:pPr>
              <a:r>
                <a:rPr lang="en-US" sz="3000" b="1" u="none" dirty="0" err="1">
                  <a:latin typeface="Times New Roman" panose="02020603050405020304" pitchFamily="18" charset="0"/>
                  <a:cs typeface="Times New Roman" panose="02020603050405020304" pitchFamily="18" charset="0"/>
                </a:rPr>
                <a:t>Xử</a:t>
              </a:r>
              <a:r>
                <a:rPr lang="en-US" sz="3000" b="1" u="none" dirty="0">
                  <a:latin typeface="Times New Roman" panose="02020603050405020304" pitchFamily="18" charset="0"/>
                  <a:cs typeface="Times New Roman" panose="02020603050405020304" pitchFamily="18" charset="0"/>
                </a:rPr>
                <a:t> </a:t>
              </a:r>
              <a:r>
                <a:rPr lang="en-US" sz="3000" b="1" u="none" dirty="0" err="1">
                  <a:latin typeface="Times New Roman" panose="02020603050405020304" pitchFamily="18" charset="0"/>
                  <a:cs typeface="Times New Roman" panose="02020603050405020304" pitchFamily="18" charset="0"/>
                </a:rPr>
                <a:t>phạt</a:t>
              </a:r>
              <a:r>
                <a:rPr lang="en-US" sz="3000" b="1" u="none" dirty="0">
                  <a:latin typeface="Times New Roman" panose="02020603050405020304" pitchFamily="18" charset="0"/>
                  <a:cs typeface="Times New Roman" panose="02020603050405020304" pitchFamily="18" charset="0"/>
                </a:rPr>
                <a:t> vi </a:t>
              </a:r>
              <a:r>
                <a:rPr lang="en-US" sz="3000" b="1" u="none" dirty="0" err="1">
                  <a:latin typeface="Times New Roman" panose="02020603050405020304" pitchFamily="18" charset="0"/>
                  <a:cs typeface="Times New Roman" panose="02020603050405020304" pitchFamily="18" charset="0"/>
                </a:rPr>
                <a:t>phạm</a:t>
              </a:r>
              <a:r>
                <a:rPr lang="en-US" sz="3000" b="1" u="none" dirty="0">
                  <a:latin typeface="Times New Roman" panose="02020603050405020304" pitchFamily="18" charset="0"/>
                  <a:cs typeface="Times New Roman" panose="02020603050405020304" pitchFamily="18" charset="0"/>
                </a:rPr>
                <a:t> </a:t>
              </a:r>
              <a:r>
                <a:rPr lang="en-US" sz="3000" b="1" u="none" dirty="0" err="1">
                  <a:latin typeface="Times New Roman" panose="02020603050405020304" pitchFamily="18" charset="0"/>
                  <a:cs typeface="Times New Roman" panose="02020603050405020304" pitchFamily="18" charset="0"/>
                </a:rPr>
                <a:t>hành</a:t>
              </a:r>
              <a:r>
                <a:rPr lang="en-US" sz="3000" b="1" u="none" dirty="0">
                  <a:latin typeface="Times New Roman" panose="02020603050405020304" pitchFamily="18" charset="0"/>
                  <a:cs typeface="Times New Roman" panose="02020603050405020304" pitchFamily="18" charset="0"/>
                </a:rPr>
                <a:t> </a:t>
              </a:r>
              <a:r>
                <a:rPr lang="en-US" sz="3000" b="1" u="none" dirty="0" err="1">
                  <a:latin typeface="Times New Roman" panose="02020603050405020304" pitchFamily="18" charset="0"/>
                  <a:cs typeface="Times New Roman" panose="02020603050405020304" pitchFamily="18" charset="0"/>
                </a:rPr>
                <a:t>chính</a:t>
              </a:r>
              <a:r>
                <a:rPr lang="en-US" sz="3000" b="1" u="none" dirty="0">
                  <a:latin typeface="Times New Roman" panose="02020603050405020304" pitchFamily="18" charset="0"/>
                  <a:cs typeface="Times New Roman" panose="02020603050405020304" pitchFamily="18" charset="0"/>
                </a:rPr>
                <a:t> </a:t>
              </a:r>
              <a:r>
                <a:rPr lang="en-US" sz="3000" b="1" i="1" dirty="0">
                  <a:latin typeface="Times New Roman" panose="02020603050405020304" pitchFamily="18" charset="0"/>
                  <a:cs typeface="Times New Roman" panose="02020603050405020304" pitchFamily="18" charset="0"/>
                </a:rPr>
                <a:t>(</a:t>
              </a:r>
              <a:r>
                <a:rPr lang="en-US" sz="3000" b="1" dirty="0" err="1">
                  <a:latin typeface="Times New Roman" panose="02020603050405020304" pitchFamily="18" charset="0"/>
                  <a:cs typeface="Times New Roman" panose="02020603050405020304" pitchFamily="18" charset="0"/>
                </a:rPr>
                <a:t>Nghị</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định</a:t>
              </a:r>
              <a:r>
                <a:rPr lang="en-US" sz="3000" b="1" dirty="0">
                  <a:latin typeface="Times New Roman" panose="02020603050405020304" pitchFamily="18" charset="0"/>
                  <a:cs typeface="Times New Roman" panose="02020603050405020304" pitchFamily="18" charset="0"/>
                </a:rPr>
                <a:t> 156/2020/NĐ-CP)</a:t>
              </a:r>
            </a:p>
            <a:p>
              <a:pPr marL="0" lvl="0" indent="0" algn="just">
                <a:lnSpc>
                  <a:spcPts val="3359"/>
                </a:lnSpc>
                <a:spcBef>
                  <a:spcPct val="0"/>
                </a:spcBef>
              </a:pPr>
              <a:r>
                <a:rPr lang="vi-VN" sz="3000" u="none" dirty="0">
                  <a:solidFill>
                    <a:srgbClr val="082E2D"/>
                  </a:solidFill>
                  <a:latin typeface="+mj-lt"/>
                </a:rPr>
                <a:t>Điều 35 (vi phạm sử dụng thông tin nội bộ để mua, bán chứng khoán) và Điều 36 (Vi phạm thao túng thị trường chứng khoán)</a:t>
              </a:r>
              <a:endParaRPr lang="en-US" sz="3000" u="none" dirty="0">
                <a:solidFill>
                  <a:srgbClr val="082E2D"/>
                </a:solidFill>
                <a:latin typeface="+mj-lt"/>
              </a:endParaRPr>
            </a:p>
            <a:p>
              <a:pPr marL="0" lvl="0" indent="0" algn="l">
                <a:lnSpc>
                  <a:spcPts val="3359"/>
                </a:lnSpc>
                <a:spcBef>
                  <a:spcPct val="0"/>
                </a:spcBef>
              </a:pPr>
              <a:endParaRPr lang="en-US" sz="3000" b="1" u="none" dirty="0">
                <a:latin typeface="Times New Roman" panose="02020603050405020304" pitchFamily="18" charset="0"/>
                <a:cs typeface="Times New Roman" panose="02020603050405020304" pitchFamily="18" charset="0"/>
              </a:endParaRPr>
            </a:p>
          </p:txBody>
        </p:sp>
      </p:grpSp>
      <p:grpSp>
        <p:nvGrpSpPr>
          <p:cNvPr id="10" name="Group 10"/>
          <p:cNvGrpSpPr/>
          <p:nvPr/>
        </p:nvGrpSpPr>
        <p:grpSpPr>
          <a:xfrm>
            <a:off x="633509" y="5784372"/>
            <a:ext cx="5600700" cy="3539942"/>
            <a:chOff x="0" y="-66675"/>
            <a:chExt cx="6536093" cy="3792566"/>
          </a:xfrm>
        </p:grpSpPr>
        <p:sp>
          <p:nvSpPr>
            <p:cNvPr id="11" name="TextBox 11"/>
            <p:cNvSpPr txBox="1"/>
            <p:nvPr/>
          </p:nvSpPr>
          <p:spPr>
            <a:xfrm>
              <a:off x="0" y="837501"/>
              <a:ext cx="6536093" cy="2888390"/>
            </a:xfrm>
            <a:prstGeom prst="rect">
              <a:avLst/>
            </a:prstGeom>
          </p:spPr>
          <p:txBody>
            <a:bodyPr lIns="0" tIns="0" rIns="0" bIns="0" rtlCol="0" anchor="t">
              <a:spAutoFit/>
            </a:bodyPr>
            <a:lstStyle/>
            <a:p>
              <a:pPr marL="0" lvl="0" indent="0" algn="just">
                <a:lnSpc>
                  <a:spcPts val="3045"/>
                </a:lnSpc>
                <a:spcBef>
                  <a:spcPct val="0"/>
                </a:spcBef>
              </a:pPr>
              <a:r>
                <a:rPr lang="en-US" sz="3000" u="none" dirty="0">
                  <a:solidFill>
                    <a:srgbClr val="082E2D"/>
                  </a:solidFill>
                  <a:latin typeface="+mj-lt"/>
                </a:rPr>
                <a:t>+ </a:t>
              </a:r>
              <a:r>
                <a:rPr lang="vi-VN" sz="3000" u="none" dirty="0">
                  <a:solidFill>
                    <a:srgbClr val="082E2D"/>
                  </a:solidFill>
                  <a:latin typeface="+mj-lt"/>
                </a:rPr>
                <a:t>Đình chỉ hoạt động kinh doanh, dịch vụ chứng khoán hoặc tước quyền sử dụng chứng chỉ hành nghề chứng khoán trong thời hạn từ 01 tháng đến 03 tháng</a:t>
              </a:r>
            </a:p>
            <a:p>
              <a:pPr marL="0" lvl="0" indent="0" algn="just">
                <a:lnSpc>
                  <a:spcPts val="3045"/>
                </a:lnSpc>
                <a:spcBef>
                  <a:spcPct val="0"/>
                </a:spcBef>
              </a:pPr>
              <a:r>
                <a:rPr lang="vi-VN" sz="3000" u="none" dirty="0">
                  <a:solidFill>
                    <a:srgbClr val="082E2D"/>
                  </a:solidFill>
                  <a:latin typeface="+mj-lt"/>
                </a:rPr>
                <a:t>+ Tước quyền sử dụng chứng chỉ hành nghề chứng khoán 18-24 tháng</a:t>
              </a:r>
              <a:endParaRPr lang="en-US" sz="3000" u="none" dirty="0">
                <a:solidFill>
                  <a:srgbClr val="082E2D"/>
                </a:solidFill>
                <a:latin typeface="+mj-lt"/>
              </a:endParaRPr>
            </a:p>
          </p:txBody>
        </p:sp>
        <p:sp>
          <p:nvSpPr>
            <p:cNvPr id="12" name="TextBox 12"/>
            <p:cNvSpPr txBox="1"/>
            <p:nvPr/>
          </p:nvSpPr>
          <p:spPr>
            <a:xfrm>
              <a:off x="0" y="-66675"/>
              <a:ext cx="6536093" cy="467133"/>
            </a:xfrm>
            <a:prstGeom prst="rect">
              <a:avLst/>
            </a:prstGeom>
          </p:spPr>
          <p:txBody>
            <a:bodyPr lIns="0" tIns="0" rIns="0" bIns="0" rtlCol="0" anchor="t">
              <a:spAutoFit/>
            </a:bodyPr>
            <a:lstStyle/>
            <a:p>
              <a:pPr marL="0" lvl="0" indent="0" algn="just">
                <a:lnSpc>
                  <a:spcPts val="3359"/>
                </a:lnSpc>
                <a:spcBef>
                  <a:spcPct val="0"/>
                </a:spcBef>
              </a:pPr>
              <a:r>
                <a:rPr lang="en-US" sz="3000" b="1" u="none">
                  <a:solidFill>
                    <a:srgbClr val="082E2D"/>
                  </a:solidFill>
                  <a:latin typeface="Times New Roman" panose="02020603050405020304" pitchFamily="18" charset="0"/>
                  <a:cs typeface="Times New Roman" panose="02020603050405020304" pitchFamily="18" charset="0"/>
                </a:rPr>
                <a:t>Hình thức xử phạt bổ sung</a:t>
              </a:r>
            </a:p>
          </p:txBody>
        </p:sp>
      </p:grpSp>
      <p:grpSp>
        <p:nvGrpSpPr>
          <p:cNvPr id="13" name="Group 13"/>
          <p:cNvGrpSpPr/>
          <p:nvPr/>
        </p:nvGrpSpPr>
        <p:grpSpPr>
          <a:xfrm>
            <a:off x="12214027" y="5784372"/>
            <a:ext cx="5045273" cy="2616101"/>
            <a:chOff x="-25400" y="-686216"/>
            <a:chExt cx="6727031" cy="2716268"/>
          </a:xfrm>
        </p:grpSpPr>
        <p:sp>
          <p:nvSpPr>
            <p:cNvPr id="14" name="TextBox 14"/>
            <p:cNvSpPr txBox="1"/>
            <p:nvPr/>
          </p:nvSpPr>
          <p:spPr>
            <a:xfrm>
              <a:off x="0" y="837501"/>
              <a:ext cx="6701631" cy="405044"/>
            </a:xfrm>
            <a:prstGeom prst="rect">
              <a:avLst/>
            </a:prstGeom>
          </p:spPr>
          <p:txBody>
            <a:bodyPr lIns="0" tIns="0" rIns="0" bIns="0" rtlCol="0" anchor="t">
              <a:spAutoFit/>
            </a:bodyPr>
            <a:lstStyle/>
            <a:p>
              <a:pPr marL="0" lvl="0" indent="0" algn="just">
                <a:lnSpc>
                  <a:spcPts val="3045"/>
                </a:lnSpc>
                <a:spcBef>
                  <a:spcPct val="0"/>
                </a:spcBef>
              </a:pPr>
              <a:endParaRPr lang="en-US" sz="3000" u="none" dirty="0">
                <a:solidFill>
                  <a:srgbClr val="082E2D"/>
                </a:solidFill>
                <a:latin typeface="+mj-lt"/>
              </a:endParaRPr>
            </a:p>
          </p:txBody>
        </p:sp>
        <p:sp>
          <p:nvSpPr>
            <p:cNvPr id="15" name="TextBox 15"/>
            <p:cNvSpPr txBox="1"/>
            <p:nvPr/>
          </p:nvSpPr>
          <p:spPr>
            <a:xfrm>
              <a:off x="-25400" y="-686216"/>
              <a:ext cx="6701631" cy="2716268"/>
            </a:xfrm>
            <a:prstGeom prst="rect">
              <a:avLst/>
            </a:prstGeom>
          </p:spPr>
          <p:txBody>
            <a:bodyPr lIns="0" tIns="0" rIns="0" bIns="0" rtlCol="0" anchor="t">
              <a:spAutoFit/>
            </a:bodyPr>
            <a:lstStyle/>
            <a:p>
              <a:pPr marL="0" lvl="0" indent="0">
                <a:lnSpc>
                  <a:spcPts val="3359"/>
                </a:lnSpc>
                <a:spcBef>
                  <a:spcPct val="0"/>
                </a:spcBef>
              </a:pPr>
              <a:r>
                <a:rPr lang="en-US" sz="3000" b="1" u="none" dirty="0" err="1">
                  <a:solidFill>
                    <a:srgbClr val="082E2D"/>
                  </a:solidFill>
                  <a:latin typeface="Times New Roman" panose="02020603050405020304" pitchFamily="18" charset="0"/>
                  <a:cs typeface="Times New Roman" panose="02020603050405020304" pitchFamily="18" charset="0"/>
                </a:rPr>
                <a:t>Biện</a:t>
              </a:r>
              <a:r>
                <a:rPr lang="en-US" sz="3000" b="1" u="none" dirty="0">
                  <a:solidFill>
                    <a:srgbClr val="082E2D"/>
                  </a:solidFill>
                  <a:latin typeface="Times New Roman" panose="02020603050405020304" pitchFamily="18" charset="0"/>
                  <a:cs typeface="Times New Roman" panose="02020603050405020304" pitchFamily="18" charset="0"/>
                </a:rPr>
                <a:t> </a:t>
              </a:r>
              <a:r>
                <a:rPr lang="en-US" sz="3000" b="1" u="none" dirty="0" err="1">
                  <a:solidFill>
                    <a:srgbClr val="082E2D"/>
                  </a:solidFill>
                  <a:latin typeface="Times New Roman" panose="02020603050405020304" pitchFamily="18" charset="0"/>
                  <a:cs typeface="Times New Roman" panose="02020603050405020304" pitchFamily="18" charset="0"/>
                </a:rPr>
                <a:t>pháp</a:t>
              </a:r>
              <a:r>
                <a:rPr lang="en-US" sz="3000" b="1" u="none" dirty="0">
                  <a:solidFill>
                    <a:srgbClr val="082E2D"/>
                  </a:solidFill>
                  <a:latin typeface="Times New Roman" panose="02020603050405020304" pitchFamily="18" charset="0"/>
                  <a:cs typeface="Times New Roman" panose="02020603050405020304" pitchFamily="18" charset="0"/>
                </a:rPr>
                <a:t> </a:t>
              </a:r>
              <a:r>
                <a:rPr lang="en-US" sz="3000" b="1" u="none" dirty="0" err="1">
                  <a:solidFill>
                    <a:srgbClr val="082E2D"/>
                  </a:solidFill>
                  <a:latin typeface="Times New Roman" panose="02020603050405020304" pitchFamily="18" charset="0"/>
                  <a:cs typeface="Times New Roman" panose="02020603050405020304" pitchFamily="18" charset="0"/>
                </a:rPr>
                <a:t>khắc</a:t>
              </a:r>
              <a:r>
                <a:rPr lang="en-US" sz="3000" b="1" u="none" dirty="0">
                  <a:solidFill>
                    <a:srgbClr val="082E2D"/>
                  </a:solidFill>
                  <a:latin typeface="Times New Roman" panose="02020603050405020304" pitchFamily="18" charset="0"/>
                  <a:cs typeface="Times New Roman" panose="02020603050405020304" pitchFamily="18" charset="0"/>
                </a:rPr>
                <a:t> </a:t>
              </a:r>
              <a:r>
                <a:rPr lang="en-US" sz="3000" b="1" u="none" dirty="0" err="1">
                  <a:solidFill>
                    <a:srgbClr val="082E2D"/>
                  </a:solidFill>
                  <a:latin typeface="Times New Roman" panose="02020603050405020304" pitchFamily="18" charset="0"/>
                  <a:cs typeface="Times New Roman" panose="02020603050405020304" pitchFamily="18" charset="0"/>
                </a:rPr>
                <a:t>phục</a:t>
              </a:r>
              <a:r>
                <a:rPr lang="en-US" sz="3000" b="1" u="none" dirty="0">
                  <a:solidFill>
                    <a:srgbClr val="082E2D"/>
                  </a:solidFill>
                  <a:latin typeface="Times New Roman" panose="02020603050405020304" pitchFamily="18" charset="0"/>
                  <a:cs typeface="Times New Roman" panose="02020603050405020304" pitchFamily="18" charset="0"/>
                </a:rPr>
                <a:t> </a:t>
              </a:r>
              <a:r>
                <a:rPr lang="en-US" sz="3000" b="1" u="none" dirty="0" err="1">
                  <a:solidFill>
                    <a:srgbClr val="082E2D"/>
                  </a:solidFill>
                  <a:latin typeface="Times New Roman" panose="02020603050405020304" pitchFamily="18" charset="0"/>
                  <a:cs typeface="Times New Roman" panose="02020603050405020304" pitchFamily="18" charset="0"/>
                </a:rPr>
                <a:t>hậu</a:t>
              </a:r>
              <a:r>
                <a:rPr lang="en-US" sz="3000" b="1" u="none" dirty="0">
                  <a:solidFill>
                    <a:srgbClr val="082E2D"/>
                  </a:solidFill>
                  <a:latin typeface="Times New Roman" panose="02020603050405020304" pitchFamily="18" charset="0"/>
                  <a:cs typeface="Times New Roman" panose="02020603050405020304" pitchFamily="18" charset="0"/>
                </a:rPr>
                <a:t> </a:t>
              </a:r>
              <a:r>
                <a:rPr lang="en-US" sz="3000" b="1" u="none" dirty="0" err="1">
                  <a:solidFill>
                    <a:srgbClr val="082E2D"/>
                  </a:solidFill>
                  <a:latin typeface="Times New Roman" panose="02020603050405020304" pitchFamily="18" charset="0"/>
                  <a:cs typeface="Times New Roman" panose="02020603050405020304" pitchFamily="18" charset="0"/>
                </a:rPr>
                <a:t>quả</a:t>
              </a:r>
              <a:endParaRPr lang="en-US" sz="3000" b="1" u="none" dirty="0">
                <a:solidFill>
                  <a:srgbClr val="082E2D"/>
                </a:solidFill>
                <a:latin typeface="Times New Roman" panose="02020603050405020304" pitchFamily="18" charset="0"/>
                <a:cs typeface="Times New Roman" panose="02020603050405020304" pitchFamily="18" charset="0"/>
              </a:endParaRPr>
            </a:p>
            <a:p>
              <a:pPr>
                <a:lnSpc>
                  <a:spcPts val="3359"/>
                </a:lnSpc>
                <a:spcBef>
                  <a:spcPct val="0"/>
                </a:spcBef>
              </a:pPr>
              <a:r>
                <a:rPr lang="vi-VN" sz="3000" u="none" dirty="0">
                  <a:solidFill>
                    <a:srgbClr val="082E2D"/>
                  </a:solidFill>
                  <a:latin typeface="+mj-lt"/>
                </a:rPr>
                <a:t>Buộc nộp lại khoản thu trái pháp luật có được do thực hiện hành vi vi phạm =&gt; Thông tư 117/2020/TT-BTC</a:t>
              </a:r>
              <a:endParaRPr lang="en-US" sz="3000" u="none" dirty="0">
                <a:solidFill>
                  <a:srgbClr val="082E2D"/>
                </a:solidFill>
                <a:latin typeface="+mj-lt"/>
              </a:endParaRPr>
            </a:p>
            <a:p>
              <a:pPr marL="0" lvl="0" indent="0">
                <a:lnSpc>
                  <a:spcPts val="3359"/>
                </a:lnSpc>
                <a:spcBef>
                  <a:spcPct val="0"/>
                </a:spcBef>
              </a:pPr>
              <a:endParaRPr lang="en-US" sz="3000" b="1" u="none" dirty="0">
                <a:solidFill>
                  <a:srgbClr val="082E2D"/>
                </a:solidFill>
                <a:latin typeface="Times New Roman" panose="02020603050405020304" pitchFamily="18" charset="0"/>
                <a:cs typeface="Times New Roman" panose="02020603050405020304" pitchFamily="18" charset="0"/>
              </a:endParaRPr>
            </a:p>
          </p:txBody>
        </p:sp>
      </p:grpSp>
      <p:grpSp>
        <p:nvGrpSpPr>
          <p:cNvPr id="16" name="Group 16"/>
          <p:cNvGrpSpPr/>
          <p:nvPr/>
        </p:nvGrpSpPr>
        <p:grpSpPr>
          <a:xfrm>
            <a:off x="12233077" y="1005364"/>
            <a:ext cx="5026223" cy="2555222"/>
            <a:chOff x="0" y="-66675"/>
            <a:chExt cx="6701631" cy="2344101"/>
          </a:xfrm>
        </p:grpSpPr>
        <p:sp>
          <p:nvSpPr>
            <p:cNvPr id="17" name="TextBox 17"/>
            <p:cNvSpPr txBox="1"/>
            <p:nvPr/>
          </p:nvSpPr>
          <p:spPr>
            <a:xfrm>
              <a:off x="0" y="865690"/>
              <a:ext cx="6701631" cy="1411736"/>
            </a:xfrm>
            <a:prstGeom prst="rect">
              <a:avLst/>
            </a:prstGeom>
          </p:spPr>
          <p:txBody>
            <a:bodyPr lIns="0" tIns="0" rIns="0" bIns="0" rtlCol="0" anchor="t">
              <a:spAutoFit/>
            </a:bodyPr>
            <a:lstStyle/>
            <a:p>
              <a:pPr marL="0" lvl="0" indent="0" algn="just">
                <a:lnSpc>
                  <a:spcPts val="3045"/>
                </a:lnSpc>
                <a:spcBef>
                  <a:spcPct val="0"/>
                </a:spcBef>
              </a:pPr>
              <a:r>
                <a:rPr lang="vi-VN" sz="3000" dirty="0">
                  <a:latin typeface="Times New Roman (Headings)"/>
                  <a:cs typeface="Times New Roman" panose="02020603050405020304" pitchFamily="18" charset="0"/>
                </a:rPr>
                <a:t>10 lần khoản thu trái pháp luật</a:t>
              </a:r>
              <a:r>
                <a:rPr lang="en-US" sz="3000" dirty="0">
                  <a:latin typeface="Times New Roman (Headings)"/>
                  <a:cs typeface="Times New Roman" panose="02020603050405020304" pitchFamily="18" charset="0"/>
                </a:rPr>
                <a:t> </a:t>
              </a:r>
              <a:r>
                <a:rPr lang="vi-VN" sz="3000" dirty="0">
                  <a:latin typeface="Times New Roman (Headings)"/>
                  <a:cs typeface="Times New Roman" panose="02020603050405020304" pitchFamily="18" charset="0"/>
                </a:rPr>
                <a:t>nhưng</a:t>
              </a:r>
              <a:r>
                <a:rPr lang="en-US" sz="3000" dirty="0">
                  <a:latin typeface="Times New Roman (Headings)"/>
                  <a:cs typeface="Times New Roman" panose="02020603050405020304" pitchFamily="18" charset="0"/>
                </a:rPr>
                <a:t> </a:t>
              </a:r>
              <a:r>
                <a:rPr lang="vi-VN" sz="3000" dirty="0">
                  <a:latin typeface="Times New Roman (Headings)"/>
                  <a:cs typeface="Times New Roman" panose="02020603050405020304" pitchFamily="18" charset="0"/>
                </a:rPr>
                <a:t>không thấp hơn mức phạt tiền tối đa</a:t>
              </a:r>
              <a:r>
                <a:rPr lang="en-US" sz="3000" dirty="0">
                  <a:latin typeface="Times New Roman (Headings)"/>
                  <a:cs typeface="Times New Roman" panose="02020603050405020304" pitchFamily="18" charset="0"/>
                </a:rPr>
                <a:t> (3 </a:t>
              </a:r>
              <a:r>
                <a:rPr lang="en-US" sz="3000" dirty="0" err="1">
                  <a:latin typeface="Times New Roman (Headings)"/>
                  <a:cs typeface="Times New Roman" panose="02020603050405020304" pitchFamily="18" charset="0"/>
                </a:rPr>
                <a:t>tỷ</a:t>
              </a:r>
              <a:r>
                <a:rPr lang="en-US" sz="3000" dirty="0">
                  <a:latin typeface="Times New Roman (Headings)"/>
                  <a:cs typeface="Times New Roman" panose="02020603050405020304" pitchFamily="18" charset="0"/>
                </a:rPr>
                <a:t> </a:t>
              </a:r>
              <a:r>
                <a:rPr lang="en-US" sz="3000" dirty="0" err="1">
                  <a:latin typeface="Times New Roman (Headings)"/>
                  <a:cs typeface="Times New Roman" panose="02020603050405020304" pitchFamily="18" charset="0"/>
                </a:rPr>
                <a:t>tổ</a:t>
              </a:r>
              <a:r>
                <a:rPr lang="en-US" sz="3000" dirty="0">
                  <a:latin typeface="Times New Roman (Headings)"/>
                  <a:cs typeface="Times New Roman" panose="02020603050405020304" pitchFamily="18" charset="0"/>
                </a:rPr>
                <a:t> </a:t>
              </a:r>
              <a:r>
                <a:rPr lang="en-US" sz="3000" dirty="0" err="1">
                  <a:latin typeface="Times New Roman (Headings)"/>
                  <a:cs typeface="Times New Roman" panose="02020603050405020304" pitchFamily="18" charset="0"/>
                </a:rPr>
                <a:t>chức</a:t>
              </a:r>
              <a:r>
                <a:rPr lang="en-US" sz="3000" dirty="0">
                  <a:latin typeface="Times New Roman (Headings)"/>
                  <a:cs typeface="Times New Roman" panose="02020603050405020304" pitchFamily="18" charset="0"/>
                </a:rPr>
                <a:t> </a:t>
              </a:r>
              <a:r>
                <a:rPr lang="en-US" sz="3000" dirty="0" err="1">
                  <a:latin typeface="Times New Roman (Headings)"/>
                  <a:cs typeface="Times New Roman" panose="02020603050405020304" pitchFamily="18" charset="0"/>
                </a:rPr>
                <a:t>và</a:t>
              </a:r>
              <a:r>
                <a:rPr lang="en-US" sz="3000" dirty="0">
                  <a:latin typeface="Times New Roman (Headings)"/>
                  <a:cs typeface="Times New Roman" panose="02020603050405020304" pitchFamily="18" charset="0"/>
                </a:rPr>
                <a:t> 1,5 </a:t>
              </a:r>
              <a:r>
                <a:rPr lang="en-US" sz="3000" dirty="0" err="1">
                  <a:latin typeface="Times New Roman (Headings)"/>
                  <a:cs typeface="Times New Roman" panose="02020603050405020304" pitchFamily="18" charset="0"/>
                </a:rPr>
                <a:t>tỷ</a:t>
              </a:r>
              <a:r>
                <a:rPr lang="en-US" sz="3000" dirty="0">
                  <a:latin typeface="Times New Roman (Headings)"/>
                  <a:cs typeface="Times New Roman" panose="02020603050405020304" pitchFamily="18" charset="0"/>
                </a:rPr>
                <a:t> </a:t>
              </a:r>
              <a:r>
                <a:rPr lang="en-US" sz="3000" dirty="0" err="1">
                  <a:latin typeface="Times New Roman (Headings)"/>
                  <a:cs typeface="Times New Roman" panose="02020603050405020304" pitchFamily="18" charset="0"/>
                </a:rPr>
                <a:t>cá</a:t>
              </a:r>
              <a:r>
                <a:rPr lang="en-US" sz="3000" dirty="0">
                  <a:latin typeface="Times New Roman (Headings)"/>
                  <a:cs typeface="Times New Roman" panose="02020603050405020304" pitchFamily="18" charset="0"/>
                </a:rPr>
                <a:t> </a:t>
              </a:r>
              <a:r>
                <a:rPr lang="en-US" sz="3000" dirty="0" err="1">
                  <a:latin typeface="Times New Roman (Headings)"/>
                  <a:cs typeface="Times New Roman" panose="02020603050405020304" pitchFamily="18" charset="0"/>
                </a:rPr>
                <a:t>nhân</a:t>
              </a:r>
              <a:r>
                <a:rPr lang="en-US" sz="3000" dirty="0">
                  <a:latin typeface="Times New Roman (Headings)"/>
                  <a:cs typeface="Times New Roman" panose="02020603050405020304" pitchFamily="18" charset="0"/>
                </a:rPr>
                <a:t>)</a:t>
              </a:r>
              <a:endParaRPr lang="en-US" sz="3000" u="none" dirty="0">
                <a:latin typeface="Times New Roman (Headings)"/>
              </a:endParaRPr>
            </a:p>
          </p:txBody>
        </p:sp>
        <p:sp>
          <p:nvSpPr>
            <p:cNvPr id="18" name="TextBox 18"/>
            <p:cNvSpPr txBox="1"/>
            <p:nvPr/>
          </p:nvSpPr>
          <p:spPr>
            <a:xfrm>
              <a:off x="0" y="-66675"/>
              <a:ext cx="6701631" cy="799984"/>
            </a:xfrm>
            <a:prstGeom prst="rect">
              <a:avLst/>
            </a:prstGeom>
          </p:spPr>
          <p:txBody>
            <a:bodyPr lIns="0" tIns="0" rIns="0" bIns="0" rtlCol="0" anchor="t">
              <a:spAutoFit/>
            </a:bodyPr>
            <a:lstStyle/>
            <a:p>
              <a:pPr marL="0" lvl="0" indent="0" algn="just">
                <a:lnSpc>
                  <a:spcPts val="3359"/>
                </a:lnSpc>
                <a:spcBef>
                  <a:spcPct val="0"/>
                </a:spcBef>
              </a:pPr>
              <a:r>
                <a:rPr lang="vi-VN" sz="3000" b="1" u="none" dirty="0">
                  <a:solidFill>
                    <a:srgbClr val="082E2D"/>
                  </a:solidFill>
                  <a:latin typeface="+mj-lt"/>
                </a:rPr>
                <a:t>Phạt tiền (Chưa đến mức truy cứu trách nhiệm hình sự)</a:t>
              </a:r>
              <a:endParaRPr lang="en-US" sz="3000" b="1" u="none" dirty="0">
                <a:solidFill>
                  <a:srgbClr val="082E2D"/>
                </a:solidFill>
                <a:latin typeface="+mj-lt"/>
              </a:endParaRPr>
            </a:p>
          </p:txBody>
        </p:sp>
      </p:grpSp>
      <p:grpSp>
        <p:nvGrpSpPr>
          <p:cNvPr id="19" name="Group 19"/>
          <p:cNvGrpSpPr/>
          <p:nvPr/>
        </p:nvGrpSpPr>
        <p:grpSpPr>
          <a:xfrm>
            <a:off x="6959470" y="3324225"/>
            <a:ext cx="4648200" cy="3657600"/>
            <a:chOff x="-579259" y="13986"/>
            <a:chExt cx="7568976" cy="5370530"/>
          </a:xfrm>
        </p:grpSpPr>
        <p:grpSp>
          <p:nvGrpSpPr>
            <p:cNvPr id="20" name="Group 20"/>
            <p:cNvGrpSpPr/>
            <p:nvPr/>
          </p:nvGrpSpPr>
          <p:grpSpPr>
            <a:xfrm>
              <a:off x="-579259" y="13986"/>
              <a:ext cx="7568976" cy="5370530"/>
              <a:chOff x="-182117" y="4397"/>
              <a:chExt cx="2379660" cy="1688476"/>
            </a:xfrm>
          </p:grpSpPr>
          <p:sp>
            <p:nvSpPr>
              <p:cNvPr id="21" name="Freeform 21"/>
              <p:cNvSpPr/>
              <p:nvPr/>
            </p:nvSpPr>
            <p:spPr>
              <a:xfrm>
                <a:off x="-182117" y="4397"/>
                <a:ext cx="2379660" cy="1688476"/>
              </a:xfrm>
              <a:custGeom>
                <a:avLst/>
                <a:gdLst/>
                <a:ahLst/>
                <a:cxnLst/>
                <a:rect l="l" t="t" r="r" b="b"/>
                <a:pathLst>
                  <a:path w="2404596" h="1878674">
                    <a:moveTo>
                      <a:pt x="0" y="0"/>
                    </a:moveTo>
                    <a:lnTo>
                      <a:pt x="2404596" y="0"/>
                    </a:lnTo>
                    <a:lnTo>
                      <a:pt x="2404596" y="1878674"/>
                    </a:lnTo>
                    <a:lnTo>
                      <a:pt x="0" y="1878674"/>
                    </a:lnTo>
                    <a:close/>
                  </a:path>
                </a:pathLst>
              </a:custGeom>
              <a:solidFill>
                <a:srgbClr val="FFFFFF"/>
              </a:solidFill>
            </p:spPr>
          </p:sp>
        </p:grpSp>
        <p:sp>
          <p:nvSpPr>
            <p:cNvPr id="22" name="TextBox 22"/>
            <p:cNvSpPr txBox="1"/>
            <p:nvPr/>
          </p:nvSpPr>
          <p:spPr>
            <a:xfrm>
              <a:off x="-54531" y="1230747"/>
              <a:ext cx="6095997" cy="2395524"/>
            </a:xfrm>
            <a:prstGeom prst="rect">
              <a:avLst/>
            </a:prstGeom>
          </p:spPr>
          <p:txBody>
            <a:bodyPr wrap="square" lIns="0" tIns="0" rIns="0" bIns="0" rtlCol="0" anchor="t">
              <a:spAutoFit/>
            </a:bodyPr>
            <a:lstStyle/>
            <a:p>
              <a:pPr marL="0" lvl="0" indent="0" algn="ctr">
                <a:lnSpc>
                  <a:spcPts val="6614"/>
                </a:lnSpc>
                <a:spcBef>
                  <a:spcPct val="0"/>
                </a:spcBef>
              </a:pPr>
              <a:r>
                <a:rPr lang="en-US" sz="5000" b="1" u="none" dirty="0" err="1">
                  <a:solidFill>
                    <a:srgbClr val="082E2D"/>
                  </a:solidFill>
                  <a:latin typeface="Times New Roman" panose="02020603050405020304" pitchFamily="18" charset="0"/>
                  <a:cs typeface="Times New Roman" panose="02020603050405020304" pitchFamily="18" charset="0"/>
                </a:rPr>
                <a:t>Quy</a:t>
              </a:r>
              <a:r>
                <a:rPr lang="en-US" sz="5000" b="1" u="none" dirty="0">
                  <a:solidFill>
                    <a:srgbClr val="082E2D"/>
                  </a:solidFill>
                  <a:latin typeface="Times New Roman" panose="02020603050405020304" pitchFamily="18" charset="0"/>
                  <a:cs typeface="Times New Roman" panose="02020603050405020304" pitchFamily="18" charset="0"/>
                </a:rPr>
                <a:t> </a:t>
              </a:r>
              <a:r>
                <a:rPr lang="en-US" sz="5000" b="1" u="none" dirty="0" err="1">
                  <a:solidFill>
                    <a:srgbClr val="082E2D"/>
                  </a:solidFill>
                  <a:latin typeface="Times New Roman" panose="02020603050405020304" pitchFamily="18" charset="0"/>
                  <a:cs typeface="Times New Roman" panose="02020603050405020304" pitchFamily="18" charset="0"/>
                </a:rPr>
                <a:t>định</a:t>
              </a:r>
              <a:r>
                <a:rPr lang="en-US" sz="5000" b="1" u="none" dirty="0">
                  <a:solidFill>
                    <a:srgbClr val="082E2D"/>
                  </a:solidFill>
                  <a:latin typeface="Times New Roman" panose="02020603050405020304" pitchFamily="18" charset="0"/>
                  <a:cs typeface="Times New Roman" panose="02020603050405020304" pitchFamily="18" charset="0"/>
                </a:rPr>
                <a:t> </a:t>
              </a:r>
              <a:r>
                <a:rPr lang="en-US" sz="5000" b="1" u="none" dirty="0" err="1">
                  <a:solidFill>
                    <a:srgbClr val="082E2D"/>
                  </a:solidFill>
                  <a:latin typeface="Times New Roman" panose="02020603050405020304" pitchFamily="18" charset="0"/>
                  <a:cs typeface="Times New Roman" panose="02020603050405020304" pitchFamily="18" charset="0"/>
                </a:rPr>
                <a:t>xử</a:t>
              </a:r>
              <a:r>
                <a:rPr lang="en-US" sz="5000" b="1" u="none" dirty="0">
                  <a:solidFill>
                    <a:srgbClr val="082E2D"/>
                  </a:solidFill>
                  <a:latin typeface="Times New Roman" panose="02020603050405020304" pitchFamily="18" charset="0"/>
                  <a:cs typeface="Times New Roman" panose="02020603050405020304" pitchFamily="18" charset="0"/>
                </a:rPr>
                <a:t> </a:t>
              </a:r>
              <a:r>
                <a:rPr lang="en-US" sz="5000" b="1" u="none" dirty="0" err="1">
                  <a:solidFill>
                    <a:srgbClr val="082E2D"/>
                  </a:solidFill>
                  <a:latin typeface="Times New Roman" panose="02020603050405020304" pitchFamily="18" charset="0"/>
                  <a:cs typeface="Times New Roman" panose="02020603050405020304" pitchFamily="18" charset="0"/>
                </a:rPr>
                <a:t>lý</a:t>
              </a:r>
              <a:r>
                <a:rPr lang="en-US" sz="5000" b="1" u="none" dirty="0">
                  <a:solidFill>
                    <a:srgbClr val="082E2D"/>
                  </a:solidFill>
                  <a:latin typeface="Times New Roman" panose="02020603050405020304" pitchFamily="18" charset="0"/>
                  <a:cs typeface="Times New Roman" panose="02020603050405020304" pitchFamily="18" charset="0"/>
                </a:rPr>
                <a:t> </a:t>
              </a:r>
              <a:r>
                <a:rPr lang="en-US" sz="5000" b="1" u="none" dirty="0" err="1">
                  <a:solidFill>
                    <a:srgbClr val="082E2D"/>
                  </a:solidFill>
                  <a:latin typeface="Times New Roman" panose="02020603050405020304" pitchFamily="18" charset="0"/>
                  <a:cs typeface="Times New Roman" panose="02020603050405020304" pitchFamily="18" charset="0"/>
                </a:rPr>
                <a:t>hành</a:t>
              </a:r>
              <a:r>
                <a:rPr lang="en-US" sz="5000" b="1" u="none" dirty="0">
                  <a:solidFill>
                    <a:srgbClr val="082E2D"/>
                  </a:solidFill>
                  <a:latin typeface="Times New Roman" panose="02020603050405020304" pitchFamily="18" charset="0"/>
                  <a:cs typeface="Times New Roman" panose="02020603050405020304" pitchFamily="18" charset="0"/>
                </a:rPr>
                <a:t> </a:t>
              </a:r>
              <a:r>
                <a:rPr lang="en-US" sz="5000" b="1" u="none" dirty="0" err="1">
                  <a:solidFill>
                    <a:srgbClr val="082E2D"/>
                  </a:solidFill>
                  <a:latin typeface="Times New Roman" panose="02020603050405020304" pitchFamily="18" charset="0"/>
                  <a:cs typeface="Times New Roman" panose="02020603050405020304" pitchFamily="18" charset="0"/>
                </a:rPr>
                <a:t>chính</a:t>
              </a:r>
              <a:endParaRPr lang="en-US" sz="5000" b="1" u="none" dirty="0">
                <a:solidFill>
                  <a:srgbClr val="082E2D"/>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2476500"/>
            <a:ext cx="9144000" cy="7905638"/>
          </a:xfrm>
          <a:prstGeom prst="rect">
            <a:avLst/>
          </a:prstGeom>
          <a:solidFill>
            <a:srgbClr val="074E36"/>
          </a:solidFill>
        </p:spPr>
      </p:sp>
      <p:sp>
        <p:nvSpPr>
          <p:cNvPr id="3" name="AutoShape 3"/>
          <p:cNvSpPr/>
          <p:nvPr/>
        </p:nvSpPr>
        <p:spPr>
          <a:xfrm>
            <a:off x="9144000" y="2476500"/>
            <a:ext cx="9144000" cy="7905638"/>
          </a:xfrm>
          <a:prstGeom prst="rect">
            <a:avLst/>
          </a:prstGeom>
          <a:solidFill>
            <a:srgbClr val="D87A40"/>
          </a:solidFill>
        </p:spPr>
      </p:sp>
      <p:sp>
        <p:nvSpPr>
          <p:cNvPr id="4" name="TextBox 4"/>
          <p:cNvSpPr txBox="1"/>
          <p:nvPr/>
        </p:nvSpPr>
        <p:spPr>
          <a:xfrm>
            <a:off x="2438400" y="571500"/>
            <a:ext cx="14517132" cy="1647887"/>
          </a:xfrm>
          <a:prstGeom prst="rect">
            <a:avLst/>
          </a:prstGeom>
        </p:spPr>
        <p:txBody>
          <a:bodyPr wrap="square" lIns="0" tIns="0" rIns="0" bIns="0" rtlCol="0" anchor="t">
            <a:spAutoFit/>
          </a:bodyPr>
          <a:lstStyle/>
          <a:p>
            <a:pPr marL="0" lvl="0" indent="0" algn="ctr">
              <a:lnSpc>
                <a:spcPts val="6720"/>
              </a:lnSpc>
            </a:pPr>
            <a:r>
              <a:rPr lang="en-US" sz="4800" dirty="0" err="1">
                <a:solidFill>
                  <a:srgbClr val="000000"/>
                </a:solidFill>
                <a:latin typeface="Times New Roman (Headings)"/>
              </a:rPr>
              <a:t>Điều</a:t>
            </a:r>
            <a:r>
              <a:rPr lang="en-US" sz="4800" dirty="0">
                <a:solidFill>
                  <a:srgbClr val="000000"/>
                </a:solidFill>
                <a:latin typeface="Times New Roman (Headings)"/>
              </a:rPr>
              <a:t> 209 BLHS 2015: </a:t>
            </a:r>
            <a:r>
              <a:rPr lang="en-US" sz="4800" dirty="0" err="1">
                <a:solidFill>
                  <a:srgbClr val="000000"/>
                </a:solidFill>
                <a:latin typeface="Times New Roman (Headings)"/>
              </a:rPr>
              <a:t>Tội</a:t>
            </a:r>
            <a:r>
              <a:rPr lang="en-US" sz="4800" dirty="0">
                <a:solidFill>
                  <a:srgbClr val="000000"/>
                </a:solidFill>
                <a:latin typeface="Times New Roman (Headings)"/>
              </a:rPr>
              <a:t> </a:t>
            </a:r>
            <a:r>
              <a:rPr lang="en-US" sz="4800" dirty="0" err="1">
                <a:solidFill>
                  <a:srgbClr val="000000"/>
                </a:solidFill>
                <a:latin typeface="Times New Roman (Headings)"/>
              </a:rPr>
              <a:t>cố</a:t>
            </a:r>
            <a:r>
              <a:rPr lang="en-US" sz="4800" dirty="0">
                <a:solidFill>
                  <a:srgbClr val="000000"/>
                </a:solidFill>
                <a:latin typeface="Times New Roman (Headings)"/>
              </a:rPr>
              <a:t> ý </a:t>
            </a:r>
            <a:r>
              <a:rPr lang="en-US" sz="4800" dirty="0" err="1">
                <a:solidFill>
                  <a:srgbClr val="000000"/>
                </a:solidFill>
                <a:latin typeface="Times New Roman (Headings)"/>
              </a:rPr>
              <a:t>công</a:t>
            </a:r>
            <a:r>
              <a:rPr lang="en-US" sz="4800" dirty="0">
                <a:solidFill>
                  <a:srgbClr val="000000"/>
                </a:solidFill>
                <a:latin typeface="Times New Roman (Headings)"/>
              </a:rPr>
              <a:t> </a:t>
            </a:r>
            <a:r>
              <a:rPr lang="en-US" sz="4800" dirty="0" err="1">
                <a:solidFill>
                  <a:srgbClr val="000000"/>
                </a:solidFill>
                <a:latin typeface="Times New Roman (Headings)"/>
              </a:rPr>
              <a:t>bố</a:t>
            </a:r>
            <a:r>
              <a:rPr lang="en-US" sz="4800" dirty="0">
                <a:solidFill>
                  <a:srgbClr val="000000"/>
                </a:solidFill>
                <a:latin typeface="Times New Roman (Headings)"/>
              </a:rPr>
              <a:t> </a:t>
            </a:r>
            <a:r>
              <a:rPr lang="en-US" sz="4800" dirty="0" err="1">
                <a:solidFill>
                  <a:srgbClr val="000000"/>
                </a:solidFill>
                <a:latin typeface="Times New Roman (Headings)"/>
              </a:rPr>
              <a:t>thông</a:t>
            </a:r>
            <a:r>
              <a:rPr lang="en-US" sz="4800" dirty="0">
                <a:solidFill>
                  <a:srgbClr val="000000"/>
                </a:solidFill>
                <a:latin typeface="Times New Roman (Headings)"/>
              </a:rPr>
              <a:t> tin </a:t>
            </a:r>
            <a:r>
              <a:rPr lang="en-US" sz="4800" dirty="0" err="1">
                <a:solidFill>
                  <a:srgbClr val="000000"/>
                </a:solidFill>
                <a:latin typeface="Times New Roman (Headings)"/>
              </a:rPr>
              <a:t>sai</a:t>
            </a:r>
            <a:r>
              <a:rPr lang="en-US" sz="4800" dirty="0">
                <a:solidFill>
                  <a:srgbClr val="000000"/>
                </a:solidFill>
                <a:latin typeface="Times New Roman (Headings)"/>
              </a:rPr>
              <a:t> </a:t>
            </a:r>
            <a:r>
              <a:rPr lang="en-US" sz="4800" dirty="0" err="1">
                <a:solidFill>
                  <a:srgbClr val="000000"/>
                </a:solidFill>
                <a:latin typeface="Times New Roman (Headings)"/>
              </a:rPr>
              <a:t>lệch</a:t>
            </a:r>
            <a:r>
              <a:rPr lang="en-US" sz="4800" dirty="0">
                <a:solidFill>
                  <a:srgbClr val="000000"/>
                </a:solidFill>
                <a:latin typeface="Times New Roman (Headings)"/>
              </a:rPr>
              <a:t> </a:t>
            </a:r>
            <a:r>
              <a:rPr lang="en-US" sz="4800" dirty="0" err="1">
                <a:solidFill>
                  <a:srgbClr val="000000"/>
                </a:solidFill>
                <a:latin typeface="Times New Roman (Headings)"/>
              </a:rPr>
              <a:t>hoặc</a:t>
            </a:r>
            <a:r>
              <a:rPr lang="en-US" sz="4800" dirty="0">
                <a:solidFill>
                  <a:srgbClr val="000000"/>
                </a:solidFill>
                <a:latin typeface="Times New Roman (Headings)"/>
              </a:rPr>
              <a:t> </a:t>
            </a:r>
            <a:r>
              <a:rPr lang="en-US" sz="4800" dirty="0" err="1">
                <a:solidFill>
                  <a:srgbClr val="000000"/>
                </a:solidFill>
                <a:latin typeface="Times New Roman (Headings)"/>
              </a:rPr>
              <a:t>che</a:t>
            </a:r>
            <a:r>
              <a:rPr lang="en-US" sz="4800" dirty="0">
                <a:solidFill>
                  <a:srgbClr val="000000"/>
                </a:solidFill>
                <a:latin typeface="Times New Roman (Headings)"/>
              </a:rPr>
              <a:t> </a:t>
            </a:r>
            <a:r>
              <a:rPr lang="en-US" sz="4800" dirty="0" err="1">
                <a:solidFill>
                  <a:srgbClr val="000000"/>
                </a:solidFill>
                <a:latin typeface="Times New Roman (Headings)"/>
              </a:rPr>
              <a:t>giấu</a:t>
            </a:r>
            <a:r>
              <a:rPr lang="en-US" sz="4800" dirty="0">
                <a:solidFill>
                  <a:srgbClr val="000000"/>
                </a:solidFill>
                <a:latin typeface="Times New Roman (Headings)"/>
              </a:rPr>
              <a:t> </a:t>
            </a:r>
            <a:r>
              <a:rPr lang="en-US" sz="4800" dirty="0" err="1">
                <a:solidFill>
                  <a:srgbClr val="000000"/>
                </a:solidFill>
                <a:latin typeface="Times New Roman (Headings)"/>
              </a:rPr>
              <a:t>thông</a:t>
            </a:r>
            <a:r>
              <a:rPr lang="en-US" sz="4800" dirty="0">
                <a:solidFill>
                  <a:srgbClr val="000000"/>
                </a:solidFill>
                <a:latin typeface="Times New Roman (Headings)"/>
              </a:rPr>
              <a:t> tin </a:t>
            </a:r>
            <a:r>
              <a:rPr lang="en-US" sz="4800" dirty="0" err="1">
                <a:solidFill>
                  <a:srgbClr val="000000"/>
                </a:solidFill>
                <a:latin typeface="Times New Roman (Headings)"/>
              </a:rPr>
              <a:t>trong</a:t>
            </a:r>
            <a:r>
              <a:rPr lang="en-US" sz="4800" dirty="0">
                <a:solidFill>
                  <a:srgbClr val="000000"/>
                </a:solidFill>
                <a:latin typeface="Times New Roman (Headings)"/>
              </a:rPr>
              <a:t> </a:t>
            </a:r>
            <a:r>
              <a:rPr lang="en-US" sz="4800" dirty="0" err="1">
                <a:solidFill>
                  <a:srgbClr val="000000"/>
                </a:solidFill>
                <a:latin typeface="Times New Roman (Headings)"/>
              </a:rPr>
              <a:t>hoạt</a:t>
            </a:r>
            <a:r>
              <a:rPr lang="en-US" sz="4800" dirty="0">
                <a:solidFill>
                  <a:srgbClr val="000000"/>
                </a:solidFill>
                <a:latin typeface="Times New Roman (Headings)"/>
              </a:rPr>
              <a:t> </a:t>
            </a:r>
            <a:r>
              <a:rPr lang="en-US" sz="4800" dirty="0" err="1">
                <a:solidFill>
                  <a:srgbClr val="000000"/>
                </a:solidFill>
                <a:latin typeface="Times New Roman (Headings)"/>
              </a:rPr>
              <a:t>động</a:t>
            </a:r>
            <a:r>
              <a:rPr lang="en-US" sz="4800" dirty="0">
                <a:solidFill>
                  <a:srgbClr val="000000"/>
                </a:solidFill>
                <a:latin typeface="Times New Roman (Headings)"/>
              </a:rPr>
              <a:t> </a:t>
            </a:r>
            <a:r>
              <a:rPr lang="en-US" sz="4800" dirty="0" err="1">
                <a:solidFill>
                  <a:srgbClr val="000000"/>
                </a:solidFill>
                <a:latin typeface="Times New Roman (Headings)"/>
              </a:rPr>
              <a:t>chứng</a:t>
            </a:r>
            <a:r>
              <a:rPr lang="en-US" sz="4800" dirty="0">
                <a:solidFill>
                  <a:srgbClr val="000000"/>
                </a:solidFill>
                <a:latin typeface="Times New Roman (Headings)"/>
              </a:rPr>
              <a:t> </a:t>
            </a:r>
            <a:r>
              <a:rPr lang="en-US" sz="4800" dirty="0" err="1">
                <a:solidFill>
                  <a:srgbClr val="000000"/>
                </a:solidFill>
                <a:latin typeface="Times New Roman (Headings)"/>
              </a:rPr>
              <a:t>khoán</a:t>
            </a:r>
            <a:endParaRPr lang="en-US" sz="4800" dirty="0">
              <a:solidFill>
                <a:srgbClr val="000000"/>
              </a:solidFill>
              <a:latin typeface="Times New Roman (Headings)"/>
            </a:endParaRPr>
          </a:p>
        </p:txBody>
      </p:sp>
      <p:sp>
        <p:nvSpPr>
          <p:cNvPr id="6" name="TextBox 6"/>
          <p:cNvSpPr txBox="1"/>
          <p:nvPr/>
        </p:nvSpPr>
        <p:spPr>
          <a:xfrm>
            <a:off x="762000" y="3771900"/>
            <a:ext cx="7353300" cy="4231928"/>
          </a:xfrm>
          <a:prstGeom prst="rect">
            <a:avLst/>
          </a:prstGeom>
        </p:spPr>
        <p:txBody>
          <a:bodyPr wrap="square" lIns="0" tIns="0" rIns="0" bIns="0" rtlCol="0" anchor="t">
            <a:spAutoFit/>
          </a:bodyPr>
          <a:lstStyle/>
          <a:p>
            <a:pPr marL="0" lvl="0" indent="0" algn="just">
              <a:lnSpc>
                <a:spcPts val="3021"/>
              </a:lnSpc>
            </a:pPr>
            <a:r>
              <a:rPr lang="vi-VN" sz="3200" dirty="0">
                <a:solidFill>
                  <a:srgbClr val="FFFFFF"/>
                </a:solidFill>
                <a:latin typeface="Times New Roman (Headings)"/>
              </a:rPr>
              <a:t>- Mức phạt tối đa đối với cá nhân lên đến 02 tỷ đồng hoặc 05 năm tù; Người phạm tội còn có thể bị cấm đảm nhiệm chức vụ, cấm hành nghề hoặc làm công việc nhất định từ 01 năm đến 05 năm.</a:t>
            </a:r>
            <a:endParaRPr lang="en-US" sz="3200" dirty="0">
              <a:solidFill>
                <a:srgbClr val="FFFFFF"/>
              </a:solidFill>
              <a:latin typeface="Times New Roman (Headings)"/>
            </a:endParaRPr>
          </a:p>
          <a:p>
            <a:pPr marL="0" lvl="0" indent="0" algn="just">
              <a:lnSpc>
                <a:spcPts val="3021"/>
              </a:lnSpc>
            </a:pPr>
            <a:endParaRPr lang="vi-VN" sz="3200" dirty="0">
              <a:solidFill>
                <a:srgbClr val="FFFFFF"/>
              </a:solidFill>
              <a:latin typeface="Times New Roman (Headings)"/>
            </a:endParaRPr>
          </a:p>
          <a:p>
            <a:pPr marL="0" lvl="0" indent="0" algn="just">
              <a:lnSpc>
                <a:spcPts val="3021"/>
              </a:lnSpc>
            </a:pPr>
            <a:r>
              <a:rPr lang="vi-VN" sz="3200" dirty="0">
                <a:solidFill>
                  <a:srgbClr val="FFFFFF"/>
                </a:solidFill>
                <a:latin typeface="Times New Roman (Headings)"/>
              </a:rPr>
              <a:t>- Mức phạt tối đa đối với pháp nhân lên tới 5 tỷ đồng. Ngoài ra, pháp nhân thương mại có thể bị cấm hoạt động trong một số lĩnh vực nhất định từ 01 năm đến 03 năm hoặc cấm huy động vốn từ 01 năm đến 03 năm.</a:t>
            </a:r>
          </a:p>
        </p:txBody>
      </p:sp>
      <p:sp>
        <p:nvSpPr>
          <p:cNvPr id="11" name="TextBox 6">
            <a:extLst>
              <a:ext uri="{FF2B5EF4-FFF2-40B4-BE49-F238E27FC236}">
                <a16:creationId xmlns:a16="http://schemas.microsoft.com/office/drawing/2014/main" id="{8F1E6ECD-D0AD-A02E-4A5C-51CD388C33CC}"/>
              </a:ext>
            </a:extLst>
          </p:cNvPr>
          <p:cNvSpPr txBox="1"/>
          <p:nvPr/>
        </p:nvSpPr>
        <p:spPr>
          <a:xfrm>
            <a:off x="9525000" y="3619500"/>
            <a:ext cx="8153400" cy="3462486"/>
          </a:xfrm>
          <a:prstGeom prst="rect">
            <a:avLst/>
          </a:prstGeom>
        </p:spPr>
        <p:txBody>
          <a:bodyPr wrap="square" lIns="0" tIns="0" rIns="0" bIns="0" rtlCol="0" anchor="t">
            <a:spAutoFit/>
          </a:bodyPr>
          <a:lstStyle/>
          <a:p>
            <a:pPr marL="457200" lvl="0" indent="-457200" algn="just">
              <a:lnSpc>
                <a:spcPts val="3021"/>
              </a:lnSpc>
              <a:buFontTx/>
              <a:buChar char="-"/>
            </a:pPr>
            <a:r>
              <a:rPr lang="vi-VN" sz="3200" b="1" dirty="0">
                <a:solidFill>
                  <a:srgbClr val="FFFFFF"/>
                </a:solidFill>
                <a:latin typeface="Times New Roman (Headings)"/>
              </a:rPr>
              <a:t>Yếu tố để định khung hình phạt:</a:t>
            </a:r>
            <a:endParaRPr lang="en-US" sz="3200" b="1" dirty="0">
              <a:solidFill>
                <a:srgbClr val="FFFFFF"/>
              </a:solidFill>
              <a:latin typeface="Times New Roman (Headings)"/>
            </a:endParaRPr>
          </a:p>
          <a:p>
            <a:pPr lvl="0" algn="just">
              <a:lnSpc>
                <a:spcPts val="3021"/>
              </a:lnSpc>
            </a:pPr>
            <a:endParaRPr lang="vi-VN" sz="3200" b="1" dirty="0">
              <a:solidFill>
                <a:srgbClr val="FFFFFF"/>
              </a:solidFill>
              <a:latin typeface="Times New Roman (Headings)"/>
            </a:endParaRPr>
          </a:p>
          <a:p>
            <a:pPr lvl="0" algn="just">
              <a:lnSpc>
                <a:spcPts val="3021"/>
              </a:lnSpc>
            </a:pPr>
            <a:r>
              <a:rPr lang="vi-VN" sz="3200" dirty="0">
                <a:solidFill>
                  <a:srgbClr val="FFFFFF"/>
                </a:solidFill>
                <a:latin typeface="Times New Roman (Headings)"/>
              </a:rPr>
              <a:t>	+ Có tổ chức</a:t>
            </a:r>
            <a:endParaRPr lang="en-US" sz="3200" dirty="0">
              <a:solidFill>
                <a:srgbClr val="FFFFFF"/>
              </a:solidFill>
              <a:latin typeface="Times New Roman (Headings)"/>
            </a:endParaRPr>
          </a:p>
          <a:p>
            <a:pPr lvl="0" algn="just">
              <a:lnSpc>
                <a:spcPts val="3021"/>
              </a:lnSpc>
            </a:pPr>
            <a:endParaRPr lang="vi-VN" sz="3200" dirty="0">
              <a:solidFill>
                <a:srgbClr val="FFFFFF"/>
              </a:solidFill>
              <a:latin typeface="Times New Roman (Headings)"/>
            </a:endParaRPr>
          </a:p>
          <a:p>
            <a:pPr lvl="0" algn="just">
              <a:lnSpc>
                <a:spcPts val="3021"/>
              </a:lnSpc>
            </a:pPr>
            <a:r>
              <a:rPr lang="vi-VN" sz="3200" dirty="0">
                <a:solidFill>
                  <a:srgbClr val="FFFFFF"/>
                </a:solidFill>
                <a:latin typeface="Times New Roman (Headings)"/>
              </a:rPr>
              <a:t>	+ Thu lợi bất chính (500 triệu trở lên) </a:t>
            </a:r>
            <a:endParaRPr lang="en-US" sz="3200" dirty="0">
              <a:solidFill>
                <a:srgbClr val="FFFFFF"/>
              </a:solidFill>
              <a:latin typeface="Times New Roman (Headings)"/>
            </a:endParaRPr>
          </a:p>
          <a:p>
            <a:pPr lvl="0" algn="just">
              <a:lnSpc>
                <a:spcPts val="3021"/>
              </a:lnSpc>
            </a:pPr>
            <a:endParaRPr lang="vi-VN" sz="3200" dirty="0">
              <a:solidFill>
                <a:srgbClr val="FFFFFF"/>
              </a:solidFill>
              <a:latin typeface="Times New Roman (Headings)"/>
            </a:endParaRPr>
          </a:p>
          <a:p>
            <a:pPr lvl="0" algn="just">
              <a:lnSpc>
                <a:spcPts val="3021"/>
              </a:lnSpc>
            </a:pPr>
            <a:r>
              <a:rPr lang="vi-VN" sz="3200" dirty="0">
                <a:solidFill>
                  <a:srgbClr val="FFFFFF"/>
                </a:solidFill>
                <a:latin typeface="Times New Roman (Headings)"/>
              </a:rPr>
              <a:t>	+ Gây thiệt hại cho nhà đầu tư (1 tỷ trở lên);</a:t>
            </a:r>
            <a:endParaRPr lang="en-US" sz="3200" dirty="0">
              <a:solidFill>
                <a:srgbClr val="FFFFFF"/>
              </a:solidFill>
              <a:latin typeface="Times New Roman (Headings)"/>
            </a:endParaRPr>
          </a:p>
          <a:p>
            <a:pPr lvl="0" algn="just">
              <a:lnSpc>
                <a:spcPts val="3021"/>
              </a:lnSpc>
            </a:pPr>
            <a:endParaRPr lang="vi-VN" sz="3200" dirty="0">
              <a:solidFill>
                <a:srgbClr val="FFFFFF"/>
              </a:solidFill>
              <a:latin typeface="Times New Roman (Headings)"/>
            </a:endParaRPr>
          </a:p>
          <a:p>
            <a:pPr lvl="0" algn="just">
              <a:lnSpc>
                <a:spcPts val="3021"/>
              </a:lnSpc>
            </a:pPr>
            <a:r>
              <a:rPr lang="vi-VN" sz="3200" dirty="0">
                <a:solidFill>
                  <a:srgbClr val="FFFFFF"/>
                </a:solidFill>
                <a:latin typeface="Times New Roman (Headings)"/>
              </a:rPr>
              <a:t>	+ Tái phạm.</a:t>
            </a:r>
          </a:p>
        </p:txBody>
      </p:sp>
    </p:spTree>
    <p:extLst>
      <p:ext uri="{BB962C8B-B14F-4D97-AF65-F5344CB8AC3E}">
        <p14:creationId xmlns:p14="http://schemas.microsoft.com/office/powerpoint/2010/main" val="512250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1668" y="2826192"/>
            <a:ext cx="9144000" cy="7448438"/>
          </a:xfrm>
          <a:prstGeom prst="rect">
            <a:avLst/>
          </a:prstGeom>
          <a:solidFill>
            <a:srgbClr val="074E36"/>
          </a:solidFill>
        </p:spPr>
      </p:sp>
      <p:sp>
        <p:nvSpPr>
          <p:cNvPr id="3" name="AutoShape 3"/>
          <p:cNvSpPr/>
          <p:nvPr/>
        </p:nvSpPr>
        <p:spPr>
          <a:xfrm>
            <a:off x="9144000" y="2838562"/>
            <a:ext cx="9144000" cy="7448438"/>
          </a:xfrm>
          <a:prstGeom prst="rect">
            <a:avLst/>
          </a:prstGeom>
          <a:solidFill>
            <a:srgbClr val="D87A40"/>
          </a:solidFill>
        </p:spPr>
      </p:sp>
      <p:sp>
        <p:nvSpPr>
          <p:cNvPr id="4" name="TextBox 4"/>
          <p:cNvSpPr txBox="1"/>
          <p:nvPr/>
        </p:nvSpPr>
        <p:spPr>
          <a:xfrm>
            <a:off x="2742168" y="971550"/>
            <a:ext cx="12397964" cy="1647887"/>
          </a:xfrm>
          <a:prstGeom prst="rect">
            <a:avLst/>
          </a:prstGeom>
        </p:spPr>
        <p:txBody>
          <a:bodyPr lIns="0" tIns="0" rIns="0" bIns="0" rtlCol="0" anchor="t">
            <a:spAutoFit/>
          </a:bodyPr>
          <a:lstStyle/>
          <a:p>
            <a:pPr marL="0" lvl="0" indent="0" algn="ctr">
              <a:lnSpc>
                <a:spcPts val="6720"/>
              </a:lnSpc>
            </a:pPr>
            <a:r>
              <a:rPr lang="en-US" sz="4800">
                <a:solidFill>
                  <a:srgbClr val="000000"/>
                </a:solidFill>
                <a:latin typeface="Times New Roman (Headings)"/>
              </a:rPr>
              <a:t>Điều 210 BLHS 2015: Tội sử dụng thông tin nội bộ để mua bán chứng khoán</a:t>
            </a:r>
          </a:p>
        </p:txBody>
      </p:sp>
      <p:sp>
        <p:nvSpPr>
          <p:cNvPr id="6" name="TextBox 6"/>
          <p:cNvSpPr txBox="1"/>
          <p:nvPr/>
        </p:nvSpPr>
        <p:spPr>
          <a:xfrm>
            <a:off x="838200" y="4152900"/>
            <a:ext cx="7181455" cy="4616648"/>
          </a:xfrm>
          <a:prstGeom prst="rect">
            <a:avLst/>
          </a:prstGeom>
        </p:spPr>
        <p:txBody>
          <a:bodyPr wrap="square" lIns="0" tIns="0" rIns="0" bIns="0" rtlCol="0" anchor="t">
            <a:spAutoFit/>
          </a:bodyPr>
          <a:lstStyle/>
          <a:p>
            <a:pPr marL="0" lvl="0" indent="0" algn="just">
              <a:lnSpc>
                <a:spcPts val="3021"/>
              </a:lnSpc>
            </a:pPr>
            <a:r>
              <a:rPr lang="en-US" sz="3200" dirty="0">
                <a:solidFill>
                  <a:srgbClr val="FFFFFF"/>
                </a:solidFill>
                <a:latin typeface="Times New Roman (Headings)"/>
              </a:rPr>
              <a:t>-  </a:t>
            </a:r>
            <a:r>
              <a:rPr lang="vi-VN" sz="3200" dirty="0">
                <a:solidFill>
                  <a:srgbClr val="FFFFFF"/>
                </a:solidFill>
                <a:latin typeface="Times New Roman (Headings)"/>
              </a:rPr>
              <a:t>Mức phạt tối đa đối với cá nhân lên đến 05 tỷ đồng hoặc 07 năm tù; Người phạm tội còn có thể bị cấm đảm nhiệm chức vụ, cấm hành nghề hoặc làm công việc nhất định từ 01 năm đến 05 năm.</a:t>
            </a:r>
            <a:endParaRPr lang="en-US" sz="3200" dirty="0">
              <a:solidFill>
                <a:srgbClr val="FFFFFF"/>
              </a:solidFill>
              <a:latin typeface="Times New Roman (Headings)"/>
            </a:endParaRPr>
          </a:p>
          <a:p>
            <a:pPr marL="0" lvl="0" indent="0" algn="just">
              <a:lnSpc>
                <a:spcPts val="3021"/>
              </a:lnSpc>
            </a:pPr>
            <a:endParaRPr lang="vi-VN" sz="3200" dirty="0">
              <a:solidFill>
                <a:srgbClr val="FFFFFF"/>
              </a:solidFill>
              <a:latin typeface="Times New Roman (Headings)"/>
            </a:endParaRPr>
          </a:p>
          <a:p>
            <a:pPr marL="0" lvl="0" indent="0" algn="just">
              <a:lnSpc>
                <a:spcPts val="3021"/>
              </a:lnSpc>
            </a:pPr>
            <a:r>
              <a:rPr lang="vi-VN" sz="3200" dirty="0">
                <a:solidFill>
                  <a:srgbClr val="FFFFFF"/>
                </a:solidFill>
                <a:latin typeface="Times New Roman (Headings)"/>
              </a:rPr>
              <a:t>- Mức phạt tối đa đối với pháp nhân lên tới 10 tỷ đồng. Ngoài ra, pháp nhân thương mại có thể bị cấm hoạt động trong một số lĩnh vực nhất định từ 01 năm đến 03 năm hoặc cấm huy động vốn từ 01 năm đến 03 năm</a:t>
            </a:r>
            <a:endParaRPr lang="en-US" sz="3200" dirty="0">
              <a:solidFill>
                <a:srgbClr val="FFFFFF"/>
              </a:solidFill>
              <a:latin typeface="Times New Roman (Headings)"/>
            </a:endParaRPr>
          </a:p>
        </p:txBody>
      </p:sp>
      <p:sp>
        <p:nvSpPr>
          <p:cNvPr id="11" name="TextBox 6">
            <a:extLst>
              <a:ext uri="{FF2B5EF4-FFF2-40B4-BE49-F238E27FC236}">
                <a16:creationId xmlns:a16="http://schemas.microsoft.com/office/drawing/2014/main" id="{8F1E6ECD-D0AD-A02E-4A5C-51CD388C33CC}"/>
              </a:ext>
            </a:extLst>
          </p:cNvPr>
          <p:cNvSpPr txBox="1"/>
          <p:nvPr/>
        </p:nvSpPr>
        <p:spPr>
          <a:xfrm>
            <a:off x="9677400" y="4152900"/>
            <a:ext cx="8381999" cy="3462486"/>
          </a:xfrm>
          <a:prstGeom prst="rect">
            <a:avLst/>
          </a:prstGeom>
        </p:spPr>
        <p:txBody>
          <a:bodyPr wrap="square" lIns="0" tIns="0" rIns="0" bIns="0" rtlCol="0" anchor="t">
            <a:spAutoFit/>
          </a:bodyPr>
          <a:lstStyle/>
          <a:p>
            <a:pPr marL="457200" lvl="0" indent="-457200" algn="just">
              <a:lnSpc>
                <a:spcPts val="3021"/>
              </a:lnSpc>
              <a:buFontTx/>
              <a:buChar char="-"/>
            </a:pPr>
            <a:r>
              <a:rPr lang="vi-VN" sz="3200" b="1" dirty="0">
                <a:solidFill>
                  <a:srgbClr val="FFFFFF"/>
                </a:solidFill>
                <a:latin typeface="Times New Roman (Headings)"/>
              </a:rPr>
              <a:t>Yếu tố để định khung hình phạt:</a:t>
            </a:r>
            <a:endParaRPr lang="en-US" sz="3200" b="1" dirty="0">
              <a:solidFill>
                <a:srgbClr val="FFFFFF"/>
              </a:solidFill>
              <a:latin typeface="Times New Roman (Headings)"/>
            </a:endParaRPr>
          </a:p>
          <a:p>
            <a:pPr lvl="0" algn="just">
              <a:lnSpc>
                <a:spcPts val="3021"/>
              </a:lnSpc>
            </a:pPr>
            <a:endParaRPr lang="vi-VN" sz="3200" b="1" dirty="0">
              <a:solidFill>
                <a:srgbClr val="FFFFFF"/>
              </a:solidFill>
              <a:latin typeface="Times New Roman (Headings)"/>
            </a:endParaRPr>
          </a:p>
          <a:p>
            <a:pPr marL="0" lvl="0" indent="0" algn="just">
              <a:lnSpc>
                <a:spcPts val="3021"/>
              </a:lnSpc>
            </a:pPr>
            <a:r>
              <a:rPr lang="vi-VN" sz="3200" dirty="0">
                <a:solidFill>
                  <a:srgbClr val="FFFFFF"/>
                </a:solidFill>
                <a:latin typeface="Times New Roman (Headings)"/>
              </a:rPr>
              <a:t>	+ Có tổ chức</a:t>
            </a:r>
            <a:endParaRPr lang="en-US" sz="3200" dirty="0">
              <a:solidFill>
                <a:srgbClr val="FFFFFF"/>
              </a:solidFill>
              <a:latin typeface="Times New Roman (Headings)"/>
            </a:endParaRPr>
          </a:p>
          <a:p>
            <a:pPr marL="0" lvl="0" indent="0" algn="just">
              <a:lnSpc>
                <a:spcPts val="3021"/>
              </a:lnSpc>
            </a:pPr>
            <a:endParaRPr lang="vi-VN" sz="3200" dirty="0">
              <a:solidFill>
                <a:srgbClr val="FFFFFF"/>
              </a:solidFill>
              <a:latin typeface="Times New Roman (Headings)"/>
            </a:endParaRPr>
          </a:p>
          <a:p>
            <a:pPr marL="0" lvl="0" indent="0" algn="just">
              <a:lnSpc>
                <a:spcPts val="3021"/>
              </a:lnSpc>
            </a:pPr>
            <a:r>
              <a:rPr lang="vi-VN" sz="3200" dirty="0">
                <a:solidFill>
                  <a:srgbClr val="FFFFFF"/>
                </a:solidFill>
                <a:latin typeface="Times New Roman (Headings)"/>
              </a:rPr>
              <a:t>	+ Thu lợi bất chính (300 triệu trở lên) </a:t>
            </a:r>
            <a:endParaRPr lang="en-US" sz="3200" dirty="0">
              <a:solidFill>
                <a:srgbClr val="FFFFFF"/>
              </a:solidFill>
              <a:latin typeface="Times New Roman (Headings)"/>
            </a:endParaRPr>
          </a:p>
          <a:p>
            <a:pPr marL="0" lvl="0" indent="0" algn="just">
              <a:lnSpc>
                <a:spcPts val="3021"/>
              </a:lnSpc>
            </a:pPr>
            <a:endParaRPr lang="vi-VN" sz="3200" dirty="0">
              <a:solidFill>
                <a:srgbClr val="FFFFFF"/>
              </a:solidFill>
              <a:latin typeface="Times New Roman (Headings)"/>
            </a:endParaRPr>
          </a:p>
          <a:p>
            <a:pPr marL="0" lvl="0" indent="0" algn="just">
              <a:lnSpc>
                <a:spcPts val="3021"/>
              </a:lnSpc>
            </a:pPr>
            <a:r>
              <a:rPr lang="vi-VN" sz="3200" dirty="0">
                <a:solidFill>
                  <a:srgbClr val="FFFFFF"/>
                </a:solidFill>
                <a:latin typeface="Times New Roman (Headings)"/>
              </a:rPr>
              <a:t>	+ Gây thiệt hại cho nhà đầu tư (500tr trở lên)</a:t>
            </a:r>
            <a:endParaRPr lang="en-US" sz="3200" dirty="0">
              <a:solidFill>
                <a:srgbClr val="FFFFFF"/>
              </a:solidFill>
              <a:latin typeface="Times New Roman (Headings)"/>
            </a:endParaRPr>
          </a:p>
          <a:p>
            <a:pPr marL="0" lvl="0" indent="0" algn="just">
              <a:lnSpc>
                <a:spcPts val="3021"/>
              </a:lnSpc>
            </a:pPr>
            <a:endParaRPr lang="vi-VN" sz="3200" dirty="0">
              <a:solidFill>
                <a:srgbClr val="FFFFFF"/>
              </a:solidFill>
              <a:latin typeface="Times New Roman (Headings)"/>
            </a:endParaRPr>
          </a:p>
          <a:p>
            <a:pPr marL="0" lvl="0" indent="0" algn="just">
              <a:lnSpc>
                <a:spcPts val="3021"/>
              </a:lnSpc>
            </a:pPr>
            <a:r>
              <a:rPr lang="vi-VN" sz="3200" dirty="0">
                <a:solidFill>
                  <a:srgbClr val="FFFFFF"/>
                </a:solidFill>
                <a:latin typeface="Times New Roman (Headings)"/>
              </a:rPr>
              <a:t>	+ Tái phạm nguy hiểm.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2838562"/>
            <a:ext cx="9144000" cy="7448438"/>
          </a:xfrm>
          <a:prstGeom prst="rect">
            <a:avLst/>
          </a:prstGeom>
          <a:solidFill>
            <a:srgbClr val="074E36"/>
          </a:solidFill>
        </p:spPr>
      </p:sp>
      <p:sp>
        <p:nvSpPr>
          <p:cNvPr id="3" name="AutoShape 3"/>
          <p:cNvSpPr/>
          <p:nvPr/>
        </p:nvSpPr>
        <p:spPr>
          <a:xfrm>
            <a:off x="9144000" y="2838562"/>
            <a:ext cx="9144000" cy="7448438"/>
          </a:xfrm>
          <a:prstGeom prst="rect">
            <a:avLst/>
          </a:prstGeom>
          <a:solidFill>
            <a:srgbClr val="D87A40"/>
          </a:solidFill>
        </p:spPr>
      </p:sp>
      <p:sp>
        <p:nvSpPr>
          <p:cNvPr id="4" name="TextBox 4"/>
          <p:cNvSpPr txBox="1"/>
          <p:nvPr/>
        </p:nvSpPr>
        <p:spPr>
          <a:xfrm>
            <a:off x="2742168" y="971550"/>
            <a:ext cx="12397964" cy="1647887"/>
          </a:xfrm>
          <a:prstGeom prst="rect">
            <a:avLst/>
          </a:prstGeom>
        </p:spPr>
        <p:txBody>
          <a:bodyPr lIns="0" tIns="0" rIns="0" bIns="0" rtlCol="0" anchor="t">
            <a:spAutoFit/>
          </a:bodyPr>
          <a:lstStyle/>
          <a:p>
            <a:pPr marL="0" lvl="0" indent="0" algn="ctr">
              <a:lnSpc>
                <a:spcPts val="6720"/>
              </a:lnSpc>
            </a:pPr>
            <a:r>
              <a:rPr lang="vi-VN" sz="4800">
                <a:solidFill>
                  <a:srgbClr val="000000"/>
                </a:solidFill>
                <a:latin typeface="Times New Roman (Headings)"/>
              </a:rPr>
              <a:t>	Điều 211 BLHS 2015</a:t>
            </a:r>
            <a:r>
              <a:rPr lang="en-US" sz="4800">
                <a:solidFill>
                  <a:srgbClr val="000000"/>
                </a:solidFill>
                <a:latin typeface="Times New Roman (Headings)"/>
              </a:rPr>
              <a:t>:</a:t>
            </a:r>
            <a:r>
              <a:rPr lang="vi-VN" sz="4800">
                <a:solidFill>
                  <a:srgbClr val="000000"/>
                </a:solidFill>
                <a:latin typeface="Times New Roman (Headings)"/>
              </a:rPr>
              <a:t> Tội thao túng thị trường chứng khoán</a:t>
            </a:r>
          </a:p>
        </p:txBody>
      </p:sp>
      <p:sp>
        <p:nvSpPr>
          <p:cNvPr id="6" name="TextBox 6"/>
          <p:cNvSpPr txBox="1"/>
          <p:nvPr/>
        </p:nvSpPr>
        <p:spPr>
          <a:xfrm>
            <a:off x="799258" y="4000500"/>
            <a:ext cx="7333855" cy="4231928"/>
          </a:xfrm>
          <a:prstGeom prst="rect">
            <a:avLst/>
          </a:prstGeom>
        </p:spPr>
        <p:txBody>
          <a:bodyPr wrap="square" lIns="0" tIns="0" rIns="0" bIns="0" rtlCol="0" anchor="t">
            <a:spAutoFit/>
          </a:bodyPr>
          <a:lstStyle/>
          <a:p>
            <a:pPr marL="0" lvl="0" indent="0" algn="just">
              <a:lnSpc>
                <a:spcPts val="3021"/>
              </a:lnSpc>
            </a:pPr>
            <a:r>
              <a:rPr lang="vi-VN" sz="3200" dirty="0">
                <a:solidFill>
                  <a:srgbClr val="FFFFFF"/>
                </a:solidFill>
                <a:latin typeface="Times New Roman (Headings)"/>
              </a:rPr>
              <a:t>- Mức phạt tối đa đối với cá nhân lên đến 04 tỷ đồng hoặc 07 năm tù; Người phạm tội còn có thể bị cấm đảm nhiệm chức vụ, cấm hành nghề hoặc làm công việc nhất định từ 01 năm đến 05 năm.</a:t>
            </a:r>
            <a:endParaRPr lang="en-US" sz="3200" dirty="0">
              <a:solidFill>
                <a:srgbClr val="FFFFFF"/>
              </a:solidFill>
              <a:latin typeface="Times New Roman (Headings)"/>
            </a:endParaRPr>
          </a:p>
          <a:p>
            <a:pPr marL="0" lvl="0" indent="0" algn="just">
              <a:lnSpc>
                <a:spcPts val="3021"/>
              </a:lnSpc>
            </a:pPr>
            <a:endParaRPr lang="vi-VN" sz="3200" dirty="0">
              <a:solidFill>
                <a:srgbClr val="FFFFFF"/>
              </a:solidFill>
              <a:latin typeface="Times New Roman (Headings)"/>
            </a:endParaRPr>
          </a:p>
          <a:p>
            <a:pPr marL="0" lvl="0" indent="0" algn="just">
              <a:lnSpc>
                <a:spcPts val="3021"/>
              </a:lnSpc>
            </a:pPr>
            <a:r>
              <a:rPr lang="vi-VN" sz="3200" dirty="0">
                <a:solidFill>
                  <a:srgbClr val="FFFFFF"/>
                </a:solidFill>
                <a:latin typeface="Times New Roman (Headings)"/>
              </a:rPr>
              <a:t>- Mức phạt tối đa đối với pháp nhân lên tới 10 tỷ đồng. Ngoài ra, pháp nhân thương mại có thể bị cấm hoạt động trong một số lĩnh vực nhất định từ 01 năm đến 03 năm hoặc cấm huy động vốn từ 01 năm đến 03 năm.</a:t>
            </a:r>
          </a:p>
        </p:txBody>
      </p:sp>
      <p:sp>
        <p:nvSpPr>
          <p:cNvPr id="11" name="TextBox 6">
            <a:extLst>
              <a:ext uri="{FF2B5EF4-FFF2-40B4-BE49-F238E27FC236}">
                <a16:creationId xmlns:a16="http://schemas.microsoft.com/office/drawing/2014/main" id="{8F1E6ECD-D0AD-A02E-4A5C-51CD388C33CC}"/>
              </a:ext>
            </a:extLst>
          </p:cNvPr>
          <p:cNvSpPr txBox="1"/>
          <p:nvPr/>
        </p:nvSpPr>
        <p:spPr>
          <a:xfrm>
            <a:off x="9448801" y="4000500"/>
            <a:ext cx="8610600" cy="3462486"/>
          </a:xfrm>
          <a:prstGeom prst="rect">
            <a:avLst/>
          </a:prstGeom>
        </p:spPr>
        <p:txBody>
          <a:bodyPr wrap="square" lIns="0" tIns="0" rIns="0" bIns="0" rtlCol="0" anchor="t">
            <a:spAutoFit/>
          </a:bodyPr>
          <a:lstStyle/>
          <a:p>
            <a:pPr marL="457200" lvl="0" indent="-457200" algn="just">
              <a:lnSpc>
                <a:spcPts val="3021"/>
              </a:lnSpc>
              <a:buFontTx/>
              <a:buChar char="-"/>
            </a:pPr>
            <a:r>
              <a:rPr lang="vi-VN" sz="3200" b="1" dirty="0">
                <a:solidFill>
                  <a:srgbClr val="FFFFFF"/>
                </a:solidFill>
                <a:latin typeface="Times New Roman (Headings)"/>
              </a:rPr>
              <a:t>Yếu tố để định khung hình phạt:</a:t>
            </a:r>
            <a:endParaRPr lang="en-US" sz="3200" b="1" dirty="0">
              <a:solidFill>
                <a:srgbClr val="FFFFFF"/>
              </a:solidFill>
              <a:latin typeface="Times New Roman (Headings)"/>
            </a:endParaRPr>
          </a:p>
          <a:p>
            <a:pPr lvl="0" algn="just">
              <a:lnSpc>
                <a:spcPts val="3021"/>
              </a:lnSpc>
            </a:pPr>
            <a:endParaRPr lang="vi-VN" sz="3200" b="1" dirty="0">
              <a:solidFill>
                <a:srgbClr val="FFFFFF"/>
              </a:solidFill>
              <a:latin typeface="Times New Roman (Headings)"/>
            </a:endParaRPr>
          </a:p>
          <a:p>
            <a:pPr lvl="0" algn="just">
              <a:lnSpc>
                <a:spcPts val="3021"/>
              </a:lnSpc>
            </a:pPr>
            <a:r>
              <a:rPr lang="vi-VN" sz="3200" b="1" dirty="0">
                <a:solidFill>
                  <a:srgbClr val="FFFFFF"/>
                </a:solidFill>
                <a:latin typeface="Times New Roman (Headings)"/>
              </a:rPr>
              <a:t>	</a:t>
            </a:r>
            <a:r>
              <a:rPr lang="vi-VN" sz="3200" dirty="0">
                <a:solidFill>
                  <a:srgbClr val="FFFFFF"/>
                </a:solidFill>
                <a:latin typeface="Times New Roman (Headings)"/>
              </a:rPr>
              <a:t>+ Có tổ chức</a:t>
            </a:r>
            <a:endParaRPr lang="en-US" sz="3200" dirty="0">
              <a:solidFill>
                <a:srgbClr val="FFFFFF"/>
              </a:solidFill>
              <a:latin typeface="Times New Roman (Headings)"/>
            </a:endParaRPr>
          </a:p>
          <a:p>
            <a:pPr lvl="0" algn="just">
              <a:lnSpc>
                <a:spcPts val="3021"/>
              </a:lnSpc>
            </a:pPr>
            <a:endParaRPr lang="vi-VN" sz="3200" dirty="0">
              <a:solidFill>
                <a:srgbClr val="FFFFFF"/>
              </a:solidFill>
              <a:latin typeface="Times New Roman (Headings)"/>
            </a:endParaRPr>
          </a:p>
          <a:p>
            <a:pPr lvl="0" algn="just">
              <a:lnSpc>
                <a:spcPts val="3021"/>
              </a:lnSpc>
            </a:pPr>
            <a:r>
              <a:rPr lang="vi-VN" sz="3200" dirty="0">
                <a:solidFill>
                  <a:srgbClr val="FFFFFF"/>
                </a:solidFill>
                <a:latin typeface="Times New Roman (Headings)"/>
              </a:rPr>
              <a:t>	+ Thu lợi bất chính (500 triệu trở lên) </a:t>
            </a:r>
            <a:endParaRPr lang="en-US" sz="3200" dirty="0">
              <a:solidFill>
                <a:srgbClr val="FFFFFF"/>
              </a:solidFill>
              <a:latin typeface="Times New Roman (Headings)"/>
            </a:endParaRPr>
          </a:p>
          <a:p>
            <a:pPr lvl="0" algn="just">
              <a:lnSpc>
                <a:spcPts val="3021"/>
              </a:lnSpc>
            </a:pPr>
            <a:endParaRPr lang="vi-VN" sz="3200" dirty="0">
              <a:solidFill>
                <a:srgbClr val="FFFFFF"/>
              </a:solidFill>
              <a:latin typeface="Times New Roman (Headings)"/>
            </a:endParaRPr>
          </a:p>
          <a:p>
            <a:pPr lvl="0" algn="just">
              <a:lnSpc>
                <a:spcPts val="3021"/>
              </a:lnSpc>
            </a:pPr>
            <a:r>
              <a:rPr lang="vi-VN" sz="3200" dirty="0">
                <a:solidFill>
                  <a:srgbClr val="FFFFFF"/>
                </a:solidFill>
                <a:latin typeface="Times New Roman (Headings)"/>
              </a:rPr>
              <a:t>	+ Gây thiệt hại cho nhà đầu tư (1 tỷ trở lên);</a:t>
            </a:r>
            <a:endParaRPr lang="en-US" sz="3200" dirty="0">
              <a:solidFill>
                <a:srgbClr val="FFFFFF"/>
              </a:solidFill>
              <a:latin typeface="Times New Roman (Headings)"/>
            </a:endParaRPr>
          </a:p>
          <a:p>
            <a:pPr lvl="0" algn="just">
              <a:lnSpc>
                <a:spcPts val="3021"/>
              </a:lnSpc>
            </a:pPr>
            <a:endParaRPr lang="vi-VN" sz="3200" dirty="0">
              <a:solidFill>
                <a:srgbClr val="FFFFFF"/>
              </a:solidFill>
              <a:latin typeface="Times New Roman (Headings)"/>
            </a:endParaRPr>
          </a:p>
          <a:p>
            <a:pPr lvl="0" algn="just">
              <a:lnSpc>
                <a:spcPts val="3021"/>
              </a:lnSpc>
            </a:pPr>
            <a:r>
              <a:rPr lang="vi-VN" sz="3200" dirty="0">
                <a:solidFill>
                  <a:srgbClr val="FFFFFF"/>
                </a:solidFill>
                <a:latin typeface="Times New Roman (Headings)"/>
              </a:rPr>
              <a:t>	+ Tái phạm nguy hiểm.</a:t>
            </a:r>
          </a:p>
        </p:txBody>
      </p:sp>
    </p:spTree>
    <p:extLst>
      <p:ext uri="{BB962C8B-B14F-4D97-AF65-F5344CB8AC3E}">
        <p14:creationId xmlns:p14="http://schemas.microsoft.com/office/powerpoint/2010/main" val="2889437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0" y="9715500"/>
            <a:ext cx="18580607" cy="0"/>
          </a:xfrm>
          <a:prstGeom prst="line">
            <a:avLst/>
          </a:prstGeom>
          <a:ln w="9525" cap="rnd">
            <a:solidFill>
              <a:srgbClr val="FFFFFF"/>
            </a:solidFill>
            <a:prstDash val="solid"/>
            <a:headEnd type="none" w="sm" len="sm"/>
            <a:tailEnd type="none" w="sm" len="sm"/>
          </a:ln>
        </p:spPr>
      </p:sp>
      <p:graphicFrame>
        <p:nvGraphicFramePr>
          <p:cNvPr id="6" name="Diagram 5">
            <a:extLst>
              <a:ext uri="{FF2B5EF4-FFF2-40B4-BE49-F238E27FC236}">
                <a16:creationId xmlns:a16="http://schemas.microsoft.com/office/drawing/2014/main" id="{29A3F04F-E6F5-4A67-A8F0-7FD2F927AB5E}"/>
              </a:ext>
            </a:extLst>
          </p:cNvPr>
          <p:cNvGraphicFramePr/>
          <p:nvPr>
            <p:extLst>
              <p:ext uri="{D42A27DB-BD31-4B8C-83A1-F6EECF244321}">
                <p14:modId xmlns:p14="http://schemas.microsoft.com/office/powerpoint/2010/main" val="276686572"/>
              </p:ext>
            </p:extLst>
          </p:nvPr>
        </p:nvGraphicFramePr>
        <p:xfrm>
          <a:off x="878774" y="1746486"/>
          <a:ext cx="16552716" cy="7969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hape 111">
            <a:extLst>
              <a:ext uri="{FF2B5EF4-FFF2-40B4-BE49-F238E27FC236}">
                <a16:creationId xmlns:a16="http://schemas.microsoft.com/office/drawing/2014/main" id="{7BA33221-E6D3-4B14-B388-327A2FE8CC5D}"/>
              </a:ext>
            </a:extLst>
          </p:cNvPr>
          <p:cNvSpPr txBox="1">
            <a:spLocks/>
          </p:cNvSpPr>
          <p:nvPr/>
        </p:nvSpPr>
        <p:spPr>
          <a:xfrm flipH="1">
            <a:off x="762000" y="266700"/>
            <a:ext cx="12156443" cy="1073967"/>
          </a:xfrm>
          <a:prstGeom prst="rect">
            <a:avLst/>
          </a:prstGeom>
          <a:noFill/>
          <a:ln>
            <a:noFill/>
          </a:ln>
        </p:spPr>
        <p:txBody>
          <a:bodyPr lIns="137138" tIns="68550" rIns="137138" bIns="68550" anchor="ctr" anchorCtr="0">
            <a:noAutofit/>
          </a:bodyPr>
          <a:lstStyle>
            <a:defPPr marR="0" lvl="0" algn="l" rtl="0">
              <a:lnSpc>
                <a:spcPct val="100000"/>
              </a:lnSpc>
              <a:spcBef>
                <a:spcPts val="0"/>
              </a:spcBef>
              <a:spcAft>
                <a:spcPts val="0"/>
              </a:spcAft>
            </a:defPPr>
            <a:lvl1pPr marL="0" marR="0" lvl="0" indent="0" algn="l" rtl="0">
              <a:lnSpc>
                <a:spcPct val="90000"/>
              </a:lnSpc>
              <a:spcBef>
                <a:spcPts val="0"/>
              </a:spcBef>
              <a:spcAft>
                <a:spcPts val="0"/>
              </a:spcAft>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a:buClr>
                <a:schemeClr val="lt1"/>
              </a:buClr>
              <a:buSzPct val="25000"/>
            </a:pPr>
            <a:r>
              <a:rPr lang="en-US" sz="4500" b="1" dirty="0" err="1">
                <a:solidFill>
                  <a:schemeClr val="bg1"/>
                </a:solidFill>
                <a:latin typeface="Times New Roman" panose="02020603050405020304" pitchFamily="18" charset="0"/>
                <a:cs typeface="Times New Roman" panose="02020603050405020304" pitchFamily="18" charset="0"/>
              </a:rPr>
              <a:t>Quy</a:t>
            </a:r>
            <a:r>
              <a:rPr lang="en-US" sz="4500" b="1" dirty="0">
                <a:solidFill>
                  <a:schemeClr val="bg1"/>
                </a:solidFill>
                <a:latin typeface="Times New Roman" panose="02020603050405020304" pitchFamily="18" charset="0"/>
                <a:cs typeface="Times New Roman" panose="02020603050405020304" pitchFamily="18" charset="0"/>
              </a:rPr>
              <a:t> </a:t>
            </a:r>
            <a:r>
              <a:rPr lang="en-US" sz="4500" b="1" dirty="0" err="1">
                <a:solidFill>
                  <a:schemeClr val="bg1"/>
                </a:solidFill>
                <a:latin typeface="Times New Roman" panose="02020603050405020304" pitchFamily="18" charset="0"/>
                <a:cs typeface="Times New Roman" panose="02020603050405020304" pitchFamily="18" charset="0"/>
              </a:rPr>
              <a:t>trình</a:t>
            </a:r>
            <a:r>
              <a:rPr lang="en-US" sz="4500" b="1" dirty="0">
                <a:solidFill>
                  <a:schemeClr val="bg1"/>
                </a:solidFill>
                <a:latin typeface="Times New Roman" panose="02020603050405020304" pitchFamily="18" charset="0"/>
                <a:cs typeface="Times New Roman" panose="02020603050405020304" pitchFamily="18" charset="0"/>
              </a:rPr>
              <a:t> </a:t>
            </a:r>
            <a:r>
              <a:rPr lang="en-US" sz="4500" b="1" dirty="0" err="1">
                <a:solidFill>
                  <a:schemeClr val="bg1"/>
                </a:solidFill>
                <a:latin typeface="Times New Roman" panose="02020603050405020304" pitchFamily="18" charset="0"/>
                <a:cs typeface="Times New Roman" panose="02020603050405020304" pitchFamily="18" charset="0"/>
              </a:rPr>
              <a:t>xử</a:t>
            </a:r>
            <a:r>
              <a:rPr lang="en-US" sz="4500" b="1" dirty="0">
                <a:solidFill>
                  <a:schemeClr val="bg1"/>
                </a:solidFill>
                <a:latin typeface="Times New Roman" panose="02020603050405020304" pitchFamily="18" charset="0"/>
                <a:cs typeface="Times New Roman" panose="02020603050405020304" pitchFamily="18" charset="0"/>
              </a:rPr>
              <a:t> </a:t>
            </a:r>
            <a:r>
              <a:rPr lang="en-US" sz="4500" b="1" dirty="0" err="1">
                <a:solidFill>
                  <a:schemeClr val="bg1"/>
                </a:solidFill>
                <a:latin typeface="Times New Roman" panose="02020603050405020304" pitchFamily="18" charset="0"/>
                <a:cs typeface="Times New Roman" panose="02020603050405020304" pitchFamily="18" charset="0"/>
              </a:rPr>
              <a:t>lý</a:t>
            </a:r>
            <a:r>
              <a:rPr lang="en-US" sz="4500" b="1" dirty="0">
                <a:solidFill>
                  <a:schemeClr val="bg1"/>
                </a:solidFill>
                <a:latin typeface="Times New Roman" panose="02020603050405020304" pitchFamily="18" charset="0"/>
                <a:cs typeface="Times New Roman" panose="02020603050405020304" pitchFamily="18" charset="0"/>
              </a:rPr>
              <a:t> </a:t>
            </a:r>
            <a:r>
              <a:rPr lang="en-US" sz="4500" b="1" dirty="0" err="1">
                <a:solidFill>
                  <a:schemeClr val="bg1"/>
                </a:solidFill>
                <a:latin typeface="Times New Roman" panose="02020603050405020304" pitchFamily="18" charset="0"/>
                <a:cs typeface="Times New Roman" panose="02020603050405020304" pitchFamily="18" charset="0"/>
              </a:rPr>
              <a:t>đối</a:t>
            </a:r>
            <a:r>
              <a:rPr lang="en-US" sz="4500" b="1" dirty="0">
                <a:solidFill>
                  <a:schemeClr val="bg1"/>
                </a:solidFill>
                <a:latin typeface="Times New Roman" panose="02020603050405020304" pitchFamily="18" charset="0"/>
                <a:cs typeface="Times New Roman" panose="02020603050405020304" pitchFamily="18" charset="0"/>
              </a:rPr>
              <a:t> </a:t>
            </a:r>
            <a:r>
              <a:rPr lang="en-US" sz="4500" b="1" dirty="0" err="1">
                <a:solidFill>
                  <a:schemeClr val="bg1"/>
                </a:solidFill>
                <a:latin typeface="Times New Roman" panose="02020603050405020304" pitchFamily="18" charset="0"/>
                <a:cs typeface="Times New Roman" panose="02020603050405020304" pitchFamily="18" charset="0"/>
              </a:rPr>
              <a:t>với</a:t>
            </a:r>
            <a:r>
              <a:rPr lang="en-US" sz="4500" b="1" dirty="0">
                <a:solidFill>
                  <a:schemeClr val="bg1"/>
                </a:solidFill>
                <a:latin typeface="Times New Roman" panose="02020603050405020304" pitchFamily="18" charset="0"/>
                <a:cs typeface="Times New Roman" panose="02020603050405020304" pitchFamily="18" charset="0"/>
              </a:rPr>
              <a:t> 01 </a:t>
            </a:r>
            <a:r>
              <a:rPr lang="en-US" sz="4500" b="1" dirty="0" err="1">
                <a:solidFill>
                  <a:schemeClr val="bg1"/>
                </a:solidFill>
                <a:latin typeface="Times New Roman" panose="02020603050405020304" pitchFamily="18" charset="0"/>
                <a:cs typeface="Times New Roman" panose="02020603050405020304" pitchFamily="18" charset="0"/>
              </a:rPr>
              <a:t>vụ</a:t>
            </a:r>
            <a:r>
              <a:rPr lang="en-US" sz="4500" b="1" dirty="0">
                <a:solidFill>
                  <a:schemeClr val="bg1"/>
                </a:solidFill>
                <a:latin typeface="Times New Roman" panose="02020603050405020304" pitchFamily="18" charset="0"/>
                <a:cs typeface="Times New Roman" panose="02020603050405020304" pitchFamily="18" charset="0"/>
              </a:rPr>
              <a:t> </a:t>
            </a:r>
            <a:r>
              <a:rPr lang="en-US" sz="4500" b="1" dirty="0" err="1">
                <a:solidFill>
                  <a:schemeClr val="bg1"/>
                </a:solidFill>
                <a:latin typeface="Times New Roman" panose="02020603050405020304" pitchFamily="18" charset="0"/>
                <a:cs typeface="Times New Roman" panose="02020603050405020304" pitchFamily="18" charset="0"/>
              </a:rPr>
              <a:t>việc</a:t>
            </a:r>
            <a:endParaRPr lang="en-US" sz="4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7124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7467600" cy="10287000"/>
          </a:xfrm>
          <a:prstGeom prst="rect">
            <a:avLst/>
          </a:prstGeom>
          <a:solidFill>
            <a:srgbClr val="D87A40"/>
          </a:solidFill>
        </p:spPr>
      </p:sp>
      <p:sp>
        <p:nvSpPr>
          <p:cNvPr id="3" name="TextBox 3"/>
          <p:cNvSpPr txBox="1"/>
          <p:nvPr/>
        </p:nvSpPr>
        <p:spPr>
          <a:xfrm>
            <a:off x="425720" y="2509671"/>
            <a:ext cx="5822680" cy="3945054"/>
          </a:xfrm>
          <a:prstGeom prst="rect">
            <a:avLst/>
          </a:prstGeom>
        </p:spPr>
        <p:txBody>
          <a:bodyPr wrap="square" lIns="0" tIns="0" rIns="0" bIns="0" rtlCol="0" anchor="t">
            <a:spAutoFit/>
          </a:bodyPr>
          <a:lstStyle/>
          <a:p>
            <a:pPr marL="0" lvl="0" indent="0" algn="ctr">
              <a:lnSpc>
                <a:spcPts val="7874"/>
              </a:lnSpc>
            </a:pPr>
            <a:r>
              <a:rPr lang="en-US" sz="5000" b="1" i="1" dirty="0" err="1">
                <a:solidFill>
                  <a:srgbClr val="FFFFFF"/>
                </a:solidFill>
                <a:latin typeface="Arimo Bold Italics"/>
              </a:rPr>
              <a:t>Kết</a:t>
            </a:r>
            <a:r>
              <a:rPr lang="en-US" sz="5000" b="1" i="1" dirty="0">
                <a:solidFill>
                  <a:srgbClr val="FFFFFF"/>
                </a:solidFill>
                <a:latin typeface="Arimo Bold Italics"/>
              </a:rPr>
              <a:t> </a:t>
            </a:r>
            <a:r>
              <a:rPr lang="en-US" sz="5000" b="1" i="1" dirty="0" err="1">
                <a:solidFill>
                  <a:srgbClr val="FFFFFF"/>
                </a:solidFill>
                <a:latin typeface="Arimo Bold Italics"/>
              </a:rPr>
              <a:t>quả</a:t>
            </a:r>
            <a:r>
              <a:rPr lang="en-US" sz="5000" b="1" i="1" dirty="0">
                <a:solidFill>
                  <a:srgbClr val="FFFFFF"/>
                </a:solidFill>
                <a:latin typeface="Arimo Bold Italics"/>
              </a:rPr>
              <a:t> </a:t>
            </a:r>
            <a:r>
              <a:rPr lang="en-US" sz="5000" b="1" i="1" dirty="0" err="1">
                <a:solidFill>
                  <a:srgbClr val="FFFFFF"/>
                </a:solidFill>
                <a:latin typeface="Arimo Bold Italics"/>
              </a:rPr>
              <a:t>xử</a:t>
            </a:r>
            <a:r>
              <a:rPr lang="en-US" sz="5000" b="1" i="1" dirty="0">
                <a:solidFill>
                  <a:srgbClr val="FFFFFF"/>
                </a:solidFill>
                <a:latin typeface="Arimo Bold Italics"/>
              </a:rPr>
              <a:t> </a:t>
            </a:r>
            <a:r>
              <a:rPr lang="en-US" sz="5000" b="1" i="1" dirty="0" err="1">
                <a:solidFill>
                  <a:srgbClr val="FFFFFF"/>
                </a:solidFill>
                <a:latin typeface="Arimo Bold Italics"/>
              </a:rPr>
              <a:t>lý</a:t>
            </a:r>
            <a:r>
              <a:rPr lang="en-US" sz="5000" b="1" i="1" dirty="0">
                <a:solidFill>
                  <a:srgbClr val="FFFFFF"/>
                </a:solidFill>
                <a:latin typeface="Arimo Bold Italics"/>
              </a:rPr>
              <a:t> </a:t>
            </a:r>
            <a:r>
              <a:rPr lang="en-US" sz="5000" b="1" i="1" dirty="0" err="1">
                <a:solidFill>
                  <a:srgbClr val="FFFFFF"/>
                </a:solidFill>
                <a:latin typeface="Arimo Bold Italics"/>
              </a:rPr>
              <a:t>đối</a:t>
            </a:r>
            <a:r>
              <a:rPr lang="en-US" sz="5000" b="1" i="1" dirty="0">
                <a:solidFill>
                  <a:srgbClr val="FFFFFF"/>
                </a:solidFill>
                <a:latin typeface="Arimo Bold Italics"/>
              </a:rPr>
              <a:t> </a:t>
            </a:r>
            <a:r>
              <a:rPr lang="en-US" sz="5000" b="1" i="1" dirty="0" err="1">
                <a:solidFill>
                  <a:srgbClr val="FFFFFF"/>
                </a:solidFill>
                <a:latin typeface="Arimo Bold Italics"/>
              </a:rPr>
              <a:t>với</a:t>
            </a:r>
            <a:r>
              <a:rPr lang="en-US" sz="5000" b="1" i="1" dirty="0">
                <a:solidFill>
                  <a:srgbClr val="FFFFFF"/>
                </a:solidFill>
                <a:latin typeface="Arimo Bold Italics"/>
              </a:rPr>
              <a:t> </a:t>
            </a:r>
            <a:r>
              <a:rPr lang="en-US" sz="5000" b="1" i="1" dirty="0" err="1">
                <a:solidFill>
                  <a:srgbClr val="FFFFFF"/>
                </a:solidFill>
                <a:latin typeface="Arimo Bold Italics"/>
              </a:rPr>
              <a:t>hành</a:t>
            </a:r>
            <a:r>
              <a:rPr lang="en-US" sz="5000" b="1" i="1" dirty="0">
                <a:solidFill>
                  <a:srgbClr val="FFFFFF"/>
                </a:solidFill>
                <a:latin typeface="Arimo Bold Italics"/>
              </a:rPr>
              <a:t> vi </a:t>
            </a:r>
            <a:r>
              <a:rPr lang="en-US" sz="5000" b="1" i="1" dirty="0" err="1">
                <a:solidFill>
                  <a:srgbClr val="FFFFFF"/>
                </a:solidFill>
                <a:latin typeface="Arimo Bold Italics"/>
              </a:rPr>
              <a:t>thao</a:t>
            </a:r>
            <a:r>
              <a:rPr lang="en-US" sz="5000" b="1" i="1" dirty="0">
                <a:solidFill>
                  <a:srgbClr val="FFFFFF"/>
                </a:solidFill>
                <a:latin typeface="Arimo Bold Italics"/>
              </a:rPr>
              <a:t> </a:t>
            </a:r>
            <a:r>
              <a:rPr lang="en-US" sz="5000" b="1" i="1" dirty="0" err="1">
                <a:solidFill>
                  <a:srgbClr val="FFFFFF"/>
                </a:solidFill>
                <a:latin typeface="Arimo Bold Italics"/>
              </a:rPr>
              <a:t>túng</a:t>
            </a:r>
            <a:r>
              <a:rPr lang="en-US" sz="5000" b="1" i="1" dirty="0">
                <a:solidFill>
                  <a:srgbClr val="FFFFFF"/>
                </a:solidFill>
                <a:latin typeface="Arimo Bold Italics"/>
              </a:rPr>
              <a:t> TTCK 2010 - 2022</a:t>
            </a:r>
          </a:p>
        </p:txBody>
      </p:sp>
      <p:sp>
        <p:nvSpPr>
          <p:cNvPr id="4" name="TextBox 4"/>
          <p:cNvSpPr txBox="1"/>
          <p:nvPr/>
        </p:nvSpPr>
        <p:spPr>
          <a:xfrm>
            <a:off x="8153675" y="2688359"/>
            <a:ext cx="4007392" cy="2897716"/>
          </a:xfrm>
          <a:prstGeom prst="rect">
            <a:avLst/>
          </a:prstGeom>
        </p:spPr>
        <p:txBody>
          <a:bodyPr lIns="0" tIns="0" rIns="0" bIns="0" rtlCol="0" anchor="t">
            <a:spAutoFit/>
          </a:bodyPr>
          <a:lstStyle/>
          <a:p>
            <a:pPr marL="0" lvl="0" indent="0" algn="just">
              <a:lnSpc>
                <a:spcPts val="2537"/>
              </a:lnSpc>
              <a:spcBef>
                <a:spcPct val="0"/>
              </a:spcBef>
            </a:pPr>
            <a:r>
              <a:rPr lang="vi-VN" sz="2800">
                <a:solidFill>
                  <a:schemeClr val="bg1"/>
                </a:solidFill>
                <a:latin typeface="Times New Roman" panose="02020603050405020304" pitchFamily="18" charset="0"/>
                <a:cs typeface="Times New Roman" panose="02020603050405020304" pitchFamily="18" charset="0"/>
              </a:rPr>
              <a:t>Trường hợp một nhóm </a:t>
            </a:r>
            <a:r>
              <a:rPr lang="en-US" sz="2800">
                <a:solidFill>
                  <a:schemeClr val="bg1"/>
                </a:solidFill>
                <a:latin typeface="Times New Roman" panose="02020603050405020304" pitchFamily="18" charset="0"/>
                <a:cs typeface="Times New Roman" panose="02020603050405020304" pitchFamily="18" charset="0"/>
              </a:rPr>
              <a:t>tổ chức hoặc cá nhân =&gt; </a:t>
            </a:r>
            <a:r>
              <a:rPr lang="vi-VN" sz="2800">
                <a:solidFill>
                  <a:schemeClr val="bg1"/>
                </a:solidFill>
                <a:latin typeface="Times New Roman" panose="02020603050405020304" pitchFamily="18" charset="0"/>
                <a:cs typeface="Times New Roman" panose="02020603050405020304" pitchFamily="18" charset="0"/>
              </a:rPr>
              <a:t>khoản thu trái pháp luật được tính trên tổng giao dịch các tài khoản sử dụng để thực hiện hành vi vi phạm, sau khi trừ giao dịch nội nhóm giữa các tài khoản (nếu có)</a:t>
            </a:r>
            <a:endParaRPr lang="en-US" sz="2800" u="none">
              <a:solidFill>
                <a:schemeClr val="bg1"/>
              </a:solidFill>
              <a:latin typeface="+mj-lt"/>
            </a:endParaRPr>
          </a:p>
        </p:txBody>
      </p:sp>
      <p:sp>
        <p:nvSpPr>
          <p:cNvPr id="6" name="TextBox 6"/>
          <p:cNvSpPr txBox="1"/>
          <p:nvPr/>
        </p:nvSpPr>
        <p:spPr>
          <a:xfrm>
            <a:off x="13487400" y="2709353"/>
            <a:ext cx="4007392" cy="1935915"/>
          </a:xfrm>
          <a:prstGeom prst="rect">
            <a:avLst/>
          </a:prstGeom>
        </p:spPr>
        <p:txBody>
          <a:bodyPr lIns="0" tIns="0" rIns="0" bIns="0" rtlCol="0" anchor="t">
            <a:spAutoFit/>
          </a:bodyPr>
          <a:lstStyle/>
          <a:p>
            <a:pPr marL="0" lvl="0" indent="0" algn="just">
              <a:lnSpc>
                <a:spcPts val="2537"/>
              </a:lnSpc>
              <a:spcBef>
                <a:spcPct val="0"/>
              </a:spcBef>
            </a:pPr>
            <a:r>
              <a:rPr lang="vi-VN" sz="2800">
                <a:solidFill>
                  <a:schemeClr val="bg1"/>
                </a:solidFill>
                <a:latin typeface="+mj-lt"/>
              </a:rPr>
              <a:t>Trường hợp tổ chức, cá nhân thực hiện hành vi vi phạm đối với nhiều mã chứng khoán thì xác định khoản thu trái pháp luật theo từng mã chứng khoán</a:t>
            </a:r>
            <a:endParaRPr lang="en-US" sz="2800" u="none">
              <a:solidFill>
                <a:schemeClr val="bg1"/>
              </a:solidFill>
              <a:latin typeface="+mj-lt"/>
            </a:endParaRPr>
          </a:p>
        </p:txBody>
      </p:sp>
      <p:sp>
        <p:nvSpPr>
          <p:cNvPr id="8" name="TextBox 8"/>
          <p:cNvSpPr txBox="1"/>
          <p:nvPr/>
        </p:nvSpPr>
        <p:spPr>
          <a:xfrm>
            <a:off x="10972800" y="6772923"/>
            <a:ext cx="4724400" cy="1615314"/>
          </a:xfrm>
          <a:prstGeom prst="rect">
            <a:avLst/>
          </a:prstGeom>
        </p:spPr>
        <p:txBody>
          <a:bodyPr wrap="square" lIns="0" tIns="0" rIns="0" bIns="0" rtlCol="0" anchor="t">
            <a:spAutoFit/>
          </a:bodyPr>
          <a:lstStyle/>
          <a:p>
            <a:pPr marL="0" lvl="0" indent="0" algn="just">
              <a:lnSpc>
                <a:spcPts val="2537"/>
              </a:lnSpc>
              <a:spcBef>
                <a:spcPct val="0"/>
              </a:spcBef>
            </a:pPr>
            <a:r>
              <a:rPr lang="vi-VN" sz="2800">
                <a:solidFill>
                  <a:schemeClr val="bg1"/>
                </a:solidFill>
                <a:latin typeface="Times New Roman" panose="02020603050405020304" pitchFamily="18" charset="0"/>
                <a:cs typeface="Times New Roman" panose="02020603050405020304" pitchFamily="18" charset="0"/>
              </a:rPr>
              <a:t>Trong trường hợp </a:t>
            </a:r>
            <a:r>
              <a:rPr lang="vi-VN" sz="2800" b="1" u="sng">
                <a:solidFill>
                  <a:schemeClr val="bg1"/>
                </a:solidFill>
                <a:latin typeface="Times New Roman" panose="02020603050405020304" pitchFamily="18" charset="0"/>
                <a:cs typeface="Times New Roman" panose="02020603050405020304" pitchFamily="18" charset="0"/>
              </a:rPr>
              <a:t>có khoản thu</a:t>
            </a:r>
            <a:r>
              <a:rPr lang="vi-VN" sz="2800">
                <a:solidFill>
                  <a:schemeClr val="bg1"/>
                </a:solidFill>
                <a:latin typeface="Times New Roman" panose="02020603050405020304" pitchFamily="18" charset="0"/>
                <a:cs typeface="Times New Roman" panose="02020603050405020304" pitchFamily="18" charset="0"/>
              </a:rPr>
              <a:t> trái pháp luật từ hành vi thao túng thị trường chứng khoán hoặc hành vi sử dụng thông tin nội bộ để mua, bán chứng khoán</a:t>
            </a:r>
            <a:endParaRPr lang="en-US" sz="2800" u="none">
              <a:solidFill>
                <a:schemeClr val="bg1"/>
              </a:solidFill>
              <a:latin typeface="+mj-lt"/>
            </a:endParaRPr>
          </a:p>
        </p:txBody>
      </p:sp>
      <p:sp>
        <p:nvSpPr>
          <p:cNvPr id="12" name="TextBox 12"/>
          <p:cNvSpPr txBox="1"/>
          <p:nvPr/>
        </p:nvSpPr>
        <p:spPr>
          <a:xfrm>
            <a:off x="8153675" y="1590898"/>
            <a:ext cx="952938" cy="852798"/>
          </a:xfrm>
          <a:prstGeom prst="rect">
            <a:avLst/>
          </a:prstGeom>
        </p:spPr>
        <p:txBody>
          <a:bodyPr lIns="0" tIns="0" rIns="0" bIns="0" rtlCol="0" anchor="t">
            <a:spAutoFit/>
          </a:bodyPr>
          <a:lstStyle/>
          <a:p>
            <a:pPr marL="0" lvl="0" indent="0">
              <a:lnSpc>
                <a:spcPts val="7000"/>
              </a:lnSpc>
              <a:spcBef>
                <a:spcPct val="0"/>
              </a:spcBef>
            </a:pPr>
            <a:r>
              <a:rPr lang="en-US" sz="5000">
                <a:solidFill>
                  <a:srgbClr val="FFFFFF"/>
                </a:solidFill>
                <a:latin typeface="Poppins Bold"/>
              </a:rPr>
              <a:t>5</a:t>
            </a:r>
          </a:p>
        </p:txBody>
      </p:sp>
      <p:sp>
        <p:nvSpPr>
          <p:cNvPr id="13" name="TextBox 13"/>
          <p:cNvSpPr txBox="1"/>
          <p:nvPr/>
        </p:nvSpPr>
        <p:spPr>
          <a:xfrm>
            <a:off x="10515600" y="5753100"/>
            <a:ext cx="952938" cy="852798"/>
          </a:xfrm>
          <a:prstGeom prst="rect">
            <a:avLst/>
          </a:prstGeom>
        </p:spPr>
        <p:txBody>
          <a:bodyPr lIns="0" tIns="0" rIns="0" bIns="0" rtlCol="0" anchor="t">
            <a:spAutoFit/>
          </a:bodyPr>
          <a:lstStyle/>
          <a:p>
            <a:pPr marL="0" lvl="0" indent="0">
              <a:lnSpc>
                <a:spcPts val="7000"/>
              </a:lnSpc>
              <a:spcBef>
                <a:spcPct val="0"/>
              </a:spcBef>
            </a:pPr>
            <a:r>
              <a:rPr lang="en-US" sz="5000">
                <a:solidFill>
                  <a:srgbClr val="FFFFFF"/>
                </a:solidFill>
                <a:latin typeface="Poppins Bold"/>
              </a:rPr>
              <a:t>7</a:t>
            </a:r>
          </a:p>
        </p:txBody>
      </p:sp>
      <p:sp>
        <p:nvSpPr>
          <p:cNvPr id="14" name="TextBox 14"/>
          <p:cNvSpPr txBox="1"/>
          <p:nvPr/>
        </p:nvSpPr>
        <p:spPr>
          <a:xfrm>
            <a:off x="13251908" y="1590898"/>
            <a:ext cx="952938" cy="852798"/>
          </a:xfrm>
          <a:prstGeom prst="rect">
            <a:avLst/>
          </a:prstGeom>
        </p:spPr>
        <p:txBody>
          <a:bodyPr lIns="0" tIns="0" rIns="0" bIns="0" rtlCol="0" anchor="t">
            <a:spAutoFit/>
          </a:bodyPr>
          <a:lstStyle/>
          <a:p>
            <a:pPr marL="0" lvl="0" indent="0">
              <a:lnSpc>
                <a:spcPts val="7000"/>
              </a:lnSpc>
              <a:spcBef>
                <a:spcPct val="0"/>
              </a:spcBef>
            </a:pPr>
            <a:r>
              <a:rPr lang="en-US" sz="5000">
                <a:solidFill>
                  <a:srgbClr val="FFFFFF"/>
                </a:solidFill>
                <a:latin typeface="Poppins Bold"/>
              </a:rPr>
              <a:t>6</a:t>
            </a:r>
          </a:p>
        </p:txBody>
      </p:sp>
      <p:sp>
        <p:nvSpPr>
          <p:cNvPr id="10" name="TextBox 7">
            <a:extLst>
              <a:ext uri="{FF2B5EF4-FFF2-40B4-BE49-F238E27FC236}">
                <a16:creationId xmlns:a16="http://schemas.microsoft.com/office/drawing/2014/main" id="{03BD891C-E71F-4F43-8B18-AF7C73894704}"/>
              </a:ext>
            </a:extLst>
          </p:cNvPr>
          <p:cNvSpPr txBox="1"/>
          <p:nvPr/>
        </p:nvSpPr>
        <p:spPr>
          <a:xfrm>
            <a:off x="8252922" y="1682918"/>
            <a:ext cx="9142624" cy="5924699"/>
          </a:xfrm>
          <a:prstGeom prst="rect">
            <a:avLst/>
          </a:prstGeom>
        </p:spPr>
        <p:txBody>
          <a:bodyPr wrap="square" lIns="0" tIns="0" rIns="0" bIns="0" rtlCol="0" anchor="t">
            <a:spAutoFit/>
          </a:bodyPr>
          <a:lstStyle/>
          <a:p>
            <a:pPr marL="431801" lvl="1" indent="-215900">
              <a:buFont typeface="Arial"/>
              <a:buChar char="•"/>
            </a:pPr>
            <a:r>
              <a:rPr lang="en-US" sz="3500" dirty="0" err="1">
                <a:solidFill>
                  <a:srgbClr val="000000"/>
                </a:solidFill>
                <a:latin typeface="Times New Roman (Headings)"/>
              </a:rPr>
              <a:t>Tổng</a:t>
            </a:r>
            <a:r>
              <a:rPr lang="en-US" sz="3500" dirty="0">
                <a:solidFill>
                  <a:srgbClr val="000000"/>
                </a:solidFill>
                <a:latin typeface="Times New Roman (Headings)"/>
              </a:rPr>
              <a:t> </a:t>
            </a: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quyết</a:t>
            </a:r>
            <a:r>
              <a:rPr lang="en-US" sz="3500" dirty="0">
                <a:solidFill>
                  <a:srgbClr val="000000"/>
                </a:solidFill>
                <a:latin typeface="Times New Roman (Headings)"/>
              </a:rPr>
              <a:t> </a:t>
            </a:r>
            <a:r>
              <a:rPr lang="en-US" sz="3500" dirty="0" err="1">
                <a:solidFill>
                  <a:srgbClr val="000000"/>
                </a:solidFill>
                <a:latin typeface="Times New Roman (Headings)"/>
              </a:rPr>
              <a:t>định</a:t>
            </a:r>
            <a:r>
              <a:rPr lang="en-US" sz="3500" dirty="0">
                <a:solidFill>
                  <a:srgbClr val="000000"/>
                </a:solidFill>
                <a:latin typeface="Times New Roman (Headings)"/>
              </a:rPr>
              <a:t> </a:t>
            </a:r>
            <a:r>
              <a:rPr lang="en-US" sz="3500" dirty="0" err="1">
                <a:solidFill>
                  <a:srgbClr val="000000"/>
                </a:solidFill>
                <a:latin typeface="Times New Roman (Headings)"/>
              </a:rPr>
              <a:t>xử</a:t>
            </a:r>
            <a:r>
              <a:rPr lang="en-US" sz="3500" dirty="0">
                <a:solidFill>
                  <a:srgbClr val="000000"/>
                </a:solidFill>
                <a:latin typeface="Times New Roman (Headings)"/>
              </a:rPr>
              <a:t> </a:t>
            </a:r>
            <a:r>
              <a:rPr lang="en-US" sz="3500" dirty="0" err="1">
                <a:solidFill>
                  <a:srgbClr val="000000"/>
                </a:solidFill>
                <a:latin typeface="Times New Roman (Headings)"/>
              </a:rPr>
              <a:t>phạt</a:t>
            </a:r>
            <a:r>
              <a:rPr lang="en-US" sz="3500" dirty="0">
                <a:solidFill>
                  <a:srgbClr val="000000"/>
                </a:solidFill>
                <a:latin typeface="Times New Roman (Headings)"/>
              </a:rPr>
              <a:t>: 82 QĐXPVPHC</a:t>
            </a:r>
          </a:p>
          <a:p>
            <a:pPr marL="431801" lvl="1" indent="-215900">
              <a:buFont typeface="Arial"/>
              <a:buChar char="•"/>
            </a:pPr>
            <a:endParaRPr lang="en-US" sz="3500" dirty="0">
              <a:solidFill>
                <a:srgbClr val="000000"/>
              </a:solidFill>
              <a:latin typeface="Times New Roman (Headings)"/>
            </a:endParaRPr>
          </a:p>
          <a:p>
            <a:pPr marL="431801" lvl="1" indent="-215900">
              <a:buFont typeface="Arial"/>
              <a:buChar char="•"/>
            </a:pPr>
            <a:r>
              <a:rPr lang="en-US" sz="3500" dirty="0" err="1">
                <a:solidFill>
                  <a:srgbClr val="000000"/>
                </a:solidFill>
                <a:latin typeface="Times New Roman (Headings)"/>
              </a:rPr>
              <a:t>Tổng</a:t>
            </a:r>
            <a:r>
              <a:rPr lang="en-US" sz="3500" dirty="0">
                <a:solidFill>
                  <a:srgbClr val="000000"/>
                </a:solidFill>
                <a:latin typeface="Times New Roman (Headings)"/>
              </a:rPr>
              <a:t> </a:t>
            </a: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tiền</a:t>
            </a:r>
            <a:r>
              <a:rPr lang="en-US" sz="3500" dirty="0">
                <a:solidFill>
                  <a:srgbClr val="000000"/>
                </a:solidFill>
                <a:latin typeface="Times New Roman (Headings)"/>
              </a:rPr>
              <a:t> </a:t>
            </a:r>
            <a:r>
              <a:rPr lang="en-US" sz="3500" dirty="0" err="1">
                <a:solidFill>
                  <a:srgbClr val="000000"/>
                </a:solidFill>
                <a:latin typeface="Times New Roman (Headings)"/>
              </a:rPr>
              <a:t>phạt</a:t>
            </a:r>
            <a:r>
              <a:rPr lang="en-US" sz="3500" dirty="0">
                <a:solidFill>
                  <a:srgbClr val="000000"/>
                </a:solidFill>
                <a:latin typeface="Times New Roman (Headings)"/>
              </a:rPr>
              <a:t>: 34,2 </a:t>
            </a:r>
            <a:r>
              <a:rPr lang="en-US" sz="3500" dirty="0" err="1">
                <a:solidFill>
                  <a:srgbClr val="000000"/>
                </a:solidFill>
                <a:latin typeface="Times New Roman (Headings)"/>
              </a:rPr>
              <a:t>tỷ</a:t>
            </a:r>
            <a:r>
              <a:rPr lang="en-US" sz="3500" dirty="0">
                <a:solidFill>
                  <a:srgbClr val="000000"/>
                </a:solidFill>
                <a:latin typeface="Times New Roman (Headings)"/>
              </a:rPr>
              <a:t>  </a:t>
            </a:r>
            <a:r>
              <a:rPr lang="en-US" sz="3500" dirty="0" err="1">
                <a:solidFill>
                  <a:srgbClr val="000000"/>
                </a:solidFill>
                <a:latin typeface="Times New Roman (Headings)"/>
              </a:rPr>
              <a:t>đồng</a:t>
            </a:r>
            <a:endParaRPr lang="en-US" sz="3500" dirty="0">
              <a:solidFill>
                <a:srgbClr val="000000"/>
              </a:solidFill>
              <a:latin typeface="Times New Roman (Headings)"/>
            </a:endParaRPr>
          </a:p>
          <a:p>
            <a:pPr marL="431801" lvl="1" indent="-215900">
              <a:buFont typeface="Arial"/>
              <a:buChar char="•"/>
            </a:pPr>
            <a:endParaRPr lang="en-US" sz="3500" dirty="0">
              <a:solidFill>
                <a:srgbClr val="000000"/>
              </a:solidFill>
              <a:latin typeface="Times New Roman (Headings)"/>
            </a:endParaRPr>
          </a:p>
          <a:p>
            <a:pPr marL="431801" lvl="1" indent="-215900">
              <a:buFont typeface="Arial"/>
              <a:buChar char="•"/>
            </a:pP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vụ</a:t>
            </a:r>
            <a:r>
              <a:rPr lang="en-US" sz="3500" dirty="0">
                <a:solidFill>
                  <a:srgbClr val="000000"/>
                </a:solidFill>
                <a:latin typeface="Times New Roman (Headings)"/>
              </a:rPr>
              <a:t> </a:t>
            </a:r>
            <a:r>
              <a:rPr lang="en-US" sz="3500" dirty="0" err="1">
                <a:solidFill>
                  <a:srgbClr val="000000"/>
                </a:solidFill>
                <a:latin typeface="Times New Roman (Headings)"/>
              </a:rPr>
              <a:t>có</a:t>
            </a:r>
            <a:r>
              <a:rPr lang="en-US" sz="3500" dirty="0">
                <a:solidFill>
                  <a:srgbClr val="000000"/>
                </a:solidFill>
                <a:latin typeface="Times New Roman (Headings)"/>
              </a:rPr>
              <a:t> </a:t>
            </a:r>
            <a:r>
              <a:rPr lang="en-US" sz="3500" dirty="0" err="1">
                <a:solidFill>
                  <a:srgbClr val="000000"/>
                </a:solidFill>
                <a:latin typeface="Times New Roman (Headings)"/>
              </a:rPr>
              <a:t>khoản</a:t>
            </a:r>
            <a:r>
              <a:rPr lang="en-US" sz="3500" dirty="0">
                <a:solidFill>
                  <a:srgbClr val="000000"/>
                </a:solidFill>
                <a:latin typeface="Times New Roman (Headings)"/>
              </a:rPr>
              <a:t> </a:t>
            </a:r>
            <a:r>
              <a:rPr lang="en-US" sz="3500" dirty="0" err="1">
                <a:solidFill>
                  <a:srgbClr val="000000"/>
                </a:solidFill>
                <a:latin typeface="Times New Roman (Headings)"/>
              </a:rPr>
              <a:t>thu</a:t>
            </a:r>
            <a:r>
              <a:rPr lang="en-US" sz="3500" dirty="0">
                <a:solidFill>
                  <a:srgbClr val="000000"/>
                </a:solidFill>
                <a:latin typeface="Times New Roman (Headings)"/>
              </a:rPr>
              <a:t> </a:t>
            </a:r>
            <a:r>
              <a:rPr lang="en-US" sz="3500" dirty="0" err="1">
                <a:solidFill>
                  <a:srgbClr val="000000"/>
                </a:solidFill>
                <a:latin typeface="Times New Roman (Headings)"/>
              </a:rPr>
              <a:t>lời</a:t>
            </a:r>
            <a:r>
              <a:rPr lang="en-US" sz="3500" dirty="0">
                <a:solidFill>
                  <a:srgbClr val="000000"/>
                </a:solidFill>
                <a:latin typeface="Times New Roman (Headings)"/>
              </a:rPr>
              <a:t> </a:t>
            </a:r>
            <a:r>
              <a:rPr lang="en-US" sz="3500" dirty="0" err="1">
                <a:solidFill>
                  <a:srgbClr val="000000"/>
                </a:solidFill>
                <a:latin typeface="Times New Roman (Headings)"/>
              </a:rPr>
              <a:t>bất</a:t>
            </a:r>
            <a:r>
              <a:rPr lang="en-US" sz="3500" dirty="0">
                <a:solidFill>
                  <a:srgbClr val="000000"/>
                </a:solidFill>
                <a:latin typeface="Times New Roman (Headings)"/>
              </a:rPr>
              <a:t> </a:t>
            </a:r>
            <a:r>
              <a:rPr lang="en-US" sz="3500" dirty="0" err="1">
                <a:solidFill>
                  <a:srgbClr val="000000"/>
                </a:solidFill>
                <a:latin typeface="Times New Roman (Headings)"/>
              </a:rPr>
              <a:t>chính</a:t>
            </a:r>
            <a:r>
              <a:rPr lang="en-US" sz="3500" dirty="0">
                <a:solidFill>
                  <a:srgbClr val="000000"/>
                </a:solidFill>
                <a:latin typeface="Times New Roman (Headings)"/>
              </a:rPr>
              <a:t>: 06 </a:t>
            </a:r>
            <a:r>
              <a:rPr lang="en-US" sz="3500" dirty="0" err="1">
                <a:solidFill>
                  <a:srgbClr val="000000"/>
                </a:solidFill>
                <a:latin typeface="Times New Roman (Headings)"/>
              </a:rPr>
              <a:t>vụ</a:t>
            </a:r>
            <a:endParaRPr lang="en-US" sz="3500" dirty="0">
              <a:solidFill>
                <a:srgbClr val="000000"/>
              </a:solidFill>
              <a:latin typeface="Times New Roman (Headings)"/>
            </a:endParaRPr>
          </a:p>
          <a:p>
            <a:pPr marL="431801" lvl="1" indent="-215900">
              <a:buFont typeface="Arial"/>
              <a:buChar char="•"/>
            </a:pPr>
            <a:endParaRPr lang="en-US" sz="3500" dirty="0">
              <a:solidFill>
                <a:srgbClr val="000000"/>
              </a:solidFill>
              <a:latin typeface="Times New Roman (Headings)"/>
            </a:endParaRPr>
          </a:p>
          <a:p>
            <a:pPr marL="431801" lvl="1" indent="-215900">
              <a:buFont typeface="Arial"/>
              <a:buChar char="•"/>
            </a:pP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tiền</a:t>
            </a:r>
            <a:r>
              <a:rPr lang="en-US" sz="3500" dirty="0">
                <a:solidFill>
                  <a:srgbClr val="000000"/>
                </a:solidFill>
                <a:latin typeface="Times New Roman (Headings)"/>
              </a:rPr>
              <a:t> </a:t>
            </a:r>
            <a:r>
              <a:rPr lang="en-US" sz="3500" dirty="0" err="1">
                <a:solidFill>
                  <a:srgbClr val="000000"/>
                </a:solidFill>
                <a:latin typeface="Times New Roman (Headings)"/>
              </a:rPr>
              <a:t>thu</a:t>
            </a:r>
            <a:r>
              <a:rPr lang="en-US" sz="3500" dirty="0">
                <a:solidFill>
                  <a:srgbClr val="000000"/>
                </a:solidFill>
                <a:latin typeface="Times New Roman (Headings)"/>
              </a:rPr>
              <a:t> </a:t>
            </a:r>
            <a:r>
              <a:rPr lang="en-US" sz="3500" dirty="0" err="1">
                <a:solidFill>
                  <a:srgbClr val="000000"/>
                </a:solidFill>
                <a:latin typeface="Times New Roman (Headings)"/>
              </a:rPr>
              <a:t>lợi</a:t>
            </a:r>
            <a:r>
              <a:rPr lang="en-US" sz="3500" dirty="0">
                <a:solidFill>
                  <a:srgbClr val="000000"/>
                </a:solidFill>
                <a:latin typeface="Times New Roman (Headings)"/>
              </a:rPr>
              <a:t> </a:t>
            </a:r>
            <a:r>
              <a:rPr lang="en-US" sz="3500" dirty="0" err="1">
                <a:solidFill>
                  <a:srgbClr val="000000"/>
                </a:solidFill>
                <a:latin typeface="Times New Roman (Headings)"/>
              </a:rPr>
              <a:t>bất</a:t>
            </a:r>
            <a:r>
              <a:rPr lang="en-US" sz="3500" dirty="0">
                <a:solidFill>
                  <a:srgbClr val="000000"/>
                </a:solidFill>
                <a:latin typeface="Times New Roman (Headings)"/>
              </a:rPr>
              <a:t> </a:t>
            </a:r>
            <a:r>
              <a:rPr lang="en-US" sz="3500" dirty="0" err="1">
                <a:solidFill>
                  <a:srgbClr val="000000"/>
                </a:solidFill>
                <a:latin typeface="Times New Roman (Headings)"/>
              </a:rPr>
              <a:t>chính</a:t>
            </a:r>
            <a:r>
              <a:rPr lang="en-US" sz="3500" dirty="0">
                <a:solidFill>
                  <a:srgbClr val="000000"/>
                </a:solidFill>
                <a:latin typeface="Times New Roman (Headings)"/>
              </a:rPr>
              <a:t>: 13,7 </a:t>
            </a:r>
            <a:r>
              <a:rPr lang="en-US" sz="3500" dirty="0" err="1">
                <a:solidFill>
                  <a:srgbClr val="000000"/>
                </a:solidFill>
                <a:latin typeface="Times New Roman (Headings)"/>
              </a:rPr>
              <a:t>tỷ</a:t>
            </a:r>
            <a:r>
              <a:rPr lang="en-US" sz="3500" dirty="0">
                <a:solidFill>
                  <a:srgbClr val="000000"/>
                </a:solidFill>
                <a:latin typeface="Times New Roman (Headings)"/>
              </a:rPr>
              <a:t> </a:t>
            </a:r>
            <a:r>
              <a:rPr lang="en-US" sz="3500" dirty="0" err="1">
                <a:solidFill>
                  <a:srgbClr val="000000"/>
                </a:solidFill>
                <a:latin typeface="Times New Roman (Headings)"/>
              </a:rPr>
              <a:t>đồng</a:t>
            </a:r>
            <a:r>
              <a:rPr lang="en-US" sz="3500" dirty="0">
                <a:solidFill>
                  <a:srgbClr val="000000"/>
                </a:solidFill>
                <a:latin typeface="Times New Roman (Headings)"/>
              </a:rPr>
              <a:t> (Cao </a:t>
            </a:r>
            <a:r>
              <a:rPr lang="en-US" sz="3500" dirty="0" err="1">
                <a:solidFill>
                  <a:srgbClr val="000000"/>
                </a:solidFill>
                <a:latin typeface="Times New Roman (Headings)"/>
              </a:rPr>
              <a:t>nhất</a:t>
            </a:r>
            <a:r>
              <a:rPr lang="en-US" sz="3500" dirty="0">
                <a:solidFill>
                  <a:srgbClr val="000000"/>
                </a:solidFill>
                <a:latin typeface="Times New Roman (Headings)"/>
              </a:rPr>
              <a:t> SPI: 9,2 </a:t>
            </a:r>
            <a:r>
              <a:rPr lang="en-US" sz="3500" dirty="0" err="1">
                <a:solidFill>
                  <a:srgbClr val="000000"/>
                </a:solidFill>
                <a:latin typeface="Times New Roman (Headings)"/>
              </a:rPr>
              <a:t>tỷ</a:t>
            </a:r>
            <a:r>
              <a:rPr lang="en-US" sz="3500" dirty="0">
                <a:solidFill>
                  <a:srgbClr val="000000"/>
                </a:solidFill>
                <a:latin typeface="Times New Roman (Headings)"/>
              </a:rPr>
              <a:t>)</a:t>
            </a:r>
          </a:p>
          <a:p>
            <a:pPr marL="431801" lvl="1" indent="-215900">
              <a:buFont typeface="Arial"/>
              <a:buChar char="•"/>
            </a:pPr>
            <a:endParaRPr lang="en-US" sz="3500" dirty="0">
              <a:solidFill>
                <a:srgbClr val="000000"/>
              </a:solidFill>
              <a:latin typeface="Times New Roman (Headings)"/>
            </a:endParaRPr>
          </a:p>
          <a:p>
            <a:pPr marL="431801" lvl="1" indent="-215900">
              <a:buFont typeface="Arial"/>
              <a:buChar char="•"/>
            </a:pP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vụ</a:t>
            </a:r>
            <a:r>
              <a:rPr lang="en-US" sz="3500" dirty="0">
                <a:solidFill>
                  <a:srgbClr val="000000"/>
                </a:solidFill>
                <a:latin typeface="Times New Roman (Headings)"/>
              </a:rPr>
              <a:t> </a:t>
            </a:r>
            <a:r>
              <a:rPr lang="en-US" sz="3500" dirty="0" err="1">
                <a:solidFill>
                  <a:srgbClr val="000000"/>
                </a:solidFill>
                <a:latin typeface="Times New Roman (Headings)"/>
              </a:rPr>
              <a:t>xử</a:t>
            </a:r>
            <a:r>
              <a:rPr lang="en-US" sz="3500" dirty="0">
                <a:solidFill>
                  <a:srgbClr val="000000"/>
                </a:solidFill>
                <a:latin typeface="Times New Roman (Headings)"/>
              </a:rPr>
              <a:t> </a:t>
            </a:r>
            <a:r>
              <a:rPr lang="en-US" sz="3500" dirty="0" err="1">
                <a:solidFill>
                  <a:srgbClr val="000000"/>
                </a:solidFill>
                <a:latin typeface="Times New Roman (Headings)"/>
              </a:rPr>
              <a:t>lý</a:t>
            </a:r>
            <a:r>
              <a:rPr lang="en-US" sz="3500" dirty="0">
                <a:solidFill>
                  <a:srgbClr val="000000"/>
                </a:solidFill>
                <a:latin typeface="Times New Roman (Headings)"/>
              </a:rPr>
              <a:t> </a:t>
            </a:r>
            <a:r>
              <a:rPr lang="en-US" sz="3500" dirty="0" err="1">
                <a:solidFill>
                  <a:srgbClr val="000000"/>
                </a:solidFill>
                <a:latin typeface="Times New Roman (Headings)"/>
              </a:rPr>
              <a:t>hình</a:t>
            </a:r>
            <a:r>
              <a:rPr lang="en-US" sz="3500" dirty="0">
                <a:solidFill>
                  <a:srgbClr val="000000"/>
                </a:solidFill>
                <a:latin typeface="Times New Roman (Headings)"/>
              </a:rPr>
              <a:t> </a:t>
            </a:r>
            <a:r>
              <a:rPr lang="en-US" sz="3500" dirty="0" err="1">
                <a:solidFill>
                  <a:srgbClr val="000000"/>
                </a:solidFill>
                <a:latin typeface="Times New Roman (Headings)"/>
              </a:rPr>
              <a:t>sự</a:t>
            </a:r>
            <a:r>
              <a:rPr lang="en-US" sz="3500" dirty="0">
                <a:solidFill>
                  <a:srgbClr val="000000"/>
                </a:solidFill>
                <a:latin typeface="Times New Roman (Headings)"/>
              </a:rPr>
              <a:t>: 06 </a:t>
            </a:r>
            <a:r>
              <a:rPr lang="en-US" sz="3500" dirty="0" err="1">
                <a:solidFill>
                  <a:srgbClr val="000000"/>
                </a:solidFill>
                <a:latin typeface="Times New Roman (Headings)"/>
              </a:rPr>
              <a:t>vụ</a:t>
            </a:r>
            <a:r>
              <a:rPr lang="en-US" sz="3500" dirty="0">
                <a:solidFill>
                  <a:srgbClr val="000000"/>
                </a:solidFill>
                <a:latin typeface="Times New Roman (Headings)"/>
              </a:rPr>
              <a:t> (DVD, MTM, CDO, KSA, </a:t>
            </a:r>
            <a:r>
              <a:rPr lang="en-US" sz="3500" dirty="0" err="1">
                <a:solidFill>
                  <a:srgbClr val="000000"/>
                </a:solidFill>
                <a:latin typeface="Times New Roman (Headings)"/>
              </a:rPr>
              <a:t>Nhóm</a:t>
            </a:r>
            <a:r>
              <a:rPr lang="en-US" sz="3500" dirty="0">
                <a:solidFill>
                  <a:srgbClr val="000000"/>
                </a:solidFill>
                <a:latin typeface="Times New Roman (Headings)"/>
              </a:rPr>
              <a:t> FLC, </a:t>
            </a:r>
            <a:r>
              <a:rPr lang="en-US" sz="3500" dirty="0" err="1">
                <a:solidFill>
                  <a:srgbClr val="000000"/>
                </a:solidFill>
                <a:latin typeface="Times New Roman (Headings)"/>
              </a:rPr>
              <a:t>Nhóm</a:t>
            </a:r>
            <a:r>
              <a:rPr lang="en-US" sz="3500" dirty="0">
                <a:solidFill>
                  <a:srgbClr val="000000"/>
                </a:solidFill>
                <a:latin typeface="Times New Roman (Headings)"/>
              </a:rPr>
              <a:t> Louis)</a:t>
            </a:r>
          </a:p>
        </p:txBody>
      </p:sp>
    </p:spTree>
    <p:extLst>
      <p:ext uri="{BB962C8B-B14F-4D97-AF65-F5344CB8AC3E}">
        <p14:creationId xmlns:p14="http://schemas.microsoft.com/office/powerpoint/2010/main" val="3618133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5298" y="0"/>
            <a:ext cx="7670902" cy="10287000"/>
          </a:xfrm>
          <a:prstGeom prst="rect">
            <a:avLst/>
          </a:prstGeom>
          <a:solidFill>
            <a:srgbClr val="D87A40"/>
          </a:solidFill>
        </p:spPr>
      </p:sp>
      <p:sp>
        <p:nvSpPr>
          <p:cNvPr id="3" name="TextBox 3"/>
          <p:cNvSpPr txBox="1"/>
          <p:nvPr/>
        </p:nvSpPr>
        <p:spPr>
          <a:xfrm>
            <a:off x="605237" y="1714500"/>
            <a:ext cx="5971909" cy="5628207"/>
          </a:xfrm>
          <a:prstGeom prst="rect">
            <a:avLst/>
          </a:prstGeom>
        </p:spPr>
        <p:txBody>
          <a:bodyPr wrap="square" lIns="0" tIns="0" rIns="0" bIns="0" rtlCol="0" anchor="t">
            <a:spAutoFit/>
          </a:bodyPr>
          <a:lstStyle/>
          <a:p>
            <a:pPr marL="0" lvl="0" indent="0" algn="ctr">
              <a:lnSpc>
                <a:spcPct val="150000"/>
              </a:lnSpc>
            </a:pPr>
            <a:r>
              <a:rPr lang="en-US" sz="5000" b="1" i="1" dirty="0" err="1">
                <a:solidFill>
                  <a:srgbClr val="FFFFFF"/>
                </a:solidFill>
                <a:latin typeface="Arimo Bold Italics"/>
              </a:rPr>
              <a:t>Kết</a:t>
            </a:r>
            <a:r>
              <a:rPr lang="en-US" sz="5000" b="1" i="1" dirty="0">
                <a:solidFill>
                  <a:srgbClr val="FFFFFF"/>
                </a:solidFill>
                <a:latin typeface="Arimo Bold Italics"/>
              </a:rPr>
              <a:t> </a:t>
            </a:r>
            <a:r>
              <a:rPr lang="en-US" sz="5000" b="1" i="1" dirty="0" err="1">
                <a:solidFill>
                  <a:srgbClr val="FFFFFF"/>
                </a:solidFill>
                <a:latin typeface="Arimo Bold Italics"/>
              </a:rPr>
              <a:t>quả</a:t>
            </a:r>
            <a:r>
              <a:rPr lang="en-US" sz="5000" b="1" i="1" dirty="0">
                <a:solidFill>
                  <a:srgbClr val="FFFFFF"/>
                </a:solidFill>
                <a:latin typeface="Arimo Bold Italics"/>
              </a:rPr>
              <a:t> </a:t>
            </a:r>
            <a:r>
              <a:rPr lang="en-US" sz="5000" b="1" i="1" dirty="0" err="1">
                <a:solidFill>
                  <a:srgbClr val="FFFFFF"/>
                </a:solidFill>
                <a:latin typeface="Arimo Bold Italics"/>
              </a:rPr>
              <a:t>xử</a:t>
            </a:r>
            <a:r>
              <a:rPr lang="en-US" sz="5000" b="1" i="1" dirty="0">
                <a:solidFill>
                  <a:srgbClr val="FFFFFF"/>
                </a:solidFill>
                <a:latin typeface="Arimo Bold Italics"/>
              </a:rPr>
              <a:t> </a:t>
            </a:r>
            <a:r>
              <a:rPr lang="en-US" sz="5000" b="1" i="1" dirty="0" err="1">
                <a:solidFill>
                  <a:srgbClr val="FFFFFF"/>
                </a:solidFill>
                <a:latin typeface="Arimo Bold Italics"/>
              </a:rPr>
              <a:t>lý</a:t>
            </a:r>
            <a:r>
              <a:rPr lang="en-US" sz="5000" b="1" i="1" dirty="0">
                <a:solidFill>
                  <a:srgbClr val="FFFFFF"/>
                </a:solidFill>
                <a:latin typeface="Arimo Bold Italics"/>
              </a:rPr>
              <a:t> vi </a:t>
            </a:r>
            <a:r>
              <a:rPr lang="en-US" sz="5000" b="1" i="1" dirty="0" err="1">
                <a:solidFill>
                  <a:srgbClr val="FFFFFF"/>
                </a:solidFill>
                <a:latin typeface="Arimo Bold Italics"/>
              </a:rPr>
              <a:t>phạm</a:t>
            </a:r>
            <a:r>
              <a:rPr lang="en-US" sz="5000" b="1" i="1" dirty="0">
                <a:solidFill>
                  <a:srgbClr val="FFFFFF"/>
                </a:solidFill>
                <a:latin typeface="Arimo Bold Italics"/>
              </a:rPr>
              <a:t> </a:t>
            </a:r>
            <a:r>
              <a:rPr lang="en-US" sz="5000" b="1" i="1" dirty="0" err="1">
                <a:solidFill>
                  <a:srgbClr val="FFFFFF"/>
                </a:solidFill>
                <a:latin typeface="Arimo Bold Italics"/>
              </a:rPr>
              <a:t>đối</a:t>
            </a:r>
            <a:r>
              <a:rPr lang="en-US" sz="5000" b="1" i="1" dirty="0">
                <a:solidFill>
                  <a:srgbClr val="FFFFFF"/>
                </a:solidFill>
                <a:latin typeface="Arimo Bold Italics"/>
              </a:rPr>
              <a:t> </a:t>
            </a:r>
            <a:r>
              <a:rPr lang="en-US" sz="5000" b="1" i="1" dirty="0" err="1">
                <a:solidFill>
                  <a:srgbClr val="FFFFFF"/>
                </a:solidFill>
                <a:latin typeface="Arimo Bold Italics"/>
              </a:rPr>
              <a:t>với</a:t>
            </a:r>
            <a:r>
              <a:rPr lang="en-US" sz="5000" b="1" i="1" dirty="0">
                <a:solidFill>
                  <a:srgbClr val="FFFFFF"/>
                </a:solidFill>
                <a:latin typeface="Arimo Bold Italics"/>
              </a:rPr>
              <a:t> </a:t>
            </a:r>
            <a:r>
              <a:rPr lang="en-US" sz="5000" b="1" i="1" dirty="0" err="1">
                <a:solidFill>
                  <a:srgbClr val="FFFFFF"/>
                </a:solidFill>
                <a:latin typeface="Arimo Bold Italics"/>
              </a:rPr>
              <a:t>hành</a:t>
            </a:r>
            <a:r>
              <a:rPr lang="en-US" sz="5000" b="1" i="1" dirty="0">
                <a:solidFill>
                  <a:srgbClr val="FFFFFF"/>
                </a:solidFill>
                <a:latin typeface="Arimo Bold Italics"/>
              </a:rPr>
              <a:t> vi </a:t>
            </a:r>
            <a:r>
              <a:rPr lang="en-US" sz="5000" b="1" i="1" dirty="0" err="1">
                <a:solidFill>
                  <a:srgbClr val="FFFFFF"/>
                </a:solidFill>
                <a:latin typeface="Arimo Bold Italics"/>
              </a:rPr>
              <a:t>giao</a:t>
            </a:r>
            <a:r>
              <a:rPr lang="en-US" sz="5000" b="1" i="1" dirty="0">
                <a:solidFill>
                  <a:srgbClr val="FFFFFF"/>
                </a:solidFill>
                <a:latin typeface="Arimo Bold Italics"/>
              </a:rPr>
              <a:t> </a:t>
            </a:r>
            <a:r>
              <a:rPr lang="en-US" sz="5000" b="1" i="1" dirty="0" err="1">
                <a:solidFill>
                  <a:srgbClr val="FFFFFF"/>
                </a:solidFill>
                <a:latin typeface="Arimo Bold Italics"/>
              </a:rPr>
              <a:t>dịch</a:t>
            </a:r>
            <a:r>
              <a:rPr lang="en-US" sz="5000" b="1" i="1" dirty="0">
                <a:solidFill>
                  <a:srgbClr val="FFFFFF"/>
                </a:solidFill>
                <a:latin typeface="Arimo Bold Italics"/>
              </a:rPr>
              <a:t> </a:t>
            </a:r>
            <a:r>
              <a:rPr lang="en-US" sz="5000" b="1" i="1" dirty="0" err="1">
                <a:solidFill>
                  <a:srgbClr val="FFFFFF"/>
                </a:solidFill>
                <a:latin typeface="Arimo Bold Italics"/>
              </a:rPr>
              <a:t>nội</a:t>
            </a:r>
            <a:r>
              <a:rPr lang="en-US" sz="5000" b="1" i="1" dirty="0">
                <a:solidFill>
                  <a:srgbClr val="FFFFFF"/>
                </a:solidFill>
                <a:latin typeface="Arimo Bold Italics"/>
              </a:rPr>
              <a:t> </a:t>
            </a:r>
            <a:r>
              <a:rPr lang="en-US" sz="5000" b="1" i="1" dirty="0" err="1">
                <a:solidFill>
                  <a:srgbClr val="FFFFFF"/>
                </a:solidFill>
                <a:latin typeface="Arimo Bold Italics"/>
              </a:rPr>
              <a:t>gián</a:t>
            </a:r>
            <a:r>
              <a:rPr lang="en-US" sz="5000" b="1" i="1" dirty="0">
                <a:solidFill>
                  <a:srgbClr val="FFFFFF"/>
                </a:solidFill>
                <a:latin typeface="Arimo Bold Italics"/>
              </a:rPr>
              <a:t> </a:t>
            </a:r>
            <a:r>
              <a:rPr lang="en-US" sz="5000" b="1" i="1" dirty="0" err="1">
                <a:solidFill>
                  <a:srgbClr val="FFFFFF"/>
                </a:solidFill>
                <a:latin typeface="Arimo Bold Italics"/>
              </a:rPr>
              <a:t>từ</a:t>
            </a:r>
            <a:r>
              <a:rPr lang="en-US" sz="5000" b="1" i="1" dirty="0">
                <a:solidFill>
                  <a:srgbClr val="FFFFFF"/>
                </a:solidFill>
                <a:latin typeface="Arimo Bold Italics"/>
              </a:rPr>
              <a:t> 2010 - 2022</a:t>
            </a:r>
          </a:p>
          <a:p>
            <a:pPr marL="0" lvl="0" indent="0" algn="just">
              <a:lnSpc>
                <a:spcPct val="150000"/>
              </a:lnSpc>
            </a:pPr>
            <a:endParaRPr lang="en-US" sz="5000" b="1" i="1" dirty="0">
              <a:solidFill>
                <a:srgbClr val="FFFFFF"/>
              </a:solidFill>
              <a:latin typeface="Arimo Bold Italics"/>
            </a:endParaRPr>
          </a:p>
        </p:txBody>
      </p:sp>
      <p:sp>
        <p:nvSpPr>
          <p:cNvPr id="6" name="TextBox 6"/>
          <p:cNvSpPr txBox="1"/>
          <p:nvPr/>
        </p:nvSpPr>
        <p:spPr>
          <a:xfrm>
            <a:off x="13487400" y="2709353"/>
            <a:ext cx="4007392" cy="1935915"/>
          </a:xfrm>
          <a:prstGeom prst="rect">
            <a:avLst/>
          </a:prstGeom>
        </p:spPr>
        <p:txBody>
          <a:bodyPr lIns="0" tIns="0" rIns="0" bIns="0" rtlCol="0" anchor="t">
            <a:spAutoFit/>
          </a:bodyPr>
          <a:lstStyle/>
          <a:p>
            <a:pPr marL="0" lvl="0" indent="0" algn="just">
              <a:lnSpc>
                <a:spcPts val="2537"/>
              </a:lnSpc>
              <a:spcBef>
                <a:spcPct val="0"/>
              </a:spcBef>
            </a:pPr>
            <a:r>
              <a:rPr lang="vi-VN" sz="2800">
                <a:solidFill>
                  <a:schemeClr val="bg1"/>
                </a:solidFill>
                <a:latin typeface="+mj-lt"/>
              </a:rPr>
              <a:t>Trường hợp tổ chức, cá nhân thực hiện hành vi vi phạm đối với nhiều mã chứng khoán thì xác định khoản thu trái pháp luật theo từng mã chứng khoán</a:t>
            </a:r>
            <a:endParaRPr lang="en-US" sz="2800" u="none">
              <a:solidFill>
                <a:schemeClr val="bg1"/>
              </a:solidFill>
              <a:latin typeface="+mj-lt"/>
            </a:endParaRPr>
          </a:p>
        </p:txBody>
      </p:sp>
      <p:sp>
        <p:nvSpPr>
          <p:cNvPr id="8" name="TextBox 8"/>
          <p:cNvSpPr txBox="1"/>
          <p:nvPr/>
        </p:nvSpPr>
        <p:spPr>
          <a:xfrm>
            <a:off x="10972800" y="6772923"/>
            <a:ext cx="4724400" cy="1615314"/>
          </a:xfrm>
          <a:prstGeom prst="rect">
            <a:avLst/>
          </a:prstGeom>
        </p:spPr>
        <p:txBody>
          <a:bodyPr wrap="square" lIns="0" tIns="0" rIns="0" bIns="0" rtlCol="0" anchor="t">
            <a:spAutoFit/>
          </a:bodyPr>
          <a:lstStyle/>
          <a:p>
            <a:pPr marL="0" lvl="0" indent="0" algn="just">
              <a:lnSpc>
                <a:spcPts val="2537"/>
              </a:lnSpc>
              <a:spcBef>
                <a:spcPct val="0"/>
              </a:spcBef>
            </a:pPr>
            <a:r>
              <a:rPr lang="vi-VN" sz="2800">
                <a:solidFill>
                  <a:schemeClr val="bg1"/>
                </a:solidFill>
                <a:latin typeface="Times New Roman" panose="02020603050405020304" pitchFamily="18" charset="0"/>
                <a:cs typeface="Times New Roman" panose="02020603050405020304" pitchFamily="18" charset="0"/>
              </a:rPr>
              <a:t>Trong trường hợp </a:t>
            </a:r>
            <a:r>
              <a:rPr lang="vi-VN" sz="2800" b="1" u="sng">
                <a:solidFill>
                  <a:schemeClr val="bg1"/>
                </a:solidFill>
                <a:latin typeface="Times New Roman" panose="02020603050405020304" pitchFamily="18" charset="0"/>
                <a:cs typeface="Times New Roman" panose="02020603050405020304" pitchFamily="18" charset="0"/>
              </a:rPr>
              <a:t>có khoản thu</a:t>
            </a:r>
            <a:r>
              <a:rPr lang="vi-VN" sz="2800">
                <a:solidFill>
                  <a:schemeClr val="bg1"/>
                </a:solidFill>
                <a:latin typeface="Times New Roman" panose="02020603050405020304" pitchFamily="18" charset="0"/>
                <a:cs typeface="Times New Roman" panose="02020603050405020304" pitchFamily="18" charset="0"/>
              </a:rPr>
              <a:t> trái pháp luật từ hành vi thao túng thị trường chứng khoán hoặc hành vi sử dụng thông tin nội bộ để mua, bán chứng khoán</a:t>
            </a:r>
            <a:endParaRPr lang="en-US" sz="2800" u="none">
              <a:solidFill>
                <a:schemeClr val="bg1"/>
              </a:solidFill>
              <a:latin typeface="+mj-lt"/>
            </a:endParaRPr>
          </a:p>
        </p:txBody>
      </p:sp>
      <p:sp>
        <p:nvSpPr>
          <p:cNvPr id="13" name="TextBox 13"/>
          <p:cNvSpPr txBox="1"/>
          <p:nvPr/>
        </p:nvSpPr>
        <p:spPr>
          <a:xfrm>
            <a:off x="10515600" y="5753100"/>
            <a:ext cx="952938" cy="852798"/>
          </a:xfrm>
          <a:prstGeom prst="rect">
            <a:avLst/>
          </a:prstGeom>
        </p:spPr>
        <p:txBody>
          <a:bodyPr lIns="0" tIns="0" rIns="0" bIns="0" rtlCol="0" anchor="t">
            <a:spAutoFit/>
          </a:bodyPr>
          <a:lstStyle/>
          <a:p>
            <a:pPr marL="0" lvl="0" indent="0">
              <a:lnSpc>
                <a:spcPts val="7000"/>
              </a:lnSpc>
              <a:spcBef>
                <a:spcPct val="0"/>
              </a:spcBef>
            </a:pPr>
            <a:r>
              <a:rPr lang="en-US" sz="5000">
                <a:solidFill>
                  <a:srgbClr val="FFFFFF"/>
                </a:solidFill>
                <a:latin typeface="Poppins Bold"/>
              </a:rPr>
              <a:t>7</a:t>
            </a:r>
          </a:p>
        </p:txBody>
      </p:sp>
      <p:sp>
        <p:nvSpPr>
          <p:cNvPr id="14" name="TextBox 14"/>
          <p:cNvSpPr txBox="1"/>
          <p:nvPr/>
        </p:nvSpPr>
        <p:spPr>
          <a:xfrm>
            <a:off x="13251908" y="1590898"/>
            <a:ext cx="952938" cy="852798"/>
          </a:xfrm>
          <a:prstGeom prst="rect">
            <a:avLst/>
          </a:prstGeom>
        </p:spPr>
        <p:txBody>
          <a:bodyPr lIns="0" tIns="0" rIns="0" bIns="0" rtlCol="0" anchor="t">
            <a:spAutoFit/>
          </a:bodyPr>
          <a:lstStyle/>
          <a:p>
            <a:pPr marL="0" lvl="0" indent="0">
              <a:lnSpc>
                <a:spcPts val="7000"/>
              </a:lnSpc>
              <a:spcBef>
                <a:spcPct val="0"/>
              </a:spcBef>
            </a:pPr>
            <a:r>
              <a:rPr lang="en-US" sz="5000">
                <a:solidFill>
                  <a:srgbClr val="FFFFFF"/>
                </a:solidFill>
                <a:latin typeface="Poppins Bold"/>
              </a:rPr>
              <a:t>6</a:t>
            </a:r>
          </a:p>
        </p:txBody>
      </p:sp>
      <p:sp>
        <p:nvSpPr>
          <p:cNvPr id="11" name="TextBox 7">
            <a:extLst>
              <a:ext uri="{FF2B5EF4-FFF2-40B4-BE49-F238E27FC236}">
                <a16:creationId xmlns:a16="http://schemas.microsoft.com/office/drawing/2014/main" id="{002F1D4B-ACF3-40A6-9D73-BD47B7E7CBAB}"/>
              </a:ext>
            </a:extLst>
          </p:cNvPr>
          <p:cNvSpPr txBox="1"/>
          <p:nvPr/>
        </p:nvSpPr>
        <p:spPr>
          <a:xfrm>
            <a:off x="8610600" y="1464364"/>
            <a:ext cx="9251680" cy="5386090"/>
          </a:xfrm>
          <a:prstGeom prst="rect">
            <a:avLst/>
          </a:prstGeom>
        </p:spPr>
        <p:txBody>
          <a:bodyPr wrap="square" lIns="0" tIns="0" rIns="0" bIns="0" rtlCol="0" anchor="t">
            <a:spAutoFit/>
          </a:bodyPr>
          <a:lstStyle/>
          <a:p>
            <a:pPr marL="431801" lvl="1" indent="-215900">
              <a:buFont typeface="Arial"/>
              <a:buChar char="•"/>
            </a:pPr>
            <a:r>
              <a:rPr lang="en-US" sz="3500" dirty="0" err="1">
                <a:solidFill>
                  <a:srgbClr val="000000"/>
                </a:solidFill>
                <a:latin typeface="Times New Roman (Headings)"/>
              </a:rPr>
              <a:t>Tổng</a:t>
            </a:r>
            <a:r>
              <a:rPr lang="en-US" sz="3500" dirty="0">
                <a:solidFill>
                  <a:srgbClr val="000000"/>
                </a:solidFill>
                <a:latin typeface="Times New Roman (Headings)"/>
              </a:rPr>
              <a:t> </a:t>
            </a: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quyết</a:t>
            </a:r>
            <a:r>
              <a:rPr lang="en-US" sz="3500" dirty="0">
                <a:solidFill>
                  <a:srgbClr val="000000"/>
                </a:solidFill>
                <a:latin typeface="Times New Roman (Headings)"/>
              </a:rPr>
              <a:t> </a:t>
            </a:r>
            <a:r>
              <a:rPr lang="en-US" sz="3500" dirty="0" err="1">
                <a:solidFill>
                  <a:srgbClr val="000000"/>
                </a:solidFill>
                <a:latin typeface="Times New Roman (Headings)"/>
              </a:rPr>
              <a:t>định</a:t>
            </a:r>
            <a:r>
              <a:rPr lang="en-US" sz="3500" dirty="0">
                <a:solidFill>
                  <a:srgbClr val="000000"/>
                </a:solidFill>
                <a:latin typeface="Times New Roman (Headings)"/>
              </a:rPr>
              <a:t> </a:t>
            </a:r>
            <a:r>
              <a:rPr lang="en-US" sz="3500" dirty="0" err="1">
                <a:solidFill>
                  <a:srgbClr val="000000"/>
                </a:solidFill>
                <a:latin typeface="Times New Roman (Headings)"/>
              </a:rPr>
              <a:t>xử</a:t>
            </a:r>
            <a:r>
              <a:rPr lang="en-US" sz="3500" dirty="0">
                <a:solidFill>
                  <a:srgbClr val="000000"/>
                </a:solidFill>
                <a:latin typeface="Times New Roman (Headings)"/>
              </a:rPr>
              <a:t> </a:t>
            </a:r>
            <a:r>
              <a:rPr lang="en-US" sz="3500" dirty="0" err="1">
                <a:solidFill>
                  <a:srgbClr val="000000"/>
                </a:solidFill>
                <a:latin typeface="Times New Roman (Headings)"/>
              </a:rPr>
              <a:t>phạt</a:t>
            </a:r>
            <a:r>
              <a:rPr lang="en-US" sz="3500" dirty="0">
                <a:solidFill>
                  <a:srgbClr val="000000"/>
                </a:solidFill>
                <a:latin typeface="Times New Roman (Headings)"/>
              </a:rPr>
              <a:t>: 5 QĐXPVPHC (2 </a:t>
            </a:r>
            <a:r>
              <a:rPr lang="en-US" sz="3500" dirty="0" err="1">
                <a:solidFill>
                  <a:srgbClr val="000000"/>
                </a:solidFill>
                <a:latin typeface="Times New Roman (Headings)"/>
              </a:rPr>
              <a:t>vụ</a:t>
            </a:r>
            <a:r>
              <a:rPr lang="en-US" sz="3500" dirty="0">
                <a:solidFill>
                  <a:srgbClr val="000000"/>
                </a:solidFill>
                <a:latin typeface="Times New Roman (Headings)"/>
              </a:rPr>
              <a:t>: VTV </a:t>
            </a:r>
            <a:r>
              <a:rPr lang="en-US" sz="3500" dirty="0" err="1">
                <a:solidFill>
                  <a:srgbClr val="000000"/>
                </a:solidFill>
                <a:latin typeface="Times New Roman (Headings)"/>
              </a:rPr>
              <a:t>và</a:t>
            </a:r>
            <a:r>
              <a:rPr lang="en-US" sz="3500" dirty="0">
                <a:solidFill>
                  <a:srgbClr val="000000"/>
                </a:solidFill>
                <a:latin typeface="Times New Roman (Headings)"/>
              </a:rPr>
              <a:t> SKG)</a:t>
            </a:r>
          </a:p>
          <a:p>
            <a:pPr marL="431801" lvl="1" indent="-215900">
              <a:buFont typeface="Arial"/>
              <a:buChar char="•"/>
            </a:pPr>
            <a:endParaRPr lang="en-US" sz="3500" dirty="0">
              <a:solidFill>
                <a:srgbClr val="000000"/>
              </a:solidFill>
              <a:latin typeface="Times New Roman (Headings)"/>
            </a:endParaRPr>
          </a:p>
          <a:p>
            <a:pPr marL="431801" lvl="1" indent="-215900">
              <a:buFont typeface="Arial"/>
              <a:buChar char="•"/>
            </a:pPr>
            <a:r>
              <a:rPr lang="en-US" sz="3500" dirty="0" err="1">
                <a:solidFill>
                  <a:srgbClr val="000000"/>
                </a:solidFill>
                <a:latin typeface="Times New Roman (Headings)"/>
              </a:rPr>
              <a:t>Tổng</a:t>
            </a:r>
            <a:r>
              <a:rPr lang="en-US" sz="3500" dirty="0">
                <a:solidFill>
                  <a:srgbClr val="000000"/>
                </a:solidFill>
                <a:latin typeface="Times New Roman (Headings)"/>
              </a:rPr>
              <a:t> </a:t>
            </a: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tiền</a:t>
            </a:r>
            <a:r>
              <a:rPr lang="en-US" sz="3500" dirty="0">
                <a:solidFill>
                  <a:srgbClr val="000000"/>
                </a:solidFill>
                <a:latin typeface="Times New Roman (Headings)"/>
              </a:rPr>
              <a:t> </a:t>
            </a:r>
            <a:r>
              <a:rPr lang="en-US" sz="3500" dirty="0" err="1">
                <a:solidFill>
                  <a:srgbClr val="000000"/>
                </a:solidFill>
                <a:latin typeface="Times New Roman (Headings)"/>
              </a:rPr>
              <a:t>phạt</a:t>
            </a:r>
            <a:r>
              <a:rPr lang="en-US" sz="3500" dirty="0">
                <a:solidFill>
                  <a:srgbClr val="000000"/>
                </a:solidFill>
                <a:latin typeface="Times New Roman (Headings)"/>
              </a:rPr>
              <a:t>: 750 </a:t>
            </a:r>
            <a:r>
              <a:rPr lang="en-US" sz="3500" dirty="0" err="1">
                <a:solidFill>
                  <a:srgbClr val="000000"/>
                </a:solidFill>
                <a:latin typeface="Times New Roman (Headings)"/>
              </a:rPr>
              <a:t>triệu</a:t>
            </a:r>
            <a:r>
              <a:rPr lang="en-US" sz="3500" dirty="0">
                <a:solidFill>
                  <a:srgbClr val="000000"/>
                </a:solidFill>
                <a:latin typeface="Times New Roman (Headings)"/>
              </a:rPr>
              <a:t>  </a:t>
            </a:r>
            <a:r>
              <a:rPr lang="en-US" sz="3500" dirty="0" err="1">
                <a:solidFill>
                  <a:srgbClr val="000000"/>
                </a:solidFill>
                <a:latin typeface="Times New Roman (Headings)"/>
              </a:rPr>
              <a:t>đồng</a:t>
            </a:r>
            <a:endParaRPr lang="en-US" sz="3500" dirty="0">
              <a:solidFill>
                <a:srgbClr val="000000"/>
              </a:solidFill>
              <a:latin typeface="Times New Roman (Headings)"/>
            </a:endParaRPr>
          </a:p>
          <a:p>
            <a:pPr marL="431801" lvl="1" indent="-215900">
              <a:buFont typeface="Arial"/>
              <a:buChar char="•"/>
            </a:pPr>
            <a:endParaRPr lang="en-US" sz="3500" dirty="0">
              <a:solidFill>
                <a:srgbClr val="000000"/>
              </a:solidFill>
              <a:latin typeface="Times New Roman (Headings)"/>
            </a:endParaRPr>
          </a:p>
          <a:p>
            <a:pPr marL="431801" lvl="1" indent="-215900">
              <a:buFont typeface="Arial"/>
              <a:buChar char="•"/>
            </a:pPr>
            <a:r>
              <a:rPr lang="en-US" sz="3500" dirty="0">
                <a:solidFill>
                  <a:srgbClr val="000000"/>
                </a:solidFill>
                <a:latin typeface="Times New Roman (Headings)"/>
              </a:rPr>
              <a:t> </a:t>
            </a: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vụ</a:t>
            </a:r>
            <a:r>
              <a:rPr lang="en-US" sz="3500" dirty="0">
                <a:solidFill>
                  <a:srgbClr val="000000"/>
                </a:solidFill>
                <a:latin typeface="Times New Roman (Headings)"/>
              </a:rPr>
              <a:t> </a:t>
            </a:r>
            <a:r>
              <a:rPr lang="en-US" sz="3500" dirty="0" err="1">
                <a:solidFill>
                  <a:srgbClr val="000000"/>
                </a:solidFill>
                <a:latin typeface="Times New Roman (Headings)"/>
              </a:rPr>
              <a:t>có</a:t>
            </a:r>
            <a:r>
              <a:rPr lang="en-US" sz="3500" dirty="0">
                <a:solidFill>
                  <a:srgbClr val="000000"/>
                </a:solidFill>
                <a:latin typeface="Times New Roman (Headings)"/>
              </a:rPr>
              <a:t> </a:t>
            </a:r>
            <a:r>
              <a:rPr lang="en-US" sz="3500" dirty="0" err="1">
                <a:solidFill>
                  <a:srgbClr val="000000"/>
                </a:solidFill>
                <a:latin typeface="Times New Roman (Headings)"/>
              </a:rPr>
              <a:t>khoản</a:t>
            </a:r>
            <a:r>
              <a:rPr lang="en-US" sz="3500" dirty="0">
                <a:solidFill>
                  <a:srgbClr val="000000"/>
                </a:solidFill>
                <a:latin typeface="Times New Roman (Headings)"/>
              </a:rPr>
              <a:t> </a:t>
            </a:r>
            <a:r>
              <a:rPr lang="en-US" sz="3500" dirty="0" err="1">
                <a:solidFill>
                  <a:srgbClr val="000000"/>
                </a:solidFill>
                <a:latin typeface="Times New Roman (Headings)"/>
              </a:rPr>
              <a:t>thu</a:t>
            </a:r>
            <a:r>
              <a:rPr lang="en-US" sz="3500" dirty="0">
                <a:solidFill>
                  <a:srgbClr val="000000"/>
                </a:solidFill>
                <a:latin typeface="Times New Roman (Headings)"/>
              </a:rPr>
              <a:t> </a:t>
            </a:r>
            <a:r>
              <a:rPr lang="en-US" sz="3500" dirty="0" err="1">
                <a:solidFill>
                  <a:srgbClr val="000000"/>
                </a:solidFill>
                <a:latin typeface="Times New Roman (Headings)"/>
              </a:rPr>
              <a:t>lời</a:t>
            </a:r>
            <a:r>
              <a:rPr lang="en-US" sz="3500" dirty="0">
                <a:solidFill>
                  <a:srgbClr val="000000"/>
                </a:solidFill>
                <a:latin typeface="Times New Roman (Headings)"/>
              </a:rPr>
              <a:t> </a:t>
            </a:r>
            <a:r>
              <a:rPr lang="en-US" sz="3500" dirty="0" err="1">
                <a:solidFill>
                  <a:srgbClr val="000000"/>
                </a:solidFill>
                <a:latin typeface="Times New Roman (Headings)"/>
              </a:rPr>
              <a:t>bất</a:t>
            </a:r>
            <a:r>
              <a:rPr lang="en-US" sz="3500" dirty="0">
                <a:solidFill>
                  <a:srgbClr val="000000"/>
                </a:solidFill>
                <a:latin typeface="Times New Roman (Headings)"/>
              </a:rPr>
              <a:t> </a:t>
            </a:r>
            <a:r>
              <a:rPr lang="en-US" sz="3500" dirty="0" err="1">
                <a:solidFill>
                  <a:srgbClr val="000000"/>
                </a:solidFill>
                <a:latin typeface="Times New Roman (Headings)"/>
              </a:rPr>
              <a:t>chính</a:t>
            </a:r>
            <a:r>
              <a:rPr lang="en-US" sz="3500" dirty="0">
                <a:solidFill>
                  <a:srgbClr val="000000"/>
                </a:solidFill>
                <a:latin typeface="Times New Roman (Headings)"/>
              </a:rPr>
              <a:t>: 01 </a:t>
            </a:r>
            <a:r>
              <a:rPr lang="en-US" sz="3500" dirty="0" err="1">
                <a:solidFill>
                  <a:srgbClr val="000000"/>
                </a:solidFill>
                <a:latin typeface="Times New Roman (Headings)"/>
              </a:rPr>
              <a:t>vụ</a:t>
            </a:r>
            <a:endParaRPr lang="en-US" sz="3500" dirty="0">
              <a:solidFill>
                <a:srgbClr val="000000"/>
              </a:solidFill>
              <a:latin typeface="Times New Roman (Headings)"/>
            </a:endParaRPr>
          </a:p>
          <a:p>
            <a:pPr marL="431801" lvl="1" indent="-215900">
              <a:buFont typeface="Arial"/>
              <a:buChar char="•"/>
            </a:pPr>
            <a:endParaRPr lang="en-US" sz="3500" dirty="0">
              <a:solidFill>
                <a:srgbClr val="000000"/>
              </a:solidFill>
              <a:latin typeface="Times New Roman (Headings)"/>
            </a:endParaRPr>
          </a:p>
          <a:p>
            <a:pPr marL="431801" lvl="1" indent="-215900">
              <a:buFont typeface="Arial"/>
              <a:buChar char="•"/>
            </a:pPr>
            <a:r>
              <a:rPr lang="en-US" sz="3500" dirty="0">
                <a:solidFill>
                  <a:srgbClr val="000000"/>
                </a:solidFill>
                <a:latin typeface="Times New Roman (Headings)"/>
              </a:rPr>
              <a:t> </a:t>
            </a: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tiền</a:t>
            </a:r>
            <a:r>
              <a:rPr lang="en-US" sz="3500" dirty="0">
                <a:solidFill>
                  <a:srgbClr val="000000"/>
                </a:solidFill>
                <a:latin typeface="Times New Roman (Headings)"/>
              </a:rPr>
              <a:t> </a:t>
            </a:r>
            <a:r>
              <a:rPr lang="en-US" sz="3500" dirty="0" err="1">
                <a:solidFill>
                  <a:srgbClr val="000000"/>
                </a:solidFill>
                <a:latin typeface="Times New Roman (Headings)"/>
              </a:rPr>
              <a:t>thu</a:t>
            </a:r>
            <a:r>
              <a:rPr lang="en-US" sz="3500" dirty="0">
                <a:solidFill>
                  <a:srgbClr val="000000"/>
                </a:solidFill>
                <a:latin typeface="Times New Roman (Headings)"/>
              </a:rPr>
              <a:t> </a:t>
            </a:r>
            <a:r>
              <a:rPr lang="en-US" sz="3500" dirty="0" err="1">
                <a:solidFill>
                  <a:srgbClr val="000000"/>
                </a:solidFill>
                <a:latin typeface="Times New Roman (Headings)"/>
              </a:rPr>
              <a:t>lợi</a:t>
            </a:r>
            <a:r>
              <a:rPr lang="en-US" sz="3500" dirty="0">
                <a:solidFill>
                  <a:srgbClr val="000000"/>
                </a:solidFill>
                <a:latin typeface="Times New Roman (Headings)"/>
              </a:rPr>
              <a:t> </a:t>
            </a:r>
            <a:r>
              <a:rPr lang="en-US" sz="3500" dirty="0" err="1">
                <a:solidFill>
                  <a:srgbClr val="000000"/>
                </a:solidFill>
                <a:latin typeface="Times New Roman (Headings)"/>
              </a:rPr>
              <a:t>bất</a:t>
            </a:r>
            <a:r>
              <a:rPr lang="en-US" sz="3500" dirty="0">
                <a:solidFill>
                  <a:srgbClr val="000000"/>
                </a:solidFill>
                <a:latin typeface="Times New Roman (Headings)"/>
              </a:rPr>
              <a:t> </a:t>
            </a:r>
            <a:r>
              <a:rPr lang="en-US" sz="3500" dirty="0" err="1">
                <a:solidFill>
                  <a:srgbClr val="000000"/>
                </a:solidFill>
                <a:latin typeface="Times New Roman (Headings)"/>
              </a:rPr>
              <a:t>chính</a:t>
            </a:r>
            <a:r>
              <a:rPr lang="en-US" sz="3500" dirty="0">
                <a:solidFill>
                  <a:srgbClr val="000000"/>
                </a:solidFill>
                <a:latin typeface="Times New Roman (Headings)"/>
              </a:rPr>
              <a:t>: 85 </a:t>
            </a:r>
            <a:r>
              <a:rPr lang="en-US" sz="3500" dirty="0" err="1">
                <a:solidFill>
                  <a:srgbClr val="000000"/>
                </a:solidFill>
                <a:latin typeface="Times New Roman (Headings)"/>
              </a:rPr>
              <a:t>triệu</a:t>
            </a:r>
            <a:r>
              <a:rPr lang="en-US" sz="3500" dirty="0">
                <a:solidFill>
                  <a:srgbClr val="000000"/>
                </a:solidFill>
                <a:latin typeface="Times New Roman (Headings)"/>
              </a:rPr>
              <a:t> </a:t>
            </a:r>
            <a:r>
              <a:rPr lang="en-US" sz="3500" dirty="0" err="1">
                <a:solidFill>
                  <a:srgbClr val="000000"/>
                </a:solidFill>
                <a:latin typeface="Times New Roman (Headings)"/>
              </a:rPr>
              <a:t>đồng</a:t>
            </a:r>
            <a:endParaRPr lang="en-US" sz="3500" dirty="0">
              <a:solidFill>
                <a:srgbClr val="000000"/>
              </a:solidFill>
              <a:latin typeface="Times New Roman (Headings)"/>
            </a:endParaRPr>
          </a:p>
          <a:p>
            <a:pPr marL="431801" lvl="1" indent="-215900">
              <a:buFont typeface="Arial"/>
              <a:buChar char="•"/>
            </a:pPr>
            <a:endParaRPr lang="en-US" sz="3500" dirty="0">
              <a:solidFill>
                <a:srgbClr val="000000"/>
              </a:solidFill>
              <a:latin typeface="Times New Roman (Headings)"/>
            </a:endParaRPr>
          </a:p>
          <a:p>
            <a:pPr marL="431801" lvl="1" indent="-215900">
              <a:buFont typeface="Arial"/>
              <a:buChar char="•"/>
            </a:pPr>
            <a:r>
              <a:rPr lang="en-US" sz="3500" dirty="0">
                <a:solidFill>
                  <a:srgbClr val="000000"/>
                </a:solidFill>
                <a:latin typeface="Times New Roman (Headings)"/>
              </a:rPr>
              <a:t> </a:t>
            </a:r>
            <a:r>
              <a:rPr lang="en-US" sz="3500" dirty="0" err="1">
                <a:solidFill>
                  <a:srgbClr val="000000"/>
                </a:solidFill>
                <a:latin typeface="Times New Roman (Headings)"/>
              </a:rPr>
              <a:t>Số</a:t>
            </a:r>
            <a:r>
              <a:rPr lang="en-US" sz="3500" dirty="0">
                <a:solidFill>
                  <a:srgbClr val="000000"/>
                </a:solidFill>
                <a:latin typeface="Times New Roman (Headings)"/>
              </a:rPr>
              <a:t> </a:t>
            </a:r>
            <a:r>
              <a:rPr lang="en-US" sz="3500" dirty="0" err="1">
                <a:solidFill>
                  <a:srgbClr val="000000"/>
                </a:solidFill>
                <a:latin typeface="Times New Roman (Headings)"/>
              </a:rPr>
              <a:t>vụ</a:t>
            </a:r>
            <a:r>
              <a:rPr lang="en-US" sz="3500" dirty="0">
                <a:solidFill>
                  <a:srgbClr val="000000"/>
                </a:solidFill>
                <a:latin typeface="Times New Roman (Headings)"/>
              </a:rPr>
              <a:t> </a:t>
            </a:r>
            <a:r>
              <a:rPr lang="en-US" sz="3500" dirty="0" err="1">
                <a:solidFill>
                  <a:srgbClr val="000000"/>
                </a:solidFill>
                <a:latin typeface="Times New Roman (Headings)"/>
              </a:rPr>
              <a:t>xử</a:t>
            </a:r>
            <a:r>
              <a:rPr lang="en-US" sz="3500" dirty="0">
                <a:solidFill>
                  <a:srgbClr val="000000"/>
                </a:solidFill>
                <a:latin typeface="Times New Roman (Headings)"/>
              </a:rPr>
              <a:t> </a:t>
            </a:r>
            <a:r>
              <a:rPr lang="en-US" sz="3500" dirty="0" err="1">
                <a:solidFill>
                  <a:srgbClr val="000000"/>
                </a:solidFill>
                <a:latin typeface="Times New Roman (Headings)"/>
              </a:rPr>
              <a:t>lý</a:t>
            </a:r>
            <a:r>
              <a:rPr lang="en-US" sz="3500" dirty="0">
                <a:solidFill>
                  <a:srgbClr val="000000"/>
                </a:solidFill>
                <a:latin typeface="Times New Roman (Headings)"/>
              </a:rPr>
              <a:t> </a:t>
            </a:r>
            <a:r>
              <a:rPr lang="en-US" sz="3500" dirty="0" err="1">
                <a:solidFill>
                  <a:srgbClr val="000000"/>
                </a:solidFill>
                <a:latin typeface="Times New Roman (Headings)"/>
              </a:rPr>
              <a:t>hình</a:t>
            </a:r>
            <a:r>
              <a:rPr lang="en-US" sz="3500" dirty="0">
                <a:solidFill>
                  <a:srgbClr val="000000"/>
                </a:solidFill>
                <a:latin typeface="Times New Roman (Headings)"/>
              </a:rPr>
              <a:t> </a:t>
            </a:r>
            <a:r>
              <a:rPr lang="en-US" sz="3500" dirty="0" err="1">
                <a:solidFill>
                  <a:srgbClr val="000000"/>
                </a:solidFill>
                <a:latin typeface="Times New Roman (Headings)"/>
              </a:rPr>
              <a:t>sự</a:t>
            </a:r>
            <a:r>
              <a:rPr lang="en-US" sz="3500" dirty="0">
                <a:solidFill>
                  <a:srgbClr val="000000"/>
                </a:solidFill>
                <a:latin typeface="Times New Roman (Headings)"/>
              </a:rPr>
              <a:t>: 0 </a:t>
            </a:r>
            <a:r>
              <a:rPr lang="en-US" sz="3500" dirty="0" err="1">
                <a:solidFill>
                  <a:srgbClr val="000000"/>
                </a:solidFill>
                <a:latin typeface="Times New Roman (Headings)"/>
              </a:rPr>
              <a:t>vụ</a:t>
            </a:r>
            <a:endParaRPr lang="en-US" sz="3500" dirty="0">
              <a:solidFill>
                <a:srgbClr val="000000"/>
              </a:solidFill>
              <a:latin typeface="Times New Roman (Headings)"/>
            </a:endParaRPr>
          </a:p>
        </p:txBody>
      </p:sp>
    </p:spTree>
    <p:extLst>
      <p:ext uri="{BB962C8B-B14F-4D97-AF65-F5344CB8AC3E}">
        <p14:creationId xmlns:p14="http://schemas.microsoft.com/office/powerpoint/2010/main" val="3105163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3125" b="3125"/>
          <a:stretch>
            <a:fillRect/>
          </a:stretch>
        </p:blipFill>
        <p:spPr>
          <a:xfrm>
            <a:off x="-304800" y="0"/>
            <a:ext cx="20242732" cy="10287000"/>
          </a:xfrm>
          <a:prstGeom prst="rect">
            <a:avLst/>
          </a:prstGeom>
        </p:spPr>
      </p:pic>
      <p:grpSp>
        <p:nvGrpSpPr>
          <p:cNvPr id="28" name="Group 13">
            <a:extLst>
              <a:ext uri="{FF2B5EF4-FFF2-40B4-BE49-F238E27FC236}">
                <a16:creationId xmlns:a16="http://schemas.microsoft.com/office/drawing/2014/main" id="{A164D441-2706-49AC-8784-C0F132E9FCF0}"/>
              </a:ext>
            </a:extLst>
          </p:cNvPr>
          <p:cNvGrpSpPr/>
          <p:nvPr/>
        </p:nvGrpSpPr>
        <p:grpSpPr>
          <a:xfrm>
            <a:off x="1528914" y="2401705"/>
            <a:ext cx="14473086" cy="1240367"/>
            <a:chOff x="0" y="0"/>
            <a:chExt cx="17627933" cy="1653823"/>
          </a:xfrm>
        </p:grpSpPr>
        <p:sp>
          <p:nvSpPr>
            <p:cNvPr id="29" name="Freeform 14">
              <a:extLst>
                <a:ext uri="{FF2B5EF4-FFF2-40B4-BE49-F238E27FC236}">
                  <a16:creationId xmlns:a16="http://schemas.microsoft.com/office/drawing/2014/main" id="{DBDEFF52-D5D0-4AB4-9DE5-C06332BFDCE3}"/>
                </a:ext>
              </a:extLst>
            </p:cNvPr>
            <p:cNvSpPr/>
            <p:nvPr/>
          </p:nvSpPr>
          <p:spPr>
            <a:xfrm>
              <a:off x="4366077" y="1034553"/>
              <a:ext cx="619269" cy="619269"/>
            </a:xfrm>
            <a:custGeom>
              <a:avLst/>
              <a:gdLst/>
              <a:ahLst/>
              <a:cxnLst/>
              <a:rect l="l" t="t" r="r" b="b"/>
              <a:pathLst>
                <a:path w="619269" h="619269">
                  <a:moveTo>
                    <a:pt x="0" y="0"/>
                  </a:moveTo>
                  <a:lnTo>
                    <a:pt x="619270" y="0"/>
                  </a:lnTo>
                  <a:lnTo>
                    <a:pt x="619270" y="619270"/>
                  </a:lnTo>
                  <a:lnTo>
                    <a:pt x="0" y="6192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0" name="Group 15">
              <a:extLst>
                <a:ext uri="{FF2B5EF4-FFF2-40B4-BE49-F238E27FC236}">
                  <a16:creationId xmlns:a16="http://schemas.microsoft.com/office/drawing/2014/main" id="{F74FA3F0-3A1A-47E5-8CDC-FBD38A3EEB98}"/>
                </a:ext>
              </a:extLst>
            </p:cNvPr>
            <p:cNvGrpSpPr/>
            <p:nvPr/>
          </p:nvGrpSpPr>
          <p:grpSpPr>
            <a:xfrm>
              <a:off x="0" y="0"/>
              <a:ext cx="17627933" cy="1320691"/>
              <a:chOff x="0" y="0"/>
              <a:chExt cx="3482061" cy="260877"/>
            </a:xfrm>
          </p:grpSpPr>
          <p:sp>
            <p:nvSpPr>
              <p:cNvPr id="31" name="Freeform 16">
                <a:extLst>
                  <a:ext uri="{FF2B5EF4-FFF2-40B4-BE49-F238E27FC236}">
                    <a16:creationId xmlns:a16="http://schemas.microsoft.com/office/drawing/2014/main" id="{563B356B-B6B7-4A69-949D-BA6A85FD92B3}"/>
                  </a:ext>
                </a:extLst>
              </p:cNvPr>
              <p:cNvSpPr/>
              <p:nvPr/>
            </p:nvSpPr>
            <p:spPr>
              <a:xfrm>
                <a:off x="0" y="0"/>
                <a:ext cx="3482061" cy="260877"/>
              </a:xfrm>
              <a:custGeom>
                <a:avLst/>
                <a:gdLst/>
                <a:ahLst/>
                <a:cxnLst/>
                <a:rect l="l" t="t" r="r" b="b"/>
                <a:pathLst>
                  <a:path w="3482061" h="260877">
                    <a:moveTo>
                      <a:pt x="29865" y="0"/>
                    </a:moveTo>
                    <a:lnTo>
                      <a:pt x="3452197" y="0"/>
                    </a:lnTo>
                    <a:cubicBezTo>
                      <a:pt x="3468690" y="0"/>
                      <a:pt x="3482061" y="13371"/>
                      <a:pt x="3482061" y="29865"/>
                    </a:cubicBezTo>
                    <a:lnTo>
                      <a:pt x="3482061" y="231013"/>
                    </a:lnTo>
                    <a:cubicBezTo>
                      <a:pt x="3482061" y="238933"/>
                      <a:pt x="3478915" y="246529"/>
                      <a:pt x="3473314" y="252130"/>
                    </a:cubicBezTo>
                    <a:cubicBezTo>
                      <a:pt x="3467713" y="257731"/>
                      <a:pt x="3460117" y="260877"/>
                      <a:pt x="3452197" y="260877"/>
                    </a:cubicBezTo>
                    <a:lnTo>
                      <a:pt x="29865" y="260877"/>
                    </a:lnTo>
                    <a:cubicBezTo>
                      <a:pt x="13371" y="260877"/>
                      <a:pt x="0" y="247506"/>
                      <a:pt x="0" y="231013"/>
                    </a:cubicBezTo>
                    <a:lnTo>
                      <a:pt x="0" y="29865"/>
                    </a:lnTo>
                    <a:cubicBezTo>
                      <a:pt x="0" y="13371"/>
                      <a:pt x="13371" y="0"/>
                      <a:pt x="29865" y="0"/>
                    </a:cubicBezTo>
                    <a:close/>
                  </a:path>
                </a:pathLst>
              </a:custGeom>
              <a:solidFill>
                <a:srgbClr val="1458DB"/>
              </a:solidFill>
            </p:spPr>
          </p:sp>
          <p:sp>
            <p:nvSpPr>
              <p:cNvPr id="32" name="TextBox 17">
                <a:extLst>
                  <a:ext uri="{FF2B5EF4-FFF2-40B4-BE49-F238E27FC236}">
                    <a16:creationId xmlns:a16="http://schemas.microsoft.com/office/drawing/2014/main" id="{28E1EED1-305B-4162-8B1A-F780814C2F91}"/>
                  </a:ext>
                </a:extLst>
              </p:cNvPr>
              <p:cNvSpPr txBox="1"/>
              <p:nvPr/>
            </p:nvSpPr>
            <p:spPr>
              <a:xfrm>
                <a:off x="0" y="-57150"/>
                <a:ext cx="3482061" cy="318027"/>
              </a:xfrm>
              <a:prstGeom prst="rect">
                <a:avLst/>
              </a:prstGeom>
            </p:spPr>
            <p:txBody>
              <a:bodyPr lIns="50800" tIns="50800" rIns="50800" bIns="50800" rtlCol="0" anchor="ctr"/>
              <a:lstStyle/>
              <a:p>
                <a:pPr algn="ctr">
                  <a:lnSpc>
                    <a:spcPts val="3638"/>
                  </a:lnSpc>
                </a:pPr>
                <a:endParaRPr/>
              </a:p>
            </p:txBody>
          </p:sp>
        </p:grpSp>
      </p:grpSp>
      <p:grpSp>
        <p:nvGrpSpPr>
          <p:cNvPr id="33" name="Group 29">
            <a:extLst>
              <a:ext uri="{FF2B5EF4-FFF2-40B4-BE49-F238E27FC236}">
                <a16:creationId xmlns:a16="http://schemas.microsoft.com/office/drawing/2014/main" id="{E659FC15-F80C-4CF2-A1F3-AB4C4B59CA7E}"/>
              </a:ext>
            </a:extLst>
          </p:cNvPr>
          <p:cNvGrpSpPr/>
          <p:nvPr/>
        </p:nvGrpSpPr>
        <p:grpSpPr>
          <a:xfrm>
            <a:off x="1689588" y="2538564"/>
            <a:ext cx="729717" cy="729717"/>
            <a:chOff x="0" y="0"/>
            <a:chExt cx="972956" cy="972956"/>
          </a:xfrm>
        </p:grpSpPr>
        <p:sp>
          <p:nvSpPr>
            <p:cNvPr id="34" name="Freeform 30">
              <a:extLst>
                <a:ext uri="{FF2B5EF4-FFF2-40B4-BE49-F238E27FC236}">
                  <a16:creationId xmlns:a16="http://schemas.microsoft.com/office/drawing/2014/main" id="{99F7FA68-FDD3-4BCB-9B0B-8EA9518EC5A9}"/>
                </a:ext>
              </a:extLst>
            </p:cNvPr>
            <p:cNvSpPr/>
            <p:nvPr/>
          </p:nvSpPr>
          <p:spPr>
            <a:xfrm>
              <a:off x="0" y="0"/>
              <a:ext cx="972947" cy="972947"/>
            </a:xfrm>
            <a:custGeom>
              <a:avLst/>
              <a:gdLst/>
              <a:ahLst/>
              <a:cxnLst/>
              <a:rect l="l" t="t" r="r" b="b"/>
              <a:pathLst>
                <a:path w="972947" h="972947">
                  <a:moveTo>
                    <a:pt x="486537" y="0"/>
                  </a:moveTo>
                  <a:cubicBezTo>
                    <a:pt x="217805" y="0"/>
                    <a:pt x="0" y="217805"/>
                    <a:pt x="0" y="486537"/>
                  </a:cubicBezTo>
                  <a:cubicBezTo>
                    <a:pt x="0" y="755269"/>
                    <a:pt x="217805" y="972947"/>
                    <a:pt x="486537" y="972947"/>
                  </a:cubicBezTo>
                  <a:cubicBezTo>
                    <a:pt x="755269" y="972947"/>
                    <a:pt x="972947" y="755142"/>
                    <a:pt x="972947" y="486537"/>
                  </a:cubicBezTo>
                  <a:cubicBezTo>
                    <a:pt x="972947" y="217932"/>
                    <a:pt x="755142" y="0"/>
                    <a:pt x="486537" y="0"/>
                  </a:cubicBezTo>
                  <a:close/>
                </a:path>
              </a:pathLst>
            </a:custGeom>
            <a:gradFill rotWithShape="1">
              <a:gsLst>
                <a:gs pos="0">
                  <a:srgbClr val="8C52FF">
                    <a:alpha val="100000"/>
                  </a:srgbClr>
                </a:gs>
                <a:gs pos="100000">
                  <a:srgbClr val="FF914D">
                    <a:alpha val="100000"/>
                  </a:srgbClr>
                </a:gs>
              </a:gsLst>
              <a:lin ang="0"/>
            </a:gradFill>
          </p:spPr>
        </p:sp>
      </p:grpSp>
      <p:sp>
        <p:nvSpPr>
          <p:cNvPr id="35" name="TextBox 36">
            <a:extLst>
              <a:ext uri="{FF2B5EF4-FFF2-40B4-BE49-F238E27FC236}">
                <a16:creationId xmlns:a16="http://schemas.microsoft.com/office/drawing/2014/main" id="{4097E8E3-C426-4BF3-AE39-E5EF33F3269F}"/>
              </a:ext>
            </a:extLst>
          </p:cNvPr>
          <p:cNvSpPr txBox="1"/>
          <p:nvPr/>
        </p:nvSpPr>
        <p:spPr>
          <a:xfrm>
            <a:off x="1808799" y="2625051"/>
            <a:ext cx="491295" cy="448285"/>
          </a:xfrm>
          <a:prstGeom prst="rect">
            <a:avLst/>
          </a:prstGeom>
        </p:spPr>
        <p:txBody>
          <a:bodyPr lIns="0" tIns="0" rIns="0" bIns="0" rtlCol="0" anchor="t">
            <a:spAutoFit/>
          </a:bodyPr>
          <a:lstStyle/>
          <a:p>
            <a:pPr algn="ctr">
              <a:lnSpc>
                <a:spcPts val="3639"/>
              </a:lnSpc>
            </a:pPr>
            <a:r>
              <a:rPr lang="en-US" sz="2599">
                <a:solidFill>
                  <a:srgbClr val="FFFFFF"/>
                </a:solidFill>
                <a:latin typeface="Noto Sans"/>
                <a:ea typeface="Noto Sans"/>
                <a:cs typeface="Noto Sans"/>
                <a:sym typeface="Noto Sans"/>
              </a:rPr>
              <a:t>1</a:t>
            </a:r>
          </a:p>
        </p:txBody>
      </p:sp>
      <p:sp>
        <p:nvSpPr>
          <p:cNvPr id="36" name="TextBox 37">
            <a:extLst>
              <a:ext uri="{FF2B5EF4-FFF2-40B4-BE49-F238E27FC236}">
                <a16:creationId xmlns:a16="http://schemas.microsoft.com/office/drawing/2014/main" id="{A3713A2D-6375-4555-9AA8-0D431DD42C9C}"/>
              </a:ext>
            </a:extLst>
          </p:cNvPr>
          <p:cNvSpPr txBox="1"/>
          <p:nvPr/>
        </p:nvSpPr>
        <p:spPr>
          <a:xfrm>
            <a:off x="2664908" y="2551226"/>
            <a:ext cx="12927338" cy="602729"/>
          </a:xfrm>
          <a:prstGeom prst="rect">
            <a:avLst/>
          </a:prstGeom>
        </p:spPr>
        <p:txBody>
          <a:bodyPr lIns="0" tIns="0" rIns="0" bIns="0" rtlCol="0" anchor="t">
            <a:spAutoFit/>
          </a:bodyPr>
          <a:lstStyle/>
          <a:p>
            <a:pPr algn="l">
              <a:lnSpc>
                <a:spcPts val="4723"/>
              </a:lnSpc>
            </a:pPr>
            <a:r>
              <a:rPr lang="en-US" sz="4000" dirty="0" err="1">
                <a:solidFill>
                  <a:srgbClr val="FFFFFF"/>
                </a:solidFill>
                <a:latin typeface="Noto Sans"/>
                <a:ea typeface="Noto Sans"/>
                <a:cs typeface="Noto Sans"/>
                <a:sym typeface="Noto Sans"/>
              </a:rPr>
              <a:t>Quy</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định</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pháp</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lý</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về</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giám</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sát</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tuân</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thủ</a:t>
            </a:r>
            <a:endParaRPr lang="en-US" sz="4000" dirty="0">
              <a:solidFill>
                <a:srgbClr val="FFFFFF"/>
              </a:solidFill>
              <a:latin typeface="Noto Sans"/>
              <a:ea typeface="Noto Sans"/>
              <a:cs typeface="Noto Sans"/>
              <a:sym typeface="Noto Sans"/>
            </a:endParaRPr>
          </a:p>
        </p:txBody>
      </p:sp>
      <p:sp>
        <p:nvSpPr>
          <p:cNvPr id="37" name="TextBox 35">
            <a:extLst>
              <a:ext uri="{FF2B5EF4-FFF2-40B4-BE49-F238E27FC236}">
                <a16:creationId xmlns:a16="http://schemas.microsoft.com/office/drawing/2014/main" id="{53F2BA84-233D-4ABE-8BFC-6711EAE8E8A2}"/>
              </a:ext>
            </a:extLst>
          </p:cNvPr>
          <p:cNvSpPr txBox="1"/>
          <p:nvPr/>
        </p:nvSpPr>
        <p:spPr>
          <a:xfrm>
            <a:off x="1612780" y="1006257"/>
            <a:ext cx="13170020" cy="756617"/>
          </a:xfrm>
          <a:prstGeom prst="rect">
            <a:avLst/>
          </a:prstGeom>
        </p:spPr>
        <p:txBody>
          <a:bodyPr wrap="square" lIns="0" tIns="0" rIns="0" bIns="0" rtlCol="0" anchor="t">
            <a:spAutoFit/>
          </a:bodyPr>
          <a:lstStyle/>
          <a:p>
            <a:pPr algn="l">
              <a:lnSpc>
                <a:spcPts val="5934"/>
              </a:lnSpc>
            </a:pPr>
            <a:r>
              <a:rPr lang="en-US" sz="5652" b="1" i="1" dirty="0" err="1">
                <a:solidFill>
                  <a:srgbClr val="FFFFFF"/>
                </a:solidFill>
                <a:latin typeface="Arimo Bold Italics"/>
                <a:ea typeface="Arimo Bold Italics"/>
                <a:cs typeface="Arimo Bold Italics"/>
                <a:sym typeface="Arimo Bold Italics"/>
              </a:rPr>
              <a:t>Nội</a:t>
            </a:r>
            <a:r>
              <a:rPr lang="en-US" sz="5652" b="1" i="1" dirty="0">
                <a:solidFill>
                  <a:srgbClr val="FFFFFF"/>
                </a:solidFill>
                <a:latin typeface="Arimo Bold Italics"/>
                <a:ea typeface="Arimo Bold Italics"/>
                <a:cs typeface="Arimo Bold Italics"/>
                <a:sym typeface="Arimo Bold Italics"/>
              </a:rPr>
              <a:t> dung </a:t>
            </a:r>
            <a:r>
              <a:rPr lang="en-US" sz="5652" b="1" i="1" dirty="0" err="1">
                <a:solidFill>
                  <a:srgbClr val="FFFFFF"/>
                </a:solidFill>
                <a:latin typeface="Arimo Bold Italics"/>
                <a:ea typeface="Arimo Bold Italics"/>
                <a:cs typeface="Arimo Bold Italics"/>
                <a:sym typeface="Arimo Bold Italics"/>
              </a:rPr>
              <a:t>về</a:t>
            </a:r>
            <a:r>
              <a:rPr lang="en-US" sz="5652" b="1" i="1" dirty="0">
                <a:solidFill>
                  <a:srgbClr val="FFFFFF"/>
                </a:solidFill>
                <a:latin typeface="Arimo Bold Italics"/>
                <a:ea typeface="Arimo Bold Italics"/>
                <a:cs typeface="Arimo Bold Italics"/>
                <a:sym typeface="Arimo Bold Italics"/>
              </a:rPr>
              <a:t> </a:t>
            </a:r>
            <a:r>
              <a:rPr lang="en-US" sz="5652" b="1" i="1" dirty="0" err="1">
                <a:solidFill>
                  <a:srgbClr val="FFFFFF"/>
                </a:solidFill>
                <a:latin typeface="Arimo Bold Italics"/>
                <a:ea typeface="Arimo Bold Italics"/>
                <a:cs typeface="Arimo Bold Italics"/>
                <a:sym typeface="Arimo Bold Italics"/>
              </a:rPr>
              <a:t>giám</a:t>
            </a:r>
            <a:r>
              <a:rPr lang="en-US" sz="5652" b="1" i="1" dirty="0">
                <a:solidFill>
                  <a:srgbClr val="FFFFFF"/>
                </a:solidFill>
                <a:latin typeface="Arimo Bold Italics"/>
                <a:ea typeface="Arimo Bold Italics"/>
                <a:cs typeface="Arimo Bold Italics"/>
                <a:sym typeface="Arimo Bold Italics"/>
              </a:rPr>
              <a:t> </a:t>
            </a:r>
            <a:r>
              <a:rPr lang="en-US" sz="5652" b="1" i="1" dirty="0" err="1">
                <a:solidFill>
                  <a:srgbClr val="FFFFFF"/>
                </a:solidFill>
                <a:latin typeface="Arimo Bold Italics"/>
                <a:ea typeface="Arimo Bold Italics"/>
                <a:cs typeface="Arimo Bold Italics"/>
                <a:sym typeface="Arimo Bold Italics"/>
              </a:rPr>
              <a:t>sát</a:t>
            </a:r>
            <a:r>
              <a:rPr lang="en-US" sz="5652" b="1" i="1" dirty="0">
                <a:solidFill>
                  <a:srgbClr val="FFFFFF"/>
                </a:solidFill>
                <a:latin typeface="Arimo Bold Italics"/>
                <a:ea typeface="Arimo Bold Italics"/>
                <a:cs typeface="Arimo Bold Italics"/>
                <a:sym typeface="Arimo Bold Italics"/>
              </a:rPr>
              <a:t> </a:t>
            </a:r>
            <a:r>
              <a:rPr lang="en-US" sz="5652" b="1" i="1" dirty="0" err="1">
                <a:solidFill>
                  <a:srgbClr val="FFFFFF"/>
                </a:solidFill>
                <a:latin typeface="Arimo Bold Italics"/>
                <a:ea typeface="Arimo Bold Italics"/>
                <a:cs typeface="Arimo Bold Italics"/>
                <a:sym typeface="Arimo Bold Italics"/>
              </a:rPr>
              <a:t>tuân</a:t>
            </a:r>
            <a:r>
              <a:rPr lang="en-US" sz="5652" b="1" i="1" dirty="0">
                <a:solidFill>
                  <a:srgbClr val="FFFFFF"/>
                </a:solidFill>
                <a:latin typeface="Arimo Bold Italics"/>
                <a:ea typeface="Arimo Bold Italics"/>
                <a:cs typeface="Arimo Bold Italics"/>
                <a:sym typeface="Arimo Bold Italics"/>
              </a:rPr>
              <a:t> </a:t>
            </a:r>
            <a:r>
              <a:rPr lang="en-US" sz="5652" b="1" i="1" dirty="0" err="1">
                <a:solidFill>
                  <a:srgbClr val="FFFFFF"/>
                </a:solidFill>
                <a:latin typeface="Arimo Bold Italics"/>
                <a:ea typeface="Arimo Bold Italics"/>
                <a:cs typeface="Arimo Bold Italics"/>
                <a:sym typeface="Arimo Bold Italics"/>
              </a:rPr>
              <a:t>thủ</a:t>
            </a:r>
            <a:endParaRPr lang="en-US" sz="5652" b="1" i="1" dirty="0">
              <a:solidFill>
                <a:srgbClr val="FFFFFF"/>
              </a:solidFill>
              <a:latin typeface="Arimo Bold Italics"/>
              <a:ea typeface="Arimo Bold Italics"/>
              <a:cs typeface="Arimo Bold Italics"/>
              <a:sym typeface="Arimo Bold Italics"/>
            </a:endParaRPr>
          </a:p>
        </p:txBody>
      </p:sp>
      <p:grpSp>
        <p:nvGrpSpPr>
          <p:cNvPr id="46" name="Group 13">
            <a:extLst>
              <a:ext uri="{FF2B5EF4-FFF2-40B4-BE49-F238E27FC236}">
                <a16:creationId xmlns:a16="http://schemas.microsoft.com/office/drawing/2014/main" id="{32F99F6B-B223-48E4-8645-790555DDD1A8}"/>
              </a:ext>
            </a:extLst>
          </p:cNvPr>
          <p:cNvGrpSpPr/>
          <p:nvPr/>
        </p:nvGrpSpPr>
        <p:grpSpPr>
          <a:xfrm>
            <a:off x="1454806" y="4040365"/>
            <a:ext cx="14547194" cy="1240367"/>
            <a:chOff x="0" y="0"/>
            <a:chExt cx="17627933" cy="1653823"/>
          </a:xfrm>
        </p:grpSpPr>
        <p:sp>
          <p:nvSpPr>
            <p:cNvPr id="47" name="Freeform 14">
              <a:extLst>
                <a:ext uri="{FF2B5EF4-FFF2-40B4-BE49-F238E27FC236}">
                  <a16:creationId xmlns:a16="http://schemas.microsoft.com/office/drawing/2014/main" id="{E4258B8E-1FF2-4969-95E3-AFED83AA54C9}"/>
                </a:ext>
              </a:extLst>
            </p:cNvPr>
            <p:cNvSpPr/>
            <p:nvPr/>
          </p:nvSpPr>
          <p:spPr>
            <a:xfrm>
              <a:off x="4366077" y="1034553"/>
              <a:ext cx="619269" cy="619269"/>
            </a:xfrm>
            <a:custGeom>
              <a:avLst/>
              <a:gdLst/>
              <a:ahLst/>
              <a:cxnLst/>
              <a:rect l="l" t="t" r="r" b="b"/>
              <a:pathLst>
                <a:path w="619269" h="619269">
                  <a:moveTo>
                    <a:pt x="0" y="0"/>
                  </a:moveTo>
                  <a:lnTo>
                    <a:pt x="619270" y="0"/>
                  </a:lnTo>
                  <a:lnTo>
                    <a:pt x="619270" y="619270"/>
                  </a:lnTo>
                  <a:lnTo>
                    <a:pt x="0" y="6192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8" name="Group 15">
              <a:extLst>
                <a:ext uri="{FF2B5EF4-FFF2-40B4-BE49-F238E27FC236}">
                  <a16:creationId xmlns:a16="http://schemas.microsoft.com/office/drawing/2014/main" id="{AE5B5F3A-6751-4C82-939B-68C3B08042FD}"/>
                </a:ext>
              </a:extLst>
            </p:cNvPr>
            <p:cNvGrpSpPr/>
            <p:nvPr/>
          </p:nvGrpSpPr>
          <p:grpSpPr>
            <a:xfrm>
              <a:off x="0" y="0"/>
              <a:ext cx="17627933" cy="1320691"/>
              <a:chOff x="0" y="0"/>
              <a:chExt cx="3482061" cy="260877"/>
            </a:xfrm>
          </p:grpSpPr>
          <p:sp>
            <p:nvSpPr>
              <p:cNvPr id="49" name="Freeform 16">
                <a:extLst>
                  <a:ext uri="{FF2B5EF4-FFF2-40B4-BE49-F238E27FC236}">
                    <a16:creationId xmlns:a16="http://schemas.microsoft.com/office/drawing/2014/main" id="{2D70A352-49F6-40DE-839F-5AD5A0424963}"/>
                  </a:ext>
                </a:extLst>
              </p:cNvPr>
              <p:cNvSpPr/>
              <p:nvPr/>
            </p:nvSpPr>
            <p:spPr>
              <a:xfrm>
                <a:off x="0" y="0"/>
                <a:ext cx="3482061" cy="260877"/>
              </a:xfrm>
              <a:custGeom>
                <a:avLst/>
                <a:gdLst/>
                <a:ahLst/>
                <a:cxnLst/>
                <a:rect l="l" t="t" r="r" b="b"/>
                <a:pathLst>
                  <a:path w="3482061" h="260877">
                    <a:moveTo>
                      <a:pt x="29865" y="0"/>
                    </a:moveTo>
                    <a:lnTo>
                      <a:pt x="3452197" y="0"/>
                    </a:lnTo>
                    <a:cubicBezTo>
                      <a:pt x="3468690" y="0"/>
                      <a:pt x="3482061" y="13371"/>
                      <a:pt x="3482061" y="29865"/>
                    </a:cubicBezTo>
                    <a:lnTo>
                      <a:pt x="3482061" y="231013"/>
                    </a:lnTo>
                    <a:cubicBezTo>
                      <a:pt x="3482061" y="238933"/>
                      <a:pt x="3478915" y="246529"/>
                      <a:pt x="3473314" y="252130"/>
                    </a:cubicBezTo>
                    <a:cubicBezTo>
                      <a:pt x="3467713" y="257731"/>
                      <a:pt x="3460117" y="260877"/>
                      <a:pt x="3452197" y="260877"/>
                    </a:cubicBezTo>
                    <a:lnTo>
                      <a:pt x="29865" y="260877"/>
                    </a:lnTo>
                    <a:cubicBezTo>
                      <a:pt x="13371" y="260877"/>
                      <a:pt x="0" y="247506"/>
                      <a:pt x="0" y="231013"/>
                    </a:cubicBezTo>
                    <a:lnTo>
                      <a:pt x="0" y="29865"/>
                    </a:lnTo>
                    <a:cubicBezTo>
                      <a:pt x="0" y="13371"/>
                      <a:pt x="13371" y="0"/>
                      <a:pt x="29865" y="0"/>
                    </a:cubicBezTo>
                    <a:close/>
                  </a:path>
                </a:pathLst>
              </a:custGeom>
              <a:solidFill>
                <a:srgbClr val="1458DB"/>
              </a:solidFill>
            </p:spPr>
          </p:sp>
          <p:sp>
            <p:nvSpPr>
              <p:cNvPr id="50" name="TextBox 17">
                <a:extLst>
                  <a:ext uri="{FF2B5EF4-FFF2-40B4-BE49-F238E27FC236}">
                    <a16:creationId xmlns:a16="http://schemas.microsoft.com/office/drawing/2014/main" id="{E844D85E-9D67-495E-AD6E-C54B8EACAF96}"/>
                  </a:ext>
                </a:extLst>
              </p:cNvPr>
              <p:cNvSpPr txBox="1"/>
              <p:nvPr/>
            </p:nvSpPr>
            <p:spPr>
              <a:xfrm>
                <a:off x="0" y="-57150"/>
                <a:ext cx="3482061" cy="318027"/>
              </a:xfrm>
              <a:prstGeom prst="rect">
                <a:avLst/>
              </a:prstGeom>
            </p:spPr>
            <p:txBody>
              <a:bodyPr lIns="50800" tIns="50800" rIns="50800" bIns="50800" rtlCol="0" anchor="ctr"/>
              <a:lstStyle/>
              <a:p>
                <a:pPr algn="ctr">
                  <a:lnSpc>
                    <a:spcPts val="3638"/>
                  </a:lnSpc>
                </a:pPr>
                <a:endParaRPr/>
              </a:p>
            </p:txBody>
          </p:sp>
        </p:grpSp>
      </p:grpSp>
      <p:grpSp>
        <p:nvGrpSpPr>
          <p:cNvPr id="51" name="Group 29">
            <a:extLst>
              <a:ext uri="{FF2B5EF4-FFF2-40B4-BE49-F238E27FC236}">
                <a16:creationId xmlns:a16="http://schemas.microsoft.com/office/drawing/2014/main" id="{8E6F329B-FCB2-4C80-A177-1E710E64F73D}"/>
              </a:ext>
            </a:extLst>
          </p:cNvPr>
          <p:cNvGrpSpPr/>
          <p:nvPr/>
        </p:nvGrpSpPr>
        <p:grpSpPr>
          <a:xfrm>
            <a:off x="1615480" y="4177224"/>
            <a:ext cx="729717" cy="729717"/>
            <a:chOff x="0" y="0"/>
            <a:chExt cx="972956" cy="972956"/>
          </a:xfrm>
        </p:grpSpPr>
        <p:sp>
          <p:nvSpPr>
            <p:cNvPr id="52" name="Freeform 30">
              <a:extLst>
                <a:ext uri="{FF2B5EF4-FFF2-40B4-BE49-F238E27FC236}">
                  <a16:creationId xmlns:a16="http://schemas.microsoft.com/office/drawing/2014/main" id="{09FABB54-58D3-4B29-8919-55D24588266B}"/>
                </a:ext>
              </a:extLst>
            </p:cNvPr>
            <p:cNvSpPr/>
            <p:nvPr/>
          </p:nvSpPr>
          <p:spPr>
            <a:xfrm>
              <a:off x="0" y="0"/>
              <a:ext cx="972947" cy="972947"/>
            </a:xfrm>
            <a:custGeom>
              <a:avLst/>
              <a:gdLst/>
              <a:ahLst/>
              <a:cxnLst/>
              <a:rect l="l" t="t" r="r" b="b"/>
              <a:pathLst>
                <a:path w="972947" h="972947">
                  <a:moveTo>
                    <a:pt x="486537" y="0"/>
                  </a:moveTo>
                  <a:cubicBezTo>
                    <a:pt x="217805" y="0"/>
                    <a:pt x="0" y="217805"/>
                    <a:pt x="0" y="486537"/>
                  </a:cubicBezTo>
                  <a:cubicBezTo>
                    <a:pt x="0" y="755269"/>
                    <a:pt x="217805" y="972947"/>
                    <a:pt x="486537" y="972947"/>
                  </a:cubicBezTo>
                  <a:cubicBezTo>
                    <a:pt x="755269" y="972947"/>
                    <a:pt x="972947" y="755142"/>
                    <a:pt x="972947" y="486537"/>
                  </a:cubicBezTo>
                  <a:cubicBezTo>
                    <a:pt x="972947" y="217932"/>
                    <a:pt x="755142" y="0"/>
                    <a:pt x="486537" y="0"/>
                  </a:cubicBezTo>
                  <a:close/>
                </a:path>
              </a:pathLst>
            </a:custGeom>
            <a:gradFill rotWithShape="1">
              <a:gsLst>
                <a:gs pos="0">
                  <a:srgbClr val="8C52FF">
                    <a:alpha val="100000"/>
                  </a:srgbClr>
                </a:gs>
                <a:gs pos="100000">
                  <a:srgbClr val="FF914D">
                    <a:alpha val="100000"/>
                  </a:srgbClr>
                </a:gs>
              </a:gsLst>
              <a:lin ang="0"/>
            </a:gradFill>
          </p:spPr>
        </p:sp>
      </p:grpSp>
      <p:sp>
        <p:nvSpPr>
          <p:cNvPr id="53" name="TextBox 37">
            <a:extLst>
              <a:ext uri="{FF2B5EF4-FFF2-40B4-BE49-F238E27FC236}">
                <a16:creationId xmlns:a16="http://schemas.microsoft.com/office/drawing/2014/main" id="{099BD6AD-08A3-474D-B968-CBF7DF3E2019}"/>
              </a:ext>
            </a:extLst>
          </p:cNvPr>
          <p:cNvSpPr txBox="1"/>
          <p:nvPr/>
        </p:nvSpPr>
        <p:spPr>
          <a:xfrm>
            <a:off x="2590800" y="4189886"/>
            <a:ext cx="11734800" cy="602729"/>
          </a:xfrm>
          <a:prstGeom prst="rect">
            <a:avLst/>
          </a:prstGeom>
        </p:spPr>
        <p:txBody>
          <a:bodyPr wrap="square" lIns="0" tIns="0" rIns="0" bIns="0" rtlCol="0" anchor="t">
            <a:spAutoFit/>
          </a:bodyPr>
          <a:lstStyle/>
          <a:p>
            <a:pPr algn="l">
              <a:lnSpc>
                <a:spcPts val="4723"/>
              </a:lnSpc>
            </a:pPr>
            <a:r>
              <a:rPr lang="en-US" sz="4000" dirty="0" err="1">
                <a:solidFill>
                  <a:srgbClr val="FFFFFF"/>
                </a:solidFill>
                <a:latin typeface="Noto Sans"/>
                <a:ea typeface="Noto Sans"/>
                <a:cs typeface="Noto Sans"/>
                <a:sym typeface="Noto Sans"/>
              </a:rPr>
              <a:t>Nội</a:t>
            </a:r>
            <a:r>
              <a:rPr lang="en-US" sz="4000" dirty="0">
                <a:solidFill>
                  <a:srgbClr val="FFFFFF"/>
                </a:solidFill>
                <a:latin typeface="Noto Sans"/>
                <a:ea typeface="Noto Sans"/>
                <a:cs typeface="Noto Sans"/>
                <a:sym typeface="Noto Sans"/>
              </a:rPr>
              <a:t> dung </a:t>
            </a:r>
            <a:r>
              <a:rPr lang="en-US" sz="4000" dirty="0" err="1">
                <a:solidFill>
                  <a:srgbClr val="FFFFFF"/>
                </a:solidFill>
                <a:latin typeface="Noto Sans"/>
                <a:ea typeface="Noto Sans"/>
                <a:cs typeface="Noto Sans"/>
                <a:sym typeface="Noto Sans"/>
              </a:rPr>
              <a:t>giám</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sát</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tuân</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thủ</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tại</a:t>
            </a:r>
            <a:r>
              <a:rPr lang="en-US" sz="4000" dirty="0">
                <a:solidFill>
                  <a:srgbClr val="FFFFFF"/>
                </a:solidFill>
                <a:latin typeface="Noto Sans"/>
                <a:ea typeface="Noto Sans"/>
                <a:cs typeface="Noto Sans"/>
                <a:sym typeface="Noto Sans"/>
              </a:rPr>
              <a:t> VNX </a:t>
            </a:r>
            <a:r>
              <a:rPr lang="en-US" sz="4000" dirty="0" err="1">
                <a:solidFill>
                  <a:srgbClr val="FFFFFF"/>
                </a:solidFill>
                <a:latin typeface="Noto Sans"/>
                <a:ea typeface="Noto Sans"/>
                <a:cs typeface="Noto Sans"/>
                <a:sym typeface="Noto Sans"/>
              </a:rPr>
              <a:t>và</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các</a:t>
            </a:r>
            <a:r>
              <a:rPr lang="en-US" sz="4000" dirty="0">
                <a:solidFill>
                  <a:srgbClr val="FFFFFF"/>
                </a:solidFill>
                <a:latin typeface="Noto Sans"/>
                <a:ea typeface="Noto Sans"/>
                <a:cs typeface="Noto Sans"/>
                <a:sym typeface="Noto Sans"/>
              </a:rPr>
              <a:t> </a:t>
            </a:r>
            <a:r>
              <a:rPr lang="en-US" sz="4000" dirty="0" err="1">
                <a:solidFill>
                  <a:srgbClr val="FFFFFF"/>
                </a:solidFill>
                <a:latin typeface="Noto Sans"/>
                <a:ea typeface="Noto Sans"/>
                <a:cs typeface="Noto Sans"/>
                <a:sym typeface="Noto Sans"/>
              </a:rPr>
              <a:t>Sở</a:t>
            </a:r>
            <a:r>
              <a:rPr lang="en-US" sz="4000" dirty="0">
                <a:solidFill>
                  <a:srgbClr val="FFFFFF"/>
                </a:solidFill>
                <a:latin typeface="Noto Sans"/>
                <a:ea typeface="Noto Sans"/>
                <a:cs typeface="Noto Sans"/>
                <a:sym typeface="Noto Sans"/>
              </a:rPr>
              <a:t> con</a:t>
            </a:r>
          </a:p>
        </p:txBody>
      </p:sp>
      <p:grpSp>
        <p:nvGrpSpPr>
          <p:cNvPr id="54" name="Group 13">
            <a:extLst>
              <a:ext uri="{FF2B5EF4-FFF2-40B4-BE49-F238E27FC236}">
                <a16:creationId xmlns:a16="http://schemas.microsoft.com/office/drawing/2014/main" id="{ACF30129-C446-4BB9-825E-909A3E339C98}"/>
              </a:ext>
            </a:extLst>
          </p:cNvPr>
          <p:cNvGrpSpPr/>
          <p:nvPr/>
        </p:nvGrpSpPr>
        <p:grpSpPr>
          <a:xfrm>
            <a:off x="1436003" y="5736560"/>
            <a:ext cx="14565998" cy="1240367"/>
            <a:chOff x="0" y="0"/>
            <a:chExt cx="17627933" cy="1653823"/>
          </a:xfrm>
        </p:grpSpPr>
        <p:sp>
          <p:nvSpPr>
            <p:cNvPr id="55" name="Freeform 14">
              <a:extLst>
                <a:ext uri="{FF2B5EF4-FFF2-40B4-BE49-F238E27FC236}">
                  <a16:creationId xmlns:a16="http://schemas.microsoft.com/office/drawing/2014/main" id="{691F472C-D07F-463F-95FD-85B08361DCA8}"/>
                </a:ext>
              </a:extLst>
            </p:cNvPr>
            <p:cNvSpPr/>
            <p:nvPr/>
          </p:nvSpPr>
          <p:spPr>
            <a:xfrm>
              <a:off x="4366077" y="1034553"/>
              <a:ext cx="619269" cy="619269"/>
            </a:xfrm>
            <a:custGeom>
              <a:avLst/>
              <a:gdLst/>
              <a:ahLst/>
              <a:cxnLst/>
              <a:rect l="l" t="t" r="r" b="b"/>
              <a:pathLst>
                <a:path w="619269" h="619269">
                  <a:moveTo>
                    <a:pt x="0" y="0"/>
                  </a:moveTo>
                  <a:lnTo>
                    <a:pt x="619270" y="0"/>
                  </a:lnTo>
                  <a:lnTo>
                    <a:pt x="619270" y="619270"/>
                  </a:lnTo>
                  <a:lnTo>
                    <a:pt x="0" y="6192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6" name="Group 15">
              <a:extLst>
                <a:ext uri="{FF2B5EF4-FFF2-40B4-BE49-F238E27FC236}">
                  <a16:creationId xmlns:a16="http://schemas.microsoft.com/office/drawing/2014/main" id="{6D84BFB4-21C5-4A28-8304-8E286334F111}"/>
                </a:ext>
              </a:extLst>
            </p:cNvPr>
            <p:cNvGrpSpPr/>
            <p:nvPr/>
          </p:nvGrpSpPr>
          <p:grpSpPr>
            <a:xfrm>
              <a:off x="0" y="0"/>
              <a:ext cx="17627933" cy="1320691"/>
              <a:chOff x="0" y="0"/>
              <a:chExt cx="3482061" cy="260877"/>
            </a:xfrm>
          </p:grpSpPr>
          <p:sp>
            <p:nvSpPr>
              <p:cNvPr id="57" name="Freeform 16">
                <a:extLst>
                  <a:ext uri="{FF2B5EF4-FFF2-40B4-BE49-F238E27FC236}">
                    <a16:creationId xmlns:a16="http://schemas.microsoft.com/office/drawing/2014/main" id="{67587283-FD08-4E8C-8BC8-483BED32345B}"/>
                  </a:ext>
                </a:extLst>
              </p:cNvPr>
              <p:cNvSpPr/>
              <p:nvPr/>
            </p:nvSpPr>
            <p:spPr>
              <a:xfrm>
                <a:off x="0" y="0"/>
                <a:ext cx="3482061" cy="260877"/>
              </a:xfrm>
              <a:custGeom>
                <a:avLst/>
                <a:gdLst/>
                <a:ahLst/>
                <a:cxnLst/>
                <a:rect l="l" t="t" r="r" b="b"/>
                <a:pathLst>
                  <a:path w="3482061" h="260877">
                    <a:moveTo>
                      <a:pt x="29865" y="0"/>
                    </a:moveTo>
                    <a:lnTo>
                      <a:pt x="3452197" y="0"/>
                    </a:lnTo>
                    <a:cubicBezTo>
                      <a:pt x="3468690" y="0"/>
                      <a:pt x="3482061" y="13371"/>
                      <a:pt x="3482061" y="29865"/>
                    </a:cubicBezTo>
                    <a:lnTo>
                      <a:pt x="3482061" y="231013"/>
                    </a:lnTo>
                    <a:cubicBezTo>
                      <a:pt x="3482061" y="238933"/>
                      <a:pt x="3478915" y="246529"/>
                      <a:pt x="3473314" y="252130"/>
                    </a:cubicBezTo>
                    <a:cubicBezTo>
                      <a:pt x="3467713" y="257731"/>
                      <a:pt x="3460117" y="260877"/>
                      <a:pt x="3452197" y="260877"/>
                    </a:cubicBezTo>
                    <a:lnTo>
                      <a:pt x="29865" y="260877"/>
                    </a:lnTo>
                    <a:cubicBezTo>
                      <a:pt x="13371" y="260877"/>
                      <a:pt x="0" y="247506"/>
                      <a:pt x="0" y="231013"/>
                    </a:cubicBezTo>
                    <a:lnTo>
                      <a:pt x="0" y="29865"/>
                    </a:lnTo>
                    <a:cubicBezTo>
                      <a:pt x="0" y="13371"/>
                      <a:pt x="13371" y="0"/>
                      <a:pt x="29865" y="0"/>
                    </a:cubicBezTo>
                    <a:close/>
                  </a:path>
                </a:pathLst>
              </a:custGeom>
              <a:solidFill>
                <a:srgbClr val="1458DB"/>
              </a:solidFill>
            </p:spPr>
          </p:sp>
          <p:sp>
            <p:nvSpPr>
              <p:cNvPr id="58" name="TextBox 17">
                <a:extLst>
                  <a:ext uri="{FF2B5EF4-FFF2-40B4-BE49-F238E27FC236}">
                    <a16:creationId xmlns:a16="http://schemas.microsoft.com/office/drawing/2014/main" id="{487B355E-6F42-4626-8D1B-DD5D1143EA43}"/>
                  </a:ext>
                </a:extLst>
              </p:cNvPr>
              <p:cNvSpPr txBox="1"/>
              <p:nvPr/>
            </p:nvSpPr>
            <p:spPr>
              <a:xfrm>
                <a:off x="0" y="-57150"/>
                <a:ext cx="3482061" cy="318027"/>
              </a:xfrm>
              <a:prstGeom prst="rect">
                <a:avLst/>
              </a:prstGeom>
            </p:spPr>
            <p:txBody>
              <a:bodyPr lIns="50800" tIns="50800" rIns="50800" bIns="50800" rtlCol="0" anchor="ctr"/>
              <a:lstStyle/>
              <a:p>
                <a:pPr algn="ctr">
                  <a:lnSpc>
                    <a:spcPts val="3638"/>
                  </a:lnSpc>
                </a:pPr>
                <a:endParaRPr/>
              </a:p>
            </p:txBody>
          </p:sp>
        </p:grpSp>
      </p:grpSp>
      <p:grpSp>
        <p:nvGrpSpPr>
          <p:cNvPr id="59" name="Group 29">
            <a:extLst>
              <a:ext uri="{FF2B5EF4-FFF2-40B4-BE49-F238E27FC236}">
                <a16:creationId xmlns:a16="http://schemas.microsoft.com/office/drawing/2014/main" id="{AE920767-1619-4242-ADFE-1CE97D0B6810}"/>
              </a:ext>
            </a:extLst>
          </p:cNvPr>
          <p:cNvGrpSpPr/>
          <p:nvPr/>
        </p:nvGrpSpPr>
        <p:grpSpPr>
          <a:xfrm>
            <a:off x="1615480" y="5920325"/>
            <a:ext cx="729717" cy="729717"/>
            <a:chOff x="0" y="0"/>
            <a:chExt cx="972956" cy="972956"/>
          </a:xfrm>
        </p:grpSpPr>
        <p:sp>
          <p:nvSpPr>
            <p:cNvPr id="60" name="Freeform 30">
              <a:extLst>
                <a:ext uri="{FF2B5EF4-FFF2-40B4-BE49-F238E27FC236}">
                  <a16:creationId xmlns:a16="http://schemas.microsoft.com/office/drawing/2014/main" id="{032B4589-6EC7-4879-9676-857509A102F7}"/>
                </a:ext>
              </a:extLst>
            </p:cNvPr>
            <p:cNvSpPr/>
            <p:nvPr/>
          </p:nvSpPr>
          <p:spPr>
            <a:xfrm>
              <a:off x="0" y="0"/>
              <a:ext cx="972947" cy="972947"/>
            </a:xfrm>
            <a:custGeom>
              <a:avLst/>
              <a:gdLst/>
              <a:ahLst/>
              <a:cxnLst/>
              <a:rect l="l" t="t" r="r" b="b"/>
              <a:pathLst>
                <a:path w="972947" h="972947">
                  <a:moveTo>
                    <a:pt x="486537" y="0"/>
                  </a:moveTo>
                  <a:cubicBezTo>
                    <a:pt x="217805" y="0"/>
                    <a:pt x="0" y="217805"/>
                    <a:pt x="0" y="486537"/>
                  </a:cubicBezTo>
                  <a:cubicBezTo>
                    <a:pt x="0" y="755269"/>
                    <a:pt x="217805" y="972947"/>
                    <a:pt x="486537" y="972947"/>
                  </a:cubicBezTo>
                  <a:cubicBezTo>
                    <a:pt x="755269" y="972947"/>
                    <a:pt x="972947" y="755142"/>
                    <a:pt x="972947" y="486537"/>
                  </a:cubicBezTo>
                  <a:cubicBezTo>
                    <a:pt x="972947" y="217932"/>
                    <a:pt x="755142" y="0"/>
                    <a:pt x="486537" y="0"/>
                  </a:cubicBezTo>
                  <a:close/>
                </a:path>
              </a:pathLst>
            </a:custGeom>
            <a:gradFill rotWithShape="1">
              <a:gsLst>
                <a:gs pos="0">
                  <a:srgbClr val="8C52FF">
                    <a:alpha val="100000"/>
                  </a:srgbClr>
                </a:gs>
                <a:gs pos="100000">
                  <a:srgbClr val="FF914D">
                    <a:alpha val="100000"/>
                  </a:srgbClr>
                </a:gs>
              </a:gsLst>
              <a:lin ang="0"/>
            </a:gradFill>
          </p:spPr>
        </p:sp>
      </p:grpSp>
      <p:sp>
        <p:nvSpPr>
          <p:cNvPr id="61" name="TextBox 37">
            <a:extLst>
              <a:ext uri="{FF2B5EF4-FFF2-40B4-BE49-F238E27FC236}">
                <a16:creationId xmlns:a16="http://schemas.microsoft.com/office/drawing/2014/main" id="{05AAA448-1527-4EC9-9120-1290FBA67D81}"/>
              </a:ext>
            </a:extLst>
          </p:cNvPr>
          <p:cNvSpPr txBox="1"/>
          <p:nvPr/>
        </p:nvSpPr>
        <p:spPr>
          <a:xfrm>
            <a:off x="2590800" y="5932987"/>
            <a:ext cx="12927338" cy="602729"/>
          </a:xfrm>
          <a:prstGeom prst="rect">
            <a:avLst/>
          </a:prstGeom>
        </p:spPr>
        <p:txBody>
          <a:bodyPr lIns="0" tIns="0" rIns="0" bIns="0" rtlCol="0" anchor="t">
            <a:spAutoFit/>
          </a:bodyPr>
          <a:lstStyle/>
          <a:p>
            <a:pPr algn="l">
              <a:lnSpc>
                <a:spcPts val="4723"/>
              </a:lnSpc>
            </a:pPr>
            <a:r>
              <a:rPr lang="en-US" sz="4000" dirty="0" err="1">
                <a:solidFill>
                  <a:srgbClr val="FFFFFF"/>
                </a:solidFill>
                <a:latin typeface="Noto Sans"/>
                <a:sym typeface="Noto Sans"/>
              </a:rPr>
              <a:t>Nội</a:t>
            </a:r>
            <a:r>
              <a:rPr lang="en-US" sz="4000" dirty="0">
                <a:solidFill>
                  <a:srgbClr val="FFFFFF"/>
                </a:solidFill>
                <a:latin typeface="Noto Sans"/>
                <a:sym typeface="Noto Sans"/>
              </a:rPr>
              <a:t> dung </a:t>
            </a:r>
            <a:r>
              <a:rPr lang="en-US" sz="4000" dirty="0" err="1">
                <a:solidFill>
                  <a:srgbClr val="FFFFFF"/>
                </a:solidFill>
                <a:latin typeface="Noto Sans"/>
                <a:sym typeface="Noto Sans"/>
              </a:rPr>
              <a:t>giám</a:t>
            </a:r>
            <a:r>
              <a:rPr lang="en-US" sz="4000" dirty="0">
                <a:solidFill>
                  <a:srgbClr val="FFFFFF"/>
                </a:solidFill>
                <a:latin typeface="Noto Sans"/>
                <a:sym typeface="Noto Sans"/>
              </a:rPr>
              <a:t> </a:t>
            </a:r>
            <a:r>
              <a:rPr lang="en-US" sz="4000" dirty="0" err="1">
                <a:solidFill>
                  <a:srgbClr val="FFFFFF"/>
                </a:solidFill>
                <a:latin typeface="Noto Sans"/>
                <a:sym typeface="Noto Sans"/>
              </a:rPr>
              <a:t>sát</a:t>
            </a:r>
            <a:r>
              <a:rPr lang="en-US" sz="4000" dirty="0">
                <a:solidFill>
                  <a:srgbClr val="FFFFFF"/>
                </a:solidFill>
                <a:latin typeface="Noto Sans"/>
                <a:sym typeface="Noto Sans"/>
              </a:rPr>
              <a:t> </a:t>
            </a:r>
            <a:r>
              <a:rPr lang="en-US" sz="4000" dirty="0" err="1">
                <a:solidFill>
                  <a:srgbClr val="FFFFFF"/>
                </a:solidFill>
                <a:latin typeface="Noto Sans"/>
                <a:sym typeface="Noto Sans"/>
              </a:rPr>
              <a:t>tuân</a:t>
            </a:r>
            <a:r>
              <a:rPr lang="en-US" sz="4000" dirty="0">
                <a:solidFill>
                  <a:srgbClr val="FFFFFF"/>
                </a:solidFill>
                <a:latin typeface="Noto Sans"/>
                <a:sym typeface="Noto Sans"/>
              </a:rPr>
              <a:t> </a:t>
            </a:r>
            <a:r>
              <a:rPr lang="en-US" sz="4000" dirty="0" err="1">
                <a:solidFill>
                  <a:srgbClr val="FFFFFF"/>
                </a:solidFill>
                <a:latin typeface="Noto Sans"/>
                <a:sym typeface="Noto Sans"/>
              </a:rPr>
              <a:t>thủ</a:t>
            </a:r>
            <a:r>
              <a:rPr lang="en-US" sz="4000" dirty="0">
                <a:solidFill>
                  <a:srgbClr val="FFFFFF"/>
                </a:solidFill>
                <a:latin typeface="Noto Sans"/>
                <a:sym typeface="Noto Sans"/>
              </a:rPr>
              <a:t> </a:t>
            </a:r>
            <a:r>
              <a:rPr lang="en-US" sz="4000" dirty="0" err="1">
                <a:solidFill>
                  <a:srgbClr val="FFFFFF"/>
                </a:solidFill>
                <a:latin typeface="Noto Sans"/>
                <a:sym typeface="Noto Sans"/>
              </a:rPr>
              <a:t>tại</a:t>
            </a:r>
            <a:r>
              <a:rPr lang="en-US" sz="4000" dirty="0">
                <a:solidFill>
                  <a:srgbClr val="FFFFFF"/>
                </a:solidFill>
                <a:latin typeface="Noto Sans"/>
                <a:sym typeface="Noto Sans"/>
              </a:rPr>
              <a:t> VSDC</a:t>
            </a:r>
          </a:p>
        </p:txBody>
      </p:sp>
    </p:spTree>
    <p:extLst>
      <p:ext uri="{BB962C8B-B14F-4D97-AF65-F5344CB8AC3E}">
        <p14:creationId xmlns:p14="http://schemas.microsoft.com/office/powerpoint/2010/main" val="2710136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0" y="0"/>
            <a:ext cx="5036092" cy="10287000"/>
          </a:xfrm>
          <a:prstGeom prst="rect">
            <a:avLst/>
          </a:prstGeom>
          <a:solidFill>
            <a:srgbClr val="D87A40"/>
          </a:solidFill>
        </p:spPr>
      </p:sp>
      <p:sp>
        <p:nvSpPr>
          <p:cNvPr id="3" name="TextBox 3"/>
          <p:cNvSpPr txBox="1"/>
          <p:nvPr/>
        </p:nvSpPr>
        <p:spPr>
          <a:xfrm>
            <a:off x="523981" y="2794109"/>
            <a:ext cx="3988129" cy="3968394"/>
          </a:xfrm>
          <a:prstGeom prst="rect">
            <a:avLst/>
          </a:prstGeom>
        </p:spPr>
        <p:txBody>
          <a:bodyPr wrap="square" lIns="0" tIns="0" rIns="0" bIns="0" rtlCol="0" anchor="t">
            <a:spAutoFit/>
          </a:bodyPr>
          <a:lstStyle/>
          <a:p>
            <a:pPr marL="0" lvl="0" indent="0">
              <a:lnSpc>
                <a:spcPts val="7874"/>
              </a:lnSpc>
            </a:pPr>
            <a:r>
              <a:rPr lang="en-US" sz="4500" b="1" i="1" dirty="0" err="1">
                <a:solidFill>
                  <a:srgbClr val="FFFFFF"/>
                </a:solidFill>
                <a:latin typeface="Arimo Bold Italics"/>
              </a:rPr>
              <a:t>Quy</a:t>
            </a:r>
            <a:r>
              <a:rPr lang="en-US" sz="4500" b="1" i="1" dirty="0">
                <a:solidFill>
                  <a:srgbClr val="FFFFFF"/>
                </a:solidFill>
                <a:latin typeface="Arimo Bold Italics"/>
              </a:rPr>
              <a:t> </a:t>
            </a:r>
            <a:r>
              <a:rPr lang="en-US" sz="4500" b="1" i="1" dirty="0" err="1">
                <a:solidFill>
                  <a:srgbClr val="FFFFFF"/>
                </a:solidFill>
                <a:latin typeface="Arimo Bold Italics"/>
              </a:rPr>
              <a:t>định</a:t>
            </a:r>
            <a:r>
              <a:rPr lang="en-US" sz="4500" b="1" i="1" dirty="0">
                <a:solidFill>
                  <a:srgbClr val="FFFFFF"/>
                </a:solidFill>
                <a:latin typeface="Arimo Bold Italics"/>
              </a:rPr>
              <a:t> </a:t>
            </a:r>
            <a:r>
              <a:rPr lang="en-US" sz="4500" b="1" i="1" dirty="0" err="1">
                <a:solidFill>
                  <a:srgbClr val="FFFFFF"/>
                </a:solidFill>
                <a:latin typeface="Arimo Bold Italics"/>
              </a:rPr>
              <a:t>về</a:t>
            </a:r>
            <a:r>
              <a:rPr lang="en-US" sz="4500" b="1" i="1" dirty="0">
                <a:solidFill>
                  <a:srgbClr val="FFFFFF"/>
                </a:solidFill>
                <a:latin typeface="Arimo Bold Italics"/>
              </a:rPr>
              <a:t> </a:t>
            </a:r>
            <a:r>
              <a:rPr lang="en-US" sz="4500" b="1" i="1" dirty="0" err="1">
                <a:solidFill>
                  <a:srgbClr val="FFFFFF"/>
                </a:solidFill>
                <a:latin typeface="Arimo Bold Italics"/>
              </a:rPr>
              <a:t>Giám</a:t>
            </a:r>
            <a:r>
              <a:rPr lang="en-US" sz="4500" b="1" i="1" dirty="0">
                <a:solidFill>
                  <a:srgbClr val="FFFFFF"/>
                </a:solidFill>
                <a:latin typeface="Arimo Bold Italics"/>
              </a:rPr>
              <a:t> </a:t>
            </a:r>
            <a:r>
              <a:rPr lang="en-US" sz="4500" b="1" i="1" dirty="0" err="1">
                <a:solidFill>
                  <a:srgbClr val="FFFFFF"/>
                </a:solidFill>
                <a:latin typeface="Arimo Bold Italics"/>
              </a:rPr>
              <a:t>sát</a:t>
            </a:r>
            <a:r>
              <a:rPr lang="en-US" sz="4500" b="1" i="1" dirty="0">
                <a:solidFill>
                  <a:srgbClr val="FFFFFF"/>
                </a:solidFill>
                <a:latin typeface="Arimo Bold Italics"/>
              </a:rPr>
              <a:t> </a:t>
            </a:r>
            <a:r>
              <a:rPr lang="en-US" sz="4500" b="1" i="1" dirty="0" err="1">
                <a:solidFill>
                  <a:srgbClr val="FFFFFF"/>
                </a:solidFill>
                <a:latin typeface="Arimo Bold Italics"/>
              </a:rPr>
              <a:t>tuân</a:t>
            </a:r>
            <a:r>
              <a:rPr lang="en-US" sz="4500" b="1" i="1" dirty="0">
                <a:solidFill>
                  <a:srgbClr val="FFFFFF"/>
                </a:solidFill>
                <a:latin typeface="Arimo Bold Italics"/>
              </a:rPr>
              <a:t> </a:t>
            </a:r>
            <a:r>
              <a:rPr lang="en-US" sz="4500" b="1" i="1" dirty="0" err="1">
                <a:solidFill>
                  <a:srgbClr val="FFFFFF"/>
                </a:solidFill>
                <a:latin typeface="Arimo Bold Italics"/>
              </a:rPr>
              <a:t>thủ</a:t>
            </a:r>
            <a:r>
              <a:rPr lang="en-US" sz="4500" b="1" i="1" dirty="0">
                <a:solidFill>
                  <a:srgbClr val="FFFFFF"/>
                </a:solidFill>
                <a:latin typeface="Arimo Bold Italics"/>
              </a:rPr>
              <a:t> </a:t>
            </a:r>
            <a:r>
              <a:rPr lang="en-US" sz="4500" b="1" i="1" dirty="0" err="1">
                <a:solidFill>
                  <a:srgbClr val="FFFFFF"/>
                </a:solidFill>
                <a:latin typeface="Arimo Bold Italics"/>
              </a:rPr>
              <a:t>trong</a:t>
            </a:r>
            <a:r>
              <a:rPr lang="en-US" sz="4500" b="1" i="1" dirty="0">
                <a:solidFill>
                  <a:srgbClr val="FFFFFF"/>
                </a:solidFill>
                <a:latin typeface="Arimo Bold Italics"/>
              </a:rPr>
              <a:t> </a:t>
            </a:r>
            <a:r>
              <a:rPr lang="en-US" sz="4500" b="1" i="1" dirty="0" err="1">
                <a:solidFill>
                  <a:srgbClr val="FFFFFF"/>
                </a:solidFill>
                <a:latin typeface="Arimo Bold Italics"/>
              </a:rPr>
              <a:t>Luật</a:t>
            </a:r>
            <a:r>
              <a:rPr lang="en-US" sz="4500" b="1" i="1" dirty="0">
                <a:solidFill>
                  <a:srgbClr val="FFFFFF"/>
                </a:solidFill>
                <a:latin typeface="Arimo Bold Italics"/>
              </a:rPr>
              <a:t> </a:t>
            </a:r>
            <a:r>
              <a:rPr lang="en-US" sz="4500" b="1" i="1" dirty="0" err="1">
                <a:solidFill>
                  <a:srgbClr val="FFFFFF"/>
                </a:solidFill>
                <a:latin typeface="Arimo Bold Italics"/>
              </a:rPr>
              <a:t>Chứng</a:t>
            </a:r>
            <a:r>
              <a:rPr lang="en-US" sz="4500" b="1" i="1" dirty="0">
                <a:solidFill>
                  <a:srgbClr val="FFFFFF"/>
                </a:solidFill>
                <a:latin typeface="Arimo Bold Italics"/>
              </a:rPr>
              <a:t> </a:t>
            </a:r>
            <a:r>
              <a:rPr lang="en-US" sz="4500" b="1" i="1" dirty="0" err="1">
                <a:solidFill>
                  <a:srgbClr val="FFFFFF"/>
                </a:solidFill>
                <a:latin typeface="Arimo Bold Italics"/>
              </a:rPr>
              <a:t>khoán</a:t>
            </a:r>
            <a:endParaRPr lang="en-US" sz="4500" b="1" i="1" dirty="0">
              <a:solidFill>
                <a:srgbClr val="FFFFFF"/>
              </a:solidFill>
              <a:latin typeface="Arimo Bold Italics"/>
            </a:endParaRPr>
          </a:p>
        </p:txBody>
      </p:sp>
      <p:sp>
        <p:nvSpPr>
          <p:cNvPr id="4" name="TextBox 4"/>
          <p:cNvSpPr txBox="1"/>
          <p:nvPr/>
        </p:nvSpPr>
        <p:spPr>
          <a:xfrm>
            <a:off x="5648662" y="2433642"/>
            <a:ext cx="11343937" cy="1477328"/>
          </a:xfrm>
          <a:prstGeom prst="rect">
            <a:avLst/>
          </a:prstGeom>
        </p:spPr>
        <p:txBody>
          <a:bodyPr wrap="square" lIns="0" tIns="0" rIns="0" bIns="0" rtlCol="0" anchor="t">
            <a:spAutoFit/>
          </a:bodyPr>
          <a:lstStyle/>
          <a:p>
            <a:pPr lvl="0" algn="just"/>
            <a:r>
              <a:rPr lang="en-US" sz="3200" dirty="0">
                <a:solidFill>
                  <a:schemeClr val="bg1"/>
                </a:solidFill>
                <a:latin typeface="Times New Roman" panose="02020603050405020304" pitchFamily="18" charset="0"/>
                <a:cs typeface="Times New Roman" panose="02020603050405020304" pitchFamily="18" charset="0"/>
              </a:rPr>
              <a:t>UBCKNN </a:t>
            </a:r>
            <a:r>
              <a:rPr lang="en-US" sz="3200" dirty="0" err="1">
                <a:solidFill>
                  <a:schemeClr val="bg1"/>
                </a:solidFill>
                <a:latin typeface="Times New Roman" panose="02020603050405020304" pitchFamily="18" charset="0"/>
                <a:cs typeface="Times New Roman" panose="02020603050405020304" pitchFamily="18" charset="0"/>
              </a:rPr>
              <a:t>thực</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hiện</a:t>
            </a:r>
            <a:r>
              <a:rPr lang="en-US" sz="3200" dirty="0">
                <a:solidFill>
                  <a:schemeClr val="bg1"/>
                </a:solidFill>
                <a:latin typeface="Times New Roman" panose="02020603050405020304" pitchFamily="18" charset="0"/>
                <a:cs typeface="Times New Roman" panose="02020603050405020304" pitchFamily="18" charset="0"/>
              </a:rPr>
              <a:t> q</a:t>
            </a:r>
            <a:r>
              <a:rPr lang="vi-VN" sz="3200" dirty="0">
                <a:solidFill>
                  <a:schemeClr val="bg1"/>
                </a:solidFill>
                <a:latin typeface="Times New Roman" panose="02020603050405020304" pitchFamily="18" charset="0"/>
                <a:cs typeface="Times New Roman" panose="02020603050405020304" pitchFamily="18" charset="0"/>
              </a:rPr>
              <a:t>uản lý, thanh tra, kiểm tra, giám sát hoạt động nghiệp vụ chứng khoán của Sở giao dịch chứng khoán Việt Nam và công ty con, Tổng công ty lưu ký và bù trừ chứng khoán Việt Nam </a:t>
            </a:r>
            <a:endParaRPr lang="en-US" sz="3200" dirty="0">
              <a:solidFill>
                <a:schemeClr val="bg1"/>
              </a:solidFill>
            </a:endParaRPr>
          </a:p>
        </p:txBody>
      </p:sp>
      <p:sp>
        <p:nvSpPr>
          <p:cNvPr id="5" name="TextBox 5"/>
          <p:cNvSpPr txBox="1"/>
          <p:nvPr/>
        </p:nvSpPr>
        <p:spPr>
          <a:xfrm>
            <a:off x="5648662" y="1832971"/>
            <a:ext cx="4007392" cy="974498"/>
          </a:xfrm>
          <a:prstGeom prst="rect">
            <a:avLst/>
          </a:prstGeom>
        </p:spPr>
        <p:txBody>
          <a:bodyPr lIns="0" tIns="0" rIns="0" bIns="0" rtlCol="0" anchor="t">
            <a:spAutoFit/>
          </a:bodyPr>
          <a:lstStyle/>
          <a:p>
            <a:pPr>
              <a:lnSpc>
                <a:spcPts val="3870"/>
              </a:lnSpc>
              <a:spcBef>
                <a:spcPct val="0"/>
              </a:spcBef>
            </a:pPr>
            <a:r>
              <a:rPr lang="en-US" sz="3000" i="1" dirty="0">
                <a:solidFill>
                  <a:schemeClr val="bg1"/>
                </a:solidFill>
                <a:latin typeface="Times New Roman" panose="02020603050405020304" pitchFamily="18" charset="0"/>
                <a:cs typeface="Times New Roman" panose="02020603050405020304" pitchFamily="18" charset="0"/>
              </a:rPr>
              <a:t>Đ</a:t>
            </a:r>
            <a:r>
              <a:rPr lang="vi-VN" sz="3000" i="1" dirty="0">
                <a:solidFill>
                  <a:schemeClr val="bg1"/>
                </a:solidFill>
                <a:latin typeface="Times New Roman" panose="02020603050405020304" pitchFamily="18" charset="0"/>
                <a:cs typeface="Times New Roman" panose="02020603050405020304" pitchFamily="18" charset="0"/>
              </a:rPr>
              <a:t>iểm d khoản 1 Điều 9</a:t>
            </a:r>
            <a:endParaRPr lang="en-US" sz="3000" dirty="0">
              <a:solidFill>
                <a:schemeClr val="bg1"/>
              </a:solidFill>
            </a:endParaRPr>
          </a:p>
          <a:p>
            <a:pPr marL="0" lvl="0" indent="0">
              <a:lnSpc>
                <a:spcPts val="3870"/>
              </a:lnSpc>
              <a:spcBef>
                <a:spcPct val="0"/>
              </a:spcBef>
            </a:pPr>
            <a:endParaRPr lang="en-US" sz="3000" dirty="0">
              <a:solidFill>
                <a:srgbClr val="FFFFFF"/>
              </a:solidFill>
              <a:latin typeface="Poppins Bold"/>
            </a:endParaRPr>
          </a:p>
        </p:txBody>
      </p:sp>
      <p:sp>
        <p:nvSpPr>
          <p:cNvPr id="9" name="TextBox 9"/>
          <p:cNvSpPr txBox="1"/>
          <p:nvPr/>
        </p:nvSpPr>
        <p:spPr>
          <a:xfrm>
            <a:off x="12420600" y="5347639"/>
            <a:ext cx="4007392" cy="461665"/>
          </a:xfrm>
          <a:prstGeom prst="rect">
            <a:avLst/>
          </a:prstGeom>
        </p:spPr>
        <p:txBody>
          <a:bodyPr lIns="0" tIns="0" rIns="0" bIns="0" rtlCol="0" anchor="t">
            <a:spAutoFit/>
          </a:bodyPr>
          <a:lstStyle/>
          <a:p>
            <a:pPr lvl="0"/>
            <a:r>
              <a:rPr lang="en-US" sz="3000" i="1" dirty="0">
                <a:solidFill>
                  <a:schemeClr val="bg1"/>
                </a:solidFill>
                <a:latin typeface="Times New Roman" panose="02020603050405020304" pitchFamily="18" charset="0"/>
                <a:cs typeface="Times New Roman" panose="02020603050405020304" pitchFamily="18" charset="0"/>
              </a:rPr>
              <a:t>K</a:t>
            </a:r>
            <a:r>
              <a:rPr lang="vi-VN" sz="3000" i="1" dirty="0">
                <a:solidFill>
                  <a:schemeClr val="bg1"/>
                </a:solidFill>
                <a:latin typeface="Times New Roman" panose="02020603050405020304" pitchFamily="18" charset="0"/>
                <a:cs typeface="Times New Roman" panose="02020603050405020304" pitchFamily="18" charset="0"/>
              </a:rPr>
              <a:t>hoản 3 Điều 52</a:t>
            </a:r>
            <a:endParaRPr lang="en-US" sz="3000" i="1" dirty="0">
              <a:solidFill>
                <a:schemeClr val="bg1"/>
              </a:solidFill>
              <a:latin typeface="Times New Roman" panose="02020603050405020304" pitchFamily="18" charset="0"/>
              <a:cs typeface="Times New Roman" panose="02020603050405020304" pitchFamily="18" charset="0"/>
            </a:endParaRPr>
          </a:p>
        </p:txBody>
      </p:sp>
      <p:sp>
        <p:nvSpPr>
          <p:cNvPr id="12" name="TextBox 12"/>
          <p:cNvSpPr txBox="1"/>
          <p:nvPr/>
        </p:nvSpPr>
        <p:spPr>
          <a:xfrm>
            <a:off x="6559604" y="931271"/>
            <a:ext cx="952938" cy="901700"/>
          </a:xfrm>
          <a:prstGeom prst="rect">
            <a:avLst/>
          </a:prstGeom>
        </p:spPr>
        <p:txBody>
          <a:bodyPr lIns="0" tIns="0" rIns="0" bIns="0" rtlCol="0" anchor="t">
            <a:spAutoFit/>
          </a:bodyPr>
          <a:lstStyle/>
          <a:p>
            <a:pPr marL="0" lvl="0" indent="0">
              <a:lnSpc>
                <a:spcPts val="7000"/>
              </a:lnSpc>
              <a:spcBef>
                <a:spcPct val="0"/>
              </a:spcBef>
            </a:pPr>
            <a:r>
              <a:rPr lang="en-US" sz="5000" dirty="0">
                <a:solidFill>
                  <a:srgbClr val="FFFFFF"/>
                </a:solidFill>
                <a:latin typeface="Poppins Bold"/>
              </a:rPr>
              <a:t>1</a:t>
            </a:r>
          </a:p>
        </p:txBody>
      </p:sp>
      <p:sp>
        <p:nvSpPr>
          <p:cNvPr id="13" name="TextBox 13"/>
          <p:cNvSpPr txBox="1"/>
          <p:nvPr/>
        </p:nvSpPr>
        <p:spPr>
          <a:xfrm>
            <a:off x="12954000" y="4617542"/>
            <a:ext cx="952938" cy="901700"/>
          </a:xfrm>
          <a:prstGeom prst="rect">
            <a:avLst/>
          </a:prstGeom>
        </p:spPr>
        <p:txBody>
          <a:bodyPr lIns="0" tIns="0" rIns="0" bIns="0" rtlCol="0" anchor="t">
            <a:spAutoFit/>
          </a:bodyPr>
          <a:lstStyle/>
          <a:p>
            <a:pPr marL="0" lvl="0" indent="0">
              <a:lnSpc>
                <a:spcPts val="7000"/>
              </a:lnSpc>
              <a:spcBef>
                <a:spcPct val="0"/>
              </a:spcBef>
            </a:pPr>
            <a:r>
              <a:rPr lang="en-US" sz="5000" dirty="0">
                <a:solidFill>
                  <a:srgbClr val="FFFFFF"/>
                </a:solidFill>
                <a:latin typeface="Poppins Bold"/>
              </a:rPr>
              <a:t>3</a:t>
            </a:r>
          </a:p>
        </p:txBody>
      </p:sp>
      <p:sp>
        <p:nvSpPr>
          <p:cNvPr id="14" name="TextBox 14"/>
          <p:cNvSpPr txBox="1"/>
          <p:nvPr/>
        </p:nvSpPr>
        <p:spPr>
          <a:xfrm>
            <a:off x="6488353" y="4617542"/>
            <a:ext cx="952938" cy="901700"/>
          </a:xfrm>
          <a:prstGeom prst="rect">
            <a:avLst/>
          </a:prstGeom>
        </p:spPr>
        <p:txBody>
          <a:bodyPr lIns="0" tIns="0" rIns="0" bIns="0" rtlCol="0" anchor="t">
            <a:spAutoFit/>
          </a:bodyPr>
          <a:lstStyle/>
          <a:p>
            <a:pPr marL="0" lvl="0" indent="0">
              <a:lnSpc>
                <a:spcPts val="7000"/>
              </a:lnSpc>
              <a:spcBef>
                <a:spcPct val="0"/>
              </a:spcBef>
            </a:pPr>
            <a:r>
              <a:rPr lang="en-US" sz="5000" dirty="0">
                <a:solidFill>
                  <a:srgbClr val="FFFFFF"/>
                </a:solidFill>
                <a:latin typeface="Poppins Bold"/>
              </a:rPr>
              <a:t>2</a:t>
            </a:r>
          </a:p>
        </p:txBody>
      </p:sp>
      <p:sp>
        <p:nvSpPr>
          <p:cNvPr id="16" name="TextBox 4">
            <a:extLst>
              <a:ext uri="{FF2B5EF4-FFF2-40B4-BE49-F238E27FC236}">
                <a16:creationId xmlns:a16="http://schemas.microsoft.com/office/drawing/2014/main" id="{643ECBDE-76EB-4928-BE69-B1DAD56C6E6E}"/>
              </a:ext>
            </a:extLst>
          </p:cNvPr>
          <p:cNvSpPr txBox="1"/>
          <p:nvPr/>
        </p:nvSpPr>
        <p:spPr>
          <a:xfrm>
            <a:off x="5648662" y="6017593"/>
            <a:ext cx="4891019" cy="2923877"/>
          </a:xfrm>
          <a:prstGeom prst="rect">
            <a:avLst/>
          </a:prstGeom>
        </p:spPr>
        <p:txBody>
          <a:bodyPr wrap="square" lIns="0" tIns="0" rIns="0" bIns="0" rtlCol="0" anchor="t">
            <a:spAutoFit/>
          </a:bodyPr>
          <a:lstStyle/>
          <a:p>
            <a:pPr algn="just"/>
            <a:r>
              <a:rPr lang="vi-VN" sz="3200" dirty="0">
                <a:solidFill>
                  <a:schemeClr val="bg1"/>
                </a:solidFill>
                <a:latin typeface="Times New Roman" panose="02020603050405020304" pitchFamily="18" charset="0"/>
                <a:cs typeface="Times New Roman" panose="02020603050405020304" pitchFamily="18" charset="0"/>
              </a:rPr>
              <a:t>S</a:t>
            </a:r>
            <a:r>
              <a:rPr lang="en-US" sz="3200" dirty="0">
                <a:solidFill>
                  <a:schemeClr val="bg1"/>
                </a:solidFill>
                <a:latin typeface="Times New Roman" panose="02020603050405020304" pitchFamily="18" charset="0"/>
                <a:cs typeface="Times New Roman" panose="02020603050405020304" pitchFamily="18" charset="0"/>
              </a:rPr>
              <a:t>ở</a:t>
            </a:r>
            <a:r>
              <a:rPr lang="vi-VN" sz="3200" dirty="0">
                <a:solidFill>
                  <a:schemeClr val="bg1"/>
                </a:solidFill>
                <a:latin typeface="Times New Roman" panose="02020603050405020304" pitchFamily="18" charset="0"/>
                <a:cs typeface="Times New Roman" panose="02020603050405020304" pitchFamily="18" charset="0"/>
              </a:rPr>
              <a:t> giao dịch chứng khoán Việt Nam và công ty con chịu sự quản </a:t>
            </a:r>
            <a:r>
              <a:rPr lang="en-US" sz="3200" dirty="0">
                <a:solidFill>
                  <a:schemeClr val="bg1"/>
                </a:solidFill>
                <a:latin typeface="Times New Roman" panose="02020603050405020304" pitchFamily="18" charset="0"/>
                <a:cs typeface="Times New Roman" panose="02020603050405020304" pitchFamily="18" charset="0"/>
              </a:rPr>
              <a:t>l</a:t>
            </a:r>
            <a:r>
              <a:rPr lang="vi-VN" sz="3200" dirty="0">
                <a:solidFill>
                  <a:schemeClr val="bg1"/>
                </a:solidFill>
                <a:latin typeface="Times New Roman" panose="02020603050405020304" pitchFamily="18" charset="0"/>
                <a:cs typeface="Times New Roman" panose="02020603050405020304" pitchFamily="18" charset="0"/>
              </a:rPr>
              <a:t>ý v</a:t>
            </a:r>
            <a:r>
              <a:rPr lang="en-US" sz="3200" dirty="0">
                <a:solidFill>
                  <a:schemeClr val="bg1"/>
                </a:solidFill>
                <a:latin typeface="Times New Roman" panose="02020603050405020304" pitchFamily="18" charset="0"/>
                <a:cs typeface="Times New Roman" panose="02020603050405020304" pitchFamily="18" charset="0"/>
              </a:rPr>
              <a:t>à </a:t>
            </a:r>
            <a:r>
              <a:rPr lang="vi-VN" sz="3200" dirty="0">
                <a:solidFill>
                  <a:schemeClr val="bg1"/>
                </a:solidFill>
                <a:latin typeface="Times New Roman" panose="02020603050405020304" pitchFamily="18" charset="0"/>
                <a:cs typeface="Times New Roman" panose="02020603050405020304" pitchFamily="18" charset="0"/>
              </a:rPr>
              <a:t>giám sát của Ủy ban Chứng khoán Nhà nước</a:t>
            </a:r>
            <a:endParaRPr lang="en-US" sz="3200" dirty="0">
              <a:solidFill>
                <a:schemeClr val="bg1"/>
              </a:solidFill>
            </a:endParaRPr>
          </a:p>
          <a:p>
            <a:pPr lvl="0" algn="just"/>
            <a:endParaRPr lang="en-US" sz="3000" dirty="0">
              <a:solidFill>
                <a:schemeClr val="bg1"/>
              </a:solidFill>
            </a:endParaRPr>
          </a:p>
        </p:txBody>
      </p:sp>
      <p:sp>
        <p:nvSpPr>
          <p:cNvPr id="17" name="TextBox 5">
            <a:extLst>
              <a:ext uri="{FF2B5EF4-FFF2-40B4-BE49-F238E27FC236}">
                <a16:creationId xmlns:a16="http://schemas.microsoft.com/office/drawing/2014/main" id="{E01EEE44-B3A7-4AE2-BA75-7B012212665C}"/>
              </a:ext>
            </a:extLst>
          </p:cNvPr>
          <p:cNvSpPr txBox="1"/>
          <p:nvPr/>
        </p:nvSpPr>
        <p:spPr>
          <a:xfrm>
            <a:off x="5648662" y="5380285"/>
            <a:ext cx="4007392" cy="975267"/>
          </a:xfrm>
          <a:prstGeom prst="rect">
            <a:avLst/>
          </a:prstGeom>
        </p:spPr>
        <p:txBody>
          <a:bodyPr lIns="0" tIns="0" rIns="0" bIns="0" rtlCol="0" anchor="t">
            <a:spAutoFit/>
          </a:bodyPr>
          <a:lstStyle/>
          <a:p>
            <a:pPr>
              <a:lnSpc>
                <a:spcPts val="3870"/>
              </a:lnSpc>
              <a:spcBef>
                <a:spcPct val="0"/>
              </a:spcBef>
            </a:pPr>
            <a:r>
              <a:rPr lang="en-US" sz="3000" i="1" dirty="0">
                <a:solidFill>
                  <a:schemeClr val="bg1"/>
                </a:solidFill>
                <a:latin typeface="Times New Roman" panose="02020603050405020304" pitchFamily="18" charset="0"/>
                <a:cs typeface="Times New Roman" panose="02020603050405020304" pitchFamily="18" charset="0"/>
              </a:rPr>
              <a:t>K</a:t>
            </a:r>
            <a:r>
              <a:rPr lang="vi-VN" sz="3000" i="1" dirty="0">
                <a:solidFill>
                  <a:schemeClr val="bg1"/>
                </a:solidFill>
                <a:latin typeface="Times New Roman" panose="02020603050405020304" pitchFamily="18" charset="0"/>
                <a:cs typeface="Times New Roman" panose="02020603050405020304" pitchFamily="18" charset="0"/>
              </a:rPr>
              <a:t>hoản 3 Điều 43</a:t>
            </a:r>
            <a:endParaRPr lang="en-US" sz="3000" dirty="0">
              <a:solidFill>
                <a:schemeClr val="bg1"/>
              </a:solidFill>
            </a:endParaRPr>
          </a:p>
          <a:p>
            <a:pPr>
              <a:lnSpc>
                <a:spcPts val="3870"/>
              </a:lnSpc>
              <a:spcBef>
                <a:spcPct val="0"/>
              </a:spcBef>
            </a:pPr>
            <a:endParaRPr lang="en-US" sz="3000" dirty="0">
              <a:solidFill>
                <a:schemeClr val="bg1"/>
              </a:solidFill>
              <a:latin typeface="Poppins Bold"/>
            </a:endParaRPr>
          </a:p>
        </p:txBody>
      </p:sp>
      <p:sp>
        <p:nvSpPr>
          <p:cNvPr id="18" name="TextBox 4">
            <a:extLst>
              <a:ext uri="{FF2B5EF4-FFF2-40B4-BE49-F238E27FC236}">
                <a16:creationId xmlns:a16="http://schemas.microsoft.com/office/drawing/2014/main" id="{69B6AA71-BE9F-490B-8D3A-A6F2D7ECB80B}"/>
              </a:ext>
            </a:extLst>
          </p:cNvPr>
          <p:cNvSpPr txBox="1"/>
          <p:nvPr/>
        </p:nvSpPr>
        <p:spPr>
          <a:xfrm>
            <a:off x="12201861" y="6017593"/>
            <a:ext cx="4790738" cy="2462213"/>
          </a:xfrm>
          <a:prstGeom prst="rect">
            <a:avLst/>
          </a:prstGeom>
        </p:spPr>
        <p:txBody>
          <a:bodyPr wrap="square" lIns="0" tIns="0" rIns="0" bIns="0" rtlCol="0" anchor="t">
            <a:spAutoFit/>
          </a:bodyPr>
          <a:lstStyle/>
          <a:p>
            <a:pPr lvl="0"/>
            <a:r>
              <a:rPr lang="vi-VN" sz="3200" dirty="0">
                <a:solidFill>
                  <a:schemeClr val="bg1"/>
                </a:solidFill>
                <a:latin typeface="+mj-lt"/>
              </a:rPr>
              <a:t>Tổng công ty lưu ký và bù trừ chứng khoán Việt Nam chịu sự quản lý và giám s</a:t>
            </a:r>
            <a:r>
              <a:rPr lang="en-US" sz="3200" dirty="0">
                <a:solidFill>
                  <a:schemeClr val="bg1"/>
                </a:solidFill>
                <a:latin typeface="+mj-lt"/>
              </a:rPr>
              <a:t>á</a:t>
            </a:r>
            <a:r>
              <a:rPr lang="vi-VN" sz="3200" dirty="0">
                <a:solidFill>
                  <a:schemeClr val="bg1"/>
                </a:solidFill>
                <a:latin typeface="+mj-lt"/>
              </a:rPr>
              <a:t>t của Ủy ban Chứng khoán Nhà nước </a:t>
            </a:r>
            <a:endParaRPr lang="en-US" sz="3200" dirty="0">
              <a:solidFill>
                <a:schemeClr val="bg1"/>
              </a:solidFill>
            </a:endParaRPr>
          </a:p>
        </p:txBody>
      </p:sp>
    </p:spTree>
    <p:extLst>
      <p:ext uri="{BB962C8B-B14F-4D97-AF65-F5344CB8AC3E}">
        <p14:creationId xmlns:p14="http://schemas.microsoft.com/office/powerpoint/2010/main" val="1853064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0" y="0"/>
            <a:ext cx="5036092" cy="10287000"/>
          </a:xfrm>
          <a:prstGeom prst="rect">
            <a:avLst/>
          </a:prstGeom>
          <a:solidFill>
            <a:srgbClr val="D87A40"/>
          </a:solidFill>
        </p:spPr>
      </p:sp>
      <p:sp>
        <p:nvSpPr>
          <p:cNvPr id="3" name="TextBox 3"/>
          <p:cNvSpPr txBox="1"/>
          <p:nvPr/>
        </p:nvSpPr>
        <p:spPr>
          <a:xfrm>
            <a:off x="523981" y="2794109"/>
            <a:ext cx="4200419" cy="4955652"/>
          </a:xfrm>
          <a:prstGeom prst="rect">
            <a:avLst/>
          </a:prstGeom>
        </p:spPr>
        <p:txBody>
          <a:bodyPr wrap="square" lIns="0" tIns="0" rIns="0" bIns="0" rtlCol="0" anchor="t">
            <a:spAutoFit/>
          </a:bodyPr>
          <a:lstStyle/>
          <a:p>
            <a:pPr marL="0" lvl="0" indent="0">
              <a:lnSpc>
                <a:spcPts val="7874"/>
              </a:lnSpc>
            </a:pPr>
            <a:r>
              <a:rPr lang="en-US" sz="4500" b="1" i="1" dirty="0" err="1">
                <a:solidFill>
                  <a:srgbClr val="FFFFFF"/>
                </a:solidFill>
                <a:latin typeface="Arimo Bold Italics"/>
              </a:rPr>
              <a:t>Quy</a:t>
            </a:r>
            <a:r>
              <a:rPr lang="en-US" sz="4500" b="1" i="1" dirty="0">
                <a:solidFill>
                  <a:srgbClr val="FFFFFF"/>
                </a:solidFill>
                <a:latin typeface="Arimo Bold Italics"/>
              </a:rPr>
              <a:t> </a:t>
            </a:r>
            <a:r>
              <a:rPr lang="en-US" sz="4500" b="1" i="1" dirty="0" err="1">
                <a:solidFill>
                  <a:srgbClr val="FFFFFF"/>
                </a:solidFill>
                <a:latin typeface="Arimo Bold Italics"/>
              </a:rPr>
              <a:t>định</a:t>
            </a:r>
            <a:r>
              <a:rPr lang="en-US" sz="4500" b="1" i="1" dirty="0">
                <a:solidFill>
                  <a:srgbClr val="FFFFFF"/>
                </a:solidFill>
                <a:latin typeface="Arimo Bold Italics"/>
              </a:rPr>
              <a:t> </a:t>
            </a:r>
            <a:r>
              <a:rPr lang="en-US" sz="4500" b="1" i="1" dirty="0" err="1">
                <a:solidFill>
                  <a:srgbClr val="FFFFFF"/>
                </a:solidFill>
                <a:latin typeface="Arimo Bold Italics"/>
              </a:rPr>
              <a:t>về</a:t>
            </a:r>
            <a:r>
              <a:rPr lang="en-US" sz="4500" b="1" i="1" dirty="0">
                <a:solidFill>
                  <a:srgbClr val="FFFFFF"/>
                </a:solidFill>
                <a:latin typeface="Arimo Bold Italics"/>
              </a:rPr>
              <a:t> </a:t>
            </a:r>
            <a:r>
              <a:rPr lang="en-US" sz="4500" b="1" i="1" dirty="0" err="1">
                <a:solidFill>
                  <a:srgbClr val="FFFFFF"/>
                </a:solidFill>
                <a:latin typeface="Arimo Bold Italics"/>
              </a:rPr>
              <a:t>Giám</a:t>
            </a:r>
            <a:r>
              <a:rPr lang="en-US" sz="4500" b="1" i="1" dirty="0">
                <a:solidFill>
                  <a:srgbClr val="FFFFFF"/>
                </a:solidFill>
                <a:latin typeface="Arimo Bold Italics"/>
              </a:rPr>
              <a:t> </a:t>
            </a:r>
            <a:r>
              <a:rPr lang="en-US" sz="4500" b="1" i="1" dirty="0" err="1">
                <a:solidFill>
                  <a:srgbClr val="FFFFFF"/>
                </a:solidFill>
                <a:latin typeface="Arimo Bold Italics"/>
              </a:rPr>
              <a:t>sát</a:t>
            </a:r>
            <a:r>
              <a:rPr lang="en-US" sz="4500" b="1" i="1" dirty="0">
                <a:solidFill>
                  <a:srgbClr val="FFFFFF"/>
                </a:solidFill>
                <a:latin typeface="Arimo Bold Italics"/>
              </a:rPr>
              <a:t> </a:t>
            </a:r>
            <a:r>
              <a:rPr lang="en-US" sz="4500" b="1" i="1" dirty="0" err="1">
                <a:solidFill>
                  <a:srgbClr val="FFFFFF"/>
                </a:solidFill>
                <a:latin typeface="Arimo Bold Italics"/>
              </a:rPr>
              <a:t>tuân</a:t>
            </a:r>
            <a:r>
              <a:rPr lang="en-US" sz="4500" b="1" i="1" dirty="0">
                <a:solidFill>
                  <a:srgbClr val="FFFFFF"/>
                </a:solidFill>
                <a:latin typeface="Arimo Bold Italics"/>
              </a:rPr>
              <a:t> </a:t>
            </a:r>
            <a:r>
              <a:rPr lang="en-US" sz="4500" b="1" i="1" dirty="0" err="1">
                <a:solidFill>
                  <a:srgbClr val="FFFFFF"/>
                </a:solidFill>
                <a:latin typeface="Arimo Bold Italics"/>
              </a:rPr>
              <a:t>thủ</a:t>
            </a:r>
            <a:r>
              <a:rPr lang="en-US" sz="4500" b="1" i="1" dirty="0">
                <a:solidFill>
                  <a:srgbClr val="FFFFFF"/>
                </a:solidFill>
                <a:latin typeface="Arimo Bold Italics"/>
              </a:rPr>
              <a:t> </a:t>
            </a:r>
            <a:r>
              <a:rPr lang="en-US" sz="4500" b="1" i="1" dirty="0" err="1">
                <a:solidFill>
                  <a:srgbClr val="FFFFFF"/>
                </a:solidFill>
                <a:latin typeface="Arimo Bold Italics"/>
              </a:rPr>
              <a:t>trong</a:t>
            </a:r>
            <a:r>
              <a:rPr lang="en-US" sz="4500" b="1" i="1" dirty="0">
                <a:solidFill>
                  <a:srgbClr val="FFFFFF"/>
                </a:solidFill>
                <a:latin typeface="Arimo Bold Italics"/>
              </a:rPr>
              <a:t> </a:t>
            </a:r>
            <a:r>
              <a:rPr lang="en-US" sz="4500" b="1" i="1" dirty="0" err="1">
                <a:solidFill>
                  <a:srgbClr val="FFFFFF"/>
                </a:solidFill>
                <a:latin typeface="Arimo Bold Italics"/>
              </a:rPr>
              <a:t>Thông</a:t>
            </a:r>
            <a:r>
              <a:rPr lang="en-US" sz="4500" b="1" i="1" dirty="0">
                <a:solidFill>
                  <a:srgbClr val="FFFFFF"/>
                </a:solidFill>
                <a:latin typeface="Arimo Bold Italics"/>
              </a:rPr>
              <a:t> </a:t>
            </a:r>
            <a:r>
              <a:rPr lang="en-US" sz="4500" b="1" i="1" dirty="0" err="1">
                <a:solidFill>
                  <a:srgbClr val="FFFFFF"/>
                </a:solidFill>
                <a:latin typeface="Arimo Bold Italics"/>
              </a:rPr>
              <a:t>tư</a:t>
            </a:r>
            <a:r>
              <a:rPr lang="en-US" sz="4500" b="1" i="1" dirty="0">
                <a:solidFill>
                  <a:srgbClr val="FFFFFF"/>
                </a:solidFill>
                <a:latin typeface="Arimo Bold Italics"/>
              </a:rPr>
              <a:t> 95/2020/TT-BTC</a:t>
            </a:r>
          </a:p>
        </p:txBody>
      </p:sp>
      <p:sp>
        <p:nvSpPr>
          <p:cNvPr id="4" name="TextBox 4"/>
          <p:cNvSpPr txBox="1"/>
          <p:nvPr/>
        </p:nvSpPr>
        <p:spPr>
          <a:xfrm>
            <a:off x="5648662" y="2433642"/>
            <a:ext cx="11343937" cy="6401753"/>
          </a:xfrm>
          <a:prstGeom prst="rect">
            <a:avLst/>
          </a:prstGeom>
        </p:spPr>
        <p:txBody>
          <a:bodyPr wrap="square" lIns="0" tIns="0" rIns="0" bIns="0" rtlCol="0" anchor="t">
            <a:spAutoFit/>
          </a:bodyPr>
          <a:lstStyle/>
          <a:p>
            <a:pPr marL="457200" lvl="0" indent="-457200" algn="just">
              <a:lnSpc>
                <a:spcPct val="150000"/>
              </a:lnSpc>
              <a:buFont typeface="Wingdings" panose="05000000000000000000" pitchFamily="2" charset="2"/>
              <a:buChar char="q"/>
            </a:pPr>
            <a:r>
              <a:rPr lang="vi-VN" sz="3200" dirty="0">
                <a:solidFill>
                  <a:schemeClr val="bg1"/>
                </a:solidFill>
                <a:latin typeface="Times New Roman" panose="02020603050405020304" pitchFamily="18" charset="0"/>
                <a:cs typeface="Times New Roman" panose="02020603050405020304" pitchFamily="18" charset="0"/>
              </a:rPr>
              <a:t>UBCKNN thực hiện giám sát hoạt động của Sở giao dịch chứng khoán Việt Nam và các công ty con trong việc tổ chức và giám sát giao dịch chứng khoán tại từng khu vực thị trường được giao quản lý, vận hành </a:t>
            </a:r>
            <a:endParaRPr lang="en-US" sz="3200" dirty="0">
              <a:solidFill>
                <a:schemeClr val="bg1"/>
              </a:solidFill>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q"/>
            </a:pPr>
            <a:r>
              <a:rPr lang="en-US" sz="3200" dirty="0">
                <a:solidFill>
                  <a:schemeClr val="bg1"/>
                </a:solidFill>
                <a:latin typeface="Times New Roman" panose="02020603050405020304" pitchFamily="18" charset="0"/>
                <a:cs typeface="Times New Roman" panose="02020603050405020304" pitchFamily="18" charset="0"/>
              </a:rPr>
              <a:t>UBCKNN </a:t>
            </a:r>
            <a:r>
              <a:rPr lang="en-US" sz="3200" dirty="0" err="1">
                <a:solidFill>
                  <a:schemeClr val="bg1"/>
                </a:solidFill>
                <a:latin typeface="Times New Roman" panose="02020603050405020304" pitchFamily="18" charset="0"/>
                <a:cs typeface="Times New Roman" panose="02020603050405020304" pitchFamily="18" charset="0"/>
              </a:rPr>
              <a:t>th</a:t>
            </a:r>
            <a:r>
              <a:rPr lang="vi-VN" sz="3200" dirty="0">
                <a:solidFill>
                  <a:schemeClr val="bg1"/>
                </a:solidFill>
                <a:latin typeface="Times New Roman" panose="02020603050405020304" pitchFamily="18" charset="0"/>
                <a:cs typeface="Times New Roman" panose="02020603050405020304" pitchFamily="18" charset="0"/>
              </a:rPr>
              <a:t>ực hiện giám sát hoạt động của Tổng công ty lưu ký và bù trừ chứng khoán Việt Nam trong việc quản lý giới hạn vị thế áp dụng trên thị trường chứng khoán phái sinh, giám sát tỷ lệ sử dụng tài sản ký quỹ hoặc việc nộp ký quỹ yêu cầu theo quy định</a:t>
            </a:r>
            <a:endParaRPr lang="en-US" sz="3200" dirty="0">
              <a:solidFill>
                <a:schemeClr val="bg1"/>
              </a:solidFill>
              <a:latin typeface="Times New Roman" panose="02020603050405020304" pitchFamily="18" charset="0"/>
              <a:cs typeface="Times New Roman" panose="02020603050405020304" pitchFamily="18" charset="0"/>
            </a:endParaRPr>
          </a:p>
          <a:p>
            <a:pPr lvl="0"/>
            <a:endParaRPr lang="en-US" sz="3200" dirty="0"/>
          </a:p>
        </p:txBody>
      </p:sp>
      <p:sp>
        <p:nvSpPr>
          <p:cNvPr id="5" name="TextBox 5"/>
          <p:cNvSpPr txBox="1"/>
          <p:nvPr/>
        </p:nvSpPr>
        <p:spPr>
          <a:xfrm>
            <a:off x="5648662" y="1472882"/>
            <a:ext cx="10581938" cy="984885"/>
          </a:xfrm>
          <a:prstGeom prst="rect">
            <a:avLst/>
          </a:prstGeom>
        </p:spPr>
        <p:txBody>
          <a:bodyPr wrap="square" lIns="0" tIns="0" rIns="0" bIns="0" rtlCol="0" anchor="t">
            <a:spAutoFit/>
          </a:bodyPr>
          <a:lstStyle/>
          <a:p>
            <a:r>
              <a:rPr lang="vi-VN" sz="3000" i="1" dirty="0">
                <a:solidFill>
                  <a:schemeClr val="bg1"/>
                </a:solidFill>
                <a:latin typeface="Times New Roman" panose="02020603050405020304" pitchFamily="18" charset="0"/>
                <a:cs typeface="Times New Roman" panose="02020603050405020304" pitchFamily="18" charset="0"/>
              </a:rPr>
              <a:t>khoản 2</a:t>
            </a:r>
            <a:r>
              <a:rPr lang="en-US" sz="3000" i="1" dirty="0">
                <a:solidFill>
                  <a:schemeClr val="bg1"/>
                </a:solidFill>
                <a:latin typeface="Times New Roman" panose="02020603050405020304" pitchFamily="18" charset="0"/>
                <a:cs typeface="Times New Roman" panose="02020603050405020304" pitchFamily="18" charset="0"/>
              </a:rPr>
              <a:t>, </a:t>
            </a:r>
            <a:r>
              <a:rPr lang="en-US" sz="3000" i="1" dirty="0" err="1">
                <a:solidFill>
                  <a:schemeClr val="bg1"/>
                </a:solidFill>
                <a:latin typeface="Times New Roman" panose="02020603050405020304" pitchFamily="18" charset="0"/>
                <a:cs typeface="Times New Roman" panose="02020603050405020304" pitchFamily="18" charset="0"/>
              </a:rPr>
              <a:t>khoản</a:t>
            </a:r>
            <a:r>
              <a:rPr lang="en-US" sz="3000" i="1" dirty="0">
                <a:solidFill>
                  <a:schemeClr val="bg1"/>
                </a:solidFill>
                <a:latin typeface="Times New Roman" panose="02020603050405020304" pitchFamily="18" charset="0"/>
                <a:cs typeface="Times New Roman" panose="02020603050405020304" pitchFamily="18" charset="0"/>
              </a:rPr>
              <a:t> 3</a:t>
            </a:r>
            <a:r>
              <a:rPr lang="vi-VN" sz="3000" i="1" dirty="0">
                <a:solidFill>
                  <a:schemeClr val="bg1"/>
                </a:solidFill>
                <a:latin typeface="Times New Roman" panose="02020603050405020304" pitchFamily="18" charset="0"/>
                <a:cs typeface="Times New Roman" panose="02020603050405020304" pitchFamily="18" charset="0"/>
              </a:rPr>
              <a:t> Điều 5</a:t>
            </a:r>
            <a:r>
              <a:rPr lang="en-US" sz="3000" i="1" dirty="0">
                <a:solidFill>
                  <a:schemeClr val="bg1"/>
                </a:solidFill>
                <a:latin typeface="Times New Roman" panose="02020603050405020304" pitchFamily="18" charset="0"/>
                <a:cs typeface="Times New Roman" panose="02020603050405020304" pitchFamily="18" charset="0"/>
              </a:rPr>
              <a:t> </a:t>
            </a:r>
            <a:r>
              <a:rPr lang="en-US" sz="3000" i="1" dirty="0" err="1">
                <a:solidFill>
                  <a:schemeClr val="bg1"/>
                </a:solidFill>
                <a:latin typeface="Times New Roman" panose="02020603050405020304" pitchFamily="18" charset="0"/>
                <a:cs typeface="Times New Roman" panose="02020603050405020304" pitchFamily="18" charset="0"/>
              </a:rPr>
              <a:t>Thông</a:t>
            </a:r>
            <a:r>
              <a:rPr lang="en-US" sz="3000" i="1" dirty="0">
                <a:solidFill>
                  <a:schemeClr val="bg1"/>
                </a:solidFill>
                <a:latin typeface="Times New Roman" panose="02020603050405020304" pitchFamily="18" charset="0"/>
                <a:cs typeface="Times New Roman" panose="02020603050405020304" pitchFamily="18" charset="0"/>
              </a:rPr>
              <a:t> </a:t>
            </a:r>
            <a:r>
              <a:rPr lang="en-US" sz="3000" i="1" dirty="0" err="1">
                <a:solidFill>
                  <a:schemeClr val="bg1"/>
                </a:solidFill>
                <a:latin typeface="Times New Roman" panose="02020603050405020304" pitchFamily="18" charset="0"/>
                <a:cs typeface="Times New Roman" panose="02020603050405020304" pitchFamily="18" charset="0"/>
              </a:rPr>
              <a:t>tư</a:t>
            </a:r>
            <a:r>
              <a:rPr lang="en-US" sz="3000" i="1" dirty="0">
                <a:solidFill>
                  <a:schemeClr val="bg1"/>
                </a:solidFill>
                <a:latin typeface="Times New Roman" panose="02020603050405020304" pitchFamily="18" charset="0"/>
                <a:cs typeface="Times New Roman" panose="02020603050405020304" pitchFamily="18" charset="0"/>
              </a:rPr>
              <a:t> </a:t>
            </a:r>
            <a:r>
              <a:rPr lang="en-US" sz="3000" i="1" dirty="0" err="1">
                <a:solidFill>
                  <a:schemeClr val="bg1"/>
                </a:solidFill>
                <a:latin typeface="Times New Roman" panose="02020603050405020304" pitchFamily="18" charset="0"/>
                <a:cs typeface="Times New Roman" panose="02020603050405020304" pitchFamily="18" charset="0"/>
              </a:rPr>
              <a:t>số</a:t>
            </a:r>
            <a:r>
              <a:rPr lang="en-US" sz="3000" i="1" dirty="0">
                <a:solidFill>
                  <a:schemeClr val="bg1"/>
                </a:solidFill>
                <a:latin typeface="Times New Roman" panose="02020603050405020304" pitchFamily="18" charset="0"/>
                <a:cs typeface="Times New Roman" panose="02020603050405020304" pitchFamily="18" charset="0"/>
              </a:rPr>
              <a:t> 95/2020/TT-BTC</a:t>
            </a:r>
          </a:p>
          <a:p>
            <a:pPr lvl="0"/>
            <a:endParaRPr lang="en-US" sz="3200" dirty="0"/>
          </a:p>
        </p:txBody>
      </p:sp>
    </p:spTree>
    <p:extLst>
      <p:ext uri="{BB962C8B-B14F-4D97-AF65-F5344CB8AC3E}">
        <p14:creationId xmlns:p14="http://schemas.microsoft.com/office/powerpoint/2010/main" val="344697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0" y="0"/>
            <a:ext cx="5036092" cy="10287000"/>
          </a:xfrm>
          <a:prstGeom prst="rect">
            <a:avLst/>
          </a:prstGeom>
          <a:solidFill>
            <a:srgbClr val="D87A40"/>
          </a:solidFill>
        </p:spPr>
      </p:sp>
      <p:sp>
        <p:nvSpPr>
          <p:cNvPr id="3" name="TextBox 3"/>
          <p:cNvSpPr txBox="1"/>
          <p:nvPr/>
        </p:nvSpPr>
        <p:spPr>
          <a:xfrm>
            <a:off x="523981" y="2794109"/>
            <a:ext cx="4200419" cy="5956631"/>
          </a:xfrm>
          <a:prstGeom prst="rect">
            <a:avLst/>
          </a:prstGeom>
        </p:spPr>
        <p:txBody>
          <a:bodyPr wrap="square" lIns="0" tIns="0" rIns="0" bIns="0" rtlCol="0" anchor="t">
            <a:spAutoFit/>
          </a:bodyPr>
          <a:lstStyle/>
          <a:p>
            <a:pPr>
              <a:lnSpc>
                <a:spcPts val="7874"/>
              </a:lnSpc>
            </a:pPr>
            <a:r>
              <a:rPr lang="en-US" sz="4500" b="1" i="1" dirty="0" err="1">
                <a:solidFill>
                  <a:srgbClr val="FFFFFF"/>
                </a:solidFill>
                <a:latin typeface="Arimo Bold Italics"/>
              </a:rPr>
              <a:t>Quy</a:t>
            </a:r>
            <a:r>
              <a:rPr lang="en-US" sz="4500" b="1" i="1" dirty="0">
                <a:solidFill>
                  <a:srgbClr val="FFFFFF"/>
                </a:solidFill>
                <a:latin typeface="Arimo Bold Italics"/>
              </a:rPr>
              <a:t> </a:t>
            </a:r>
            <a:r>
              <a:rPr lang="en-US" sz="4500" b="1" i="1" dirty="0" err="1">
                <a:solidFill>
                  <a:srgbClr val="FFFFFF"/>
                </a:solidFill>
                <a:latin typeface="Arimo Bold Italics"/>
              </a:rPr>
              <a:t>định</a:t>
            </a:r>
            <a:r>
              <a:rPr lang="en-US" sz="4500" b="1" i="1" dirty="0">
                <a:solidFill>
                  <a:srgbClr val="FFFFFF"/>
                </a:solidFill>
                <a:latin typeface="Arimo Bold Italics"/>
              </a:rPr>
              <a:t> </a:t>
            </a:r>
            <a:r>
              <a:rPr lang="en-US" sz="4500" b="1" i="1" dirty="0" err="1">
                <a:solidFill>
                  <a:srgbClr val="FFFFFF"/>
                </a:solidFill>
                <a:latin typeface="Arimo Bold Italics"/>
              </a:rPr>
              <a:t>về</a:t>
            </a:r>
            <a:r>
              <a:rPr lang="en-US" sz="4500" b="1" i="1" dirty="0">
                <a:solidFill>
                  <a:srgbClr val="FFFFFF"/>
                </a:solidFill>
                <a:latin typeface="Arimo Bold Italics"/>
              </a:rPr>
              <a:t> </a:t>
            </a:r>
            <a:r>
              <a:rPr lang="en-US" sz="4500" b="1" i="1" dirty="0" err="1">
                <a:solidFill>
                  <a:srgbClr val="FFFFFF"/>
                </a:solidFill>
                <a:latin typeface="Arimo Bold Italics"/>
              </a:rPr>
              <a:t>Giám</a:t>
            </a:r>
            <a:r>
              <a:rPr lang="en-US" sz="4500" b="1" i="1" dirty="0">
                <a:solidFill>
                  <a:srgbClr val="FFFFFF"/>
                </a:solidFill>
                <a:latin typeface="Arimo Bold Italics"/>
              </a:rPr>
              <a:t> </a:t>
            </a:r>
            <a:r>
              <a:rPr lang="en-US" sz="4500" b="1" i="1" dirty="0" err="1">
                <a:solidFill>
                  <a:srgbClr val="FFFFFF"/>
                </a:solidFill>
                <a:latin typeface="Arimo Bold Italics"/>
              </a:rPr>
              <a:t>sát</a:t>
            </a:r>
            <a:r>
              <a:rPr lang="en-US" sz="4500" b="1" i="1" dirty="0">
                <a:solidFill>
                  <a:srgbClr val="FFFFFF"/>
                </a:solidFill>
                <a:latin typeface="Arimo Bold Italics"/>
              </a:rPr>
              <a:t> </a:t>
            </a:r>
            <a:r>
              <a:rPr lang="en-US" sz="4500" b="1" i="1" dirty="0" err="1">
                <a:solidFill>
                  <a:srgbClr val="FFFFFF"/>
                </a:solidFill>
                <a:latin typeface="Arimo Bold Italics"/>
              </a:rPr>
              <a:t>tuân</a:t>
            </a:r>
            <a:r>
              <a:rPr lang="en-US" sz="4500" b="1" i="1" dirty="0">
                <a:solidFill>
                  <a:srgbClr val="FFFFFF"/>
                </a:solidFill>
                <a:latin typeface="Arimo Bold Italics"/>
              </a:rPr>
              <a:t> </a:t>
            </a:r>
            <a:r>
              <a:rPr lang="en-US" sz="4500" b="1" i="1" dirty="0" err="1">
                <a:solidFill>
                  <a:srgbClr val="FFFFFF"/>
                </a:solidFill>
                <a:latin typeface="Arimo Bold Italics"/>
              </a:rPr>
              <a:t>thủ</a:t>
            </a:r>
            <a:r>
              <a:rPr lang="en-US" sz="4500" b="1" i="1" dirty="0">
                <a:solidFill>
                  <a:srgbClr val="FFFFFF"/>
                </a:solidFill>
                <a:latin typeface="Arimo Bold Italics"/>
              </a:rPr>
              <a:t> </a:t>
            </a:r>
            <a:r>
              <a:rPr lang="en-US" sz="4500" b="1" i="1" dirty="0" err="1">
                <a:solidFill>
                  <a:srgbClr val="FFFFFF"/>
                </a:solidFill>
                <a:latin typeface="Arimo Bold Italics"/>
              </a:rPr>
              <a:t>trong</a:t>
            </a:r>
            <a:r>
              <a:rPr lang="en-US" sz="4500" b="1" i="1" dirty="0">
                <a:solidFill>
                  <a:srgbClr val="FFFFFF"/>
                </a:solidFill>
                <a:latin typeface="Arimo Bold Italics"/>
              </a:rPr>
              <a:t> </a:t>
            </a:r>
            <a:r>
              <a:rPr lang="en-US" sz="4500" b="1" i="1" dirty="0" err="1">
                <a:solidFill>
                  <a:srgbClr val="FFFFFF"/>
                </a:solidFill>
                <a:latin typeface="Arimo Bold Italics"/>
              </a:rPr>
              <a:t>Thông</a:t>
            </a:r>
            <a:r>
              <a:rPr lang="en-US" sz="4500" b="1" i="1" dirty="0">
                <a:solidFill>
                  <a:srgbClr val="FFFFFF"/>
                </a:solidFill>
                <a:latin typeface="Arimo Bold Italics"/>
              </a:rPr>
              <a:t> </a:t>
            </a:r>
            <a:r>
              <a:rPr lang="en-US" sz="4500" b="1" i="1" dirty="0" err="1">
                <a:solidFill>
                  <a:srgbClr val="FFFFFF"/>
                </a:solidFill>
                <a:latin typeface="Arimo Bold Italics"/>
              </a:rPr>
              <a:t>tư</a:t>
            </a:r>
            <a:r>
              <a:rPr lang="en-US" sz="4500" b="1" i="1" dirty="0">
                <a:solidFill>
                  <a:srgbClr val="FFFFFF"/>
                </a:solidFill>
                <a:latin typeface="Arimo Bold Italics"/>
              </a:rPr>
              <a:t> 06/2022/TT-BTC</a:t>
            </a:r>
          </a:p>
          <a:p>
            <a:pPr marL="0" lvl="0" indent="0">
              <a:lnSpc>
                <a:spcPts val="7874"/>
              </a:lnSpc>
            </a:pPr>
            <a:endParaRPr lang="en-US" sz="4500" b="1" i="1" dirty="0">
              <a:solidFill>
                <a:srgbClr val="FFFFFF"/>
              </a:solidFill>
              <a:latin typeface="Arimo Bold Italics"/>
            </a:endParaRPr>
          </a:p>
        </p:txBody>
      </p:sp>
      <p:sp>
        <p:nvSpPr>
          <p:cNvPr id="4" name="TextBox 4"/>
          <p:cNvSpPr txBox="1"/>
          <p:nvPr/>
        </p:nvSpPr>
        <p:spPr>
          <a:xfrm>
            <a:off x="5648662" y="2433642"/>
            <a:ext cx="11343937" cy="7140416"/>
          </a:xfrm>
          <a:prstGeom prst="rect">
            <a:avLst/>
          </a:prstGeom>
        </p:spPr>
        <p:txBody>
          <a:bodyPr wrap="square" lIns="0" tIns="0" rIns="0" bIns="0" rtlCol="0" anchor="t">
            <a:spAutoFit/>
          </a:bodyPr>
          <a:lstStyle/>
          <a:p>
            <a:pPr marL="457200" lvl="0" indent="-457200" algn="just">
              <a:lnSpc>
                <a:spcPct val="150000"/>
              </a:lnSpc>
              <a:buFont typeface="Wingdings" panose="05000000000000000000" pitchFamily="2" charset="2"/>
              <a:buChar char="q"/>
            </a:pPr>
            <a:r>
              <a:rPr lang="vi-VN" sz="3200" dirty="0">
                <a:solidFill>
                  <a:schemeClr val="bg1"/>
                </a:solidFill>
                <a:latin typeface="Times New Roman" panose="02020603050405020304" pitchFamily="18" charset="0"/>
                <a:cs typeface="Times New Roman" panose="02020603050405020304" pitchFamily="18" charset="0"/>
              </a:rPr>
              <a:t>UBCKNN thực hiện giám sát đối với việc tuân thủ pháp luật về chứng khoán và thị trường chứng khoán trong hoạt động nghiệp vụ chứng khoán của Sở giao dịch chứng khoán Việt Nam và các công ty con, Tổng công ty lưu ký và bù trừ chứng khoán Việt Na</a:t>
            </a:r>
            <a:r>
              <a:rPr lang="en-US" sz="3200" dirty="0">
                <a:solidFill>
                  <a:schemeClr val="bg1"/>
                </a:solidFill>
                <a:latin typeface="Times New Roman" panose="02020603050405020304" pitchFamily="18" charset="0"/>
                <a:cs typeface="Times New Roman" panose="02020603050405020304" pitchFamily="18" charset="0"/>
              </a:rPr>
              <a:t>m </a:t>
            </a:r>
          </a:p>
          <a:p>
            <a:pPr marL="457200" lvl="0" indent="-457200" algn="just">
              <a:lnSpc>
                <a:spcPct val="150000"/>
              </a:lnSpc>
              <a:buFont typeface="Wingdings" panose="05000000000000000000" pitchFamily="2" charset="2"/>
              <a:buChar char="q"/>
            </a:pPr>
            <a:r>
              <a:rPr lang="en-US" sz="3200" dirty="0">
                <a:solidFill>
                  <a:schemeClr val="bg1"/>
                </a:solidFill>
                <a:latin typeface="Times New Roman" panose="02020603050405020304" pitchFamily="18" charset="0"/>
                <a:cs typeface="Times New Roman" panose="02020603050405020304" pitchFamily="18" charset="0"/>
              </a:rPr>
              <a:t>UBCKNN </a:t>
            </a:r>
            <a:r>
              <a:rPr lang="en-US" sz="3200" dirty="0" err="1">
                <a:solidFill>
                  <a:schemeClr val="bg1"/>
                </a:solidFill>
                <a:latin typeface="Times New Roman" panose="02020603050405020304" pitchFamily="18" charset="0"/>
                <a:cs typeface="Times New Roman" panose="02020603050405020304" pitchFamily="18" charset="0"/>
              </a:rPr>
              <a:t>th</a:t>
            </a:r>
            <a:r>
              <a:rPr lang="vi-VN" sz="3200" dirty="0">
                <a:solidFill>
                  <a:schemeClr val="bg1"/>
                </a:solidFill>
                <a:latin typeface="Times New Roman" panose="02020603050405020304" pitchFamily="18" charset="0"/>
                <a:cs typeface="Times New Roman" panose="02020603050405020304" pitchFamily="18" charset="0"/>
              </a:rPr>
              <a:t>ực hiện xây dựng kế hoạch thanh tra, kiểm tra giám sát tuân thủ hàng năm, tổ</a:t>
            </a:r>
            <a:r>
              <a:rPr lang="en-US" sz="3200" dirty="0">
                <a:solidFill>
                  <a:schemeClr val="bg1"/>
                </a:solidFill>
                <a:latin typeface="Times New Roman" panose="02020603050405020304" pitchFamily="18" charset="0"/>
                <a:cs typeface="Times New Roman" panose="02020603050405020304" pitchFamily="18" charset="0"/>
              </a:rPr>
              <a:t> </a:t>
            </a:r>
            <a:r>
              <a:rPr lang="vi-VN" sz="3200" dirty="0">
                <a:solidFill>
                  <a:schemeClr val="bg1"/>
                </a:solidFill>
                <a:latin typeface="Times New Roman" panose="02020603050405020304" pitchFamily="18" charset="0"/>
                <a:cs typeface="Times New Roman" panose="02020603050405020304" pitchFamily="18" charset="0"/>
              </a:rPr>
              <a:t>chức thanh tra, kiểm tra định kỳ theo kế hoạch hoặc kiểm tra đột xuất khi cần thiết đối với Sở giao dịch chứng khoán Việt Nam và các công ty con, Tổng công ty lưu ký và bù trừ chứng khoán Việt Nam</a:t>
            </a:r>
            <a:endParaRPr lang="en-US" sz="3200" dirty="0">
              <a:solidFill>
                <a:schemeClr val="bg1"/>
              </a:solidFill>
              <a:latin typeface="Times New Roman" panose="02020603050405020304" pitchFamily="18" charset="0"/>
              <a:cs typeface="Times New Roman" panose="02020603050405020304" pitchFamily="18" charset="0"/>
            </a:endParaRPr>
          </a:p>
          <a:p>
            <a:pPr lvl="0"/>
            <a:endParaRPr lang="en-US" sz="3200" dirty="0"/>
          </a:p>
        </p:txBody>
      </p:sp>
      <p:sp>
        <p:nvSpPr>
          <p:cNvPr id="5" name="TextBox 5"/>
          <p:cNvSpPr txBox="1"/>
          <p:nvPr/>
        </p:nvSpPr>
        <p:spPr>
          <a:xfrm>
            <a:off x="5648662" y="1472882"/>
            <a:ext cx="10581938" cy="984885"/>
          </a:xfrm>
          <a:prstGeom prst="rect">
            <a:avLst/>
          </a:prstGeom>
        </p:spPr>
        <p:txBody>
          <a:bodyPr wrap="square" lIns="0" tIns="0" rIns="0" bIns="0" rtlCol="0" anchor="t">
            <a:spAutoFit/>
          </a:bodyPr>
          <a:lstStyle/>
          <a:p>
            <a:r>
              <a:rPr lang="vi-VN" sz="3000" i="1" dirty="0">
                <a:solidFill>
                  <a:schemeClr val="bg1"/>
                </a:solidFill>
                <a:latin typeface="Times New Roman" panose="02020603050405020304" pitchFamily="18" charset="0"/>
                <a:cs typeface="Times New Roman" panose="02020603050405020304" pitchFamily="18" charset="0"/>
              </a:rPr>
              <a:t>khoản 2</a:t>
            </a:r>
            <a:r>
              <a:rPr lang="en-US" sz="3000" i="1" dirty="0">
                <a:solidFill>
                  <a:schemeClr val="bg1"/>
                </a:solidFill>
                <a:latin typeface="Times New Roman" panose="02020603050405020304" pitchFamily="18" charset="0"/>
                <a:cs typeface="Times New Roman" panose="02020603050405020304" pitchFamily="18" charset="0"/>
              </a:rPr>
              <a:t>, </a:t>
            </a:r>
            <a:r>
              <a:rPr lang="en-US" sz="3000" i="1" dirty="0" err="1">
                <a:solidFill>
                  <a:schemeClr val="bg1"/>
                </a:solidFill>
                <a:latin typeface="Times New Roman" panose="02020603050405020304" pitchFamily="18" charset="0"/>
                <a:cs typeface="Times New Roman" panose="02020603050405020304" pitchFamily="18" charset="0"/>
              </a:rPr>
              <a:t>khoản</a:t>
            </a:r>
            <a:r>
              <a:rPr lang="en-US" sz="3000" i="1" dirty="0">
                <a:solidFill>
                  <a:schemeClr val="bg1"/>
                </a:solidFill>
                <a:latin typeface="Times New Roman" panose="02020603050405020304" pitchFamily="18" charset="0"/>
                <a:cs typeface="Times New Roman" panose="02020603050405020304" pitchFamily="18" charset="0"/>
              </a:rPr>
              <a:t> 5</a:t>
            </a:r>
            <a:r>
              <a:rPr lang="vi-VN" sz="3000" i="1" dirty="0">
                <a:solidFill>
                  <a:schemeClr val="bg1"/>
                </a:solidFill>
                <a:latin typeface="Times New Roman" panose="02020603050405020304" pitchFamily="18" charset="0"/>
                <a:cs typeface="Times New Roman" panose="02020603050405020304" pitchFamily="18" charset="0"/>
              </a:rPr>
              <a:t> Điều </a:t>
            </a:r>
            <a:r>
              <a:rPr lang="en-US" sz="3000" i="1" dirty="0">
                <a:solidFill>
                  <a:schemeClr val="bg1"/>
                </a:solidFill>
                <a:latin typeface="Times New Roman" panose="02020603050405020304" pitchFamily="18" charset="0"/>
                <a:cs typeface="Times New Roman" panose="02020603050405020304" pitchFamily="18" charset="0"/>
              </a:rPr>
              <a:t>2 </a:t>
            </a:r>
            <a:r>
              <a:rPr lang="en-US" sz="3000" i="1" dirty="0" err="1">
                <a:solidFill>
                  <a:schemeClr val="bg1"/>
                </a:solidFill>
                <a:latin typeface="Times New Roman" panose="02020603050405020304" pitchFamily="18" charset="0"/>
                <a:cs typeface="Times New Roman" panose="02020603050405020304" pitchFamily="18" charset="0"/>
              </a:rPr>
              <a:t>Thông</a:t>
            </a:r>
            <a:r>
              <a:rPr lang="en-US" sz="3000" i="1" dirty="0">
                <a:solidFill>
                  <a:schemeClr val="bg1"/>
                </a:solidFill>
                <a:latin typeface="Times New Roman" panose="02020603050405020304" pitchFamily="18" charset="0"/>
                <a:cs typeface="Times New Roman" panose="02020603050405020304" pitchFamily="18" charset="0"/>
              </a:rPr>
              <a:t> </a:t>
            </a:r>
            <a:r>
              <a:rPr lang="en-US" sz="3000" i="1" dirty="0" err="1">
                <a:solidFill>
                  <a:schemeClr val="bg1"/>
                </a:solidFill>
                <a:latin typeface="Times New Roman" panose="02020603050405020304" pitchFamily="18" charset="0"/>
                <a:cs typeface="Times New Roman" panose="02020603050405020304" pitchFamily="18" charset="0"/>
              </a:rPr>
              <a:t>tư</a:t>
            </a:r>
            <a:r>
              <a:rPr lang="en-US" sz="3000" i="1" dirty="0">
                <a:solidFill>
                  <a:schemeClr val="bg1"/>
                </a:solidFill>
                <a:latin typeface="Times New Roman" panose="02020603050405020304" pitchFamily="18" charset="0"/>
                <a:cs typeface="Times New Roman" panose="02020603050405020304" pitchFamily="18" charset="0"/>
              </a:rPr>
              <a:t> </a:t>
            </a:r>
            <a:r>
              <a:rPr lang="en-US" sz="3000" i="1" dirty="0" err="1">
                <a:solidFill>
                  <a:schemeClr val="bg1"/>
                </a:solidFill>
                <a:latin typeface="Times New Roman" panose="02020603050405020304" pitchFamily="18" charset="0"/>
                <a:cs typeface="Times New Roman" panose="02020603050405020304" pitchFamily="18" charset="0"/>
              </a:rPr>
              <a:t>số</a:t>
            </a:r>
            <a:r>
              <a:rPr lang="en-US" sz="3000" i="1" dirty="0">
                <a:solidFill>
                  <a:schemeClr val="bg1"/>
                </a:solidFill>
                <a:latin typeface="Times New Roman" panose="02020603050405020304" pitchFamily="18" charset="0"/>
                <a:cs typeface="Times New Roman" panose="02020603050405020304" pitchFamily="18" charset="0"/>
              </a:rPr>
              <a:t> 06/2022/TT-BTC</a:t>
            </a:r>
          </a:p>
          <a:p>
            <a:pPr lvl="0"/>
            <a:endParaRPr lang="en-US" sz="3200" dirty="0"/>
          </a:p>
        </p:txBody>
      </p:sp>
    </p:spTree>
    <p:extLst>
      <p:ext uri="{BB962C8B-B14F-4D97-AF65-F5344CB8AC3E}">
        <p14:creationId xmlns:p14="http://schemas.microsoft.com/office/powerpoint/2010/main" val="2907523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4" name="TextBox 4"/>
          <p:cNvSpPr txBox="1"/>
          <p:nvPr/>
        </p:nvSpPr>
        <p:spPr>
          <a:xfrm>
            <a:off x="990600" y="2433642"/>
            <a:ext cx="16001999" cy="3798476"/>
          </a:xfrm>
          <a:prstGeom prst="rect">
            <a:avLst/>
          </a:prstGeom>
        </p:spPr>
        <p:txBody>
          <a:bodyPr wrap="square" lIns="0" tIns="0" rIns="0" bIns="0" rtlCol="0" anchor="t">
            <a:spAutoFit/>
          </a:bodyPr>
          <a:lstStyle/>
          <a:p>
            <a:pPr marL="571500" indent="-571500" algn="just">
              <a:lnSpc>
                <a:spcPct val="200000"/>
              </a:lnSpc>
              <a:buFont typeface="Wingdings" panose="05000000000000000000" pitchFamily="2" charset="2"/>
              <a:buChar char="q"/>
            </a:pPr>
            <a:r>
              <a:rPr lang="vi-VN" sz="3200" b="1" dirty="0">
                <a:solidFill>
                  <a:schemeClr val="bg1"/>
                </a:solidFill>
                <a:latin typeface="Arial" panose="020B0604020202020204" pitchFamily="34" charset="0"/>
              </a:rPr>
              <a:t>Giám sát hoạt động ban hành văn bản và phổ biến, tuyên truyền</a:t>
            </a:r>
            <a:endParaRPr lang="en-US" sz="3200" b="1" dirty="0">
              <a:solidFill>
                <a:schemeClr val="bg1"/>
              </a:solidFill>
              <a:latin typeface="Arial" panose="020B0604020202020204" pitchFamily="34" charset="0"/>
            </a:endParaRPr>
          </a:p>
          <a:p>
            <a:pPr marL="571500" indent="-571500" algn="just">
              <a:lnSpc>
                <a:spcPct val="200000"/>
              </a:lnSpc>
              <a:buFont typeface="Wingdings" panose="05000000000000000000" pitchFamily="2" charset="2"/>
              <a:buChar char="q"/>
            </a:pPr>
            <a:r>
              <a:rPr lang="en-US" sz="3200" b="1" dirty="0" err="1">
                <a:solidFill>
                  <a:schemeClr val="bg1"/>
                </a:solidFill>
                <a:latin typeface="Arial" panose="020B0604020202020204" pitchFamily="34" charset="0"/>
              </a:rPr>
              <a:t>Giám</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sát</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hoạt</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động</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nghiệp</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vụ</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tại</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Sở</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giao</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dịch</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chứng</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khoán</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Việt</a:t>
            </a:r>
            <a:r>
              <a:rPr lang="en-US" sz="3200" b="1" dirty="0">
                <a:solidFill>
                  <a:schemeClr val="bg1"/>
                </a:solidFill>
                <a:latin typeface="Arial" panose="020B0604020202020204" pitchFamily="34" charset="0"/>
              </a:rPr>
              <a:t> Nam</a:t>
            </a:r>
          </a:p>
          <a:p>
            <a:pPr marL="571500" indent="-571500" algn="just">
              <a:lnSpc>
                <a:spcPct val="200000"/>
              </a:lnSpc>
              <a:buFont typeface="Wingdings" panose="05000000000000000000" pitchFamily="2" charset="2"/>
              <a:buChar char="q"/>
            </a:pPr>
            <a:r>
              <a:rPr lang="en-US" sz="3200" b="1" i="0" u="none" strike="noStrike" dirty="0" err="1">
                <a:solidFill>
                  <a:schemeClr val="bg1"/>
                </a:solidFill>
                <a:effectLst/>
                <a:latin typeface="Arial" panose="020B0604020202020204" pitchFamily="34" charset="0"/>
              </a:rPr>
              <a:t>Giám</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sát</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hoạt</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động</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nghiệp</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vụ</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tại</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Sở</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giao</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dịch</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Chứng</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khoán</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Thành</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phố</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Hồ</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Chí</a:t>
            </a:r>
            <a:r>
              <a:rPr lang="en-US" sz="3200" b="1" i="0" u="none" strike="noStrike" dirty="0">
                <a:solidFill>
                  <a:schemeClr val="bg1"/>
                </a:solidFill>
                <a:effectLst/>
                <a:latin typeface="Arial" panose="020B0604020202020204" pitchFamily="34" charset="0"/>
              </a:rPr>
              <a:t> Minh, </a:t>
            </a:r>
            <a:r>
              <a:rPr lang="en-US" sz="3200" b="1" i="0" u="none" strike="noStrike" dirty="0" err="1">
                <a:solidFill>
                  <a:schemeClr val="bg1"/>
                </a:solidFill>
                <a:effectLst/>
                <a:latin typeface="Arial" panose="020B0604020202020204" pitchFamily="34" charset="0"/>
              </a:rPr>
              <a:t>Sở</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giao</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dịch</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Chứng</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khoán</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Hà</a:t>
            </a:r>
            <a:r>
              <a:rPr lang="en-US" sz="3200" b="1" i="0" u="none" strike="noStrike" dirty="0">
                <a:solidFill>
                  <a:schemeClr val="bg1"/>
                </a:solidFill>
                <a:effectLst/>
                <a:latin typeface="Arial" panose="020B0604020202020204" pitchFamily="34" charset="0"/>
              </a:rPr>
              <a:t> </a:t>
            </a:r>
            <a:r>
              <a:rPr lang="en-US" sz="3200" b="1" i="0" u="none" strike="noStrike" dirty="0" err="1">
                <a:solidFill>
                  <a:schemeClr val="bg1"/>
                </a:solidFill>
                <a:effectLst/>
                <a:latin typeface="Arial" panose="020B0604020202020204" pitchFamily="34" charset="0"/>
              </a:rPr>
              <a:t>Nội</a:t>
            </a:r>
            <a:endParaRPr lang="en-US" sz="3000" b="1" dirty="0">
              <a:solidFill>
                <a:schemeClr val="bg1"/>
              </a:solidFill>
            </a:endParaRPr>
          </a:p>
        </p:txBody>
      </p:sp>
      <p:sp>
        <p:nvSpPr>
          <p:cNvPr id="5" name="TextBox 5"/>
          <p:cNvSpPr txBox="1"/>
          <p:nvPr/>
        </p:nvSpPr>
        <p:spPr>
          <a:xfrm>
            <a:off x="990600" y="876300"/>
            <a:ext cx="16764000" cy="1231106"/>
          </a:xfrm>
          <a:prstGeom prst="rect">
            <a:avLst/>
          </a:prstGeom>
        </p:spPr>
        <p:txBody>
          <a:bodyPr wrap="square" lIns="0" tIns="0" rIns="0" bIns="0" rtlCol="0" anchor="t">
            <a:spAutoFit/>
          </a:bodyPr>
          <a:lstStyle/>
          <a:p>
            <a:r>
              <a:rPr lang="en-US" sz="4000" b="1" i="1" dirty="0" err="1">
                <a:solidFill>
                  <a:srgbClr val="FFFFFF"/>
                </a:solidFill>
                <a:latin typeface="Arimo Bold Italics"/>
                <a:cs typeface="Arimo Bold Italics"/>
              </a:rPr>
              <a:t>Nội</a:t>
            </a:r>
            <a:r>
              <a:rPr lang="en-US" sz="4000" b="1" i="1" dirty="0">
                <a:solidFill>
                  <a:srgbClr val="FFFFFF"/>
                </a:solidFill>
                <a:latin typeface="Arimo Bold Italics"/>
                <a:cs typeface="Arimo Bold Italics"/>
              </a:rPr>
              <a:t> dung </a:t>
            </a:r>
            <a:r>
              <a:rPr lang="en-US" sz="4000" b="1" i="1" dirty="0" err="1">
                <a:solidFill>
                  <a:srgbClr val="FFFFFF"/>
                </a:solidFill>
                <a:latin typeface="Arimo Bold Italics"/>
                <a:cs typeface="Arimo Bold Italics"/>
              </a:rPr>
              <a:t>giám</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sát</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tuân</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thủ</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đối</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với</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Sở</a:t>
            </a:r>
            <a:r>
              <a:rPr lang="en-US" sz="4000" b="1" i="1" dirty="0">
                <a:solidFill>
                  <a:srgbClr val="FFFFFF"/>
                </a:solidFill>
                <a:latin typeface="Arimo Bold Italics"/>
                <a:cs typeface="Arimo Bold Italics"/>
              </a:rPr>
              <a:t> Giao </a:t>
            </a:r>
            <a:r>
              <a:rPr lang="en-US" sz="4000" b="1" i="1" dirty="0" err="1">
                <a:solidFill>
                  <a:srgbClr val="FFFFFF"/>
                </a:solidFill>
                <a:latin typeface="Arimo Bold Italics"/>
                <a:cs typeface="Arimo Bold Italics"/>
              </a:rPr>
              <a:t>dịch</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chứng</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khoán</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Việt</a:t>
            </a:r>
            <a:r>
              <a:rPr lang="en-US" sz="4000" b="1" i="1" dirty="0">
                <a:solidFill>
                  <a:srgbClr val="FFFFFF"/>
                </a:solidFill>
                <a:latin typeface="Arimo Bold Italics"/>
                <a:cs typeface="Arimo Bold Italics"/>
              </a:rPr>
              <a:t> Nam</a:t>
            </a:r>
          </a:p>
          <a:p>
            <a:pPr lvl="0"/>
            <a:endParaRPr lang="en-US" sz="4000" b="1" dirty="0"/>
          </a:p>
        </p:txBody>
      </p:sp>
    </p:spTree>
    <p:extLst>
      <p:ext uri="{BB962C8B-B14F-4D97-AF65-F5344CB8AC3E}">
        <p14:creationId xmlns:p14="http://schemas.microsoft.com/office/powerpoint/2010/main" val="334135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4" name="TextBox 4"/>
          <p:cNvSpPr txBox="1"/>
          <p:nvPr/>
        </p:nvSpPr>
        <p:spPr>
          <a:xfrm>
            <a:off x="990600" y="2433642"/>
            <a:ext cx="16001999" cy="1816972"/>
          </a:xfrm>
          <a:prstGeom prst="rect">
            <a:avLst/>
          </a:prstGeom>
        </p:spPr>
        <p:txBody>
          <a:bodyPr wrap="square" lIns="0" tIns="0" rIns="0" bIns="0" rtlCol="0" anchor="t">
            <a:spAutoFit/>
          </a:bodyPr>
          <a:lstStyle/>
          <a:p>
            <a:pPr marL="571500" indent="-571500" algn="just">
              <a:lnSpc>
                <a:spcPct val="200000"/>
              </a:lnSpc>
              <a:buFont typeface="Wingdings" panose="05000000000000000000" pitchFamily="2" charset="2"/>
              <a:buChar char="q"/>
            </a:pPr>
            <a:r>
              <a:rPr lang="vi-VN" sz="3200" b="1" dirty="0">
                <a:solidFill>
                  <a:schemeClr val="bg1"/>
                </a:solidFill>
                <a:latin typeface="Arial" panose="020B0604020202020204" pitchFamily="34" charset="0"/>
              </a:rPr>
              <a:t>Giám sát hoạt động ban hành văn bản và phổ biến, tuyên truyền</a:t>
            </a:r>
            <a:endParaRPr lang="en-US" sz="3200" b="1" dirty="0">
              <a:solidFill>
                <a:schemeClr val="bg1"/>
              </a:solidFill>
              <a:latin typeface="Arial" panose="020B0604020202020204" pitchFamily="34" charset="0"/>
            </a:endParaRPr>
          </a:p>
          <a:p>
            <a:pPr marL="571500" indent="-571500" algn="just">
              <a:lnSpc>
                <a:spcPct val="200000"/>
              </a:lnSpc>
              <a:buFont typeface="Wingdings" panose="05000000000000000000" pitchFamily="2" charset="2"/>
              <a:buChar char="q"/>
            </a:pPr>
            <a:r>
              <a:rPr lang="en-US" sz="3200" b="1" dirty="0" err="1">
                <a:solidFill>
                  <a:schemeClr val="bg1"/>
                </a:solidFill>
                <a:latin typeface="Arial" panose="020B0604020202020204" pitchFamily="34" charset="0"/>
              </a:rPr>
              <a:t>Giám</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sát</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hoạt</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động</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nghiệp</a:t>
            </a:r>
            <a:r>
              <a:rPr lang="en-US" sz="3200" b="1" dirty="0">
                <a:solidFill>
                  <a:schemeClr val="bg1"/>
                </a:solidFill>
                <a:latin typeface="Arial" panose="020B0604020202020204" pitchFamily="34" charset="0"/>
              </a:rPr>
              <a:t> </a:t>
            </a:r>
            <a:r>
              <a:rPr lang="en-US" sz="3200" b="1" dirty="0" err="1">
                <a:solidFill>
                  <a:schemeClr val="bg1"/>
                </a:solidFill>
                <a:latin typeface="Arial" panose="020B0604020202020204" pitchFamily="34" charset="0"/>
              </a:rPr>
              <a:t>vụ</a:t>
            </a:r>
            <a:endParaRPr lang="en-US" sz="3200" b="1" dirty="0">
              <a:solidFill>
                <a:schemeClr val="bg1"/>
              </a:solidFill>
              <a:latin typeface="Arial" panose="020B0604020202020204" pitchFamily="34" charset="0"/>
            </a:endParaRPr>
          </a:p>
        </p:txBody>
      </p:sp>
      <p:sp>
        <p:nvSpPr>
          <p:cNvPr id="5" name="TextBox 5"/>
          <p:cNvSpPr txBox="1"/>
          <p:nvPr/>
        </p:nvSpPr>
        <p:spPr>
          <a:xfrm>
            <a:off x="990600" y="876300"/>
            <a:ext cx="16764000" cy="1846659"/>
          </a:xfrm>
          <a:prstGeom prst="rect">
            <a:avLst/>
          </a:prstGeom>
        </p:spPr>
        <p:txBody>
          <a:bodyPr wrap="square" lIns="0" tIns="0" rIns="0" bIns="0" rtlCol="0" anchor="t">
            <a:spAutoFit/>
          </a:bodyPr>
          <a:lstStyle/>
          <a:p>
            <a:r>
              <a:rPr lang="en-US" sz="4000" b="1" i="1" dirty="0" err="1">
                <a:solidFill>
                  <a:srgbClr val="FFFFFF"/>
                </a:solidFill>
                <a:latin typeface="Arimo Bold Italics"/>
                <a:cs typeface="Arimo Bold Italics"/>
              </a:rPr>
              <a:t>Nội</a:t>
            </a:r>
            <a:r>
              <a:rPr lang="en-US" sz="4000" b="1" i="1" dirty="0">
                <a:solidFill>
                  <a:srgbClr val="FFFFFF"/>
                </a:solidFill>
                <a:latin typeface="Arimo Bold Italics"/>
                <a:cs typeface="Arimo Bold Italics"/>
              </a:rPr>
              <a:t> dung </a:t>
            </a:r>
            <a:r>
              <a:rPr lang="en-US" sz="4000" b="1" i="1" dirty="0" err="1">
                <a:solidFill>
                  <a:srgbClr val="FFFFFF"/>
                </a:solidFill>
                <a:latin typeface="Arimo Bold Italics"/>
                <a:cs typeface="Arimo Bold Italics"/>
              </a:rPr>
              <a:t>giám</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sát</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tuân</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thủ</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đối</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với</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Tổng</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công</a:t>
            </a:r>
            <a:r>
              <a:rPr lang="en-US" sz="4000" b="1" i="1" dirty="0">
                <a:solidFill>
                  <a:srgbClr val="FFFFFF"/>
                </a:solidFill>
                <a:latin typeface="Arimo Bold Italics"/>
                <a:cs typeface="Arimo Bold Italics"/>
              </a:rPr>
              <a:t> ty </a:t>
            </a:r>
            <a:r>
              <a:rPr lang="en-US" sz="4000" b="1" i="1" dirty="0" err="1">
                <a:solidFill>
                  <a:srgbClr val="FFFFFF"/>
                </a:solidFill>
                <a:latin typeface="Arimo Bold Italics"/>
                <a:cs typeface="Arimo Bold Italics"/>
              </a:rPr>
              <a:t>lưu</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ký</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và</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bù</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trừ</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chứng</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khoán</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Việt</a:t>
            </a:r>
            <a:r>
              <a:rPr lang="en-US" sz="4000" b="1" i="1" dirty="0">
                <a:solidFill>
                  <a:srgbClr val="FFFFFF"/>
                </a:solidFill>
                <a:latin typeface="Arimo Bold Italics"/>
                <a:cs typeface="Arimo Bold Italics"/>
              </a:rPr>
              <a:t> Nam</a:t>
            </a:r>
          </a:p>
          <a:p>
            <a:pPr lvl="0"/>
            <a:endParaRPr lang="en-US" sz="4000" b="1" dirty="0"/>
          </a:p>
        </p:txBody>
      </p:sp>
    </p:spTree>
    <p:extLst>
      <p:ext uri="{BB962C8B-B14F-4D97-AF65-F5344CB8AC3E}">
        <p14:creationId xmlns:p14="http://schemas.microsoft.com/office/powerpoint/2010/main" val="2248020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5" name="TextBox 5"/>
          <p:cNvSpPr txBox="1"/>
          <p:nvPr/>
        </p:nvSpPr>
        <p:spPr>
          <a:xfrm>
            <a:off x="990600" y="876300"/>
            <a:ext cx="16764000" cy="1231106"/>
          </a:xfrm>
          <a:prstGeom prst="rect">
            <a:avLst/>
          </a:prstGeom>
        </p:spPr>
        <p:txBody>
          <a:bodyPr wrap="square" lIns="0" tIns="0" rIns="0" bIns="0" rtlCol="0" anchor="t">
            <a:spAutoFit/>
          </a:bodyPr>
          <a:lstStyle/>
          <a:p>
            <a:r>
              <a:rPr lang="en-US" sz="4000" b="1" i="1" dirty="0" err="1">
                <a:solidFill>
                  <a:srgbClr val="FFFFFF"/>
                </a:solidFill>
                <a:latin typeface="Arimo Bold Italics"/>
                <a:cs typeface="Arimo Bold Italics"/>
              </a:rPr>
              <a:t>Phương</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thức</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giám</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sát</a:t>
            </a:r>
            <a:r>
              <a:rPr lang="en-US" sz="4000" b="1" i="1" dirty="0">
                <a:solidFill>
                  <a:srgbClr val="FFFFFF"/>
                </a:solidFill>
                <a:latin typeface="Arimo Bold Italics"/>
                <a:cs typeface="Arimo Bold Italics"/>
              </a:rPr>
              <a:t> </a:t>
            </a:r>
            <a:r>
              <a:rPr lang="en-US" sz="4000" b="1" i="1" dirty="0" err="1">
                <a:solidFill>
                  <a:srgbClr val="FFFFFF"/>
                </a:solidFill>
                <a:latin typeface="Arimo Bold Italics"/>
                <a:cs typeface="Arimo Bold Italics"/>
              </a:rPr>
              <a:t>của</a:t>
            </a:r>
            <a:r>
              <a:rPr lang="en-US" sz="4000" b="1" i="1" dirty="0">
                <a:solidFill>
                  <a:srgbClr val="FFFFFF"/>
                </a:solidFill>
                <a:latin typeface="Arimo Bold Italics"/>
                <a:cs typeface="Arimo Bold Italics"/>
              </a:rPr>
              <a:t> UBCKNN</a:t>
            </a:r>
          </a:p>
          <a:p>
            <a:pPr lvl="0"/>
            <a:endParaRPr lang="en-US" sz="4000" b="1" dirty="0"/>
          </a:p>
        </p:txBody>
      </p:sp>
      <p:grpSp>
        <p:nvGrpSpPr>
          <p:cNvPr id="9" name="Group 13">
            <a:extLst>
              <a:ext uri="{FF2B5EF4-FFF2-40B4-BE49-F238E27FC236}">
                <a16:creationId xmlns:a16="http://schemas.microsoft.com/office/drawing/2014/main" id="{857A90FE-4658-42AE-81F0-D48A801D6FBE}"/>
              </a:ext>
            </a:extLst>
          </p:cNvPr>
          <p:cNvGrpSpPr/>
          <p:nvPr/>
        </p:nvGrpSpPr>
        <p:grpSpPr>
          <a:xfrm>
            <a:off x="952995" y="4715223"/>
            <a:ext cx="14565998" cy="1240367"/>
            <a:chOff x="0" y="0"/>
            <a:chExt cx="17627933" cy="1653823"/>
          </a:xfrm>
        </p:grpSpPr>
        <p:sp>
          <p:nvSpPr>
            <p:cNvPr id="10" name="Freeform 14">
              <a:extLst>
                <a:ext uri="{FF2B5EF4-FFF2-40B4-BE49-F238E27FC236}">
                  <a16:creationId xmlns:a16="http://schemas.microsoft.com/office/drawing/2014/main" id="{33631AC9-BDD3-4A75-B7F2-81B1BCE90EE5}"/>
                </a:ext>
              </a:extLst>
            </p:cNvPr>
            <p:cNvSpPr/>
            <p:nvPr/>
          </p:nvSpPr>
          <p:spPr>
            <a:xfrm>
              <a:off x="4366077" y="1034553"/>
              <a:ext cx="619269" cy="619269"/>
            </a:xfrm>
            <a:custGeom>
              <a:avLst/>
              <a:gdLst/>
              <a:ahLst/>
              <a:cxnLst/>
              <a:rect l="l" t="t" r="r" b="b"/>
              <a:pathLst>
                <a:path w="619269" h="619269">
                  <a:moveTo>
                    <a:pt x="0" y="0"/>
                  </a:moveTo>
                  <a:lnTo>
                    <a:pt x="619270" y="0"/>
                  </a:lnTo>
                  <a:lnTo>
                    <a:pt x="619270" y="619270"/>
                  </a:lnTo>
                  <a:lnTo>
                    <a:pt x="0" y="6192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5">
              <a:extLst>
                <a:ext uri="{FF2B5EF4-FFF2-40B4-BE49-F238E27FC236}">
                  <a16:creationId xmlns:a16="http://schemas.microsoft.com/office/drawing/2014/main" id="{A6B80893-83A1-4484-9D6C-C49127CE6032}"/>
                </a:ext>
              </a:extLst>
            </p:cNvPr>
            <p:cNvGrpSpPr/>
            <p:nvPr/>
          </p:nvGrpSpPr>
          <p:grpSpPr>
            <a:xfrm>
              <a:off x="0" y="0"/>
              <a:ext cx="17627933" cy="1320691"/>
              <a:chOff x="0" y="0"/>
              <a:chExt cx="3482061" cy="260877"/>
            </a:xfrm>
          </p:grpSpPr>
          <p:sp>
            <p:nvSpPr>
              <p:cNvPr id="12" name="Freeform 16">
                <a:extLst>
                  <a:ext uri="{FF2B5EF4-FFF2-40B4-BE49-F238E27FC236}">
                    <a16:creationId xmlns:a16="http://schemas.microsoft.com/office/drawing/2014/main" id="{002F798F-360F-48C8-966D-E49F1BA8EC1C}"/>
                  </a:ext>
                </a:extLst>
              </p:cNvPr>
              <p:cNvSpPr/>
              <p:nvPr/>
            </p:nvSpPr>
            <p:spPr>
              <a:xfrm>
                <a:off x="0" y="0"/>
                <a:ext cx="3482061" cy="260877"/>
              </a:xfrm>
              <a:custGeom>
                <a:avLst/>
                <a:gdLst/>
                <a:ahLst/>
                <a:cxnLst/>
                <a:rect l="l" t="t" r="r" b="b"/>
                <a:pathLst>
                  <a:path w="3482061" h="260877">
                    <a:moveTo>
                      <a:pt x="29865" y="0"/>
                    </a:moveTo>
                    <a:lnTo>
                      <a:pt x="3452197" y="0"/>
                    </a:lnTo>
                    <a:cubicBezTo>
                      <a:pt x="3468690" y="0"/>
                      <a:pt x="3482061" y="13371"/>
                      <a:pt x="3482061" y="29865"/>
                    </a:cubicBezTo>
                    <a:lnTo>
                      <a:pt x="3482061" y="231013"/>
                    </a:lnTo>
                    <a:cubicBezTo>
                      <a:pt x="3482061" y="238933"/>
                      <a:pt x="3478915" y="246529"/>
                      <a:pt x="3473314" y="252130"/>
                    </a:cubicBezTo>
                    <a:cubicBezTo>
                      <a:pt x="3467713" y="257731"/>
                      <a:pt x="3460117" y="260877"/>
                      <a:pt x="3452197" y="260877"/>
                    </a:cubicBezTo>
                    <a:lnTo>
                      <a:pt x="29865" y="260877"/>
                    </a:lnTo>
                    <a:cubicBezTo>
                      <a:pt x="13371" y="260877"/>
                      <a:pt x="0" y="247506"/>
                      <a:pt x="0" y="231013"/>
                    </a:cubicBezTo>
                    <a:lnTo>
                      <a:pt x="0" y="29865"/>
                    </a:lnTo>
                    <a:cubicBezTo>
                      <a:pt x="0" y="13371"/>
                      <a:pt x="13371" y="0"/>
                      <a:pt x="29865" y="0"/>
                    </a:cubicBezTo>
                    <a:close/>
                  </a:path>
                </a:pathLst>
              </a:custGeom>
              <a:solidFill>
                <a:srgbClr val="1458DB"/>
              </a:solidFill>
            </p:spPr>
          </p:sp>
          <p:sp>
            <p:nvSpPr>
              <p:cNvPr id="13" name="TextBox 17">
                <a:extLst>
                  <a:ext uri="{FF2B5EF4-FFF2-40B4-BE49-F238E27FC236}">
                    <a16:creationId xmlns:a16="http://schemas.microsoft.com/office/drawing/2014/main" id="{C8B4B608-A412-4767-86C9-33E9A16CE235}"/>
                  </a:ext>
                </a:extLst>
              </p:cNvPr>
              <p:cNvSpPr txBox="1"/>
              <p:nvPr/>
            </p:nvSpPr>
            <p:spPr>
              <a:xfrm>
                <a:off x="0" y="-57150"/>
                <a:ext cx="3482061" cy="318027"/>
              </a:xfrm>
              <a:prstGeom prst="rect">
                <a:avLst/>
              </a:prstGeom>
            </p:spPr>
            <p:txBody>
              <a:bodyPr lIns="50800" tIns="50800" rIns="50800" bIns="50800" rtlCol="0" anchor="ctr"/>
              <a:lstStyle/>
              <a:p>
                <a:pPr algn="ctr">
                  <a:lnSpc>
                    <a:spcPts val="3638"/>
                  </a:lnSpc>
                </a:pPr>
                <a:endParaRPr/>
              </a:p>
            </p:txBody>
          </p:sp>
        </p:grpSp>
      </p:grpSp>
      <p:grpSp>
        <p:nvGrpSpPr>
          <p:cNvPr id="14" name="Group 29">
            <a:extLst>
              <a:ext uri="{FF2B5EF4-FFF2-40B4-BE49-F238E27FC236}">
                <a16:creationId xmlns:a16="http://schemas.microsoft.com/office/drawing/2014/main" id="{D34CDB50-6D83-4ED9-B37B-2C9771DA244E}"/>
              </a:ext>
            </a:extLst>
          </p:cNvPr>
          <p:cNvGrpSpPr/>
          <p:nvPr/>
        </p:nvGrpSpPr>
        <p:grpSpPr>
          <a:xfrm>
            <a:off x="1132472" y="4898988"/>
            <a:ext cx="729717" cy="729717"/>
            <a:chOff x="0" y="0"/>
            <a:chExt cx="972956" cy="972956"/>
          </a:xfrm>
        </p:grpSpPr>
        <p:sp>
          <p:nvSpPr>
            <p:cNvPr id="15" name="Freeform 30">
              <a:extLst>
                <a:ext uri="{FF2B5EF4-FFF2-40B4-BE49-F238E27FC236}">
                  <a16:creationId xmlns:a16="http://schemas.microsoft.com/office/drawing/2014/main" id="{7EE1AD49-BA95-475C-9E59-309DA145F44C}"/>
                </a:ext>
              </a:extLst>
            </p:cNvPr>
            <p:cNvSpPr/>
            <p:nvPr/>
          </p:nvSpPr>
          <p:spPr>
            <a:xfrm>
              <a:off x="0" y="0"/>
              <a:ext cx="972947" cy="972947"/>
            </a:xfrm>
            <a:custGeom>
              <a:avLst/>
              <a:gdLst/>
              <a:ahLst/>
              <a:cxnLst/>
              <a:rect l="l" t="t" r="r" b="b"/>
              <a:pathLst>
                <a:path w="972947" h="972947">
                  <a:moveTo>
                    <a:pt x="486537" y="0"/>
                  </a:moveTo>
                  <a:cubicBezTo>
                    <a:pt x="217805" y="0"/>
                    <a:pt x="0" y="217805"/>
                    <a:pt x="0" y="486537"/>
                  </a:cubicBezTo>
                  <a:cubicBezTo>
                    <a:pt x="0" y="755269"/>
                    <a:pt x="217805" y="972947"/>
                    <a:pt x="486537" y="972947"/>
                  </a:cubicBezTo>
                  <a:cubicBezTo>
                    <a:pt x="755269" y="972947"/>
                    <a:pt x="972947" y="755142"/>
                    <a:pt x="972947" y="486537"/>
                  </a:cubicBezTo>
                  <a:cubicBezTo>
                    <a:pt x="972947" y="217932"/>
                    <a:pt x="755142" y="0"/>
                    <a:pt x="486537" y="0"/>
                  </a:cubicBezTo>
                  <a:close/>
                </a:path>
              </a:pathLst>
            </a:custGeom>
            <a:gradFill rotWithShape="1">
              <a:gsLst>
                <a:gs pos="0">
                  <a:srgbClr val="8C52FF">
                    <a:alpha val="100000"/>
                  </a:srgbClr>
                </a:gs>
                <a:gs pos="100000">
                  <a:srgbClr val="FF914D">
                    <a:alpha val="100000"/>
                  </a:srgbClr>
                </a:gs>
              </a:gsLst>
              <a:lin ang="0"/>
            </a:gradFill>
          </p:spPr>
        </p:sp>
      </p:grpSp>
      <p:sp>
        <p:nvSpPr>
          <p:cNvPr id="16" name="TextBox 37">
            <a:extLst>
              <a:ext uri="{FF2B5EF4-FFF2-40B4-BE49-F238E27FC236}">
                <a16:creationId xmlns:a16="http://schemas.microsoft.com/office/drawing/2014/main" id="{2A0A3E5F-18F1-4704-B172-8A2465315E69}"/>
              </a:ext>
            </a:extLst>
          </p:cNvPr>
          <p:cNvSpPr txBox="1"/>
          <p:nvPr/>
        </p:nvSpPr>
        <p:spPr>
          <a:xfrm>
            <a:off x="2107792" y="4911650"/>
            <a:ext cx="12927338" cy="602729"/>
          </a:xfrm>
          <a:prstGeom prst="rect">
            <a:avLst/>
          </a:prstGeom>
        </p:spPr>
        <p:txBody>
          <a:bodyPr lIns="0" tIns="0" rIns="0" bIns="0" rtlCol="0" anchor="t">
            <a:spAutoFit/>
          </a:bodyPr>
          <a:lstStyle/>
          <a:p>
            <a:pPr algn="l">
              <a:lnSpc>
                <a:spcPts val="4723"/>
              </a:lnSpc>
            </a:pPr>
            <a:r>
              <a:rPr lang="en-US" sz="4000" dirty="0" err="1">
                <a:solidFill>
                  <a:srgbClr val="FFFFFF"/>
                </a:solidFill>
                <a:latin typeface="Noto Sans"/>
                <a:sym typeface="Noto Sans"/>
              </a:rPr>
              <a:t>Giám</a:t>
            </a:r>
            <a:r>
              <a:rPr lang="en-US" sz="4000" dirty="0">
                <a:solidFill>
                  <a:srgbClr val="FFFFFF"/>
                </a:solidFill>
                <a:latin typeface="Noto Sans"/>
                <a:sym typeface="Noto Sans"/>
              </a:rPr>
              <a:t> </a:t>
            </a:r>
            <a:r>
              <a:rPr lang="en-US" sz="4000" dirty="0" err="1">
                <a:solidFill>
                  <a:srgbClr val="FFFFFF"/>
                </a:solidFill>
                <a:latin typeface="Noto Sans"/>
                <a:sym typeface="Noto Sans"/>
              </a:rPr>
              <a:t>sát</a:t>
            </a:r>
            <a:r>
              <a:rPr lang="en-US" sz="4000" dirty="0">
                <a:solidFill>
                  <a:srgbClr val="FFFFFF"/>
                </a:solidFill>
                <a:latin typeface="Noto Sans"/>
                <a:sym typeface="Noto Sans"/>
              </a:rPr>
              <a:t> </a:t>
            </a:r>
            <a:r>
              <a:rPr lang="en-US" sz="4000" dirty="0" err="1">
                <a:solidFill>
                  <a:srgbClr val="FFFFFF"/>
                </a:solidFill>
                <a:latin typeface="Noto Sans"/>
                <a:sym typeface="Noto Sans"/>
              </a:rPr>
              <a:t>tại</a:t>
            </a:r>
            <a:r>
              <a:rPr lang="en-US" sz="4000" dirty="0">
                <a:solidFill>
                  <a:srgbClr val="FFFFFF"/>
                </a:solidFill>
                <a:latin typeface="Noto Sans"/>
                <a:sym typeface="Noto Sans"/>
              </a:rPr>
              <a:t> </a:t>
            </a:r>
            <a:r>
              <a:rPr lang="en-US" sz="4000" dirty="0" err="1">
                <a:solidFill>
                  <a:srgbClr val="FFFFFF"/>
                </a:solidFill>
                <a:latin typeface="Noto Sans"/>
                <a:sym typeface="Noto Sans"/>
              </a:rPr>
              <a:t>chỗ</a:t>
            </a:r>
            <a:endParaRPr lang="en-US" sz="4000" dirty="0">
              <a:solidFill>
                <a:srgbClr val="FFFFFF"/>
              </a:solidFill>
              <a:latin typeface="Noto Sans"/>
              <a:sym typeface="Noto Sans"/>
            </a:endParaRPr>
          </a:p>
        </p:txBody>
      </p:sp>
      <p:grpSp>
        <p:nvGrpSpPr>
          <p:cNvPr id="17" name="Group 13">
            <a:extLst>
              <a:ext uri="{FF2B5EF4-FFF2-40B4-BE49-F238E27FC236}">
                <a16:creationId xmlns:a16="http://schemas.microsoft.com/office/drawing/2014/main" id="{05E52E42-8513-475B-9673-22B2C67F133B}"/>
              </a:ext>
            </a:extLst>
          </p:cNvPr>
          <p:cNvGrpSpPr/>
          <p:nvPr/>
        </p:nvGrpSpPr>
        <p:grpSpPr>
          <a:xfrm>
            <a:off x="990600" y="2552700"/>
            <a:ext cx="14565998" cy="1240367"/>
            <a:chOff x="0" y="0"/>
            <a:chExt cx="17627933" cy="1653823"/>
          </a:xfrm>
        </p:grpSpPr>
        <p:sp>
          <p:nvSpPr>
            <p:cNvPr id="18" name="Freeform 14">
              <a:extLst>
                <a:ext uri="{FF2B5EF4-FFF2-40B4-BE49-F238E27FC236}">
                  <a16:creationId xmlns:a16="http://schemas.microsoft.com/office/drawing/2014/main" id="{8F232DB0-8D9B-4C5A-A4F1-5FAEA9D1099D}"/>
                </a:ext>
              </a:extLst>
            </p:cNvPr>
            <p:cNvSpPr/>
            <p:nvPr/>
          </p:nvSpPr>
          <p:spPr>
            <a:xfrm>
              <a:off x="4366077" y="1034553"/>
              <a:ext cx="619269" cy="619269"/>
            </a:xfrm>
            <a:custGeom>
              <a:avLst/>
              <a:gdLst/>
              <a:ahLst/>
              <a:cxnLst/>
              <a:rect l="l" t="t" r="r" b="b"/>
              <a:pathLst>
                <a:path w="619269" h="619269">
                  <a:moveTo>
                    <a:pt x="0" y="0"/>
                  </a:moveTo>
                  <a:lnTo>
                    <a:pt x="619270" y="0"/>
                  </a:lnTo>
                  <a:lnTo>
                    <a:pt x="619270" y="619270"/>
                  </a:lnTo>
                  <a:lnTo>
                    <a:pt x="0" y="6192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15">
              <a:extLst>
                <a:ext uri="{FF2B5EF4-FFF2-40B4-BE49-F238E27FC236}">
                  <a16:creationId xmlns:a16="http://schemas.microsoft.com/office/drawing/2014/main" id="{6487FE79-2682-43BA-951F-049613550274}"/>
                </a:ext>
              </a:extLst>
            </p:cNvPr>
            <p:cNvGrpSpPr/>
            <p:nvPr/>
          </p:nvGrpSpPr>
          <p:grpSpPr>
            <a:xfrm>
              <a:off x="0" y="0"/>
              <a:ext cx="17627933" cy="1320691"/>
              <a:chOff x="0" y="0"/>
              <a:chExt cx="3482061" cy="260877"/>
            </a:xfrm>
          </p:grpSpPr>
          <p:sp>
            <p:nvSpPr>
              <p:cNvPr id="20" name="Freeform 16">
                <a:extLst>
                  <a:ext uri="{FF2B5EF4-FFF2-40B4-BE49-F238E27FC236}">
                    <a16:creationId xmlns:a16="http://schemas.microsoft.com/office/drawing/2014/main" id="{58AB9030-A9BF-45A4-9671-BE8D4BB10710}"/>
                  </a:ext>
                </a:extLst>
              </p:cNvPr>
              <p:cNvSpPr/>
              <p:nvPr/>
            </p:nvSpPr>
            <p:spPr>
              <a:xfrm>
                <a:off x="0" y="0"/>
                <a:ext cx="3482061" cy="260877"/>
              </a:xfrm>
              <a:custGeom>
                <a:avLst/>
                <a:gdLst/>
                <a:ahLst/>
                <a:cxnLst/>
                <a:rect l="l" t="t" r="r" b="b"/>
                <a:pathLst>
                  <a:path w="3482061" h="260877">
                    <a:moveTo>
                      <a:pt x="29865" y="0"/>
                    </a:moveTo>
                    <a:lnTo>
                      <a:pt x="3452197" y="0"/>
                    </a:lnTo>
                    <a:cubicBezTo>
                      <a:pt x="3468690" y="0"/>
                      <a:pt x="3482061" y="13371"/>
                      <a:pt x="3482061" y="29865"/>
                    </a:cubicBezTo>
                    <a:lnTo>
                      <a:pt x="3482061" y="231013"/>
                    </a:lnTo>
                    <a:cubicBezTo>
                      <a:pt x="3482061" y="238933"/>
                      <a:pt x="3478915" y="246529"/>
                      <a:pt x="3473314" y="252130"/>
                    </a:cubicBezTo>
                    <a:cubicBezTo>
                      <a:pt x="3467713" y="257731"/>
                      <a:pt x="3460117" y="260877"/>
                      <a:pt x="3452197" y="260877"/>
                    </a:cubicBezTo>
                    <a:lnTo>
                      <a:pt x="29865" y="260877"/>
                    </a:lnTo>
                    <a:cubicBezTo>
                      <a:pt x="13371" y="260877"/>
                      <a:pt x="0" y="247506"/>
                      <a:pt x="0" y="231013"/>
                    </a:cubicBezTo>
                    <a:lnTo>
                      <a:pt x="0" y="29865"/>
                    </a:lnTo>
                    <a:cubicBezTo>
                      <a:pt x="0" y="13371"/>
                      <a:pt x="13371" y="0"/>
                      <a:pt x="29865" y="0"/>
                    </a:cubicBezTo>
                    <a:close/>
                  </a:path>
                </a:pathLst>
              </a:custGeom>
              <a:solidFill>
                <a:srgbClr val="1458DB"/>
              </a:solidFill>
            </p:spPr>
          </p:sp>
          <p:sp>
            <p:nvSpPr>
              <p:cNvPr id="21" name="TextBox 17">
                <a:extLst>
                  <a:ext uri="{FF2B5EF4-FFF2-40B4-BE49-F238E27FC236}">
                    <a16:creationId xmlns:a16="http://schemas.microsoft.com/office/drawing/2014/main" id="{53588754-F9E6-4C52-9B67-6498524F40A7}"/>
                  </a:ext>
                </a:extLst>
              </p:cNvPr>
              <p:cNvSpPr txBox="1"/>
              <p:nvPr/>
            </p:nvSpPr>
            <p:spPr>
              <a:xfrm>
                <a:off x="0" y="-57150"/>
                <a:ext cx="3482061" cy="318027"/>
              </a:xfrm>
              <a:prstGeom prst="rect">
                <a:avLst/>
              </a:prstGeom>
            </p:spPr>
            <p:txBody>
              <a:bodyPr lIns="50800" tIns="50800" rIns="50800" bIns="50800" rtlCol="0" anchor="ctr"/>
              <a:lstStyle/>
              <a:p>
                <a:pPr algn="ctr">
                  <a:lnSpc>
                    <a:spcPts val="3638"/>
                  </a:lnSpc>
                </a:pPr>
                <a:endParaRPr/>
              </a:p>
            </p:txBody>
          </p:sp>
        </p:grpSp>
      </p:grpSp>
      <p:grpSp>
        <p:nvGrpSpPr>
          <p:cNvPr id="22" name="Group 29">
            <a:extLst>
              <a:ext uri="{FF2B5EF4-FFF2-40B4-BE49-F238E27FC236}">
                <a16:creationId xmlns:a16="http://schemas.microsoft.com/office/drawing/2014/main" id="{75190BE6-9297-47C5-ACDB-746B020D0E64}"/>
              </a:ext>
            </a:extLst>
          </p:cNvPr>
          <p:cNvGrpSpPr/>
          <p:nvPr/>
        </p:nvGrpSpPr>
        <p:grpSpPr>
          <a:xfrm>
            <a:off x="1170077" y="2736465"/>
            <a:ext cx="729717" cy="729717"/>
            <a:chOff x="0" y="0"/>
            <a:chExt cx="972956" cy="972956"/>
          </a:xfrm>
        </p:grpSpPr>
        <p:sp>
          <p:nvSpPr>
            <p:cNvPr id="23" name="Freeform 30">
              <a:extLst>
                <a:ext uri="{FF2B5EF4-FFF2-40B4-BE49-F238E27FC236}">
                  <a16:creationId xmlns:a16="http://schemas.microsoft.com/office/drawing/2014/main" id="{34013B05-B478-4890-ABB1-78C0355B2132}"/>
                </a:ext>
              </a:extLst>
            </p:cNvPr>
            <p:cNvSpPr/>
            <p:nvPr/>
          </p:nvSpPr>
          <p:spPr>
            <a:xfrm>
              <a:off x="0" y="0"/>
              <a:ext cx="972947" cy="972947"/>
            </a:xfrm>
            <a:custGeom>
              <a:avLst/>
              <a:gdLst/>
              <a:ahLst/>
              <a:cxnLst/>
              <a:rect l="l" t="t" r="r" b="b"/>
              <a:pathLst>
                <a:path w="972947" h="972947">
                  <a:moveTo>
                    <a:pt x="486537" y="0"/>
                  </a:moveTo>
                  <a:cubicBezTo>
                    <a:pt x="217805" y="0"/>
                    <a:pt x="0" y="217805"/>
                    <a:pt x="0" y="486537"/>
                  </a:cubicBezTo>
                  <a:cubicBezTo>
                    <a:pt x="0" y="755269"/>
                    <a:pt x="217805" y="972947"/>
                    <a:pt x="486537" y="972947"/>
                  </a:cubicBezTo>
                  <a:cubicBezTo>
                    <a:pt x="755269" y="972947"/>
                    <a:pt x="972947" y="755142"/>
                    <a:pt x="972947" y="486537"/>
                  </a:cubicBezTo>
                  <a:cubicBezTo>
                    <a:pt x="972947" y="217932"/>
                    <a:pt x="755142" y="0"/>
                    <a:pt x="486537" y="0"/>
                  </a:cubicBezTo>
                  <a:close/>
                </a:path>
              </a:pathLst>
            </a:custGeom>
            <a:gradFill rotWithShape="1">
              <a:gsLst>
                <a:gs pos="0">
                  <a:srgbClr val="8C52FF">
                    <a:alpha val="100000"/>
                  </a:srgbClr>
                </a:gs>
                <a:gs pos="100000">
                  <a:srgbClr val="FF914D">
                    <a:alpha val="100000"/>
                  </a:srgbClr>
                </a:gs>
              </a:gsLst>
              <a:lin ang="0"/>
            </a:gradFill>
          </p:spPr>
        </p:sp>
      </p:grpSp>
      <p:sp>
        <p:nvSpPr>
          <p:cNvPr id="24" name="TextBox 37">
            <a:extLst>
              <a:ext uri="{FF2B5EF4-FFF2-40B4-BE49-F238E27FC236}">
                <a16:creationId xmlns:a16="http://schemas.microsoft.com/office/drawing/2014/main" id="{E6BB49B5-F237-49F0-857D-3AF55DBFEC05}"/>
              </a:ext>
            </a:extLst>
          </p:cNvPr>
          <p:cNvSpPr txBox="1"/>
          <p:nvPr/>
        </p:nvSpPr>
        <p:spPr>
          <a:xfrm>
            <a:off x="2145397" y="2749127"/>
            <a:ext cx="12927338" cy="602729"/>
          </a:xfrm>
          <a:prstGeom prst="rect">
            <a:avLst/>
          </a:prstGeom>
        </p:spPr>
        <p:txBody>
          <a:bodyPr lIns="0" tIns="0" rIns="0" bIns="0" rtlCol="0" anchor="t">
            <a:spAutoFit/>
          </a:bodyPr>
          <a:lstStyle/>
          <a:p>
            <a:pPr algn="l">
              <a:lnSpc>
                <a:spcPts val="4723"/>
              </a:lnSpc>
            </a:pPr>
            <a:r>
              <a:rPr lang="en-US" sz="4000" dirty="0" err="1">
                <a:solidFill>
                  <a:srgbClr val="FFFFFF"/>
                </a:solidFill>
                <a:latin typeface="Noto Sans"/>
                <a:sym typeface="Noto Sans"/>
              </a:rPr>
              <a:t>Giám</a:t>
            </a:r>
            <a:r>
              <a:rPr lang="en-US" sz="4000" dirty="0">
                <a:solidFill>
                  <a:srgbClr val="FFFFFF"/>
                </a:solidFill>
                <a:latin typeface="Noto Sans"/>
                <a:sym typeface="Noto Sans"/>
              </a:rPr>
              <a:t> </a:t>
            </a:r>
            <a:r>
              <a:rPr lang="en-US" sz="4000" dirty="0" err="1">
                <a:solidFill>
                  <a:srgbClr val="FFFFFF"/>
                </a:solidFill>
                <a:latin typeface="Noto Sans"/>
                <a:sym typeface="Noto Sans"/>
              </a:rPr>
              <a:t>sát</a:t>
            </a:r>
            <a:r>
              <a:rPr lang="en-US" sz="4000" dirty="0">
                <a:solidFill>
                  <a:srgbClr val="FFFFFF"/>
                </a:solidFill>
                <a:latin typeface="Noto Sans"/>
                <a:sym typeface="Noto Sans"/>
              </a:rPr>
              <a:t> </a:t>
            </a:r>
            <a:r>
              <a:rPr lang="en-US" sz="4000" dirty="0" err="1">
                <a:solidFill>
                  <a:srgbClr val="FFFFFF"/>
                </a:solidFill>
                <a:latin typeface="Noto Sans"/>
                <a:sym typeface="Noto Sans"/>
              </a:rPr>
              <a:t>từ</a:t>
            </a:r>
            <a:r>
              <a:rPr lang="en-US" sz="4000" dirty="0">
                <a:solidFill>
                  <a:srgbClr val="FFFFFF"/>
                </a:solidFill>
                <a:latin typeface="Noto Sans"/>
                <a:sym typeface="Noto Sans"/>
              </a:rPr>
              <a:t> </a:t>
            </a:r>
            <a:r>
              <a:rPr lang="en-US" sz="4000" dirty="0" err="1">
                <a:solidFill>
                  <a:srgbClr val="FFFFFF"/>
                </a:solidFill>
                <a:latin typeface="Noto Sans"/>
                <a:sym typeface="Noto Sans"/>
              </a:rPr>
              <a:t>xa</a:t>
            </a:r>
            <a:endParaRPr lang="en-US" sz="4000" dirty="0">
              <a:solidFill>
                <a:srgbClr val="FFFFFF"/>
              </a:solidFill>
              <a:latin typeface="Noto Sans"/>
              <a:sym typeface="Noto Sans"/>
            </a:endParaRPr>
          </a:p>
        </p:txBody>
      </p:sp>
    </p:spTree>
    <p:extLst>
      <p:ext uri="{BB962C8B-B14F-4D97-AF65-F5344CB8AC3E}">
        <p14:creationId xmlns:p14="http://schemas.microsoft.com/office/powerpoint/2010/main" val="3973959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0" y="0"/>
            <a:ext cx="5036092" cy="10287000"/>
          </a:xfrm>
          <a:prstGeom prst="rect">
            <a:avLst/>
          </a:prstGeom>
          <a:solidFill>
            <a:srgbClr val="D87A40"/>
          </a:solidFill>
        </p:spPr>
      </p:sp>
      <p:sp>
        <p:nvSpPr>
          <p:cNvPr id="3" name="TextBox 3"/>
          <p:cNvSpPr txBox="1"/>
          <p:nvPr/>
        </p:nvSpPr>
        <p:spPr>
          <a:xfrm>
            <a:off x="523981" y="2794109"/>
            <a:ext cx="4200419" cy="1904239"/>
          </a:xfrm>
          <a:prstGeom prst="rect">
            <a:avLst/>
          </a:prstGeom>
        </p:spPr>
        <p:txBody>
          <a:bodyPr wrap="square" lIns="0" tIns="0" rIns="0" bIns="0" rtlCol="0" anchor="t">
            <a:spAutoFit/>
          </a:bodyPr>
          <a:lstStyle/>
          <a:p>
            <a:pPr>
              <a:lnSpc>
                <a:spcPts val="7874"/>
              </a:lnSpc>
            </a:pPr>
            <a:r>
              <a:rPr lang="en-US" sz="4500" b="1" i="1" dirty="0" err="1">
                <a:solidFill>
                  <a:srgbClr val="FFFFFF"/>
                </a:solidFill>
                <a:latin typeface="Arimo Bold Italics"/>
              </a:rPr>
              <a:t>Giám</a:t>
            </a:r>
            <a:r>
              <a:rPr lang="en-US" sz="4500" b="1" i="1" dirty="0">
                <a:solidFill>
                  <a:srgbClr val="FFFFFF"/>
                </a:solidFill>
                <a:latin typeface="Arimo Bold Italics"/>
              </a:rPr>
              <a:t> </a:t>
            </a:r>
            <a:r>
              <a:rPr lang="en-US" sz="4500" b="1" i="1" dirty="0" err="1">
                <a:solidFill>
                  <a:srgbClr val="FFFFFF"/>
                </a:solidFill>
                <a:latin typeface="Arimo Bold Italics"/>
              </a:rPr>
              <a:t>sát</a:t>
            </a:r>
            <a:r>
              <a:rPr lang="en-US" sz="4500" b="1" i="1" dirty="0">
                <a:solidFill>
                  <a:srgbClr val="FFFFFF"/>
                </a:solidFill>
                <a:latin typeface="Arimo Bold Italics"/>
              </a:rPr>
              <a:t> </a:t>
            </a:r>
            <a:r>
              <a:rPr lang="en-US" sz="4500" b="1" i="1" dirty="0" err="1">
                <a:solidFill>
                  <a:srgbClr val="FFFFFF"/>
                </a:solidFill>
                <a:latin typeface="Arimo Bold Italics"/>
              </a:rPr>
              <a:t>từ</a:t>
            </a:r>
            <a:r>
              <a:rPr lang="en-US" sz="4500" b="1" i="1" dirty="0">
                <a:solidFill>
                  <a:srgbClr val="FFFFFF"/>
                </a:solidFill>
                <a:latin typeface="Arimo Bold Italics"/>
              </a:rPr>
              <a:t> </a:t>
            </a:r>
            <a:r>
              <a:rPr lang="en-US" sz="4500" b="1" i="1" dirty="0" err="1">
                <a:solidFill>
                  <a:srgbClr val="FFFFFF"/>
                </a:solidFill>
                <a:latin typeface="Arimo Bold Italics"/>
              </a:rPr>
              <a:t>xa</a:t>
            </a:r>
            <a:endParaRPr lang="en-US" sz="4500" b="1" i="1" dirty="0">
              <a:solidFill>
                <a:srgbClr val="FFFFFF"/>
              </a:solidFill>
              <a:latin typeface="Arimo Bold Italics"/>
            </a:endParaRPr>
          </a:p>
          <a:p>
            <a:pPr marL="0" lvl="0" indent="0">
              <a:lnSpc>
                <a:spcPts val="7874"/>
              </a:lnSpc>
            </a:pPr>
            <a:endParaRPr lang="en-US" sz="4500" b="1" i="1" dirty="0">
              <a:solidFill>
                <a:srgbClr val="FFFFFF"/>
              </a:solidFill>
              <a:latin typeface="Arimo Bold Italics"/>
            </a:endParaRPr>
          </a:p>
        </p:txBody>
      </p:sp>
      <p:sp>
        <p:nvSpPr>
          <p:cNvPr id="4" name="TextBox 4"/>
          <p:cNvSpPr txBox="1"/>
          <p:nvPr/>
        </p:nvSpPr>
        <p:spPr>
          <a:xfrm>
            <a:off x="5648662" y="2433642"/>
            <a:ext cx="11343937" cy="5416868"/>
          </a:xfrm>
          <a:prstGeom prst="rect">
            <a:avLst/>
          </a:prstGeom>
        </p:spPr>
        <p:txBody>
          <a:bodyPr wrap="square" lIns="0" tIns="0" rIns="0" bIns="0" rtlCol="0" anchor="t">
            <a:spAutoFit/>
          </a:bodyPr>
          <a:lstStyle/>
          <a:p>
            <a:pPr lvl="0" algn="just"/>
            <a:r>
              <a:rPr lang="vi-VN" sz="3200" b="0" i="0" dirty="0">
                <a:solidFill>
                  <a:schemeClr val="bg1"/>
                </a:solidFill>
                <a:effectLst/>
                <a:latin typeface="Arial" panose="020B0604020202020204" pitchFamily="34" charset="0"/>
              </a:rPr>
              <a:t>Ủy ban Chứng khoán Nhà nước thực hiện giám sát tuân thủ trên cơ sở báo cáo của Sở giao dịch chứng khoán Việt Nam và các công ty con, Tổng công ty lưu ký và bù trừ chứng khoán Việt Nam theo quy định tại </a:t>
            </a:r>
            <a:r>
              <a:rPr lang="vi-VN" sz="3200" b="0" i="0" u="none" strike="noStrike" dirty="0">
                <a:solidFill>
                  <a:schemeClr val="bg1"/>
                </a:solidFill>
                <a:effectLst/>
                <a:latin typeface="Arial" panose="020B0604020202020204" pitchFamily="34" charset="0"/>
              </a:rPr>
              <a:t>khoản 3 Điều 5</a:t>
            </a:r>
            <a:r>
              <a:rPr lang="vi-VN" sz="3200" b="0" i="0" dirty="0">
                <a:solidFill>
                  <a:schemeClr val="bg1"/>
                </a:solidFill>
                <a:effectLst/>
                <a:latin typeface="Arial" panose="020B0604020202020204" pitchFamily="34" charset="0"/>
              </a:rPr>
              <a:t> và </a:t>
            </a:r>
            <a:r>
              <a:rPr lang="vi-VN" sz="3200" b="0" i="0" u="none" strike="noStrike" dirty="0">
                <a:solidFill>
                  <a:schemeClr val="bg1"/>
                </a:solidFill>
                <a:effectLst/>
                <a:latin typeface="Arial" panose="020B0604020202020204" pitchFamily="34" charset="0"/>
              </a:rPr>
              <a:t>Chương IV Thông tư này</a:t>
            </a:r>
            <a:r>
              <a:rPr lang="vi-VN" sz="3200" b="0" i="0" dirty="0">
                <a:solidFill>
                  <a:schemeClr val="bg1"/>
                </a:solidFill>
                <a:effectLst/>
                <a:latin typeface="Arial" panose="020B0604020202020204" pitchFamily="34" charset="0"/>
              </a:rPr>
              <a:t>; phản ánh của các tổ chức, cá nhân hoạt động trên thị trường chứng khoán và các nguồn tin trên phương tiện thông tin đại chúng liên quan đến việc tuân thủ quy định pháp luật trong việc tổ chức và thực hiện các hoạt động nghiệp vụ chứng khoán của Sở giao dịch chứng khoán Việt Nam và các công ty con, Tổng công ty lưu ký và bù trừ chứng khoán Việt Nam.</a:t>
            </a:r>
            <a:endParaRPr lang="en-US" sz="3200" dirty="0">
              <a:solidFill>
                <a:schemeClr val="bg1"/>
              </a:solidFill>
            </a:endParaRPr>
          </a:p>
        </p:txBody>
      </p:sp>
    </p:spTree>
    <p:extLst>
      <p:ext uri="{BB962C8B-B14F-4D97-AF65-F5344CB8AC3E}">
        <p14:creationId xmlns:p14="http://schemas.microsoft.com/office/powerpoint/2010/main" val="2649536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74E36"/>
        </a:solidFill>
        <a:effectLst/>
      </p:bgPr>
    </p:bg>
    <p:spTree>
      <p:nvGrpSpPr>
        <p:cNvPr id="1" name=""/>
        <p:cNvGrpSpPr/>
        <p:nvPr/>
      </p:nvGrpSpPr>
      <p:grpSpPr>
        <a:xfrm>
          <a:off x="0" y="0"/>
          <a:ext cx="0" cy="0"/>
          <a:chOff x="0" y="0"/>
          <a:chExt cx="0" cy="0"/>
        </a:xfrm>
      </p:grpSpPr>
      <p:sp>
        <p:nvSpPr>
          <p:cNvPr id="2" name="AutoShape 2"/>
          <p:cNvSpPr/>
          <p:nvPr/>
        </p:nvSpPr>
        <p:spPr>
          <a:xfrm>
            <a:off x="0" y="0"/>
            <a:ext cx="5036092" cy="10287000"/>
          </a:xfrm>
          <a:prstGeom prst="rect">
            <a:avLst/>
          </a:prstGeom>
          <a:solidFill>
            <a:srgbClr val="D87A40"/>
          </a:solidFill>
        </p:spPr>
      </p:sp>
      <p:sp>
        <p:nvSpPr>
          <p:cNvPr id="3" name="TextBox 3"/>
          <p:cNvSpPr txBox="1"/>
          <p:nvPr/>
        </p:nvSpPr>
        <p:spPr>
          <a:xfrm>
            <a:off x="523981" y="2794109"/>
            <a:ext cx="4200419" cy="1904239"/>
          </a:xfrm>
          <a:prstGeom prst="rect">
            <a:avLst/>
          </a:prstGeom>
        </p:spPr>
        <p:txBody>
          <a:bodyPr wrap="square" lIns="0" tIns="0" rIns="0" bIns="0" rtlCol="0" anchor="t">
            <a:spAutoFit/>
          </a:bodyPr>
          <a:lstStyle/>
          <a:p>
            <a:pPr>
              <a:lnSpc>
                <a:spcPts val="7874"/>
              </a:lnSpc>
            </a:pPr>
            <a:r>
              <a:rPr lang="en-US" sz="4500" b="1" i="1" dirty="0" err="1">
                <a:solidFill>
                  <a:srgbClr val="FFFFFF"/>
                </a:solidFill>
                <a:latin typeface="Arimo Bold Italics"/>
              </a:rPr>
              <a:t>Giám</a:t>
            </a:r>
            <a:r>
              <a:rPr lang="en-US" sz="4500" b="1" i="1" dirty="0">
                <a:solidFill>
                  <a:srgbClr val="FFFFFF"/>
                </a:solidFill>
                <a:latin typeface="Arimo Bold Italics"/>
              </a:rPr>
              <a:t> </a:t>
            </a:r>
            <a:r>
              <a:rPr lang="en-US" sz="4500" b="1" i="1" dirty="0" err="1">
                <a:solidFill>
                  <a:srgbClr val="FFFFFF"/>
                </a:solidFill>
                <a:latin typeface="Arimo Bold Italics"/>
              </a:rPr>
              <a:t>sát</a:t>
            </a:r>
            <a:r>
              <a:rPr lang="en-US" sz="4500" b="1" i="1" dirty="0">
                <a:solidFill>
                  <a:srgbClr val="FFFFFF"/>
                </a:solidFill>
                <a:latin typeface="Arimo Bold Italics"/>
              </a:rPr>
              <a:t> </a:t>
            </a:r>
            <a:r>
              <a:rPr lang="en-US" sz="4500" b="1" i="1" dirty="0" err="1">
                <a:solidFill>
                  <a:srgbClr val="FFFFFF"/>
                </a:solidFill>
                <a:latin typeface="Arimo Bold Italics"/>
              </a:rPr>
              <a:t>tại</a:t>
            </a:r>
            <a:r>
              <a:rPr lang="en-US" sz="4500" b="1" i="1" dirty="0">
                <a:solidFill>
                  <a:srgbClr val="FFFFFF"/>
                </a:solidFill>
                <a:latin typeface="Arimo Bold Italics"/>
              </a:rPr>
              <a:t> </a:t>
            </a:r>
            <a:r>
              <a:rPr lang="en-US" sz="4500" b="1" i="1" dirty="0" err="1">
                <a:solidFill>
                  <a:srgbClr val="FFFFFF"/>
                </a:solidFill>
                <a:latin typeface="Arimo Bold Italics"/>
              </a:rPr>
              <a:t>chỗ</a:t>
            </a:r>
            <a:endParaRPr lang="en-US" sz="4500" b="1" i="1" dirty="0">
              <a:solidFill>
                <a:srgbClr val="FFFFFF"/>
              </a:solidFill>
              <a:latin typeface="Arimo Bold Italics"/>
            </a:endParaRPr>
          </a:p>
          <a:p>
            <a:pPr marL="0" lvl="0" indent="0">
              <a:lnSpc>
                <a:spcPts val="7874"/>
              </a:lnSpc>
            </a:pPr>
            <a:endParaRPr lang="en-US" sz="4500" b="1" i="1" dirty="0">
              <a:solidFill>
                <a:srgbClr val="FFFFFF"/>
              </a:solidFill>
              <a:latin typeface="Arimo Bold Italics"/>
            </a:endParaRPr>
          </a:p>
        </p:txBody>
      </p:sp>
      <p:sp>
        <p:nvSpPr>
          <p:cNvPr id="4" name="TextBox 4"/>
          <p:cNvSpPr txBox="1"/>
          <p:nvPr/>
        </p:nvSpPr>
        <p:spPr>
          <a:xfrm>
            <a:off x="5619450" y="2171700"/>
            <a:ext cx="11343937" cy="5091137"/>
          </a:xfrm>
          <a:prstGeom prst="rect">
            <a:avLst/>
          </a:prstGeom>
        </p:spPr>
        <p:txBody>
          <a:bodyPr wrap="square" lIns="0" tIns="0" rIns="0" bIns="0" rtlCol="0" anchor="t">
            <a:spAutoFit/>
          </a:bodyPr>
          <a:lstStyle/>
          <a:p>
            <a:pPr lvl="0" algn="just">
              <a:lnSpc>
                <a:spcPct val="150000"/>
              </a:lnSpc>
            </a:pPr>
            <a:r>
              <a:rPr lang="vi-VN" sz="3200" b="0" i="0" dirty="0">
                <a:solidFill>
                  <a:schemeClr val="bg1"/>
                </a:solidFill>
                <a:effectLst/>
                <a:latin typeface="Arial" panose="020B0604020202020204" pitchFamily="34" charset="0"/>
              </a:rPr>
              <a:t>Trên cơ sở kế hoạch thanh tra; kiểm tra giám sát tuân thủ hàng năm, Ủy ban Chứng khoán Nhà nước thực hiện thanh tra, kiểm tra định kỳ đối với Sở giao dịch chứng khoán Việt Nam và các công ty con, Tổng công ty lưu ký và bù trừ chứng khoán Việt Nam và tổ chức kiểm tra đột xuất khi cần thiết.</a:t>
            </a:r>
            <a:endParaRPr lang="en-US" sz="3200" b="0" i="0" dirty="0">
              <a:solidFill>
                <a:schemeClr val="bg1"/>
              </a:solidFill>
              <a:effectLst/>
              <a:latin typeface="Arial" panose="020B0604020202020204" pitchFamily="34" charset="0"/>
            </a:endParaRPr>
          </a:p>
          <a:p>
            <a:pPr marL="457200" lvl="0" indent="-457200" algn="just">
              <a:lnSpc>
                <a:spcPct val="150000"/>
              </a:lnSpc>
              <a:buFont typeface="Wingdings" panose="05000000000000000000" pitchFamily="2" charset="2"/>
              <a:buChar char="q"/>
            </a:pPr>
            <a:r>
              <a:rPr lang="en-US" sz="3200" dirty="0" err="1">
                <a:solidFill>
                  <a:schemeClr val="bg1"/>
                </a:solidFill>
                <a:latin typeface="Arial" panose="020B0604020202020204" pitchFamily="34" charset="0"/>
              </a:rPr>
              <a:t>Kiểm</a:t>
            </a:r>
            <a:r>
              <a:rPr lang="en-US" sz="3200" dirty="0">
                <a:solidFill>
                  <a:schemeClr val="bg1"/>
                </a:solidFill>
                <a:latin typeface="Arial" panose="020B0604020202020204" pitchFamily="34" charset="0"/>
              </a:rPr>
              <a:t> </a:t>
            </a:r>
            <a:r>
              <a:rPr lang="en-US" sz="3200" dirty="0" err="1">
                <a:solidFill>
                  <a:schemeClr val="bg1"/>
                </a:solidFill>
                <a:latin typeface="Arial" panose="020B0604020202020204" pitchFamily="34" charset="0"/>
              </a:rPr>
              <a:t>tra</a:t>
            </a:r>
            <a:r>
              <a:rPr lang="en-US" sz="3200" dirty="0">
                <a:solidFill>
                  <a:schemeClr val="bg1"/>
                </a:solidFill>
                <a:latin typeface="Arial" panose="020B0604020202020204" pitchFamily="34" charset="0"/>
              </a:rPr>
              <a:t> </a:t>
            </a:r>
            <a:r>
              <a:rPr lang="en-US" sz="3200" dirty="0" err="1">
                <a:solidFill>
                  <a:schemeClr val="bg1"/>
                </a:solidFill>
                <a:latin typeface="Arial" panose="020B0604020202020204" pitchFamily="34" charset="0"/>
              </a:rPr>
              <a:t>định</a:t>
            </a:r>
            <a:r>
              <a:rPr lang="en-US" sz="3200" dirty="0">
                <a:solidFill>
                  <a:schemeClr val="bg1"/>
                </a:solidFill>
                <a:latin typeface="Arial" panose="020B0604020202020204" pitchFamily="34" charset="0"/>
              </a:rPr>
              <a:t> </a:t>
            </a:r>
            <a:r>
              <a:rPr lang="en-US" sz="3200" dirty="0" err="1">
                <a:solidFill>
                  <a:schemeClr val="bg1"/>
                </a:solidFill>
                <a:latin typeface="Arial" panose="020B0604020202020204" pitchFamily="34" charset="0"/>
              </a:rPr>
              <a:t>kỳ</a:t>
            </a:r>
            <a:r>
              <a:rPr lang="en-US" sz="3200" dirty="0">
                <a:solidFill>
                  <a:schemeClr val="bg1"/>
                </a:solidFill>
                <a:latin typeface="Arial" panose="020B0604020202020204" pitchFamily="34" charset="0"/>
              </a:rPr>
              <a:t> 1 </a:t>
            </a:r>
            <a:r>
              <a:rPr lang="en-US" sz="3200" dirty="0" err="1">
                <a:solidFill>
                  <a:schemeClr val="bg1"/>
                </a:solidFill>
                <a:latin typeface="Arial" panose="020B0604020202020204" pitchFamily="34" charset="0"/>
              </a:rPr>
              <a:t>lần</a:t>
            </a:r>
            <a:r>
              <a:rPr lang="en-US" sz="3200" dirty="0">
                <a:solidFill>
                  <a:schemeClr val="bg1"/>
                </a:solidFill>
                <a:latin typeface="Arial" panose="020B0604020202020204" pitchFamily="34" charset="0"/>
              </a:rPr>
              <a:t>/</a:t>
            </a:r>
            <a:r>
              <a:rPr lang="en-US" sz="3200" dirty="0" err="1">
                <a:solidFill>
                  <a:schemeClr val="bg1"/>
                </a:solidFill>
                <a:latin typeface="Arial" panose="020B0604020202020204" pitchFamily="34" charset="0"/>
              </a:rPr>
              <a:t>năm</a:t>
            </a:r>
            <a:endParaRPr lang="en-US" sz="3200" dirty="0">
              <a:solidFill>
                <a:schemeClr val="bg1"/>
              </a:solidFill>
              <a:latin typeface="Arial" panose="020B0604020202020204" pitchFamily="34" charset="0"/>
            </a:endParaRPr>
          </a:p>
          <a:p>
            <a:pPr marL="457200" lvl="0" indent="-457200" algn="just">
              <a:lnSpc>
                <a:spcPct val="150000"/>
              </a:lnSpc>
              <a:buFont typeface="Wingdings" panose="05000000000000000000" pitchFamily="2" charset="2"/>
              <a:buChar char="q"/>
            </a:pPr>
            <a:r>
              <a:rPr lang="en-US" sz="3200" dirty="0" err="1">
                <a:solidFill>
                  <a:schemeClr val="bg1"/>
                </a:solidFill>
                <a:latin typeface="Arial" panose="020B0604020202020204" pitchFamily="34" charset="0"/>
              </a:rPr>
              <a:t>Kiểm</a:t>
            </a:r>
            <a:r>
              <a:rPr lang="en-US" sz="3200" dirty="0">
                <a:solidFill>
                  <a:schemeClr val="bg1"/>
                </a:solidFill>
                <a:latin typeface="Arial" panose="020B0604020202020204" pitchFamily="34" charset="0"/>
              </a:rPr>
              <a:t> </a:t>
            </a:r>
            <a:r>
              <a:rPr lang="en-US" sz="3200" dirty="0" err="1">
                <a:solidFill>
                  <a:schemeClr val="bg1"/>
                </a:solidFill>
                <a:latin typeface="Arial" panose="020B0604020202020204" pitchFamily="34" charset="0"/>
              </a:rPr>
              <a:t>tra</a:t>
            </a:r>
            <a:r>
              <a:rPr lang="en-US" sz="3200" dirty="0">
                <a:solidFill>
                  <a:schemeClr val="bg1"/>
                </a:solidFill>
                <a:latin typeface="Arial" panose="020B0604020202020204" pitchFamily="34" charset="0"/>
              </a:rPr>
              <a:t> </a:t>
            </a:r>
            <a:r>
              <a:rPr lang="en-US" sz="3200" dirty="0" err="1">
                <a:solidFill>
                  <a:schemeClr val="bg1"/>
                </a:solidFill>
                <a:latin typeface="Arial" panose="020B0604020202020204" pitchFamily="34" charset="0"/>
              </a:rPr>
              <a:t>đột</a:t>
            </a:r>
            <a:r>
              <a:rPr lang="en-US" sz="3200" dirty="0">
                <a:solidFill>
                  <a:schemeClr val="bg1"/>
                </a:solidFill>
                <a:latin typeface="Arial" panose="020B0604020202020204" pitchFamily="34" charset="0"/>
              </a:rPr>
              <a:t> </a:t>
            </a:r>
            <a:r>
              <a:rPr lang="en-US" sz="3200" dirty="0" err="1">
                <a:solidFill>
                  <a:schemeClr val="bg1"/>
                </a:solidFill>
                <a:latin typeface="Arial" panose="020B0604020202020204" pitchFamily="34" charset="0"/>
              </a:rPr>
              <a:t>xuất</a:t>
            </a:r>
            <a:r>
              <a:rPr lang="en-US" sz="3200" dirty="0">
                <a:solidFill>
                  <a:schemeClr val="bg1"/>
                </a:solidFill>
                <a:latin typeface="Arial" panose="020B0604020202020204" pitchFamily="34" charset="0"/>
              </a:rPr>
              <a:t> (</a:t>
            </a:r>
            <a:r>
              <a:rPr lang="en-US" sz="3200" dirty="0" err="1">
                <a:solidFill>
                  <a:schemeClr val="bg1"/>
                </a:solidFill>
                <a:latin typeface="Arial" panose="020B0604020202020204" pitchFamily="34" charset="0"/>
              </a:rPr>
              <a:t>khi</a:t>
            </a:r>
            <a:r>
              <a:rPr lang="en-US" sz="3200" dirty="0">
                <a:solidFill>
                  <a:schemeClr val="bg1"/>
                </a:solidFill>
                <a:latin typeface="Arial" panose="020B0604020202020204" pitchFamily="34" charset="0"/>
              </a:rPr>
              <a:t> </a:t>
            </a:r>
            <a:r>
              <a:rPr lang="en-US" sz="3200" dirty="0" err="1">
                <a:solidFill>
                  <a:schemeClr val="bg1"/>
                </a:solidFill>
                <a:latin typeface="Arial" panose="020B0604020202020204" pitchFamily="34" charset="0"/>
              </a:rPr>
              <a:t>cần</a:t>
            </a:r>
            <a:r>
              <a:rPr lang="en-US" sz="3200" dirty="0">
                <a:solidFill>
                  <a:schemeClr val="bg1"/>
                </a:solidFill>
                <a:latin typeface="Arial" panose="020B0604020202020204" pitchFamily="34" charset="0"/>
              </a:rPr>
              <a:t> </a:t>
            </a:r>
            <a:r>
              <a:rPr lang="en-US" sz="3200" dirty="0" err="1">
                <a:solidFill>
                  <a:schemeClr val="bg1"/>
                </a:solidFill>
                <a:latin typeface="Arial" panose="020B0604020202020204" pitchFamily="34" charset="0"/>
              </a:rPr>
              <a:t>thiết</a:t>
            </a:r>
            <a:r>
              <a:rPr lang="en-US" sz="3200" dirty="0">
                <a:solidFill>
                  <a:schemeClr val="bg1"/>
                </a:solidFill>
                <a:latin typeface="Arial" panose="020B0604020202020204" pitchFamily="34" charset="0"/>
              </a:rPr>
              <a:t>)</a:t>
            </a:r>
            <a:endParaRPr lang="en-US" sz="3200" dirty="0">
              <a:solidFill>
                <a:schemeClr val="bg1"/>
              </a:solidFill>
            </a:endParaRPr>
          </a:p>
        </p:txBody>
      </p:sp>
    </p:spTree>
    <p:extLst>
      <p:ext uri="{BB962C8B-B14F-4D97-AF65-F5344CB8AC3E}">
        <p14:creationId xmlns:p14="http://schemas.microsoft.com/office/powerpoint/2010/main" val="445997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t="3125" b="3125"/>
          <a:stretch>
            <a:fillRect/>
          </a:stretch>
        </p:blipFill>
        <p:spPr>
          <a:xfrm>
            <a:off x="0" y="0"/>
            <a:ext cx="18288000" cy="10287000"/>
          </a:xfrm>
          <a:prstGeom prst="rect">
            <a:avLst/>
          </a:prstGeom>
        </p:spPr>
      </p:pic>
      <p:sp>
        <p:nvSpPr>
          <p:cNvPr id="3" name="TextBox 3"/>
          <p:cNvSpPr txBox="1"/>
          <p:nvPr/>
        </p:nvSpPr>
        <p:spPr>
          <a:xfrm>
            <a:off x="752274" y="2404628"/>
            <a:ext cx="7811437" cy="3820595"/>
          </a:xfrm>
          <a:prstGeom prst="rect">
            <a:avLst/>
          </a:prstGeom>
        </p:spPr>
        <p:txBody>
          <a:bodyPr lIns="0" tIns="0" rIns="0" bIns="0" rtlCol="0" anchor="t">
            <a:spAutoFit/>
          </a:bodyPr>
          <a:lstStyle/>
          <a:p>
            <a:pPr>
              <a:lnSpc>
                <a:spcPts val="13979"/>
              </a:lnSpc>
            </a:pPr>
            <a:r>
              <a:rPr lang="en-US" sz="15031">
                <a:solidFill>
                  <a:srgbClr val="FFFFFF"/>
                </a:solidFill>
                <a:latin typeface="Poppins Bold"/>
              </a:rPr>
              <a:t>Thank You</a:t>
            </a:r>
          </a:p>
        </p:txBody>
      </p:sp>
      <p:grpSp>
        <p:nvGrpSpPr>
          <p:cNvPr id="4" name="Group 4"/>
          <p:cNvGrpSpPr/>
          <p:nvPr/>
        </p:nvGrpSpPr>
        <p:grpSpPr>
          <a:xfrm>
            <a:off x="3053704" y="7772382"/>
            <a:ext cx="2277692" cy="1327592"/>
            <a:chOff x="0" y="0"/>
            <a:chExt cx="526842" cy="307079"/>
          </a:xfrm>
        </p:grpSpPr>
        <p:sp>
          <p:nvSpPr>
            <p:cNvPr id="5" name="Freeform 5"/>
            <p:cNvSpPr/>
            <p:nvPr/>
          </p:nvSpPr>
          <p:spPr>
            <a:xfrm>
              <a:off x="0" y="0"/>
              <a:ext cx="526842" cy="307079"/>
            </a:xfrm>
            <a:custGeom>
              <a:avLst/>
              <a:gdLst/>
              <a:ahLst/>
              <a:cxnLst/>
              <a:rect l="l" t="t" r="r" b="b"/>
              <a:pathLst>
                <a:path w="526842" h="307079">
                  <a:moveTo>
                    <a:pt x="203200" y="0"/>
                  </a:moveTo>
                  <a:lnTo>
                    <a:pt x="526842" y="0"/>
                  </a:lnTo>
                  <a:lnTo>
                    <a:pt x="323642" y="307079"/>
                  </a:lnTo>
                  <a:lnTo>
                    <a:pt x="0" y="307079"/>
                  </a:lnTo>
                  <a:lnTo>
                    <a:pt x="203200" y="0"/>
                  </a:lnTo>
                  <a:close/>
                </a:path>
              </a:pathLst>
            </a:custGeom>
            <a:solidFill>
              <a:srgbClr val="000000">
                <a:alpha val="0"/>
              </a:srgbClr>
            </a:solidFill>
            <a:ln w="85725">
              <a:solidFill>
                <a:srgbClr val="FFFFFF"/>
              </a:solidFill>
            </a:ln>
          </p:spPr>
        </p:sp>
        <p:sp>
          <p:nvSpPr>
            <p:cNvPr id="6" name="TextBox 6"/>
            <p:cNvSpPr txBox="1"/>
            <p:nvPr/>
          </p:nvSpPr>
          <p:spPr>
            <a:xfrm>
              <a:off x="101600" y="-76200"/>
              <a:ext cx="609600" cy="685800"/>
            </a:xfrm>
            <a:prstGeom prst="rect">
              <a:avLst/>
            </a:prstGeom>
          </p:spPr>
          <p:txBody>
            <a:bodyPr lIns="50800" tIns="50800" rIns="50800" bIns="50800" rtlCol="0" anchor="ctr"/>
            <a:lstStyle/>
            <a:p>
              <a:pPr algn="ctr">
                <a:lnSpc>
                  <a:spcPts val="3518"/>
                </a:lnSpc>
              </a:pPr>
              <a:endParaRPr/>
            </a:p>
          </p:txBody>
        </p:sp>
      </p:grpSp>
      <p:grpSp>
        <p:nvGrpSpPr>
          <p:cNvPr id="7" name="Group 7"/>
          <p:cNvGrpSpPr/>
          <p:nvPr/>
        </p:nvGrpSpPr>
        <p:grpSpPr>
          <a:xfrm>
            <a:off x="5255696" y="1370394"/>
            <a:ext cx="13683986" cy="7188092"/>
            <a:chOff x="0" y="0"/>
            <a:chExt cx="575658" cy="302389"/>
          </a:xfrm>
        </p:grpSpPr>
        <p:sp>
          <p:nvSpPr>
            <p:cNvPr id="8" name="Freeform 8"/>
            <p:cNvSpPr/>
            <p:nvPr/>
          </p:nvSpPr>
          <p:spPr>
            <a:xfrm>
              <a:off x="0" y="0"/>
              <a:ext cx="575658" cy="302389"/>
            </a:xfrm>
            <a:custGeom>
              <a:avLst/>
              <a:gdLst/>
              <a:ahLst/>
              <a:cxnLst/>
              <a:rect l="l" t="t" r="r" b="b"/>
              <a:pathLst>
                <a:path w="575658" h="302389">
                  <a:moveTo>
                    <a:pt x="203200" y="0"/>
                  </a:moveTo>
                  <a:lnTo>
                    <a:pt x="575658" y="0"/>
                  </a:lnTo>
                  <a:lnTo>
                    <a:pt x="372458" y="302389"/>
                  </a:lnTo>
                  <a:lnTo>
                    <a:pt x="0" y="302389"/>
                  </a:lnTo>
                  <a:lnTo>
                    <a:pt x="203200" y="0"/>
                  </a:lnTo>
                  <a:close/>
                </a:path>
              </a:pathLst>
            </a:custGeom>
            <a:solidFill>
              <a:srgbClr val="FFFFFF"/>
            </a:solidFill>
          </p:spPr>
        </p:sp>
        <p:sp>
          <p:nvSpPr>
            <p:cNvPr id="9" name="TextBox 9"/>
            <p:cNvSpPr txBox="1"/>
            <p:nvPr/>
          </p:nvSpPr>
          <p:spPr>
            <a:xfrm>
              <a:off x="101600" y="-76200"/>
              <a:ext cx="609600" cy="685800"/>
            </a:xfrm>
            <a:prstGeom prst="rect">
              <a:avLst/>
            </a:prstGeom>
          </p:spPr>
          <p:txBody>
            <a:bodyPr lIns="50800" tIns="50800" rIns="50800" bIns="50800" rtlCol="0" anchor="ctr"/>
            <a:lstStyle/>
            <a:p>
              <a:pPr algn="ctr">
                <a:lnSpc>
                  <a:spcPts val="3518"/>
                </a:lnSpc>
              </a:pPr>
              <a:endParaRPr/>
            </a:p>
          </p:txBody>
        </p:sp>
      </p:grpSp>
      <p:grpSp>
        <p:nvGrpSpPr>
          <p:cNvPr id="10" name="Group 10"/>
          <p:cNvGrpSpPr>
            <a:grpSpLocks noChangeAspect="1"/>
          </p:cNvGrpSpPr>
          <p:nvPr/>
        </p:nvGrpSpPr>
        <p:grpSpPr>
          <a:xfrm>
            <a:off x="5775653" y="1201139"/>
            <a:ext cx="14467075" cy="8057161"/>
            <a:chOff x="0" y="0"/>
            <a:chExt cx="37874435" cy="21093443"/>
          </a:xfrm>
        </p:grpSpPr>
        <p:sp>
          <p:nvSpPr>
            <p:cNvPr id="11" name="Freeform 11"/>
            <p:cNvSpPr/>
            <p:nvPr/>
          </p:nvSpPr>
          <p:spPr>
            <a:xfrm>
              <a:off x="0" y="0"/>
              <a:ext cx="37874448" cy="21093430"/>
            </a:xfrm>
            <a:custGeom>
              <a:avLst/>
              <a:gdLst/>
              <a:ahLst/>
              <a:cxnLst/>
              <a:rect l="l" t="t" r="r" b="b"/>
              <a:pathLst>
                <a:path w="37874448" h="21093430">
                  <a:moveTo>
                    <a:pt x="14343507" y="0"/>
                  </a:moveTo>
                  <a:lnTo>
                    <a:pt x="0" y="21093430"/>
                  </a:lnTo>
                  <a:lnTo>
                    <a:pt x="37874448" y="21093430"/>
                  </a:lnTo>
                  <a:lnTo>
                    <a:pt x="37874448" y="0"/>
                  </a:lnTo>
                  <a:close/>
                </a:path>
              </a:pathLst>
            </a:custGeom>
            <a:blipFill>
              <a:blip r:embed="rId3"/>
              <a:stretch>
                <a:fillRect t="-5391" b="-14237"/>
              </a:stretch>
            </a:blipFill>
          </p:spPr>
        </p:sp>
      </p:grpSp>
      <p:grpSp>
        <p:nvGrpSpPr>
          <p:cNvPr id="12" name="Group 12"/>
          <p:cNvGrpSpPr/>
          <p:nvPr/>
        </p:nvGrpSpPr>
        <p:grpSpPr>
          <a:xfrm>
            <a:off x="3946807" y="7939053"/>
            <a:ext cx="15143960" cy="995781"/>
            <a:chOff x="0" y="0"/>
            <a:chExt cx="4670092" cy="307079"/>
          </a:xfrm>
        </p:grpSpPr>
        <p:sp>
          <p:nvSpPr>
            <p:cNvPr id="13" name="Freeform 13"/>
            <p:cNvSpPr/>
            <p:nvPr/>
          </p:nvSpPr>
          <p:spPr>
            <a:xfrm>
              <a:off x="0" y="0"/>
              <a:ext cx="4670092" cy="307079"/>
            </a:xfrm>
            <a:custGeom>
              <a:avLst/>
              <a:gdLst/>
              <a:ahLst/>
              <a:cxnLst/>
              <a:rect l="l" t="t" r="r" b="b"/>
              <a:pathLst>
                <a:path w="4670092" h="307079">
                  <a:moveTo>
                    <a:pt x="203200" y="0"/>
                  </a:moveTo>
                  <a:lnTo>
                    <a:pt x="4670092" y="0"/>
                  </a:lnTo>
                  <a:lnTo>
                    <a:pt x="4466892" y="307079"/>
                  </a:lnTo>
                  <a:lnTo>
                    <a:pt x="0" y="307079"/>
                  </a:lnTo>
                  <a:lnTo>
                    <a:pt x="203200" y="0"/>
                  </a:lnTo>
                  <a:close/>
                </a:path>
              </a:pathLst>
            </a:custGeom>
            <a:solidFill>
              <a:srgbClr val="D87A40"/>
            </a:solidFill>
          </p:spPr>
        </p:sp>
        <p:sp>
          <p:nvSpPr>
            <p:cNvPr id="14" name="TextBox 14"/>
            <p:cNvSpPr txBox="1"/>
            <p:nvPr/>
          </p:nvSpPr>
          <p:spPr>
            <a:xfrm>
              <a:off x="101600" y="-76200"/>
              <a:ext cx="609600" cy="685800"/>
            </a:xfrm>
            <a:prstGeom prst="rect">
              <a:avLst/>
            </a:prstGeom>
          </p:spPr>
          <p:txBody>
            <a:bodyPr lIns="50800" tIns="50800" rIns="50800" bIns="50800" rtlCol="0" anchor="ctr"/>
            <a:lstStyle/>
            <a:p>
              <a:pPr algn="ctr">
                <a:lnSpc>
                  <a:spcPts val="3518"/>
                </a:lnSpc>
              </a:pPr>
              <a:endParaRPr/>
            </a:p>
          </p:txBody>
        </p:sp>
      </p:grpSp>
      <p:grpSp>
        <p:nvGrpSpPr>
          <p:cNvPr id="15" name="Group 15"/>
          <p:cNvGrpSpPr/>
          <p:nvPr/>
        </p:nvGrpSpPr>
        <p:grpSpPr>
          <a:xfrm>
            <a:off x="11518787" y="-455290"/>
            <a:ext cx="8901066" cy="1407281"/>
            <a:chOff x="0" y="0"/>
            <a:chExt cx="1942276" cy="307079"/>
          </a:xfrm>
        </p:grpSpPr>
        <p:sp>
          <p:nvSpPr>
            <p:cNvPr id="16" name="Freeform 16"/>
            <p:cNvSpPr/>
            <p:nvPr/>
          </p:nvSpPr>
          <p:spPr>
            <a:xfrm>
              <a:off x="0" y="0"/>
              <a:ext cx="1942276" cy="307079"/>
            </a:xfrm>
            <a:custGeom>
              <a:avLst/>
              <a:gdLst/>
              <a:ahLst/>
              <a:cxnLst/>
              <a:rect l="l" t="t" r="r" b="b"/>
              <a:pathLst>
                <a:path w="1942276" h="307079">
                  <a:moveTo>
                    <a:pt x="203200" y="0"/>
                  </a:moveTo>
                  <a:lnTo>
                    <a:pt x="1942276" y="0"/>
                  </a:lnTo>
                  <a:lnTo>
                    <a:pt x="1739076" y="307079"/>
                  </a:lnTo>
                  <a:lnTo>
                    <a:pt x="0" y="307079"/>
                  </a:lnTo>
                  <a:lnTo>
                    <a:pt x="203200" y="0"/>
                  </a:lnTo>
                  <a:close/>
                </a:path>
              </a:pathLst>
            </a:custGeom>
            <a:solidFill>
              <a:srgbClr val="FFFFFF"/>
            </a:solidFill>
          </p:spPr>
        </p:sp>
        <p:sp>
          <p:nvSpPr>
            <p:cNvPr id="17" name="TextBox 17"/>
            <p:cNvSpPr txBox="1"/>
            <p:nvPr/>
          </p:nvSpPr>
          <p:spPr>
            <a:xfrm>
              <a:off x="101600" y="-76200"/>
              <a:ext cx="609600" cy="685800"/>
            </a:xfrm>
            <a:prstGeom prst="rect">
              <a:avLst/>
            </a:prstGeom>
          </p:spPr>
          <p:txBody>
            <a:bodyPr lIns="50800" tIns="50800" rIns="50800" bIns="50800" rtlCol="0" anchor="ctr"/>
            <a:lstStyle/>
            <a:p>
              <a:pPr algn="ctr">
                <a:lnSpc>
                  <a:spcPts val="3518"/>
                </a:lnSpc>
              </a:pPr>
              <a:endParaRPr/>
            </a:p>
          </p:txBody>
        </p:sp>
      </p:grpSp>
      <p:grpSp>
        <p:nvGrpSpPr>
          <p:cNvPr id="18" name="Group 18"/>
          <p:cNvGrpSpPr/>
          <p:nvPr/>
        </p:nvGrpSpPr>
        <p:grpSpPr>
          <a:xfrm>
            <a:off x="1149441" y="9296400"/>
            <a:ext cx="22198569" cy="1488825"/>
            <a:chOff x="0" y="0"/>
            <a:chExt cx="4218183" cy="282907"/>
          </a:xfrm>
        </p:grpSpPr>
        <p:sp>
          <p:nvSpPr>
            <p:cNvPr id="19" name="Freeform 19"/>
            <p:cNvSpPr/>
            <p:nvPr/>
          </p:nvSpPr>
          <p:spPr>
            <a:xfrm>
              <a:off x="0" y="0"/>
              <a:ext cx="4218184" cy="282907"/>
            </a:xfrm>
            <a:custGeom>
              <a:avLst/>
              <a:gdLst/>
              <a:ahLst/>
              <a:cxnLst/>
              <a:rect l="l" t="t" r="r" b="b"/>
              <a:pathLst>
                <a:path w="4218184" h="282907">
                  <a:moveTo>
                    <a:pt x="203200" y="0"/>
                  </a:moveTo>
                  <a:lnTo>
                    <a:pt x="4218184" y="0"/>
                  </a:lnTo>
                  <a:lnTo>
                    <a:pt x="4014984" y="282907"/>
                  </a:lnTo>
                  <a:lnTo>
                    <a:pt x="0" y="282907"/>
                  </a:lnTo>
                  <a:lnTo>
                    <a:pt x="203200" y="0"/>
                  </a:lnTo>
                  <a:close/>
                </a:path>
              </a:pathLst>
            </a:custGeom>
            <a:solidFill>
              <a:srgbClr val="082E2D"/>
            </a:solidFill>
          </p:spPr>
        </p:sp>
        <p:sp>
          <p:nvSpPr>
            <p:cNvPr id="20" name="TextBox 20"/>
            <p:cNvSpPr txBox="1"/>
            <p:nvPr/>
          </p:nvSpPr>
          <p:spPr>
            <a:xfrm>
              <a:off x="101600" y="-76200"/>
              <a:ext cx="609600" cy="685800"/>
            </a:xfrm>
            <a:prstGeom prst="rect">
              <a:avLst/>
            </a:prstGeom>
          </p:spPr>
          <p:txBody>
            <a:bodyPr lIns="50800" tIns="50800" rIns="50800" bIns="50800" rtlCol="0" anchor="ctr"/>
            <a:lstStyle/>
            <a:p>
              <a:pPr algn="ctr">
                <a:lnSpc>
                  <a:spcPts val="3518"/>
                </a:lnSpc>
              </a:pPr>
              <a:endParaRPr/>
            </a:p>
          </p:txBody>
        </p:sp>
      </p:grpSp>
      <p:grpSp>
        <p:nvGrpSpPr>
          <p:cNvPr id="21" name="Group 21"/>
          <p:cNvGrpSpPr/>
          <p:nvPr/>
        </p:nvGrpSpPr>
        <p:grpSpPr>
          <a:xfrm>
            <a:off x="8245833" y="-340058"/>
            <a:ext cx="3851856" cy="2814779"/>
            <a:chOff x="0" y="0"/>
            <a:chExt cx="812800" cy="593961"/>
          </a:xfrm>
        </p:grpSpPr>
        <p:sp>
          <p:nvSpPr>
            <p:cNvPr id="22" name="Freeform 22"/>
            <p:cNvSpPr/>
            <p:nvPr/>
          </p:nvSpPr>
          <p:spPr>
            <a:xfrm>
              <a:off x="0" y="0"/>
              <a:ext cx="812800" cy="593961"/>
            </a:xfrm>
            <a:custGeom>
              <a:avLst/>
              <a:gdLst/>
              <a:ahLst/>
              <a:cxnLst/>
              <a:rect l="l" t="t" r="r" b="b"/>
              <a:pathLst>
                <a:path w="812800" h="593961">
                  <a:moveTo>
                    <a:pt x="406400" y="593961"/>
                  </a:moveTo>
                  <a:lnTo>
                    <a:pt x="812800" y="0"/>
                  </a:lnTo>
                  <a:lnTo>
                    <a:pt x="0" y="0"/>
                  </a:lnTo>
                  <a:lnTo>
                    <a:pt x="406400" y="593961"/>
                  </a:lnTo>
                  <a:close/>
                </a:path>
              </a:pathLst>
            </a:custGeom>
            <a:solidFill>
              <a:srgbClr val="D87A40"/>
            </a:solidFill>
          </p:spPr>
        </p:sp>
        <p:sp>
          <p:nvSpPr>
            <p:cNvPr id="23" name="TextBox 23"/>
            <p:cNvSpPr txBox="1"/>
            <p:nvPr/>
          </p:nvSpPr>
          <p:spPr>
            <a:xfrm>
              <a:off x="127000" y="-25400"/>
              <a:ext cx="558800" cy="406400"/>
            </a:xfrm>
            <a:prstGeom prst="rect">
              <a:avLst/>
            </a:prstGeom>
          </p:spPr>
          <p:txBody>
            <a:bodyPr lIns="50800" tIns="50800" rIns="50800" bIns="50800" rtlCol="0" anchor="ctr"/>
            <a:lstStyle/>
            <a:p>
              <a:pPr algn="ctr">
                <a:lnSpc>
                  <a:spcPts val="3518"/>
                </a:lnSpc>
              </a:pPr>
              <a:endParaRPr/>
            </a:p>
          </p:txBody>
        </p:sp>
      </p:grpSp>
      <p:sp>
        <p:nvSpPr>
          <p:cNvPr id="24" name="AutoShape 24"/>
          <p:cNvSpPr/>
          <p:nvPr/>
        </p:nvSpPr>
        <p:spPr>
          <a:xfrm>
            <a:off x="752274" y="6704960"/>
            <a:ext cx="1925396" cy="0"/>
          </a:xfrm>
          <a:prstGeom prst="line">
            <a:avLst/>
          </a:prstGeom>
          <a:ln w="28575" cap="flat">
            <a:solidFill>
              <a:srgbClr val="FFFFFF"/>
            </a:solidFill>
            <a:prstDash val="solid"/>
            <a:headEnd type="none" w="sm" len="sm"/>
            <a:tailEnd type="none" w="sm" len="sm"/>
          </a:ln>
        </p:spPr>
      </p:sp>
      <p:sp>
        <p:nvSpPr>
          <p:cNvPr id="26" name="Freeform 26"/>
          <p:cNvSpPr/>
          <p:nvPr/>
        </p:nvSpPr>
        <p:spPr>
          <a:xfrm>
            <a:off x="822054" y="571779"/>
            <a:ext cx="3711232" cy="1488830"/>
          </a:xfrm>
          <a:custGeom>
            <a:avLst/>
            <a:gdLst/>
            <a:ahLst/>
            <a:cxnLst/>
            <a:rect l="l" t="t" r="r" b="b"/>
            <a:pathLst>
              <a:path w="3711232" h="1488830">
                <a:moveTo>
                  <a:pt x="0" y="0"/>
                </a:moveTo>
                <a:lnTo>
                  <a:pt x="3711233" y="0"/>
                </a:lnTo>
                <a:lnTo>
                  <a:pt x="3711233" y="1488831"/>
                </a:lnTo>
                <a:lnTo>
                  <a:pt x="0" y="1488831"/>
                </a:lnTo>
                <a:lnTo>
                  <a:pt x="0" y="0"/>
                </a:lnTo>
                <a:close/>
              </a:path>
            </a:pathLst>
          </a:custGeom>
          <a:blipFill>
            <a:blip r:embed="rId4"/>
            <a:stretch>
              <a:fillRect l="-57939" t="-101567" r="-37610" b="-143038"/>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656</TotalTime>
  <Words>4289</Words>
  <Application>Microsoft Office PowerPoint</Application>
  <PresentationFormat>Custom</PresentationFormat>
  <Paragraphs>225</Paragraphs>
  <Slides>32</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Poppins</vt:lpstr>
      <vt:lpstr>Arial</vt:lpstr>
      <vt:lpstr>Poppins Medium</vt:lpstr>
      <vt:lpstr>Times New Roman (Headings)</vt:lpstr>
      <vt:lpstr>Times New Roman</vt:lpstr>
      <vt:lpstr>Calibri</vt:lpstr>
      <vt:lpstr>Noto Sans</vt:lpstr>
      <vt:lpstr>Arimo Bold Italics</vt:lpstr>
      <vt:lpstr>Poppins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ngựa ngựa 2</dc:title>
  <dc:creator>Ha Vy</dc:creator>
  <cp:lastModifiedBy>Trinh Hong</cp:lastModifiedBy>
  <cp:revision>58</cp:revision>
  <dcterms:created xsi:type="dcterms:W3CDTF">2006-08-16T00:00:00Z</dcterms:created>
  <dcterms:modified xsi:type="dcterms:W3CDTF">2024-10-03T05:03:11Z</dcterms:modified>
  <dc:identifier>DAFnZ_b_Se8</dc:identifier>
</cp:coreProperties>
</file>