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2.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53" r:id="rId7"/>
    <p:sldMasterId id="2147483655" r:id="rId8"/>
    <p:sldMasterId id="2147483657" r:id="rId9"/>
    <p:sldMasterId id="2147483659" r:id="rId10"/>
    <p:sldMasterId id="2147483660" r:id="rId11"/>
    <p:sldMasterId id="2147483662" r:id="rId12"/>
    <p:sldMasterId id="2147483664" r:id="rId13"/>
    <p:sldMasterId id="2147483666" r:id="rId14"/>
    <p:sldMasterId id="2147483668" r:id="rId15"/>
    <p:sldMasterId id="2147483670" r:id="rId16"/>
    <p:sldMasterId id="2147483672" r:id="rId17"/>
  </p:sldMasterIdLst>
  <p:notesMasterIdLst>
    <p:notesMasterId r:id="rId18"/>
  </p:notes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 id="278" r:id="rId41"/>
    <p:sldId id="279" r:id="rId42"/>
    <p:sldId id="280" r:id="rId43"/>
    <p:sldId id="281" r:id="rId44"/>
    <p:sldId id="282" r:id="rId45"/>
    <p:sldId id="283" r:id="rId46"/>
    <p:sldId id="284" r:id="rId47"/>
    <p:sldId id="285" r:id="rId48"/>
  </p:sldIdLst>
  <p:sldSz cy="6858000" cx="9144000"/>
  <p:notesSz cx="6858000" cy="9296400"/>
  <p:embeddedFontLst>
    <p:embeddedFont>
      <p:font typeface="Constantia"/>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3" roundtripDataSignature="AMtx7mifP5Z+rbVU8CXwqiQMRDDG5u+u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58F599-5460-498B-8783-03FB0E78F567}">
  <a:tblStyle styleId="{A158F599-5460-498B-8783-03FB0E78F56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2.xml"/><Relationship Id="rId42" Type="http://schemas.openxmlformats.org/officeDocument/2006/relationships/slide" Target="slides/slide24.xml"/><Relationship Id="rId41" Type="http://schemas.openxmlformats.org/officeDocument/2006/relationships/slide" Target="slides/slide23.xml"/><Relationship Id="rId44" Type="http://schemas.openxmlformats.org/officeDocument/2006/relationships/slide" Target="slides/slide26.xml"/><Relationship Id="rId43" Type="http://schemas.openxmlformats.org/officeDocument/2006/relationships/slide" Target="slides/slide25.xml"/><Relationship Id="rId46" Type="http://schemas.openxmlformats.org/officeDocument/2006/relationships/slide" Target="slides/slide28.xml"/><Relationship Id="rId45" Type="http://schemas.openxmlformats.org/officeDocument/2006/relationships/slide" Target="slides/slide27.xml"/><Relationship Id="rId1" Type="http://schemas.openxmlformats.org/officeDocument/2006/relationships/theme" Target="theme/theme1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0.xml"/><Relationship Id="rId47" Type="http://schemas.openxmlformats.org/officeDocument/2006/relationships/slide" Target="slides/slide29.xml"/><Relationship Id="rId49" Type="http://schemas.openxmlformats.org/officeDocument/2006/relationships/font" Target="fonts/Constantia-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3.xml"/><Relationship Id="rId30" Type="http://schemas.openxmlformats.org/officeDocument/2006/relationships/slide" Target="slides/slide12.xml"/><Relationship Id="rId33" Type="http://schemas.openxmlformats.org/officeDocument/2006/relationships/slide" Target="slides/slide15.xml"/><Relationship Id="rId32" Type="http://schemas.openxmlformats.org/officeDocument/2006/relationships/slide" Target="slides/slide14.xml"/><Relationship Id="rId35" Type="http://schemas.openxmlformats.org/officeDocument/2006/relationships/slide" Target="slides/slide17.xml"/><Relationship Id="rId34" Type="http://schemas.openxmlformats.org/officeDocument/2006/relationships/slide" Target="slides/slide16.xml"/><Relationship Id="rId37" Type="http://schemas.openxmlformats.org/officeDocument/2006/relationships/slide" Target="slides/slide19.xml"/><Relationship Id="rId36" Type="http://schemas.openxmlformats.org/officeDocument/2006/relationships/slide" Target="slides/slide18.xml"/><Relationship Id="rId39" Type="http://schemas.openxmlformats.org/officeDocument/2006/relationships/slide" Target="slides/slide21.xml"/><Relationship Id="rId38" Type="http://schemas.openxmlformats.org/officeDocument/2006/relationships/slide" Target="slides/slide20.xml"/><Relationship Id="rId20" Type="http://schemas.openxmlformats.org/officeDocument/2006/relationships/slide" Target="slides/slide2.xml"/><Relationship Id="rId22" Type="http://schemas.openxmlformats.org/officeDocument/2006/relationships/slide" Target="slides/slide4.xml"/><Relationship Id="rId21" Type="http://schemas.openxmlformats.org/officeDocument/2006/relationships/slide" Target="slides/slide3.xml"/><Relationship Id="rId24" Type="http://schemas.openxmlformats.org/officeDocument/2006/relationships/slide" Target="slides/slide6.xml"/><Relationship Id="rId23" Type="http://schemas.openxmlformats.org/officeDocument/2006/relationships/slide" Target="slides/slide5.xml"/><Relationship Id="rId26" Type="http://schemas.openxmlformats.org/officeDocument/2006/relationships/slide" Target="slides/slide8.xml"/><Relationship Id="rId25" Type="http://schemas.openxmlformats.org/officeDocument/2006/relationships/slide" Target="slides/slide7.xml"/><Relationship Id="rId28" Type="http://schemas.openxmlformats.org/officeDocument/2006/relationships/slide" Target="slides/slide10.xml"/><Relationship Id="rId27" Type="http://schemas.openxmlformats.org/officeDocument/2006/relationships/slide" Target="slides/slide9.xml"/><Relationship Id="rId29" Type="http://schemas.openxmlformats.org/officeDocument/2006/relationships/slide" Target="slides/slide11.xml"/><Relationship Id="rId51" Type="http://schemas.openxmlformats.org/officeDocument/2006/relationships/font" Target="fonts/Constantia-italic.fntdata"/><Relationship Id="rId50" Type="http://schemas.openxmlformats.org/officeDocument/2006/relationships/font" Target="fonts/Constantia-bold.fntdata"/><Relationship Id="rId53" Type="http://customschemas.google.com/relationships/presentationmetadata" Target="metadata"/><Relationship Id="rId52" Type="http://schemas.openxmlformats.org/officeDocument/2006/relationships/font" Target="fonts/Constantia-boldItalic.fntdata"/><Relationship Id="rId11" Type="http://schemas.openxmlformats.org/officeDocument/2006/relationships/slideMaster" Target="slideMasters/slideMaster7.xml"/><Relationship Id="rId10" Type="http://schemas.openxmlformats.org/officeDocument/2006/relationships/slideMaster" Target="slideMasters/slideMaster6.xml"/><Relationship Id="rId13" Type="http://schemas.openxmlformats.org/officeDocument/2006/relationships/slideMaster" Target="slideMasters/slideMaster9.xml"/><Relationship Id="rId12" Type="http://schemas.openxmlformats.org/officeDocument/2006/relationships/slideMaster" Target="slideMasters/slideMaster8.xml"/><Relationship Id="rId15" Type="http://schemas.openxmlformats.org/officeDocument/2006/relationships/slideMaster" Target="slideMasters/slideMaster11.xml"/><Relationship Id="rId14" Type="http://schemas.openxmlformats.org/officeDocument/2006/relationships/slideMaster" Target="slideMasters/slideMaster10.xml"/><Relationship Id="rId17" Type="http://schemas.openxmlformats.org/officeDocument/2006/relationships/slideMaster" Target="slideMasters/slideMaster13.xml"/><Relationship Id="rId16" Type="http://schemas.openxmlformats.org/officeDocument/2006/relationships/slideMaster" Target="slideMasters/slideMaster12.xml"/><Relationship Id="rId19" Type="http://schemas.openxmlformats.org/officeDocument/2006/relationships/slide" Target="slides/slide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651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651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829675"/>
            <a:ext cx="2971800" cy="4651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829675"/>
            <a:ext cx="2971800" cy="4651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notes"/>
          <p:cNvSpPr txBox="1"/>
          <p:nvPr/>
        </p:nvSpPr>
        <p:spPr>
          <a:xfrm>
            <a:off x="3884612" y="8829675"/>
            <a:ext cx="2971800" cy="4651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lt1"/>
              </a:buClr>
              <a:buSzPts val="1200"/>
              <a:buFont typeface="Arial"/>
              <a:buNone/>
            </a:pPr>
            <a:fld id="{00000000-1234-1234-1234-123412341234}" type="slidenum">
              <a:rPr b="0" i="0" lang="en-US" sz="1200" u="none">
                <a:solidFill>
                  <a:schemeClr val="lt1"/>
                </a:solidFill>
                <a:latin typeface="Arial"/>
                <a:ea typeface="Arial"/>
                <a:cs typeface="Arial"/>
                <a:sym typeface="Arial"/>
              </a:rPr>
              <a:t>‹#›</a:t>
            </a:fld>
            <a:endParaRPr/>
          </a:p>
        </p:txBody>
      </p:sp>
      <p:sp>
        <p:nvSpPr>
          <p:cNvPr id="178" name="Google Shape;178;p1: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2: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3: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3: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4: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5: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5: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6: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7: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7: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8: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8: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9: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9: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0: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0: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1: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1: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2: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2: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3: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3: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4: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4: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5: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6: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6: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7: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17: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8: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18: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9: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19: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19:notes"/>
          <p:cNvSpPr txBox="1"/>
          <p:nvPr/>
        </p:nvSpPr>
        <p:spPr>
          <a:xfrm>
            <a:off x="3884612" y="8829675"/>
            <a:ext cx="2971800" cy="4651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0: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20: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1: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21: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2: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22: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3: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23: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4: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24: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5: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25: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6: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26: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27: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27: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8: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28: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29: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29: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0:notes"/>
          <p:cNvSpPr txBox="1"/>
          <p:nvPr>
            <p:ph idx="1" type="body"/>
          </p:nvPr>
        </p:nvSpPr>
        <p:spPr>
          <a:xfrm>
            <a:off x="685800" y="4416425"/>
            <a:ext cx="5486400" cy="4183062"/>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30:notes"/>
          <p:cNvSpPr/>
          <p:nvPr>
            <p:ph idx="2"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2"/>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18" name="Google Shape;18;p3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1pPr>
            <a:lvl2pPr indent="0" lvl="1" marL="0" marR="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2pPr>
            <a:lvl3pPr indent="0" lvl="2" marL="0" marR="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3pPr>
            <a:lvl4pPr indent="0" lvl="3" marL="0" marR="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4pPr>
            <a:lvl5pPr indent="0" lvl="4" marL="0" marR="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5pPr>
            <a:lvl6pPr indent="0" lvl="5" marL="0" marR="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6pPr>
            <a:lvl7pPr indent="0" lvl="6" marL="0" marR="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7pPr>
            <a:lvl8pPr indent="0" lvl="7" marL="0" marR="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8pPr>
            <a:lvl9pPr indent="0" lvl="8" marL="0" marR="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27" name="Shape 27"/>
        <p:cNvGrpSpPr/>
        <p:nvPr/>
      </p:nvGrpSpPr>
      <p:grpSpPr>
        <a:xfrm>
          <a:off x="0" y="0"/>
          <a:ext cx="0" cy="0"/>
          <a:chOff x="0" y="0"/>
          <a:chExt cx="0" cy="0"/>
        </a:xfrm>
      </p:grpSpPr>
      <p:sp>
        <p:nvSpPr>
          <p:cNvPr id="28" name="Google Shape;28;p34"/>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4"/>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0" name="Google Shape;30;p3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OBJECT 2">
    <p:spTree>
      <p:nvGrpSpPr>
        <p:cNvPr id="33" name="Shape 33"/>
        <p:cNvGrpSpPr/>
        <p:nvPr/>
      </p:nvGrpSpPr>
      <p:grpSpPr>
        <a:xfrm>
          <a:off x="0" y="0"/>
          <a:ext cx="0" cy="0"/>
          <a:chOff x="0" y="0"/>
          <a:chExt cx="0" cy="0"/>
        </a:xfrm>
      </p:grpSpPr>
      <p:sp>
        <p:nvSpPr>
          <p:cNvPr id="34" name="Google Shape;34;p34_72strpujak"/>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4_72strpujak"/>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6" name="Google Shape;36;p34_72strpujak"/>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4_72strpujak"/>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4_72strpujak"/>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showMasterSp="0" type="tbl">
  <p:cSld name="TABLE">
    <p:spTree>
      <p:nvGrpSpPr>
        <p:cNvPr id="45" name="Shape 45"/>
        <p:cNvGrpSpPr/>
        <p:nvPr/>
      </p:nvGrpSpPr>
      <p:grpSpPr>
        <a:xfrm>
          <a:off x="0" y="0"/>
          <a:ext cx="0" cy="0"/>
          <a:chOff x="0" y="0"/>
          <a:chExt cx="0" cy="0"/>
        </a:xfrm>
      </p:grpSpPr>
      <p:sp>
        <p:nvSpPr>
          <p:cNvPr id="46" name="Google Shape;46;p36"/>
          <p:cNvSpPr txBox="1"/>
          <p:nvPr>
            <p:ph type="title"/>
          </p:nvPr>
        </p:nvSpPr>
        <p:spPr>
          <a:xfrm>
            <a:off x="762000" y="762000"/>
            <a:ext cx="79248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6" name="Shape 56"/>
        <p:cNvGrpSpPr/>
        <p:nvPr/>
      </p:nvGrpSpPr>
      <p:grpSpPr>
        <a:xfrm>
          <a:off x="0" y="0"/>
          <a:ext cx="0" cy="0"/>
          <a:chOff x="0" y="0"/>
          <a:chExt cx="0" cy="0"/>
        </a:xfrm>
      </p:grpSpPr>
      <p:sp>
        <p:nvSpPr>
          <p:cNvPr id="57" name="Google Shape;57;p3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66" name="Shape 66"/>
        <p:cNvGrpSpPr/>
        <p:nvPr/>
      </p:nvGrpSpPr>
      <p:grpSpPr>
        <a:xfrm>
          <a:off x="0" y="0"/>
          <a:ext cx="0" cy="0"/>
          <a:chOff x="0" y="0"/>
          <a:chExt cx="0" cy="0"/>
        </a:xfrm>
      </p:grpSpPr>
      <p:sp>
        <p:nvSpPr>
          <p:cNvPr id="67" name="Google Shape;67;p40"/>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88" name="Shape 88"/>
        <p:cNvGrpSpPr/>
        <p:nvPr/>
      </p:nvGrpSpPr>
      <p:grpSpPr>
        <a:xfrm>
          <a:off x="0" y="0"/>
          <a:ext cx="0" cy="0"/>
          <a:chOff x="0" y="0"/>
          <a:chExt cx="0" cy="0"/>
        </a:xfrm>
      </p:grpSpPr>
      <p:sp>
        <p:nvSpPr>
          <p:cNvPr id="89" name="Google Shape;89;p43"/>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43"/>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1" name="Google Shape;91;p4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D1EAE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4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1pPr>
            <a:lvl2pPr indent="0" lvl="1"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2pPr>
            <a:lvl3pPr indent="0" lvl="2"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3pPr>
            <a:lvl4pPr indent="0" lvl="3"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4pPr>
            <a:lvl5pPr indent="0" lvl="4"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5pPr>
            <a:lvl6pPr indent="0" lvl="5"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6pPr>
            <a:lvl7pPr indent="0" lvl="6"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7pPr>
            <a:lvl8pPr indent="0" lvl="7"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8pPr>
            <a:lvl9pPr indent="0" lvl="8" marL="0" marR="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100" name="Shape 100"/>
        <p:cNvGrpSpPr/>
        <p:nvPr/>
      </p:nvGrpSpPr>
      <p:grpSpPr>
        <a:xfrm>
          <a:off x="0" y="0"/>
          <a:ext cx="0" cy="0"/>
          <a:chOff x="0" y="0"/>
          <a:chExt cx="0" cy="0"/>
        </a:xfrm>
      </p:grpSpPr>
      <p:sp>
        <p:nvSpPr>
          <p:cNvPr id="101" name="Google Shape;101;p45"/>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5"/>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3" name="Google Shape;103;p45"/>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4" name="Google Shape;104;p4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4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4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113" name="Shape 113"/>
        <p:cNvGrpSpPr/>
        <p:nvPr/>
      </p:nvGrpSpPr>
      <p:grpSpPr>
        <a:xfrm>
          <a:off x="0" y="0"/>
          <a:ext cx="0" cy="0"/>
          <a:chOff x="0" y="0"/>
          <a:chExt cx="0" cy="0"/>
        </a:xfrm>
      </p:grpSpPr>
      <p:sp>
        <p:nvSpPr>
          <p:cNvPr id="114" name="Google Shape;114;p47"/>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47"/>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6" name="Google Shape;116;p47"/>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7" name="Google Shape;117;p47"/>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8" name="Google Shape;118;p47"/>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9" name="Google Shape;119;p4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4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28" name="Shape 128"/>
        <p:cNvGrpSpPr/>
        <p:nvPr/>
      </p:nvGrpSpPr>
      <p:grpSpPr>
        <a:xfrm>
          <a:off x="0" y="0"/>
          <a:ext cx="0" cy="0"/>
          <a:chOff x="0" y="0"/>
          <a:chExt cx="0" cy="0"/>
        </a:xfrm>
      </p:grpSpPr>
      <p:sp>
        <p:nvSpPr>
          <p:cNvPr id="129" name="Google Shape;129;p49"/>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49"/>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1" name="Google Shape;131;p49"/>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2" name="Google Shape;132;p4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4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4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45" name="Shape 145"/>
        <p:cNvGrpSpPr/>
        <p:nvPr/>
      </p:nvGrpSpPr>
      <p:grpSpPr>
        <a:xfrm>
          <a:off x="0" y="0"/>
          <a:ext cx="0" cy="0"/>
          <a:chOff x="0" y="0"/>
          <a:chExt cx="0" cy="0"/>
        </a:xfrm>
      </p:grpSpPr>
      <p:sp>
        <p:nvSpPr>
          <p:cNvPr id="146" name="Google Shape;146;p51"/>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Clr>
                <a:schemeClr val="dk2"/>
              </a:buClr>
              <a:buSzPts val="2000"/>
              <a:buFont typeface="Calibri"/>
              <a:buNone/>
              <a:defRPr b="1"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51"/>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8" name="Google Shape;148;p51"/>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149" name="Google Shape;149;p5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5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51"/>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158" name="Shape 158"/>
        <p:cNvGrpSpPr/>
        <p:nvPr/>
      </p:nvGrpSpPr>
      <p:grpSpPr>
        <a:xfrm>
          <a:off x="0" y="0"/>
          <a:ext cx="0" cy="0"/>
          <a:chOff x="0" y="0"/>
          <a:chExt cx="0" cy="0"/>
        </a:xfrm>
      </p:grpSpPr>
      <p:sp>
        <p:nvSpPr>
          <p:cNvPr id="159" name="Google Shape;159;p53"/>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53"/>
          <p:cNvSpPr txBox="1"/>
          <p:nvPr>
            <p:ph idx="1" type="body"/>
          </p:nvPr>
        </p:nvSpPr>
        <p:spPr>
          <a:xfrm rot="5400000">
            <a:off x="2377281" y="15081"/>
            <a:ext cx="4389437" cy="82296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61" name="Google Shape;161;p5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5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5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70" name="Shape 170"/>
        <p:cNvGrpSpPr/>
        <p:nvPr/>
      </p:nvGrpSpPr>
      <p:grpSpPr>
        <a:xfrm>
          <a:off x="0" y="0"/>
          <a:ext cx="0" cy="0"/>
          <a:chOff x="0" y="0"/>
          <a:chExt cx="0" cy="0"/>
        </a:xfrm>
      </p:grpSpPr>
      <p:sp>
        <p:nvSpPr>
          <p:cNvPr id="171" name="Google Shape;171;p55"/>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55"/>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73" name="Google Shape;173;p5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5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045C7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5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1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13.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7.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14.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5.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9.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2.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8.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9pPr>
          </a:lstStyle>
          <a:p/>
        </p:txBody>
      </p:sp>
      <p:sp>
        <p:nvSpPr>
          <p:cNvPr id="11" name="Google Shape;11;p31"/>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2" name="Google Shape;12;p3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cap="none" strike="noStrike">
                <a:solidFill>
                  <a:srgbClr val="D1EAEE"/>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3" name="Google Shape;13;p3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cap="none" strike="noStrike">
                <a:solidFill>
                  <a:srgbClr val="D1EAEE"/>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4" name="Google Shape;14;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1pPr>
            <a:lvl2pPr indent="0" lvl="1" marL="0" marR="0" rtl="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2pPr>
            <a:lvl3pPr indent="0" lvl="2" marL="0" marR="0" rtl="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3pPr>
            <a:lvl4pPr indent="0" lvl="3" marL="0" marR="0" rtl="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4pPr>
            <a:lvl5pPr indent="0" lvl="4" marL="0" marR="0" rtl="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5pPr>
            <a:lvl6pPr indent="0" lvl="5" marL="0" marR="0" rtl="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6pPr>
            <a:lvl7pPr indent="0" lvl="6" marL="0" marR="0" rtl="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7pPr>
            <a:lvl8pPr indent="0" lvl="7" marL="0" marR="0" rtl="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8pPr>
            <a:lvl9pPr indent="0" lvl="8" marL="0" marR="0" rtl="0" algn="r">
              <a:lnSpc>
                <a:spcPct val="100000"/>
              </a:lnSpc>
              <a:spcBef>
                <a:spcPts val="0"/>
              </a:spcBef>
              <a:spcAft>
                <a:spcPts val="0"/>
              </a:spcAft>
              <a:buClr>
                <a:srgbClr val="D1EAEE"/>
              </a:buClr>
              <a:buSzPts val="1200"/>
              <a:buFont typeface="Arial"/>
              <a:buNone/>
              <a:defRPr b="0" i="0" sz="1200" u="none" cap="none" strike="noStrike">
                <a:solidFill>
                  <a:srgbClr val="D1EAE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1" name="Shape 21"/>
        <p:cNvGrpSpPr/>
        <p:nvPr/>
      </p:nvGrpSpPr>
      <p:grpSpPr>
        <a:xfrm>
          <a:off x="0" y="0"/>
          <a:ext cx="0" cy="0"/>
          <a:chOff x="0" y="0"/>
          <a:chExt cx="0" cy="0"/>
        </a:xfrm>
      </p:grpSpPr>
      <p:sp>
        <p:nvSpPr>
          <p:cNvPr id="22" name="Google Shape;22;p33"/>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23" name="Google Shape;23;p33"/>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24" name="Google Shape;24;p3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 name="Google Shape;25;p3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 name="Google Shape;26;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9" name="Shape 39"/>
        <p:cNvGrpSpPr/>
        <p:nvPr/>
      </p:nvGrpSpPr>
      <p:grpSpPr>
        <a:xfrm>
          <a:off x="0" y="0"/>
          <a:ext cx="0" cy="0"/>
          <a:chOff x="0" y="0"/>
          <a:chExt cx="0" cy="0"/>
        </a:xfrm>
      </p:grpSpPr>
      <p:sp>
        <p:nvSpPr>
          <p:cNvPr id="40" name="Google Shape;40;p35"/>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41" name="Google Shape;41;p35"/>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42" name="Google Shape;42;p3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3" name="Google Shape;43;p3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4" name="Google Shape;44;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0" name="Shape 50"/>
        <p:cNvGrpSpPr/>
        <p:nvPr/>
      </p:nvGrpSpPr>
      <p:grpSpPr>
        <a:xfrm>
          <a:off x="0" y="0"/>
          <a:ext cx="0" cy="0"/>
          <a:chOff x="0" y="0"/>
          <a:chExt cx="0" cy="0"/>
        </a:xfrm>
      </p:grpSpPr>
      <p:sp>
        <p:nvSpPr>
          <p:cNvPr id="51" name="Google Shape;51;p37"/>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52" name="Google Shape;52;p37"/>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53" name="Google Shape;53;p3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4" name="Google Shape;54;p3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5" name="Google Shape;55;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0" name="Shape 60"/>
        <p:cNvGrpSpPr/>
        <p:nvPr/>
      </p:nvGrpSpPr>
      <p:grpSpPr>
        <a:xfrm>
          <a:off x="0" y="0"/>
          <a:ext cx="0" cy="0"/>
          <a:chOff x="0" y="0"/>
          <a:chExt cx="0" cy="0"/>
        </a:xfrm>
      </p:grpSpPr>
      <p:sp>
        <p:nvSpPr>
          <p:cNvPr id="61" name="Google Shape;61;p39"/>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62" name="Google Shape;62;p39"/>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63" name="Google Shape;63;p3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4" name="Google Shape;64;p3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5" name="Google Shape;65;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71" name="Shape 71"/>
        <p:cNvGrpSpPr/>
        <p:nvPr/>
      </p:nvGrpSpPr>
      <p:grpSpPr>
        <a:xfrm>
          <a:off x="0" y="0"/>
          <a:ext cx="0" cy="0"/>
          <a:chOff x="0" y="0"/>
          <a:chExt cx="0" cy="0"/>
        </a:xfrm>
      </p:grpSpPr>
      <p:sp>
        <p:nvSpPr>
          <p:cNvPr id="72" name="Google Shape;72;p41"/>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3" name="Google Shape;73;p41"/>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 name="Google Shape;74;p41"/>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75" name="Google Shape;75;p41"/>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76" name="Google Shape;76;p4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7" name="Google Shape;77;p4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8" name="Google Shape;78;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grpSp>
        <p:nvGrpSpPr>
          <p:cNvPr id="79" name="Google Shape;79;p41"/>
          <p:cNvGrpSpPr/>
          <p:nvPr/>
        </p:nvGrpSpPr>
        <p:grpSpPr>
          <a:xfrm>
            <a:off x="-29327" y="-14808"/>
            <a:ext cx="9198219" cy="1083716"/>
            <a:chOff x="-29322" y="-1971"/>
            <a:chExt cx="9198255" cy="1086266"/>
          </a:xfrm>
        </p:grpSpPr>
        <p:sp>
          <p:nvSpPr>
            <p:cNvPr id="80" name="Google Shape;80;p4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 name="Google Shape;81;p4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2" name="Shape 82"/>
        <p:cNvGrpSpPr/>
        <p:nvPr/>
      </p:nvGrpSpPr>
      <p:grpSpPr>
        <a:xfrm>
          <a:off x="0" y="0"/>
          <a:ext cx="0" cy="0"/>
          <a:chOff x="0" y="0"/>
          <a:chExt cx="0" cy="0"/>
        </a:xfrm>
      </p:grpSpPr>
      <p:sp>
        <p:nvSpPr>
          <p:cNvPr id="83" name="Google Shape;83;p4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9pPr>
          </a:lstStyle>
          <a:p/>
        </p:txBody>
      </p:sp>
      <p:sp>
        <p:nvSpPr>
          <p:cNvPr id="84" name="Google Shape;84;p42"/>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85" name="Google Shape;85;p4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D1EAEE"/>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86" name="Google Shape;86;p4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D1EAEE"/>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87" name="Google Shape;87;p4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1pPr>
            <a:lvl2pPr indent="0" lvl="1"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2pPr>
            <a:lvl3pPr indent="0" lvl="2"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3pPr>
            <a:lvl4pPr indent="0" lvl="3"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4pPr>
            <a:lvl5pPr indent="0" lvl="4"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5pPr>
            <a:lvl6pPr indent="0" lvl="5"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6pPr>
            <a:lvl7pPr indent="0" lvl="6"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7pPr>
            <a:lvl8pPr indent="0" lvl="7"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8pPr>
            <a:lvl9pPr indent="0" lvl="8" marL="0" marR="0" rtl="0" algn="r">
              <a:lnSpc>
                <a:spcPct val="100000"/>
              </a:lnSpc>
              <a:spcBef>
                <a:spcPts val="0"/>
              </a:spcBef>
              <a:spcAft>
                <a:spcPts val="0"/>
              </a:spcAft>
              <a:buClr>
                <a:srgbClr val="D1EAEE"/>
              </a:buClr>
              <a:buSzPts val="1200"/>
              <a:buFont typeface="Arial"/>
              <a:buNone/>
              <a:defRPr b="0" i="0" sz="1200" u="none">
                <a:solidFill>
                  <a:srgbClr val="D1EAE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4" name="Shape 94"/>
        <p:cNvGrpSpPr/>
        <p:nvPr/>
      </p:nvGrpSpPr>
      <p:grpSpPr>
        <a:xfrm>
          <a:off x="0" y="0"/>
          <a:ext cx="0" cy="0"/>
          <a:chOff x="0" y="0"/>
          <a:chExt cx="0" cy="0"/>
        </a:xfrm>
      </p:grpSpPr>
      <p:sp>
        <p:nvSpPr>
          <p:cNvPr id="95" name="Google Shape;95;p44"/>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96" name="Google Shape;96;p44"/>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7" name="Google Shape;97;p4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8" name="Google Shape;98;p4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9" name="Google Shape;99;p4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07" name="Shape 107"/>
        <p:cNvGrpSpPr/>
        <p:nvPr/>
      </p:nvGrpSpPr>
      <p:grpSpPr>
        <a:xfrm>
          <a:off x="0" y="0"/>
          <a:ext cx="0" cy="0"/>
          <a:chOff x="0" y="0"/>
          <a:chExt cx="0" cy="0"/>
        </a:xfrm>
      </p:grpSpPr>
      <p:sp>
        <p:nvSpPr>
          <p:cNvPr id="108" name="Google Shape;108;p46"/>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109" name="Google Shape;109;p46"/>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10" name="Google Shape;110;p4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1" name="Google Shape;111;p4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2" name="Google Shape;112;p4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2" name="Shape 122"/>
        <p:cNvGrpSpPr/>
        <p:nvPr/>
      </p:nvGrpSpPr>
      <p:grpSpPr>
        <a:xfrm>
          <a:off x="0" y="0"/>
          <a:ext cx="0" cy="0"/>
          <a:chOff x="0" y="0"/>
          <a:chExt cx="0" cy="0"/>
        </a:xfrm>
      </p:grpSpPr>
      <p:sp>
        <p:nvSpPr>
          <p:cNvPr id="123" name="Google Shape;123;p48"/>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124" name="Google Shape;124;p48"/>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25" name="Google Shape;125;p4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6" name="Google Shape;126;p4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7" name="Google Shape;127;p4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5" name="Shape 135"/>
        <p:cNvGrpSpPr/>
        <p:nvPr/>
      </p:nvGrpSpPr>
      <p:grpSpPr>
        <a:xfrm>
          <a:off x="0" y="0"/>
          <a:ext cx="0" cy="0"/>
          <a:chOff x="0" y="0"/>
          <a:chExt cx="0" cy="0"/>
        </a:xfrm>
      </p:grpSpPr>
      <p:sp>
        <p:nvSpPr>
          <p:cNvPr id="136" name="Google Shape;136;p50"/>
          <p:cNvSpPr/>
          <p:nvPr/>
        </p:nvSpPr>
        <p:spPr>
          <a:xfrm flipH="1" rot="-10380000">
            <a:off x="3165475" y="1108075"/>
            <a:ext cx="5257800" cy="4114800"/>
          </a:xfrm>
          <a:custGeom>
            <a:rect b="b" l="l" r="r" t="t"/>
            <a:pathLst>
              <a:path extrusionOk="0" h="4114800" w="5257800">
                <a:moveTo>
                  <a:pt x="0" y="0"/>
                </a:moveTo>
                <a:lnTo>
                  <a:pt x="5107774" y="0"/>
                </a:lnTo>
                <a:lnTo>
                  <a:pt x="5257800" y="150026"/>
                </a:lnTo>
                <a:lnTo>
                  <a:pt x="5257800" y="4114800"/>
                </a:lnTo>
                <a:lnTo>
                  <a:pt x="0" y="4114800"/>
                </a:lnTo>
                <a:lnTo>
                  <a:pt x="0" y="0"/>
                </a:lnTo>
                <a:lnTo>
                  <a:pt x="0" y="0"/>
                </a:lnTo>
                <a:close/>
              </a:path>
            </a:pathLst>
          </a:custGeom>
          <a:solidFill>
            <a:srgbClr val="FFFFFF"/>
          </a:solidFill>
          <a:ln cap="rnd" cmpd="sng" w="9525">
            <a:solidFill>
              <a:srgbClr val="C0C0C0"/>
            </a:solidFill>
            <a:prstDash val="solid"/>
            <a:miter lim="800000"/>
            <a:headEnd len="sm" w="sm" type="none"/>
            <a:tailEnd len="sm" w="sm" type="none"/>
          </a:ln>
          <a:effectLst>
            <a:outerShdw blurRad="63500" sx="98500" kx="98485" dir="7500041" dist="38499" sy="100079">
              <a:srgbClr val="000000">
                <a:alpha val="24705"/>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7" name="Google Shape;137;p50"/>
          <p:cNvSpPr/>
          <p:nvPr/>
        </p:nvSpPr>
        <p:spPr>
          <a:xfrm flipH="1" rot="-10380000">
            <a:off x="8004175" y="5359400"/>
            <a:ext cx="155575" cy="155575"/>
          </a:xfrm>
          <a:prstGeom prst="rtTriangle">
            <a:avLst/>
          </a:prstGeom>
          <a:solidFill>
            <a:srgbClr val="FFFFFF"/>
          </a:solidFill>
          <a:ln cap="flat" cmpd="sng" w="12700">
            <a:solidFill>
              <a:srgbClr val="FFFFFF"/>
            </a:solidFill>
            <a:prstDash val="solid"/>
            <a:bevel/>
            <a:headEnd len="sm" w="sm" type="none"/>
            <a:tailEnd len="sm" w="sm" type="none"/>
          </a:ln>
          <a:effectLst>
            <a:outerShdw blurRad="63500" dir="12899787" dist="6350">
              <a:srgbClr val="000000">
                <a:alpha val="4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 name="Google Shape;138;p50"/>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F">
                  <a:alpha val="44705"/>
                </a:srgbClr>
              </a:gs>
              <a:gs pos="100000">
                <a:srgbClr val="00EBF8">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9" name="Google Shape;139;p50"/>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DB6"/>
              </a:gs>
              <a:gs pos="80000">
                <a:srgbClr val="009BE5"/>
              </a:gs>
              <a:gs pos="100000">
                <a:srgbClr val="009BE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0" name="Google Shape;140;p50"/>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141" name="Google Shape;141;p50"/>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42" name="Google Shape;142;p5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3" name="Google Shape;143;p5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4" name="Google Shape;144;p50"/>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2" name="Shape 152"/>
        <p:cNvGrpSpPr/>
        <p:nvPr/>
      </p:nvGrpSpPr>
      <p:grpSpPr>
        <a:xfrm>
          <a:off x="0" y="0"/>
          <a:ext cx="0" cy="0"/>
          <a:chOff x="0" y="0"/>
          <a:chExt cx="0" cy="0"/>
        </a:xfrm>
      </p:grpSpPr>
      <p:sp>
        <p:nvSpPr>
          <p:cNvPr id="153" name="Google Shape;153;p5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154" name="Google Shape;154;p52"/>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55" name="Google Shape;155;p5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6" name="Google Shape;156;p5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7" name="Google Shape;157;p5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4" name="Shape 164"/>
        <p:cNvGrpSpPr/>
        <p:nvPr/>
      </p:nvGrpSpPr>
      <p:grpSpPr>
        <a:xfrm>
          <a:off x="0" y="0"/>
          <a:ext cx="0" cy="0"/>
          <a:chOff x="0" y="0"/>
          <a:chExt cx="0" cy="0"/>
        </a:xfrm>
      </p:grpSpPr>
      <p:sp>
        <p:nvSpPr>
          <p:cNvPr id="165" name="Google Shape;165;p54"/>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166" name="Google Shape;166;p54"/>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0BD0D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0BD0D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10CF9B"/>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67" name="Google Shape;167;p5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8" name="Google Shape;168;p5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045C75"/>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9" name="Google Shape;169;p5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1pPr>
            <a:lvl2pPr indent="0" lvl="1"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2pPr>
            <a:lvl3pPr indent="0" lvl="2"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3pPr>
            <a:lvl4pPr indent="0" lvl="3"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4pPr>
            <a:lvl5pPr indent="0" lvl="4"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5pPr>
            <a:lvl6pPr indent="0" lvl="5"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6pPr>
            <a:lvl7pPr indent="0" lvl="6"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7pPr>
            <a:lvl8pPr indent="0" lvl="7"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8pPr>
            <a:lvl9pPr indent="0" lvl="8" marL="0" marR="0" rtl="0" algn="r">
              <a:lnSpc>
                <a:spcPct val="100000"/>
              </a:lnSpc>
              <a:spcBef>
                <a:spcPts val="0"/>
              </a:spcBef>
              <a:spcAft>
                <a:spcPts val="0"/>
              </a:spcAft>
              <a:buClr>
                <a:srgbClr val="045C75"/>
              </a:buClr>
              <a:buSzPts val="1200"/>
              <a:buFont typeface="Arial"/>
              <a:buNone/>
              <a:defRPr b="0" i="0" sz="1200" u="none">
                <a:solidFill>
                  <a:srgbClr val="04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noFill/>
      </p:bgPr>
    </p:bg>
    <p:spTree>
      <p:nvGrpSpPr>
        <p:cNvPr id="180" name="Shape 180"/>
        <p:cNvGrpSpPr/>
        <p:nvPr/>
      </p:nvGrpSpPr>
      <p:grpSpPr>
        <a:xfrm>
          <a:off x="0" y="0"/>
          <a:ext cx="0" cy="0"/>
          <a:chOff x="0" y="0"/>
          <a:chExt cx="0" cy="0"/>
        </a:xfrm>
      </p:grpSpPr>
      <p:sp>
        <p:nvSpPr>
          <p:cNvPr id="181" name="Google Shape;181;p1"/>
          <p:cNvSpPr txBox="1"/>
          <p:nvPr>
            <p:ph idx="4294967295"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marR="0" rtl="0" algn="r">
              <a:lnSpc>
                <a:spcPct val="100000"/>
              </a:lnSpc>
              <a:spcBef>
                <a:spcPts val="0"/>
              </a:spcBef>
              <a:spcAft>
                <a:spcPts val="0"/>
              </a:spcAft>
              <a:buClr>
                <a:srgbClr val="4CE0EA"/>
              </a:buClr>
              <a:buSzPts val="3200"/>
              <a:buFont typeface="Calibri"/>
              <a:buNone/>
            </a:pPr>
            <a:br>
              <a:rPr b="1" i="0" lang="en-US" sz="3200" u="none" cap="none" strike="noStrike">
                <a:solidFill>
                  <a:srgbClr val="4CE0EA"/>
                </a:solidFill>
                <a:latin typeface="Calibri"/>
                <a:ea typeface="Calibri"/>
                <a:cs typeface="Calibri"/>
                <a:sym typeface="Calibri"/>
              </a:rPr>
            </a:br>
            <a:br>
              <a:rPr b="1" i="0" lang="en-US" sz="3200" u="none" cap="none" strike="noStrike">
                <a:solidFill>
                  <a:srgbClr val="4CE0EA"/>
                </a:solidFill>
                <a:latin typeface="Calibri"/>
                <a:ea typeface="Calibri"/>
                <a:cs typeface="Calibri"/>
                <a:sym typeface="Calibri"/>
              </a:rPr>
            </a:br>
            <a:endParaRPr b="1" i="0" sz="3200" u="none" cap="none" strike="noStrike">
              <a:solidFill>
                <a:srgbClr val="4CE0EA"/>
              </a:solidFill>
              <a:latin typeface="Calibri"/>
              <a:ea typeface="Calibri"/>
              <a:cs typeface="Calibri"/>
              <a:sym typeface="Calibri"/>
            </a:endParaRPr>
          </a:p>
        </p:txBody>
      </p:sp>
      <p:sp>
        <p:nvSpPr>
          <p:cNvPr id="182" name="Google Shape;182;p1"/>
          <p:cNvSpPr txBox="1"/>
          <p:nvPr/>
        </p:nvSpPr>
        <p:spPr>
          <a:xfrm>
            <a:off x="1752600" y="1905000"/>
            <a:ext cx="7010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83" name="Google Shape;183;p1"/>
          <p:cNvSpPr txBox="1"/>
          <p:nvPr/>
        </p:nvSpPr>
        <p:spPr>
          <a:xfrm>
            <a:off x="1143000" y="2438400"/>
            <a:ext cx="67818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84" name="Google Shape;184;p1"/>
          <p:cNvSpPr txBox="1"/>
          <p:nvPr/>
        </p:nvSpPr>
        <p:spPr>
          <a:xfrm>
            <a:off x="4876800" y="5486400"/>
            <a:ext cx="37338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85" name="Google Shape;185;p1"/>
          <p:cNvSpPr txBox="1"/>
          <p:nvPr/>
        </p:nvSpPr>
        <p:spPr>
          <a:xfrm>
            <a:off x="685800" y="2057400"/>
            <a:ext cx="7772400" cy="1905000"/>
          </a:xfrm>
          <a:prstGeom prst="rect">
            <a:avLst/>
          </a:prstGeom>
          <a:noFill/>
          <a:ln>
            <a:noFill/>
          </a:ln>
        </p:spPr>
        <p:txBody>
          <a:bodyPr anchorCtr="0" anchor="b" bIns="0" lIns="0" spcFirstLastPara="1" rIns="18275" wrap="square" tIns="0">
            <a:normAutofit lnSpcReduction="10000"/>
          </a:bodyPr>
          <a:lstStyle/>
          <a:p>
            <a:pPr indent="0" lvl="0" marL="0" marR="0" rtl="0" algn="ctr">
              <a:lnSpc>
                <a:spcPct val="100000"/>
              </a:lnSpc>
              <a:spcBef>
                <a:spcPts val="0"/>
              </a:spcBef>
              <a:spcAft>
                <a:spcPts val="0"/>
              </a:spcAft>
              <a:buClr>
                <a:srgbClr val="7F7F7F"/>
              </a:buClr>
              <a:buSzPts val="4800"/>
              <a:buFont typeface="Times New Roman"/>
              <a:buNone/>
            </a:pPr>
            <a:r>
              <a:rPr b="1" i="0" lang="en-US" sz="4800" u="none" cap="none" strike="noStrike">
                <a:solidFill>
                  <a:srgbClr val="7F7F7F"/>
                </a:solidFill>
                <a:latin typeface="Times New Roman"/>
                <a:ea typeface="Times New Roman"/>
                <a:cs typeface="Times New Roman"/>
                <a:sym typeface="Times New Roman"/>
              </a:rPr>
              <a:t>CHUYÊN ĐỀ: </a:t>
            </a:r>
            <a:endParaRPr b="1" i="0" sz="4800" u="none" cap="none" strike="noStrike">
              <a:solidFill>
                <a:srgbClr val="7F7F7F"/>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7F7F7F"/>
              </a:buClr>
              <a:buSzPts val="4800"/>
              <a:buFont typeface="Times New Roman"/>
              <a:buNone/>
            </a:pPr>
            <a:r>
              <a:rPr b="1" i="0" lang="en-US" sz="4800" u="none" cap="none" strike="noStrike">
                <a:solidFill>
                  <a:srgbClr val="7F7F7F"/>
                </a:solidFill>
                <a:latin typeface="Times New Roman"/>
                <a:ea typeface="Times New Roman"/>
                <a:cs typeface="Times New Roman"/>
                <a:sym typeface="Times New Roman"/>
              </a:rPr>
              <a:t>CÔNG TY CHỨNG KHOÁN </a:t>
            </a:r>
            <a:br>
              <a:rPr b="1" i="0" lang="en-US" sz="3600" u="none" cap="none" strike="noStrike">
                <a:solidFill>
                  <a:srgbClr val="7F7F7F"/>
                </a:solidFill>
                <a:latin typeface="Calibri"/>
                <a:ea typeface="Calibri"/>
                <a:cs typeface="Calibri"/>
                <a:sym typeface="Calibri"/>
              </a:rPr>
            </a:br>
            <a:endParaRPr b="1" i="0" sz="3600" u="none" cap="none" strike="noStrike">
              <a:solidFill>
                <a:srgbClr val="7F7F7F"/>
              </a:solidFill>
              <a:latin typeface="Calibri"/>
              <a:ea typeface="Calibri"/>
              <a:cs typeface="Calibri"/>
              <a:sym typeface="Calibri"/>
            </a:endParaRPr>
          </a:p>
        </p:txBody>
      </p:sp>
      <p:graphicFrame>
        <p:nvGraphicFramePr>
          <p:cNvPr id="186" name="Google Shape;186;p1"/>
          <p:cNvGraphicFramePr/>
          <p:nvPr/>
        </p:nvGraphicFramePr>
        <p:xfrm>
          <a:off x="2971800" y="4191000"/>
          <a:ext cx="3000000" cy="3000000"/>
        </p:xfrm>
        <a:graphic>
          <a:graphicData uri="http://schemas.openxmlformats.org/drawingml/2006/table">
            <a:tbl>
              <a:tblPr>
                <a:noFill/>
                <a:tableStyleId>{A158F599-5460-498B-8783-03FB0E78F567}</a:tableStyleId>
              </a:tblPr>
              <a:tblGrid>
                <a:gridCol w="2452675"/>
                <a:gridCol w="3370250"/>
              </a:tblGrid>
              <a:tr h="396875">
                <a:tc>
                  <a:txBody>
                    <a:bodyPr/>
                    <a:lstStyle/>
                    <a:p>
                      <a:pPr indent="0" lvl="0" marL="0" marR="0" rtl="0" algn="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Người trình bày:</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Ths. Trịnh Văn Điển</a:t>
                      </a:r>
                      <a:endParaRPr/>
                    </a:p>
                  </a:txBody>
                  <a:tcPr marT="45725" marB="45725" marR="91450" marL="91450"/>
                </a:tc>
              </a:tr>
              <a:tr h="1004875">
                <a:tc>
                  <a:txBody>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Phó Giám đốc– Trung tâm Nghiên cứu khoa học và Đào tạo chứng khoán</a:t>
                      </a:r>
                      <a:endParaRPr/>
                    </a:p>
                  </a:txBody>
                  <a:tcPr marT="45725" marB="45725" marR="91450" marL="91450"/>
                </a:tc>
              </a:tr>
              <a:tr h="396875">
                <a:tc>
                  <a:txBody>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a:txBody>
                  <a:tcPr marT="45725" marB="45725" marR="91450" marL="91450"/>
                </a:tc>
                <a:tc>
                  <a:txBody>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a:txBody>
                  <a:tcPr marT="45725" marB="45725" marR="91450" marL="9145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0" name="Shape 190"/>
        <p:cNvGrpSpPr/>
        <p:nvPr/>
      </p:nvGrpSpPr>
      <p:grpSpPr>
        <a:xfrm>
          <a:off x="0" y="0"/>
          <a:ext cx="0" cy="0"/>
          <a:chOff x="0" y="0"/>
          <a:chExt cx="0" cy="0"/>
        </a:xfrm>
      </p:grpSpPr>
      <p:sp>
        <p:nvSpPr>
          <p:cNvPr id="191" name="Google Shape;191;p2"/>
          <p:cNvSpPr txBox="1"/>
          <p:nvPr>
            <p:ph type="title"/>
          </p:nvPr>
        </p:nvSpPr>
        <p:spPr>
          <a:xfrm>
            <a:off x="1752600" y="609600"/>
            <a:ext cx="6934200" cy="6858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3400"/>
              <a:buFont typeface="Times New Roman"/>
              <a:buNone/>
            </a:pPr>
            <a:r>
              <a:rPr b="0" i="0" lang="en-US" sz="3400" u="none">
                <a:solidFill>
                  <a:schemeClr val="dk2"/>
                </a:solidFill>
                <a:latin typeface="Times New Roman"/>
                <a:ea typeface="Times New Roman"/>
                <a:cs typeface="Times New Roman"/>
                <a:sym typeface="Times New Roman"/>
              </a:rPr>
              <a:t>TÀI LIỆU THAM KHẢO</a:t>
            </a:r>
            <a:endParaRPr/>
          </a:p>
        </p:txBody>
      </p:sp>
      <p:sp>
        <p:nvSpPr>
          <p:cNvPr id="192" name="Google Shape;192;p2"/>
          <p:cNvSpPr txBox="1"/>
          <p:nvPr>
            <p:ph idx="1" type="body"/>
          </p:nvPr>
        </p:nvSpPr>
        <p:spPr>
          <a:xfrm>
            <a:off x="762000" y="1905000"/>
            <a:ext cx="8001000" cy="43434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BD0D9"/>
              </a:buClr>
              <a:buSzPts val="1900"/>
              <a:buFont typeface="Noto Sans Symbols"/>
              <a:buChar char="⚫"/>
            </a:pPr>
            <a:r>
              <a:rPr b="0" i="0" lang="en-US" sz="2000" u="none" cap="none" strike="noStrike">
                <a:solidFill>
                  <a:schemeClr val="dk1"/>
                </a:solidFill>
                <a:latin typeface="Times"/>
                <a:ea typeface="Times"/>
                <a:cs typeface="Times"/>
                <a:sym typeface="Times"/>
              </a:rPr>
              <a:t>Luật chung: </a:t>
            </a:r>
            <a:endParaRPr/>
          </a:p>
          <a:p>
            <a:pPr indent="-273050" lvl="0" marL="273050" marR="0" rtl="0" algn="l">
              <a:lnSpc>
                <a:spcPct val="100000"/>
              </a:lnSpc>
              <a:spcBef>
                <a:spcPts val="400"/>
              </a:spcBef>
              <a:spcAft>
                <a:spcPts val="0"/>
              </a:spcAft>
              <a:buClr>
                <a:srgbClr val="0BD0D9"/>
              </a:buClr>
              <a:buSzPts val="1900"/>
              <a:buFont typeface="Noto Sans Symbols"/>
              <a:buChar char="⚫"/>
            </a:pPr>
            <a:r>
              <a:rPr b="0" i="0" lang="en-US" sz="2000" u="none" cap="none" strike="noStrike">
                <a:solidFill>
                  <a:schemeClr val="dk1"/>
                </a:solidFill>
                <a:latin typeface="Times"/>
                <a:ea typeface="Times"/>
                <a:cs typeface="Times"/>
                <a:sym typeface="Times"/>
              </a:rPr>
              <a:t>Luật chuyên ngành: </a:t>
            </a:r>
            <a:endParaRPr/>
          </a:p>
          <a:p>
            <a:pPr indent="-273050" lvl="0" marL="273050" marR="0" rtl="0" algn="just">
              <a:lnSpc>
                <a:spcPct val="100000"/>
              </a:lnSpc>
              <a:spcBef>
                <a:spcPts val="400"/>
              </a:spcBef>
              <a:spcAft>
                <a:spcPts val="0"/>
              </a:spcAft>
              <a:buClr>
                <a:srgbClr val="0BD0D9"/>
              </a:buClr>
              <a:buSzPts val="1900"/>
              <a:buFont typeface="Noto Sans Symbols"/>
              <a:buNone/>
            </a:pPr>
            <a:r>
              <a:rPr b="0" i="0" lang="en-US" sz="2000" u="none" cap="none" strike="noStrike">
                <a:solidFill>
                  <a:schemeClr val="dk1"/>
                </a:solidFill>
                <a:latin typeface="Times"/>
                <a:ea typeface="Times"/>
                <a:cs typeface="Times"/>
                <a:sym typeface="Times"/>
              </a:rPr>
              <a:t>	+ Luật Chứng khoán 2019 (LCK62/2010, LCK70/2006)</a:t>
            </a:r>
            <a:endParaRPr/>
          </a:p>
          <a:p>
            <a:pPr indent="-273050" lvl="0" marL="273050" marR="0" rtl="0" algn="just">
              <a:lnSpc>
                <a:spcPct val="100000"/>
              </a:lnSpc>
              <a:spcBef>
                <a:spcPts val="400"/>
              </a:spcBef>
              <a:spcAft>
                <a:spcPts val="0"/>
              </a:spcAft>
              <a:buClr>
                <a:srgbClr val="0BD0D9"/>
              </a:buClr>
              <a:buSzPts val="1900"/>
              <a:buFont typeface="Noto Sans Symbols"/>
              <a:buNone/>
            </a:pPr>
            <a:r>
              <a:rPr b="0" i="0" lang="en-US" sz="2000" u="none" cap="none" strike="noStrike">
                <a:solidFill>
                  <a:schemeClr val="dk1"/>
                </a:solidFill>
                <a:latin typeface="Times"/>
                <a:ea typeface="Times"/>
                <a:cs typeface="Times"/>
                <a:sym typeface="Times"/>
              </a:rPr>
              <a:t>	+ Nghị định 155/2020/NĐ-CP ngày 31/12/2010 của  Chính phủ quy định một số điều của Luật CK (chương 8) (NĐ58/2012; NĐ14/2007; NĐ144/2003; NĐ48/1998)</a:t>
            </a:r>
            <a:endParaRPr/>
          </a:p>
          <a:p>
            <a:pPr indent="-273050" lvl="0" marL="273050" marR="0" rtl="0" algn="just">
              <a:lnSpc>
                <a:spcPct val="100000"/>
              </a:lnSpc>
              <a:spcBef>
                <a:spcPts val="400"/>
              </a:spcBef>
              <a:spcAft>
                <a:spcPts val="0"/>
              </a:spcAft>
              <a:buClr>
                <a:srgbClr val="0BD0D9"/>
              </a:buClr>
              <a:buSzPts val="1900"/>
              <a:buFont typeface="Noto Sans Symbols"/>
              <a:buNone/>
            </a:pPr>
            <a:r>
              <a:rPr b="0" i="0" lang="en-US" sz="2000" u="none" cap="none" strike="noStrike">
                <a:solidFill>
                  <a:schemeClr val="dk1"/>
                </a:solidFill>
                <a:latin typeface="Times"/>
                <a:ea typeface="Times"/>
                <a:cs typeface="Times"/>
                <a:sym typeface="Times"/>
              </a:rPr>
              <a:t>	+ Thông tư 121/2020/TT-BTC ngày 31/12/2020 quy định về hoạt động  của công ty Ck (TT210/2012; QĐ27/2007/BTC) </a:t>
            </a:r>
            <a:endParaRPr/>
          </a:p>
          <a:p>
            <a:pPr indent="-273050" lvl="0" marL="273050" marR="0" rtl="0" algn="just">
              <a:lnSpc>
                <a:spcPct val="100000"/>
              </a:lnSpc>
              <a:spcBef>
                <a:spcPts val="400"/>
              </a:spcBef>
              <a:spcAft>
                <a:spcPts val="0"/>
              </a:spcAft>
              <a:buClr>
                <a:srgbClr val="0BD0D9"/>
              </a:buClr>
              <a:buSzPts val="1900"/>
              <a:buFont typeface="Noto Sans Symbols"/>
              <a:buNone/>
            </a:pPr>
            <a:r>
              <a:rPr b="0" i="0" lang="en-US" sz="2000" u="none" cap="none" strike="noStrike">
                <a:solidFill>
                  <a:schemeClr val="dk1"/>
                </a:solidFill>
                <a:latin typeface="Times"/>
                <a:ea typeface="Times"/>
                <a:cs typeface="Times"/>
                <a:sym typeface="Times"/>
              </a:rPr>
              <a:t>	+ Thông tư 91/2020/TT-BTC ngày 13/11/2020 quy định chỉ tiêu an toàn tài chính và các biện pháp xử lý đối với tổ chức kinh doanh chứng khoán không đáp ứng chỉ tiêu an toàn tài chính;</a:t>
            </a:r>
            <a:endParaRPr/>
          </a:p>
          <a:p>
            <a:pPr indent="-273050" lvl="0" marL="273050" marR="0" rtl="0" algn="just">
              <a:lnSpc>
                <a:spcPct val="100000"/>
              </a:lnSpc>
              <a:spcBef>
                <a:spcPts val="400"/>
              </a:spcBef>
              <a:spcAft>
                <a:spcPts val="0"/>
              </a:spcAft>
              <a:buClr>
                <a:srgbClr val="0BD0D9"/>
              </a:buClr>
              <a:buSzPts val="1900"/>
              <a:buFont typeface="Noto Sans Symbols"/>
              <a:buNone/>
            </a:pPr>
            <a:r>
              <a:rPr b="0" i="0" lang="en-US" sz="2000" u="none" cap="none" strike="noStrike">
                <a:solidFill>
                  <a:schemeClr val="dk1"/>
                </a:solidFill>
                <a:latin typeface="Times"/>
                <a:ea typeface="Times"/>
                <a:cs typeface="Times"/>
                <a:sym typeface="Times"/>
              </a:rPr>
              <a:t>	(Thông tư 87/2017; TT226/2010; QĐ27/2007/BTC)</a:t>
            </a:r>
            <a:endParaRPr/>
          </a:p>
          <a:p>
            <a:pPr indent="-273050" lvl="0" marL="273050" marR="0" rtl="0" algn="just">
              <a:lnSpc>
                <a:spcPct val="100000"/>
              </a:lnSpc>
              <a:spcBef>
                <a:spcPts val="400"/>
              </a:spcBef>
              <a:spcAft>
                <a:spcPts val="0"/>
              </a:spcAft>
              <a:buClr>
                <a:srgbClr val="0BD0D9"/>
              </a:buClr>
              <a:buSzPts val="1900"/>
              <a:buFont typeface="Noto Sans Symbols"/>
              <a:buNone/>
            </a:pPr>
            <a:r>
              <a:rPr b="1" i="0" lang="en-US" sz="2000" u="none" cap="none" strike="noStrike">
                <a:solidFill>
                  <a:schemeClr val="dk1"/>
                </a:solidFill>
                <a:latin typeface="Times"/>
                <a:ea typeface="Times"/>
                <a:cs typeface="Times"/>
                <a:sym typeface="Times"/>
              </a:rPr>
              <a:t>	</a:t>
            </a:r>
            <a:endParaRPr/>
          </a:p>
        </p:txBody>
      </p:sp>
      <p:sp>
        <p:nvSpPr>
          <p:cNvPr id="193" name="Google Shape;193;p2"/>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194" name="Google Shape;194;p2"/>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195" name="Google Shape;195;p2"/>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9" name="Shape 199"/>
        <p:cNvGrpSpPr/>
        <p:nvPr/>
      </p:nvGrpSpPr>
      <p:grpSpPr>
        <a:xfrm>
          <a:off x="0" y="0"/>
          <a:ext cx="0" cy="0"/>
          <a:chOff x="0" y="0"/>
          <a:chExt cx="0" cy="0"/>
        </a:xfrm>
      </p:grpSpPr>
      <p:sp>
        <p:nvSpPr>
          <p:cNvPr id="200" name="Google Shape;200;p3"/>
          <p:cNvSpPr txBox="1"/>
          <p:nvPr>
            <p:ph type="title"/>
          </p:nvPr>
        </p:nvSpPr>
        <p:spPr>
          <a:xfrm>
            <a:off x="1752600" y="704850"/>
            <a:ext cx="6934200" cy="59055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3400"/>
              <a:buFont typeface="Times New Roman"/>
              <a:buNone/>
            </a:pPr>
            <a:r>
              <a:rPr b="0" i="0" lang="en-US" sz="3400" u="none">
                <a:solidFill>
                  <a:schemeClr val="dk2"/>
                </a:solidFill>
                <a:latin typeface="Times New Roman"/>
                <a:ea typeface="Times New Roman"/>
                <a:cs typeface="Times New Roman"/>
                <a:sym typeface="Times New Roman"/>
              </a:rPr>
              <a:t>NỘI DUNG TRÌNH BÀY</a:t>
            </a:r>
            <a:endParaRPr/>
          </a:p>
        </p:txBody>
      </p:sp>
      <p:sp>
        <p:nvSpPr>
          <p:cNvPr id="201" name="Google Shape;201;p3"/>
          <p:cNvSpPr txBox="1"/>
          <p:nvPr>
            <p:ph idx="1" type="body"/>
          </p:nvPr>
        </p:nvSpPr>
        <p:spPr>
          <a:xfrm>
            <a:off x="762000" y="1905000"/>
            <a:ext cx="8001000" cy="3724275"/>
          </a:xfrm>
          <a:prstGeom prst="rect">
            <a:avLst/>
          </a:prstGeom>
          <a:noFill/>
          <a:ln>
            <a:noFill/>
          </a:ln>
        </p:spPr>
        <p:txBody>
          <a:bodyPr anchorCtr="0" anchor="t" bIns="45700" lIns="91425" spcFirstLastPara="1" rIns="91425" wrap="square" tIns="45700">
            <a:normAutofit/>
          </a:bodyPr>
          <a:lstStyle/>
          <a:p>
            <a:pPr indent="-711200" lvl="0" marL="711200" marR="0" rtl="0" algn="l">
              <a:lnSpc>
                <a:spcPct val="80000"/>
              </a:lnSpc>
              <a:spcBef>
                <a:spcPts val="0"/>
              </a:spcBef>
              <a:spcAft>
                <a:spcPts val="0"/>
              </a:spcAft>
              <a:buClr>
                <a:srgbClr val="0BD0D9"/>
              </a:buClr>
              <a:buSzPts val="2280"/>
              <a:buFont typeface="Noto Sans Symbols"/>
              <a:buNone/>
            </a:pPr>
            <a:r>
              <a:rPr b="1" i="0" lang="en-US" sz="2400" u="none" cap="none" strike="noStrike">
                <a:solidFill>
                  <a:schemeClr val="dk1"/>
                </a:solidFill>
                <a:latin typeface="Times New Roman"/>
                <a:ea typeface="Times New Roman"/>
                <a:cs typeface="Times New Roman"/>
                <a:sym typeface="Times New Roman"/>
              </a:rPr>
              <a:t>A. Những vấn đề chung về CTCK</a:t>
            </a:r>
            <a:endParaRPr/>
          </a:p>
          <a:p>
            <a:pPr indent="-711200" lvl="0" marL="711200" marR="0" rtl="0" algn="just">
              <a:lnSpc>
                <a:spcPct val="80000"/>
              </a:lnSpc>
              <a:spcBef>
                <a:spcPts val="480"/>
              </a:spcBef>
              <a:spcAft>
                <a:spcPts val="0"/>
              </a:spcAft>
              <a:buClr>
                <a:srgbClr val="0BD0D9"/>
              </a:buClr>
              <a:buSzPts val="2280"/>
              <a:buFont typeface="Noto Sans Symbols"/>
              <a:buNone/>
            </a:pPr>
            <a:r>
              <a:rPr b="0" i="0" lang="en-US" sz="2400" u="none" cap="none" strike="noStrike">
                <a:solidFill>
                  <a:schemeClr val="dk1"/>
                </a:solidFill>
                <a:latin typeface="Times New Roman"/>
                <a:ea typeface="Times New Roman"/>
                <a:cs typeface="Times New Roman"/>
                <a:sym typeface="Times New Roman"/>
              </a:rPr>
              <a:t>Khái niệm; vị trí  trên TTCK; vai trò; mô hình tổ chức; điều kiện và thủ tục thành lập; nguyên tắc tổ chức, hoạt động; Cơ cấu tổ chức; Nghĩa vụ; quy định hạn chế, an toàn tài chính và cảnh báo (quản trị rủi ro); chế độ báo cáo lưu trữ thông tin; Tổ chức lại CTCK (tăng, giảm nghiệp vụ, M&amp;A .v.v) .  </a:t>
            </a:r>
            <a:endParaRPr/>
          </a:p>
          <a:p>
            <a:pPr indent="-711200" lvl="0" marL="711200" marR="0" rtl="0" algn="l">
              <a:lnSpc>
                <a:spcPct val="80000"/>
              </a:lnSpc>
              <a:spcBef>
                <a:spcPts val="480"/>
              </a:spcBef>
              <a:spcAft>
                <a:spcPts val="0"/>
              </a:spcAft>
              <a:buClr>
                <a:srgbClr val="0BD0D9"/>
              </a:buClr>
              <a:buSzPts val="2280"/>
              <a:buFont typeface="Noto Sans Symbols"/>
              <a:buNone/>
            </a:pPr>
            <a:r>
              <a:rPr b="1" i="0" lang="en-US" sz="2400" u="none" cap="none" strike="noStrike">
                <a:solidFill>
                  <a:schemeClr val="dk1"/>
                </a:solidFill>
                <a:latin typeface="Times New Roman"/>
                <a:ea typeface="Times New Roman"/>
                <a:cs typeface="Times New Roman"/>
                <a:sym typeface="Times New Roman"/>
              </a:rPr>
              <a:t>B. Quy định hoạt động nghiệp vụ </a:t>
            </a:r>
            <a:endParaRPr/>
          </a:p>
          <a:p>
            <a:pPr indent="-711200" lvl="0" marL="711200" marR="0" rtl="0" algn="ctr">
              <a:lnSpc>
                <a:spcPct val="80000"/>
              </a:lnSpc>
              <a:spcBef>
                <a:spcPts val="480"/>
              </a:spcBef>
              <a:spcAft>
                <a:spcPts val="0"/>
              </a:spcAft>
              <a:buClr>
                <a:srgbClr val="0BD0D9"/>
              </a:buClr>
              <a:buSzPts val="2280"/>
              <a:buFont typeface="Noto Sans Symbols"/>
              <a:buNone/>
            </a:pPr>
            <a:r>
              <a:rPr b="0" i="0" lang="en-US" sz="2400" u="none" cap="none" strike="noStrike">
                <a:solidFill>
                  <a:schemeClr val="dk1"/>
                </a:solidFill>
                <a:latin typeface="Times New Roman"/>
                <a:ea typeface="Times New Roman"/>
                <a:cs typeface="Times New Roman"/>
                <a:sym typeface="Times New Roman"/>
              </a:rPr>
              <a:t>Môi giới, tự doanh, bảo lãnh phát hành, tư vấn đầu tư CK; tư vấn đầu tư tài chính; khác. </a:t>
            </a:r>
            <a:endParaRPr/>
          </a:p>
          <a:p>
            <a:pPr indent="-711200" lvl="0" marL="711200" marR="0" rtl="0" algn="l">
              <a:lnSpc>
                <a:spcPct val="80000"/>
              </a:lnSpc>
              <a:spcBef>
                <a:spcPts val="480"/>
              </a:spcBef>
              <a:spcAft>
                <a:spcPts val="0"/>
              </a:spcAft>
              <a:buClr>
                <a:srgbClr val="0BD0D9"/>
              </a:buClr>
              <a:buSzPts val="2280"/>
              <a:buFont typeface="Noto Sans Symbols"/>
              <a:buNone/>
            </a:pPr>
            <a:r>
              <a:rPr b="1" i="0" lang="en-US" sz="2400" u="none" cap="none" strike="noStrike">
                <a:solidFill>
                  <a:schemeClr val="dk1"/>
                </a:solidFill>
                <a:latin typeface="Times New Roman"/>
                <a:ea typeface="Times New Roman"/>
                <a:cs typeface="Times New Roman"/>
                <a:sym typeface="Times New Roman"/>
              </a:rPr>
              <a:t>C. Bài tập cá nhân</a:t>
            </a:r>
            <a:endParaRPr/>
          </a:p>
        </p:txBody>
      </p:sp>
      <p:sp>
        <p:nvSpPr>
          <p:cNvPr id="202" name="Google Shape;202;p3"/>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03" name="Google Shape;203;p3"/>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04" name="Google Shape;204;p3"/>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8" name="Shape 208"/>
        <p:cNvGrpSpPr/>
        <p:nvPr/>
      </p:nvGrpSpPr>
      <p:grpSpPr>
        <a:xfrm>
          <a:off x="0" y="0"/>
          <a:ext cx="0" cy="0"/>
          <a:chOff x="0" y="0"/>
          <a:chExt cx="0" cy="0"/>
        </a:xfrm>
      </p:grpSpPr>
      <p:sp>
        <p:nvSpPr>
          <p:cNvPr id="209" name="Google Shape;209;p4"/>
          <p:cNvSpPr txBox="1"/>
          <p:nvPr>
            <p:ph type="title"/>
          </p:nvPr>
        </p:nvSpPr>
        <p:spPr>
          <a:xfrm>
            <a:off x="1752600" y="228600"/>
            <a:ext cx="6934200" cy="10668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sp>
        <p:nvSpPr>
          <p:cNvPr id="210" name="Google Shape;210;p4"/>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11" name="Google Shape;211;p4"/>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12" name="Google Shape;212;p4"/>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pic>
        <p:nvPicPr>
          <p:cNvPr id="213" name="Google Shape;213;p4"/>
          <p:cNvPicPr preferRelativeResize="0"/>
          <p:nvPr/>
        </p:nvPicPr>
        <p:blipFill rotWithShape="1">
          <a:blip r:embed="rId3">
            <a:alphaModFix/>
          </a:blip>
          <a:srcRect b="0" l="0" r="0" t="0"/>
          <a:stretch/>
        </p:blipFill>
        <p:spPr>
          <a:xfrm>
            <a:off x="841375" y="2060575"/>
            <a:ext cx="7686675" cy="3876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7" name="Shape 217"/>
        <p:cNvGrpSpPr/>
        <p:nvPr/>
      </p:nvGrpSpPr>
      <p:grpSpPr>
        <a:xfrm>
          <a:off x="0" y="0"/>
          <a:ext cx="0" cy="0"/>
          <a:chOff x="0" y="0"/>
          <a:chExt cx="0" cy="0"/>
        </a:xfrm>
      </p:grpSpPr>
      <p:sp>
        <p:nvSpPr>
          <p:cNvPr id="218" name="Google Shape;218;p5"/>
          <p:cNvSpPr txBox="1"/>
          <p:nvPr>
            <p:ph type="title"/>
          </p:nvPr>
        </p:nvSpPr>
        <p:spPr>
          <a:xfrm>
            <a:off x="1828800" y="381000"/>
            <a:ext cx="6781800" cy="9144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sp>
        <p:nvSpPr>
          <p:cNvPr id="219" name="Google Shape;219;p5"/>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20" name="Google Shape;220;p5"/>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21" name="Google Shape;221;p5"/>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pic>
        <p:nvPicPr>
          <p:cNvPr id="222" name="Google Shape;222;p5"/>
          <p:cNvPicPr preferRelativeResize="0"/>
          <p:nvPr/>
        </p:nvPicPr>
        <p:blipFill rotWithShape="1">
          <a:blip r:embed="rId3">
            <a:alphaModFix/>
          </a:blip>
          <a:srcRect b="0" l="0" r="0" t="0"/>
          <a:stretch/>
        </p:blipFill>
        <p:spPr>
          <a:xfrm>
            <a:off x="652462" y="1543050"/>
            <a:ext cx="7546975" cy="4645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6" name="Shape 226"/>
        <p:cNvGrpSpPr/>
        <p:nvPr/>
      </p:nvGrpSpPr>
      <p:grpSpPr>
        <a:xfrm>
          <a:off x="0" y="0"/>
          <a:ext cx="0" cy="0"/>
          <a:chOff x="0" y="0"/>
          <a:chExt cx="0" cy="0"/>
        </a:xfrm>
      </p:grpSpPr>
      <p:sp>
        <p:nvSpPr>
          <p:cNvPr id="227" name="Google Shape;227;p6"/>
          <p:cNvSpPr txBox="1"/>
          <p:nvPr>
            <p:ph type="title"/>
          </p:nvPr>
        </p:nvSpPr>
        <p:spPr>
          <a:xfrm>
            <a:off x="1676400" y="15240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sp>
        <p:nvSpPr>
          <p:cNvPr id="228" name="Google Shape;228;p6"/>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29" name="Google Shape;229;p6"/>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30" name="Google Shape;230;p6"/>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pic>
        <p:nvPicPr>
          <p:cNvPr id="231" name="Google Shape;231;p6"/>
          <p:cNvPicPr preferRelativeResize="0"/>
          <p:nvPr/>
        </p:nvPicPr>
        <p:blipFill rotWithShape="1">
          <a:blip r:embed="rId3">
            <a:alphaModFix/>
          </a:blip>
          <a:srcRect b="0" l="0" r="0" t="0"/>
          <a:stretch/>
        </p:blipFill>
        <p:spPr>
          <a:xfrm>
            <a:off x="706437" y="1895475"/>
            <a:ext cx="7761287" cy="3730625"/>
          </a:xfrm>
          <a:prstGeom prst="rect">
            <a:avLst/>
          </a:prstGeom>
          <a:noFill/>
          <a:ln>
            <a:noFill/>
          </a:ln>
        </p:spPr>
      </p:pic>
      <p:pic>
        <p:nvPicPr>
          <p:cNvPr descr="C:\Program Files\Microsoft Office\MEDIA\CAGCAT10\j0301252.wmf" id="232" name="Google Shape;232;p6"/>
          <p:cNvPicPr preferRelativeResize="0"/>
          <p:nvPr/>
        </p:nvPicPr>
        <p:blipFill rotWithShape="1">
          <a:blip r:embed="rId4">
            <a:alphaModFix/>
          </a:blip>
          <a:srcRect b="0" l="0" r="0" t="0"/>
          <a:stretch/>
        </p:blipFill>
        <p:spPr>
          <a:xfrm>
            <a:off x="7086600" y="152400"/>
            <a:ext cx="1830387" cy="1565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6" name="Shape 236"/>
        <p:cNvGrpSpPr/>
        <p:nvPr/>
      </p:nvGrpSpPr>
      <p:grpSpPr>
        <a:xfrm>
          <a:off x="0" y="0"/>
          <a:ext cx="0" cy="0"/>
          <a:chOff x="0" y="0"/>
          <a:chExt cx="0" cy="0"/>
        </a:xfrm>
      </p:grpSpPr>
      <p:sp>
        <p:nvSpPr>
          <p:cNvPr id="237" name="Google Shape;237;p7"/>
          <p:cNvSpPr txBox="1"/>
          <p:nvPr>
            <p:ph type="title"/>
          </p:nvPr>
        </p:nvSpPr>
        <p:spPr>
          <a:xfrm>
            <a:off x="1752600" y="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pic>
        <p:nvPicPr>
          <p:cNvPr id="238" name="Google Shape;238;p7"/>
          <p:cNvPicPr preferRelativeResize="0"/>
          <p:nvPr>
            <p:ph idx="1" type="body"/>
          </p:nvPr>
        </p:nvPicPr>
        <p:blipFill rotWithShape="1">
          <a:blip r:embed="rId3">
            <a:alphaModFix/>
          </a:blip>
          <a:srcRect b="0" l="0" r="0" t="0"/>
          <a:stretch/>
        </p:blipFill>
        <p:spPr>
          <a:xfrm>
            <a:off x="536575" y="1554162"/>
            <a:ext cx="8229600" cy="4389437"/>
          </a:xfrm>
          <a:prstGeom prst="rect">
            <a:avLst/>
          </a:prstGeom>
          <a:noFill/>
          <a:ln>
            <a:noFill/>
          </a:ln>
        </p:spPr>
      </p:pic>
      <p:sp>
        <p:nvSpPr>
          <p:cNvPr id="239" name="Google Shape;239;p7"/>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40" name="Google Shape;240;p7"/>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41" name="Google Shape;241;p7"/>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5" name="Shape 245"/>
        <p:cNvGrpSpPr/>
        <p:nvPr/>
      </p:nvGrpSpPr>
      <p:grpSpPr>
        <a:xfrm>
          <a:off x="0" y="0"/>
          <a:ext cx="0" cy="0"/>
          <a:chOff x="0" y="0"/>
          <a:chExt cx="0" cy="0"/>
        </a:xfrm>
      </p:grpSpPr>
      <p:sp>
        <p:nvSpPr>
          <p:cNvPr id="246" name="Google Shape;246;p8"/>
          <p:cNvSpPr txBox="1"/>
          <p:nvPr>
            <p:ph type="title"/>
          </p:nvPr>
        </p:nvSpPr>
        <p:spPr>
          <a:xfrm>
            <a:off x="1752600" y="0"/>
            <a:ext cx="6858000" cy="12192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CÔNG TY CHỨNG KHOÁN</a:t>
            </a:r>
            <a:br>
              <a:rPr b="0" i="0" lang="en-US" sz="3200" u="none">
                <a:solidFill>
                  <a:schemeClr val="dk2"/>
                </a:solidFill>
                <a:latin typeface="Times New Roman"/>
                <a:ea typeface="Times New Roman"/>
                <a:cs typeface="Times New Roman"/>
                <a:sym typeface="Times New Roman"/>
              </a:rPr>
            </a:br>
            <a:r>
              <a:rPr b="0" i="0" lang="en-US" sz="3200" u="none">
                <a:solidFill>
                  <a:schemeClr val="dk2"/>
                </a:solidFill>
                <a:latin typeface="Times New Roman"/>
                <a:ea typeface="Times New Roman"/>
                <a:cs typeface="Times New Roman"/>
                <a:sym typeface="Times New Roman"/>
              </a:rPr>
              <a:t>A. Những vấn đề chung</a:t>
            </a:r>
            <a:endParaRPr/>
          </a:p>
        </p:txBody>
      </p:sp>
      <p:pic>
        <p:nvPicPr>
          <p:cNvPr id="247" name="Google Shape;247;p8"/>
          <p:cNvPicPr preferRelativeResize="0"/>
          <p:nvPr>
            <p:ph idx="1" type="body"/>
          </p:nvPr>
        </p:nvPicPr>
        <p:blipFill rotWithShape="1">
          <a:blip r:embed="rId3">
            <a:alphaModFix/>
          </a:blip>
          <a:srcRect b="0" l="0" r="0" t="0"/>
          <a:stretch/>
        </p:blipFill>
        <p:spPr>
          <a:xfrm>
            <a:off x="841375" y="2200275"/>
            <a:ext cx="7686675" cy="4365625"/>
          </a:xfrm>
          <a:prstGeom prst="rect">
            <a:avLst/>
          </a:prstGeom>
          <a:noFill/>
          <a:ln>
            <a:noFill/>
          </a:ln>
        </p:spPr>
      </p:pic>
      <p:sp>
        <p:nvSpPr>
          <p:cNvPr id="248" name="Google Shape;248;p8"/>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49" name="Google Shape;249;p8"/>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50" name="Google Shape;250;p8"/>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pic>
        <p:nvPicPr>
          <p:cNvPr descr="C:\Program Files\Microsoft Office\MEDIA\CAGCAT10\j0195384.wmf" id="251" name="Google Shape;251;p8"/>
          <p:cNvPicPr preferRelativeResize="0"/>
          <p:nvPr/>
        </p:nvPicPr>
        <p:blipFill rotWithShape="1">
          <a:blip r:embed="rId4">
            <a:alphaModFix/>
          </a:blip>
          <a:srcRect b="0" l="0" r="0" t="0"/>
          <a:stretch/>
        </p:blipFill>
        <p:spPr>
          <a:xfrm>
            <a:off x="6629400" y="1524000"/>
            <a:ext cx="1795462" cy="18335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5" name="Shape 255"/>
        <p:cNvGrpSpPr/>
        <p:nvPr/>
      </p:nvGrpSpPr>
      <p:grpSpPr>
        <a:xfrm>
          <a:off x="0" y="0"/>
          <a:ext cx="0" cy="0"/>
          <a:chOff x="0" y="0"/>
          <a:chExt cx="0" cy="0"/>
        </a:xfrm>
      </p:grpSpPr>
      <p:sp>
        <p:nvSpPr>
          <p:cNvPr id="256" name="Google Shape;256;p9"/>
          <p:cNvSpPr txBox="1"/>
          <p:nvPr>
            <p:ph type="title"/>
          </p:nvPr>
        </p:nvSpPr>
        <p:spPr>
          <a:xfrm>
            <a:off x="1905000" y="228600"/>
            <a:ext cx="68580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pic>
        <p:nvPicPr>
          <p:cNvPr id="257" name="Google Shape;257;p9"/>
          <p:cNvPicPr preferRelativeResize="0"/>
          <p:nvPr>
            <p:ph idx="1" type="body"/>
          </p:nvPr>
        </p:nvPicPr>
        <p:blipFill rotWithShape="1">
          <a:blip r:embed="rId3">
            <a:alphaModFix/>
          </a:blip>
          <a:srcRect b="0" l="0" r="0" t="0"/>
          <a:stretch/>
        </p:blipFill>
        <p:spPr>
          <a:xfrm>
            <a:off x="347662" y="1511300"/>
            <a:ext cx="8448675" cy="4524375"/>
          </a:xfrm>
          <a:prstGeom prst="rect">
            <a:avLst/>
          </a:prstGeom>
          <a:noFill/>
          <a:ln>
            <a:noFill/>
          </a:ln>
        </p:spPr>
      </p:pic>
      <p:sp>
        <p:nvSpPr>
          <p:cNvPr id="258" name="Google Shape;258;p9"/>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59" name="Google Shape;259;p9"/>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60" name="Google Shape;260;p9"/>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4" name="Shape 264"/>
        <p:cNvGrpSpPr/>
        <p:nvPr/>
      </p:nvGrpSpPr>
      <p:grpSpPr>
        <a:xfrm>
          <a:off x="0" y="0"/>
          <a:ext cx="0" cy="0"/>
          <a:chOff x="0" y="0"/>
          <a:chExt cx="0" cy="0"/>
        </a:xfrm>
      </p:grpSpPr>
      <p:sp>
        <p:nvSpPr>
          <p:cNvPr id="265" name="Google Shape;265;p10"/>
          <p:cNvSpPr txBox="1"/>
          <p:nvPr>
            <p:ph type="title"/>
          </p:nvPr>
        </p:nvSpPr>
        <p:spPr>
          <a:xfrm>
            <a:off x="1752600" y="152400"/>
            <a:ext cx="68580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pic>
        <p:nvPicPr>
          <p:cNvPr id="266" name="Google Shape;266;p10"/>
          <p:cNvPicPr preferRelativeResize="0"/>
          <p:nvPr>
            <p:ph idx="1" type="body"/>
          </p:nvPr>
        </p:nvPicPr>
        <p:blipFill rotWithShape="1">
          <a:blip r:embed="rId3">
            <a:alphaModFix/>
          </a:blip>
          <a:srcRect b="0" l="0" r="0" t="0"/>
          <a:stretch/>
        </p:blipFill>
        <p:spPr>
          <a:xfrm>
            <a:off x="433387" y="1511300"/>
            <a:ext cx="8259762" cy="4749800"/>
          </a:xfrm>
          <a:prstGeom prst="rect">
            <a:avLst/>
          </a:prstGeom>
          <a:noFill/>
          <a:ln>
            <a:noFill/>
          </a:ln>
        </p:spPr>
      </p:pic>
      <p:sp>
        <p:nvSpPr>
          <p:cNvPr id="267" name="Google Shape;267;p10"/>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68" name="Google Shape;268;p10"/>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69" name="Google Shape;269;p10"/>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3" name="Shape 273"/>
        <p:cNvGrpSpPr/>
        <p:nvPr/>
      </p:nvGrpSpPr>
      <p:grpSpPr>
        <a:xfrm>
          <a:off x="0" y="0"/>
          <a:ext cx="0" cy="0"/>
          <a:chOff x="0" y="0"/>
          <a:chExt cx="0" cy="0"/>
        </a:xfrm>
      </p:grpSpPr>
      <p:sp>
        <p:nvSpPr>
          <p:cNvPr id="274" name="Google Shape;274;p11"/>
          <p:cNvSpPr txBox="1"/>
          <p:nvPr>
            <p:ph type="title"/>
          </p:nvPr>
        </p:nvSpPr>
        <p:spPr>
          <a:xfrm>
            <a:off x="1828800" y="15240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pic>
        <p:nvPicPr>
          <p:cNvPr id="275" name="Google Shape;275;p11"/>
          <p:cNvPicPr preferRelativeResize="0"/>
          <p:nvPr>
            <p:ph idx="1" type="body"/>
          </p:nvPr>
        </p:nvPicPr>
        <p:blipFill rotWithShape="1">
          <a:blip r:embed="rId3">
            <a:alphaModFix/>
          </a:blip>
          <a:srcRect b="0" l="0" r="0" t="0"/>
          <a:stretch/>
        </p:blipFill>
        <p:spPr>
          <a:xfrm>
            <a:off x="360362" y="1914525"/>
            <a:ext cx="8339137" cy="4419600"/>
          </a:xfrm>
          <a:prstGeom prst="rect">
            <a:avLst/>
          </a:prstGeom>
          <a:noFill/>
          <a:ln>
            <a:noFill/>
          </a:ln>
        </p:spPr>
      </p:pic>
      <p:sp>
        <p:nvSpPr>
          <p:cNvPr id="276" name="Google Shape;276;p11"/>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77" name="Google Shape;277;p11"/>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78" name="Google Shape;278;p11"/>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2" name="Shape 282"/>
        <p:cNvGrpSpPr/>
        <p:nvPr/>
      </p:nvGrpSpPr>
      <p:grpSpPr>
        <a:xfrm>
          <a:off x="0" y="0"/>
          <a:ext cx="0" cy="0"/>
          <a:chOff x="0" y="0"/>
          <a:chExt cx="0" cy="0"/>
        </a:xfrm>
      </p:grpSpPr>
      <p:sp>
        <p:nvSpPr>
          <p:cNvPr id="283" name="Google Shape;283;p12"/>
          <p:cNvSpPr txBox="1"/>
          <p:nvPr>
            <p:ph type="title"/>
          </p:nvPr>
        </p:nvSpPr>
        <p:spPr>
          <a:xfrm>
            <a:off x="1752600" y="228600"/>
            <a:ext cx="6934200" cy="9906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pic>
        <p:nvPicPr>
          <p:cNvPr id="284" name="Google Shape;284;p12"/>
          <p:cNvPicPr preferRelativeResize="0"/>
          <p:nvPr>
            <p:ph idx="1" type="body"/>
          </p:nvPr>
        </p:nvPicPr>
        <p:blipFill rotWithShape="1">
          <a:blip r:embed="rId3">
            <a:alphaModFix/>
          </a:blip>
          <a:srcRect b="0" l="0" r="0" t="0"/>
          <a:stretch/>
        </p:blipFill>
        <p:spPr>
          <a:xfrm>
            <a:off x="450850" y="1920875"/>
            <a:ext cx="8242300" cy="4413250"/>
          </a:xfrm>
          <a:prstGeom prst="rect">
            <a:avLst/>
          </a:prstGeom>
          <a:noFill/>
          <a:ln>
            <a:noFill/>
          </a:ln>
        </p:spPr>
      </p:pic>
      <p:sp>
        <p:nvSpPr>
          <p:cNvPr id="285" name="Google Shape;285;p12"/>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86" name="Google Shape;286;p12"/>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87" name="Google Shape;287;p12"/>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1" name="Shape 291"/>
        <p:cNvGrpSpPr/>
        <p:nvPr/>
      </p:nvGrpSpPr>
      <p:grpSpPr>
        <a:xfrm>
          <a:off x="0" y="0"/>
          <a:ext cx="0" cy="0"/>
          <a:chOff x="0" y="0"/>
          <a:chExt cx="0" cy="0"/>
        </a:xfrm>
      </p:grpSpPr>
      <p:sp>
        <p:nvSpPr>
          <p:cNvPr id="292" name="Google Shape;292;p13"/>
          <p:cNvSpPr txBox="1"/>
          <p:nvPr>
            <p:ph type="title"/>
          </p:nvPr>
        </p:nvSpPr>
        <p:spPr>
          <a:xfrm>
            <a:off x="1676400" y="15240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pic>
        <p:nvPicPr>
          <p:cNvPr id="293" name="Google Shape;293;p13"/>
          <p:cNvPicPr preferRelativeResize="0"/>
          <p:nvPr>
            <p:ph idx="1" type="body"/>
          </p:nvPr>
        </p:nvPicPr>
        <p:blipFill rotWithShape="1">
          <a:blip r:embed="rId3">
            <a:alphaModFix/>
          </a:blip>
          <a:srcRect b="0" l="0" r="0" t="0"/>
          <a:stretch/>
        </p:blipFill>
        <p:spPr>
          <a:xfrm>
            <a:off x="450850" y="1920875"/>
            <a:ext cx="8259762" cy="4419600"/>
          </a:xfrm>
          <a:prstGeom prst="rect">
            <a:avLst/>
          </a:prstGeom>
          <a:noFill/>
          <a:ln>
            <a:noFill/>
          </a:ln>
        </p:spPr>
      </p:pic>
      <p:sp>
        <p:nvSpPr>
          <p:cNvPr id="294" name="Google Shape;294;p13"/>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295" name="Google Shape;295;p13"/>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296" name="Google Shape;296;p13"/>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0" name="Shape 300"/>
        <p:cNvGrpSpPr/>
        <p:nvPr/>
      </p:nvGrpSpPr>
      <p:grpSpPr>
        <a:xfrm>
          <a:off x="0" y="0"/>
          <a:ext cx="0" cy="0"/>
          <a:chOff x="0" y="0"/>
          <a:chExt cx="0" cy="0"/>
        </a:xfrm>
      </p:grpSpPr>
      <p:sp>
        <p:nvSpPr>
          <p:cNvPr id="301" name="Google Shape;301;p14"/>
          <p:cNvSpPr txBox="1"/>
          <p:nvPr>
            <p:ph type="title"/>
          </p:nvPr>
        </p:nvSpPr>
        <p:spPr>
          <a:xfrm>
            <a:off x="1752600" y="15240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pic>
        <p:nvPicPr>
          <p:cNvPr id="302" name="Google Shape;302;p14"/>
          <p:cNvPicPr preferRelativeResize="0"/>
          <p:nvPr>
            <p:ph idx="1" type="body"/>
          </p:nvPr>
        </p:nvPicPr>
        <p:blipFill rotWithShape="1">
          <a:blip r:embed="rId3">
            <a:alphaModFix/>
          </a:blip>
          <a:srcRect b="0" l="0" r="0" t="0"/>
          <a:stretch/>
        </p:blipFill>
        <p:spPr>
          <a:xfrm>
            <a:off x="450850" y="1920875"/>
            <a:ext cx="8278812" cy="4413250"/>
          </a:xfrm>
          <a:prstGeom prst="rect">
            <a:avLst/>
          </a:prstGeom>
          <a:noFill/>
          <a:ln>
            <a:noFill/>
          </a:ln>
        </p:spPr>
      </p:pic>
      <p:sp>
        <p:nvSpPr>
          <p:cNvPr id="303" name="Google Shape;303;p14"/>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304" name="Google Shape;304;p14"/>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305" name="Google Shape;305;p14"/>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9" name="Shape 309"/>
        <p:cNvGrpSpPr/>
        <p:nvPr/>
      </p:nvGrpSpPr>
      <p:grpSpPr>
        <a:xfrm>
          <a:off x="0" y="0"/>
          <a:ext cx="0" cy="0"/>
          <a:chOff x="0" y="0"/>
          <a:chExt cx="0" cy="0"/>
        </a:xfrm>
      </p:grpSpPr>
      <p:sp>
        <p:nvSpPr>
          <p:cNvPr id="310" name="Google Shape;310;p15"/>
          <p:cNvSpPr txBox="1"/>
          <p:nvPr>
            <p:ph type="title"/>
          </p:nvPr>
        </p:nvSpPr>
        <p:spPr>
          <a:xfrm>
            <a:off x="1752600" y="15240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A. Những vấn đề chung</a:t>
            </a:r>
            <a:endParaRPr/>
          </a:p>
        </p:txBody>
      </p:sp>
      <p:pic>
        <p:nvPicPr>
          <p:cNvPr id="311" name="Google Shape;311;p15"/>
          <p:cNvPicPr preferRelativeResize="0"/>
          <p:nvPr>
            <p:ph idx="1" type="body"/>
          </p:nvPr>
        </p:nvPicPr>
        <p:blipFill rotWithShape="1">
          <a:blip r:embed="rId3">
            <a:alphaModFix/>
          </a:blip>
          <a:srcRect b="0" l="0" r="0" t="0"/>
          <a:stretch/>
        </p:blipFill>
        <p:spPr>
          <a:xfrm>
            <a:off x="450850" y="1920875"/>
            <a:ext cx="8242300" cy="4413250"/>
          </a:xfrm>
          <a:prstGeom prst="rect">
            <a:avLst/>
          </a:prstGeom>
          <a:noFill/>
          <a:ln>
            <a:noFill/>
          </a:ln>
        </p:spPr>
      </p:pic>
      <p:sp>
        <p:nvSpPr>
          <p:cNvPr id="312" name="Google Shape;312;p15"/>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313" name="Google Shape;313;p15"/>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314" name="Google Shape;314;p15"/>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8" name="Shape 318"/>
        <p:cNvGrpSpPr/>
        <p:nvPr/>
      </p:nvGrpSpPr>
      <p:grpSpPr>
        <a:xfrm>
          <a:off x="0" y="0"/>
          <a:ext cx="0" cy="0"/>
          <a:chOff x="0" y="0"/>
          <a:chExt cx="0" cy="0"/>
        </a:xfrm>
      </p:grpSpPr>
      <p:sp>
        <p:nvSpPr>
          <p:cNvPr id="319" name="Google Shape;319;p16"/>
          <p:cNvSpPr txBox="1"/>
          <p:nvPr/>
        </p:nvSpPr>
        <p:spPr>
          <a:xfrm>
            <a:off x="384175" y="628650"/>
            <a:ext cx="8375650" cy="41751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a:t>
            </a:r>
            <a:endParaRPr/>
          </a:p>
        </p:txBody>
      </p:sp>
      <p:sp>
        <p:nvSpPr>
          <p:cNvPr descr="data:image/jpeg;base64,/9j/4AAQSkZJRgABAQAAAQABAAD/2wCEAAkGBhQQDxUUEBAVFBUUFRYYFRQUExgVFBUVFBUXFxQUGBYaHSgqHBslGRQVHy8gIycsLCwtFR4xNTAqNTIsLyoBCQoKDgwOGg8PGiwgHiUtLSktLiwpKS8sKSksLCksKTQtLCwsKSwpKSksLCkpLCwsLSwsLCwsLCwpLCksLCksLP/AABEIAIYAhgMBIgACEQEDEQH/xAAcAAACAgMBAQAAAAAAAAAAAAAABwYIAQQFAwL/xABHEAABAgMFAwcGCwcEAwAAAAABAgMABBEFBhIhMQdBURMiYXFygbE0NUJikaEIMjM2UnOCssLR8CMkQ1OSwcMUY+HxJZOz/8QAGgEAAgMBAQAAAAAAAAAAAAAAAAQBAwUCBv/EAC0RAAICAQMBBQgDAQAAAAAAAAABAgMRBCExEiIyUXGBBRMzQUJhkbEUIzTB/9oADAMBAAIRAxEAPwB4wQQQAEEEEABGjbNsNSjC3phwIbQKqUfcAN5JyAGsZti2GpRhb0wsIbQKqUfcAN5OgA1ivtvW9MXim/Sak2lc1P4lfScI7kg+1nT6eV0sLg5lJRWWbk/tLtW0Zha7PUWGGzzEURnwxqUOco60GQ8elZu3OblSEWnJYhpjQOSX0mhqlXcRG3JSKGWw20nClOg8SeJPGPV1oKFFJCgdQoAg9xjeegqccYM/+W88bEvsDazZ05QJmQ0s+g/+yNeAJ5p7jExCqio0iv8AaNw5V7NKC0eLZy/pNRHPk7KtOzs5CcUUj+HioDv+SXVPshC32Y1vBjMNTCRZCMwkLK27zMuoItORr67dW15b8CuaruIhpXWvrK2k3ilXQoj4zaua4jtI4dIy6YzbKLK+8hhNPg7sEYrGYpJCCCCAAggggAIIIIACNO1rWalWVvTCwhtAqpR8BxJ0AGsZtW1G5Vlbz7gQ22KqUdAP7k6AbyYr7eO8UxeKbwpxNSTSuaPxq4uEaDRI7yWdPp5XSwuDmUlFZZi8F4Ji8U3QYmpNpXNT+JXFwjdokH2yiRkUMNhtpOFKRkPEniTBIyCGG0ttJwpSMh/c8T0x7x6emqNUemJk3XObCCCCLRcIII+m2yogJBJJoANSTENpLLJxk8nmErThWkKB1CgCD3GIlaNylsuB+znVMupNQkKKc/UXu6jlDkkLBYlmqzZQVL3KOQ6BxPEwTFzGnE4pdwprpnjR+fvjNlrqZPElt4/IdhVZHeL9CC3Q23qbWJe2Gy2sZcuEkf8AsbGnaTl0b4b0nOIeQlxpaVoUKpWghSVDiCNYWF5NnKnU0eZ5QDRbfx09W/u0iCSirQsJwrlHC4xWq2lAlP22/RPrJpCdukhZ2qX6DULvlJYLIwRB7kbWZW0qNk8hMH+CtQ5x/wBteQV1ZHoicRlyi4PEkMBBBBHIBGtaVoNy7K3XlhDbaSpajoEjX/oaxsxCtsh/8HNdTf8A9UR1CPVJIBUXkvI/eKawoxNSTSskn76uLhGg0SO+slkJBDDYbaThSnQcTvJO8mPvZfdv/UWUlTaglaVKyOisycyN/TG3NyS2VFLiSkjjv6Qd4j0+ndUP648oy9Q5vlbHjBBBDgmEEEfTbZUQEgknIAamIbSWWSkDbZUQEgknIAakxPbvXeEsjlHM3KZ+oKaDp4mC7V2wwMblC4R3IHAdPTHdcRUEHeKe2PPazW+8fRDu/s0qNP0rqlyK207QU+6pajqchwTuAiX3FUeQXXQLy9gJ/t7Y4Tl0HkrIOEIB+UKgE4eJiS2dOtMthqXSp4p15MVBUdSpZyHti7V21ypUK9+PQ4phJWOUjuxpWlJsrTV9KKfSVQU+1HhgmXdVIYTwT+0c9pyHsMeD0tLMqq8vlF7uUVyi+5G7uEZUVh8/gdbz8vyLK/WzaTeQt+SLja0DEVJRVgmu8mlDWmaa66GO9sMvM/OSLiZhZcLDgSlajVZQpNQFHfQg5nOhjw2h7UpZlpyWwLxqTSmGhGeWR00jx+DxZ60SL7i0kJdeHJk+kEJwqUOippXoMO2qTozPnO2ecHMORsQQQRnFoRyr02Aifk3ZZwlKXU0xDMpIIKVU30UAab46sYMSm08oCu11pubsm1VyHLhSUVrSpQebjSQDoM8x1w4JS32JxIbmUBKtxPxSfVV6JhTXg+db/V/gTEkj0UdPG+tSe0vEz7rHXPHyJFbF0FtVUzVxHD0x3bx1eyI8RHvcW+b6ZRlTquVCk5g5HIkc0jTwiYOyUtaCSps4HN+VFfaTv6x7Y5V9uneLlleK/wClcqozfY58CEoQSQAKk5ADMnoAieXbu4JcY3aFwjuQOA6eJjSsi7bzCyQlvFWgcUSqg9VApn0kx1H7MbSMU2+XBwWoIb/oFB7awrrNX73sQe37LaKejtS5Nh23WwcKCXVfRaGM95GQ7zHwVzLuiUMDir9o57BkPaY8pa2EqFJNkuAGmIANtA9o69wMLjajtHnJBxLKOTSpYJJTXm5JNOJPO6BlpCNdLnLpSw/uNOQxpiRYb50y6XDu5VVf6UDL3RrWxekS0ut1EusttpJxKHJpoB6KTmfZCf2SXgfm7XBmHVL5pNDoD0CG1tM81THYPgYunSq7Iwlvk5y8PAnLwbc5t+oYAZSd+p9n5kw77nMJMm05hGNaAVKpziTqSYqLFvbmeb2PqxDGuhGFaUVjcmPeE5bcsly9zKHEJWlTqQUqAUkirmRB1h9tNhIASAAAAAMgANABuEIi0/nix9cPFyHyIV1nMfJHcODMEEEJHYQGCMEwAV9vB863+r/AmJJEbvB863+r/AmJIY9ZpPgx8jL1PfORdLyFnsn7xj2cnHEWlJIbcUgOF0KwmlaBFPZHjdLyFnsfiMZmfOtn9p3wRFlvcZxD4j9RrWi1MoYWTMJohKiClvnqoPSJNB3RWS3b3zUy4rlZhZGIigOEUqeEWqt7yV76tXhFPJr5RXaV4mMj2fum2jRksMs3sc80M/r0UwsfhAeXt9k/dbhnbHPNDP69FMLH4QHl7fZP3W44p/1S9Q+lGjsM86jsGHXtM81THYP3TCU2GedR2DDr2meapjsK+6YnU/6Ien7I+llUIt9czzex9WIqDFvbmeb2PqxHftH4a8yY8igtP54sfXJ8XIfIhDWl88WPrk+LkPkGEdXzHyR3DgzBBBCZ2eM3OIaQVurShCRUqWoJSOsmE1en4QlCpFnMA0JAferQ+sloU7sR7ogtquzdtzEw4p7Fya+YypRCEpKlBKUDQUCdTrxjpXNsBK5V1qaZzDxqFCihzEZg6jrEbWn9nrmwoncoo5V17Xdm7W5eYXjccCypVAK0RQZAADIAQyYXlo3Lfk3A9JKKwnMCgLieIp6Yp0d0c6bv9NqSU4ko3EpRRXtNaHqjWhiCwKTh71qUWT26XkDPZ/EYzM+dbP7TvgiPm6HkDHY/EY+pnzrZ/ad/BBZ3GVwX9v5HLb3kj31avCKeTXyiu0rxMXDt7yV76tXhFPJr5RXaV4mMf2d3ZGjLks3sc80M/r0UwsfhAeXt9k/dbhnbHPNDP69FMLHb/wCXt9k/dbjin/VL1I+lGjsM86jsGHXtM81THYV90xXW4N6xZs4H1IKxQgga574l98ttC55hUuwxhCxQk5kgimQ74YvpnO6MlwiM7NCrEPWwNuEqxJNtqbXjQgDDTf1wtLB2aTs4RgYKQd6xT3bu+kMq7/wf0JoqbdKj9FOQ93590WaiVLWLGC+wr7xXidn7RMxLoWhZIKOTrjSQSQRh0NSYYVxdqU5LzjcraywW3AAHXcKXG6g4CpYNCkkUOLMVrWGrY9zJSUTRlhIpvIBMJ+/NwJq0LWdMu3zBzcZ0+Muo941pC3vKtRmOMYXJO8R9IcBAIIIOhBqD3wRXW49vzFkzz8sl0uNpR8RVcAWCg4kp3GilDLWvVBCctFYnhblikjm3bn0yE7NMzdW1FzDzhzQUqXqdwOIEHSkT9CgQCCCDoQagjrid3v2fytpopMN0cA5jyOa6nhn6Q6DUQm7aufaNhErb/eZQHNSQSEjitGrZ9YZeEaum18JrplsxS7T9W6JVHFt26TM2CVJwOfzEjP7Q9Lx6YLCvazNgBJwOfy1a/ZPpD3x2o0tpCHarfgLKaTP2WnClw8lXJQSFoz6FA4T0R93ItRx+15db7hUQo5qOQFCaDgIZK0BQIIBB1BFQRwIiIW1cFJVysmrklg1CakJr6p9E+7qiucG1hDMLovvbMftvOj/SO5jNtVM9aiKfTXyiu0rxMStLNrTKiyeXVTIgmif6tD3ViUXf2BvuUVNOBsfRTr7/AMozqoQ0sWpSHM9Rxrs7XpiRlUy7baSE/FVv3DTCeAjSfsy0raf5RTSlE6FQKUgHgDmd2eekPK7+yiSlKENBah6Ss/8An390S9mWSgUQkJHACkLz1tcW3XHfxJUGJK7/AMH5Roqcep6icvf/ANQy7B2dSUmBybCSfpKFT+uusSaPh19KBVSgkcSaCEp6q2zbP4O+hIyhsJFAAANwFBH1WIhb+1KRk6hTwUr6Kcz+fupC6tXbjMzK+Ts+WUSchRJUsnspqfCCGlslu1jzDrXyHdNTqGhVxaUjpIEQm8O2KRlapSvlVj0U55/276RAJXZxbNpnFOvf6dCs6OK51D/tI/EQYmt3thUhLUU+FzSx/NOFuvQ2nX7RMWdFFfefU/sR2n9hZXTkHbWtOZel2zhKCSVaAktgJKtKnCTToMEWMk5BtlAQ02ltA0ShISkdwgglrZt7IlRRsRgprrGYISOxaX22Jy82S7JkSr+tEj9itXSkfEPSn2GFu5bE7ZToYtNlRTolzUkDeheixTdqN8WSjTtWyGpppTUw0l1tWqVio6COB6RnDun1s6tuUVzrjNYYpLPtJuYRjZWFjo1HQRuPXGzHPvTsWflFmYsd1RAz5BSv2gG8IUclj1VZ9ccKyL9jGWp1BYdSaElJSK8FJOaD7uqN6jVQtWzM63TOO63HHcNA5Jw0zx676YRlEopEDu7emWk5Zan3kpBXVOeowjMHT3xHLwbf2kVTKNFZ0CjpXor+RjF1Gnssuk0tvEdpklBDeUsAVJp1xHbc2gScmCXX014A1P66qwokqt62TVDa2Wj6azySKHgpWZHYESGw/g+oxBdoTa3lalDXNSeguKqo91Ir9zVX8SWfsi3Mnwalu7fSo4JFgqJyBINT1ClfdHLZu1btrnE8VS7Z3uqLWXQjNZ76CHPYd0pSSTSVlm2/WCarPWs1J7zHXpB/JjDaqOP2HR4isu/sAlGqKnHXJlWpSCWm6760OI5+sIY1l2ExKowSzDbSeDaAmvXTXvjdjMLTtnPvM6xgxSMwQRWSEEEEABBBBAAQQQQABiM3w2fylpo/eG6OAc15HNdT3+kOhVR1QQRKk4vKAX8h8HVPKfvM+pbYPNS2jCqnaUSE9whhXf2eyMjQy8qgLH8Rf7Rzp56q06hQQQRZO+ye0mQkiR0jMEEVEhBBBAAQQQQAEEEEABBBBAB//9k=" id="320" name="Google Shape;320;p16"/>
          <p:cNvSpPr txBox="1"/>
          <p:nvPr/>
        </p:nvSpPr>
        <p:spPr>
          <a:xfrm>
            <a:off x="0" y="-609600"/>
            <a:ext cx="1177925" cy="1276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descr="data:image/jpeg;base64,/9j/4AAQSkZJRgABAQAAAQABAAD/2wCEAAkGBhQQDxUUEBAVFBUUFRYYFRQUExgVFBUVFBUXFxQUGBYaHSgqHBslGRQVHy8gIycsLCwtFR4xNTAqNTIsLyoBCQoKDgwOGg8PGiwgHiUtLSktLiwpKS8sKSksLCksKTQtLCwsKSwpKSksLCkpLCwsLSwsLCwsLCwpLCksLCksLP/AABEIAIYAhgMBIgACEQEDEQH/xAAcAAACAgMBAQAAAAAAAAAAAAAABwYIAQQFAwL/xABHEAABAgMFAwcGCwcEAwAAAAABAgMABBEFBhIhMQdBURMiYXFygbE0NUJikaEIMjM2UnOCssLR8CMkQ1OSwcMUY+HxJZOz/8QAGgEAAgMBAQAAAAAAAAAAAAAAAAQBAwUCBv/EAC0RAAICAQMBBQgDAQAAAAAAAAABAgMRBCExEiIyUXGBBRMzQUJhkbEUIzTB/9oADAMBAAIRAxEAPwB4wQQQAEEEEABGjbNsNSjC3phwIbQKqUfcAN5JyAGsZti2GpRhb0wsIbQKqUfcAN5OgA1ivtvW9MXim/Sak2lc1P4lfScI7kg+1nT6eV0sLg5lJRWWbk/tLtW0Zha7PUWGGzzEURnwxqUOco60GQ8elZu3OblSEWnJYhpjQOSX0mhqlXcRG3JSKGWw20nClOg8SeJPGPV1oKFFJCgdQoAg9xjeegqccYM/+W88bEvsDazZ05QJmQ0s+g/+yNeAJ5p7jExCqio0iv8AaNw5V7NKC0eLZy/pNRHPk7KtOzs5CcUUj+HioDv+SXVPshC32Y1vBjMNTCRZCMwkLK27zMuoItORr67dW15b8CuaruIhpXWvrK2k3ilXQoj4zaua4jtI4dIy6YzbKLK+8hhNPg7sEYrGYpJCCCCAAggggAIIIIACNO1rWalWVvTCwhtAqpR8BxJ0AGsZtW1G5Vlbz7gQ22KqUdAP7k6AbyYr7eO8UxeKbwpxNSTSuaPxq4uEaDRI7yWdPp5XSwuDmUlFZZi8F4Ji8U3QYmpNpXNT+JXFwjdokH2yiRkUMNhtpOFKRkPEniTBIyCGG0ttJwpSMh/c8T0x7x6emqNUemJk3XObCCCCLRcIII+m2yogJBJJoANSTENpLLJxk8nmErThWkKB1CgCD3GIlaNylsuB+znVMupNQkKKc/UXu6jlDkkLBYlmqzZQVL3KOQ6BxPEwTFzGnE4pdwprpnjR+fvjNlrqZPElt4/IdhVZHeL9CC3Q23qbWJe2Gy2sZcuEkf8AsbGnaTl0b4b0nOIeQlxpaVoUKpWghSVDiCNYWF5NnKnU0eZ5QDRbfx09W/u0iCSirQsJwrlHC4xWq2lAlP22/RPrJpCdukhZ2qX6DULvlJYLIwRB7kbWZW0qNk8hMH+CtQ5x/wBteQV1ZHoicRlyi4PEkMBBBBHIBGtaVoNy7K3XlhDbaSpajoEjX/oaxsxCtsh/8HNdTf8A9UR1CPVJIBUXkvI/eKawoxNSTSskn76uLhGg0SO+slkJBDDYbaThSnQcTvJO8mPvZfdv/UWUlTaglaVKyOisycyN/TG3NyS2VFLiSkjjv6Qd4j0+ndUP648oy9Q5vlbHjBBBDgmEEEfTbZUQEgknIAamIbSWWSkDbZUQEgknIAakxPbvXeEsjlHM3KZ+oKaDp4mC7V2wwMblC4R3IHAdPTHdcRUEHeKe2PPazW+8fRDu/s0qNP0rqlyK207QU+6pajqchwTuAiX3FUeQXXQLy9gJ/t7Y4Tl0HkrIOEIB+UKgE4eJiS2dOtMthqXSp4p15MVBUdSpZyHti7V21ypUK9+PQ4phJWOUjuxpWlJsrTV9KKfSVQU+1HhgmXdVIYTwT+0c9pyHsMeD0tLMqq8vlF7uUVyi+5G7uEZUVh8/gdbz8vyLK/WzaTeQt+SLja0DEVJRVgmu8mlDWmaa66GO9sMvM/OSLiZhZcLDgSlajVZQpNQFHfQg5nOhjw2h7UpZlpyWwLxqTSmGhGeWR00jx+DxZ60SL7i0kJdeHJk+kEJwqUOippXoMO2qTozPnO2ecHMORsQQQRnFoRyr02Aifk3ZZwlKXU0xDMpIIKVU30UAab46sYMSm08oCu11pubsm1VyHLhSUVrSpQebjSQDoM8x1w4JS32JxIbmUBKtxPxSfVV6JhTXg+db/V/gTEkj0UdPG+tSe0vEz7rHXPHyJFbF0FtVUzVxHD0x3bx1eyI8RHvcW+b6ZRlTquVCk5g5HIkc0jTwiYOyUtaCSps4HN+VFfaTv6x7Y5V9uneLlleK/wClcqozfY58CEoQSQAKk5ADMnoAieXbu4JcY3aFwjuQOA6eJjSsi7bzCyQlvFWgcUSqg9VApn0kx1H7MbSMU2+XBwWoIb/oFB7awrrNX73sQe37LaKejtS5Nh23WwcKCXVfRaGM95GQ7zHwVzLuiUMDir9o57BkPaY8pa2EqFJNkuAGmIANtA9o69wMLjajtHnJBxLKOTSpYJJTXm5JNOJPO6BlpCNdLnLpSw/uNOQxpiRYb50y6XDu5VVf6UDL3RrWxekS0ut1EusttpJxKHJpoB6KTmfZCf2SXgfm7XBmHVL5pNDoD0CG1tM81THYPgYunSq7Iwlvk5y8PAnLwbc5t+oYAZSd+p9n5kw77nMJMm05hGNaAVKpziTqSYqLFvbmeb2PqxDGuhGFaUVjcmPeE5bcsly9zKHEJWlTqQUqAUkirmRB1h9tNhIASAAAAAMgANABuEIi0/nix9cPFyHyIV1nMfJHcODMEEEJHYQGCMEwAV9vB863+r/AmJJEbvB863+r/AmJIY9ZpPgx8jL1PfORdLyFnsn7xj2cnHEWlJIbcUgOF0KwmlaBFPZHjdLyFnsfiMZmfOtn9p3wRFlvcZxD4j9RrWi1MoYWTMJohKiClvnqoPSJNB3RWS3b3zUy4rlZhZGIigOEUqeEWqt7yV76tXhFPJr5RXaV4mMj2fum2jRksMs3sc80M/r0UwsfhAeXt9k/dbhnbHPNDP69FMLH4QHl7fZP3W44p/1S9Q+lGjsM86jsGHXtM81THYP3TCU2GedR2DDr2meapjsK+6YnU/6Ien7I+llUIt9czzex9WIqDFvbmeb2PqxHftH4a8yY8igtP54sfXJ8XIfIhDWl88WPrk+LkPkGEdXzHyR3DgzBBBCZ2eM3OIaQVurShCRUqWoJSOsmE1en4QlCpFnMA0JAferQ+sloU7sR7ogtquzdtzEw4p7Fya+YypRCEpKlBKUDQUCdTrxjpXNsBK5V1qaZzDxqFCihzEZg6jrEbWn9nrmwoncoo5V17Xdm7W5eYXjccCypVAK0RQZAADIAQyYXlo3Lfk3A9JKKwnMCgLieIp6Yp0d0c6bv9NqSU4ko3EpRRXtNaHqjWhiCwKTh71qUWT26XkDPZ/EYzM+dbP7TvgiPm6HkDHY/EY+pnzrZ/ad/BBZ3GVwX9v5HLb3kj31avCKeTXyiu0rxMXDt7yV76tXhFPJr5RXaV4mMf2d3ZGjLks3sc80M/r0UwsfhAeXt9k/dbhnbHPNDP69FMLHb/wCXt9k/dbjin/VL1I+lGjsM86jsGHXtM81THYV90xXW4N6xZs4H1IKxQgga574l98ttC55hUuwxhCxQk5kgimQ74YvpnO6MlwiM7NCrEPWwNuEqxJNtqbXjQgDDTf1wtLB2aTs4RgYKQd6xT3bu+kMq7/wf0JoqbdKj9FOQ93590WaiVLWLGC+wr7xXidn7RMxLoWhZIKOTrjSQSQRh0NSYYVxdqU5LzjcraywW3AAHXcKXG6g4CpYNCkkUOLMVrWGrY9zJSUTRlhIpvIBMJ+/NwJq0LWdMu3zBzcZ0+Muo941pC3vKtRmOMYXJO8R9IcBAIIIOhBqD3wRXW49vzFkzz8sl0uNpR8RVcAWCg4kp3GilDLWvVBCctFYnhblikjm3bn0yE7NMzdW1FzDzhzQUqXqdwOIEHSkT9CgQCCCDoQagjrid3v2fytpopMN0cA5jyOa6nhn6Q6DUQm7aufaNhErb/eZQHNSQSEjitGrZ9YZeEaum18JrplsxS7T9W6JVHFt26TM2CVJwOfzEjP7Q9Lx6YLCvazNgBJwOfy1a/ZPpD3x2o0tpCHarfgLKaTP2WnClw8lXJQSFoz6FA4T0R93ItRx+15db7hUQo5qOQFCaDgIZK0BQIIBB1BFQRwIiIW1cFJVysmrklg1CakJr6p9E+7qiucG1hDMLovvbMftvOj/SO5jNtVM9aiKfTXyiu0rxMStLNrTKiyeXVTIgmif6tD3ViUXf2BvuUVNOBsfRTr7/AMozqoQ0sWpSHM9Rxrs7XpiRlUy7baSE/FVv3DTCeAjSfsy0raf5RTSlE6FQKUgHgDmd2eekPK7+yiSlKENBah6Ss/8An390S9mWSgUQkJHACkLz1tcW3XHfxJUGJK7/AMH5Roqcep6icvf/ANQy7B2dSUmBybCSfpKFT+uusSaPh19KBVSgkcSaCEp6q2zbP4O+hIyhsJFAAANwFBH1WIhb+1KRk6hTwUr6Kcz+fupC6tXbjMzK+Ts+WUSchRJUsnspqfCCGlslu1jzDrXyHdNTqGhVxaUjpIEQm8O2KRlapSvlVj0U55/276RAJXZxbNpnFOvf6dCs6OK51D/tI/EQYmt3thUhLUU+FzSx/NOFuvQ2nX7RMWdFFfefU/sR2n9hZXTkHbWtOZel2zhKCSVaAktgJKtKnCTToMEWMk5BtlAQ02ltA0ShISkdwgglrZt7IlRRsRgprrGYISOxaX22Jy82S7JkSr+tEj9itXSkfEPSn2GFu5bE7ZToYtNlRTolzUkDeheixTdqN8WSjTtWyGpppTUw0l1tWqVio6COB6RnDun1s6tuUVzrjNYYpLPtJuYRjZWFjo1HQRuPXGzHPvTsWflFmYsd1RAz5BSv2gG8IUclj1VZ9ccKyL9jGWp1BYdSaElJSK8FJOaD7uqN6jVQtWzM63TOO63HHcNA5Jw0zx676YRlEopEDu7emWk5Zan3kpBXVOeowjMHT3xHLwbf2kVTKNFZ0CjpXor+RjF1Gnssuk0tvEdpklBDeUsAVJp1xHbc2gScmCXX014A1P66qwokqt62TVDa2Wj6azySKHgpWZHYESGw/g+oxBdoTa3lalDXNSeguKqo91Ir9zVX8SWfsi3Mnwalu7fSo4JFgqJyBINT1ClfdHLZu1btrnE8VS7Z3uqLWXQjNZ76CHPYd0pSSTSVlm2/WCarPWs1J7zHXpB/JjDaqOP2HR4isu/sAlGqKnHXJlWpSCWm6760OI5+sIY1l2ExKowSzDbSeDaAmvXTXvjdjMLTtnPvM6xgxSMwQRWSEEEEABBBBAAQQQQABiM3w2fylpo/eG6OAc15HNdT3+kOhVR1QQRKk4vKAX8h8HVPKfvM+pbYPNS2jCqnaUSE9whhXf2eyMjQy8qgLH8Rf7Rzp56q06hQQQRZO+ye0mQkiR0jMEEVEhBBBAAQQQQAEEEEABBBBAB//9k=" id="321" name="Google Shape;321;p16"/>
          <p:cNvSpPr txBox="1"/>
          <p:nvPr/>
        </p:nvSpPr>
        <p:spPr>
          <a:xfrm>
            <a:off x="0" y="-609600"/>
            <a:ext cx="1177925" cy="1276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2" name="Google Shape;322;p16"/>
          <p:cNvSpPr txBox="1"/>
          <p:nvPr/>
        </p:nvSpPr>
        <p:spPr>
          <a:xfrm>
            <a:off x="1143000" y="482600"/>
            <a:ext cx="7162800"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CÔNG TY CHỨNG KHOÁN</a:t>
            </a:r>
            <a:br>
              <a:rPr b="0" i="0" lang="en-US" sz="1600" u="none">
                <a:solidFill>
                  <a:schemeClr val="dk1"/>
                </a:solidFill>
                <a:latin typeface="Times New Roman"/>
                <a:ea typeface="Times New Roman"/>
                <a:cs typeface="Times New Roman"/>
                <a:sym typeface="Times New Roman"/>
              </a:rPr>
            </a:br>
            <a:r>
              <a:rPr b="0" i="0" lang="en-US" sz="1600" u="none">
                <a:solidFill>
                  <a:schemeClr val="dk1"/>
                </a:solidFill>
                <a:latin typeface="Times New Roman"/>
                <a:ea typeface="Times New Roman"/>
                <a:cs typeface="Times New Roman"/>
                <a:sym typeface="Times New Roman"/>
              </a:rPr>
              <a:t>B. Hoạt động nghiệp vụ</a:t>
            </a:r>
            <a:endParaRPr/>
          </a:p>
        </p:txBody>
      </p:sp>
      <p:sp>
        <p:nvSpPr>
          <p:cNvPr id="323" name="Google Shape;323;p16"/>
          <p:cNvSpPr txBox="1"/>
          <p:nvPr/>
        </p:nvSpPr>
        <p:spPr>
          <a:xfrm>
            <a:off x="250825" y="1447800"/>
            <a:ext cx="8713787" cy="5076825"/>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4" name="Google Shape;324;p16"/>
          <p:cNvSpPr txBox="1"/>
          <p:nvPr/>
        </p:nvSpPr>
        <p:spPr>
          <a:xfrm>
            <a:off x="3708400" y="1343025"/>
            <a:ext cx="1079500" cy="2762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CTQLQ</a:t>
            </a:r>
            <a:endParaRPr/>
          </a:p>
        </p:txBody>
      </p:sp>
      <p:sp>
        <p:nvSpPr>
          <p:cNvPr id="325" name="Google Shape;325;p16"/>
          <p:cNvSpPr txBox="1"/>
          <p:nvPr/>
        </p:nvSpPr>
        <p:spPr>
          <a:xfrm>
            <a:off x="5364162" y="1311275"/>
            <a:ext cx="1223962" cy="2762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CTDTCK </a:t>
            </a:r>
            <a:endParaRPr/>
          </a:p>
        </p:txBody>
      </p:sp>
      <p:sp>
        <p:nvSpPr>
          <p:cNvPr id="326" name="Google Shape;326;p16"/>
          <p:cNvSpPr txBox="1"/>
          <p:nvPr/>
        </p:nvSpPr>
        <p:spPr>
          <a:xfrm>
            <a:off x="323850" y="3182937"/>
            <a:ext cx="1152525"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Hoạt động tư vấn tài chính</a:t>
            </a:r>
            <a:endParaRPr/>
          </a:p>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(không quy định cụ thẻ)</a:t>
            </a:r>
            <a:endParaRPr/>
          </a:p>
        </p:txBody>
      </p:sp>
      <p:sp>
        <p:nvSpPr>
          <p:cNvPr id="327" name="Google Shape;327;p16"/>
          <p:cNvSpPr txBox="1"/>
          <p:nvPr/>
        </p:nvSpPr>
        <p:spPr>
          <a:xfrm>
            <a:off x="1547812" y="3182937"/>
            <a:ext cx="1295400" cy="5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Môi giới chứng khoán (giao dịch chứng khoán)</a:t>
            </a:r>
            <a:endParaRPr/>
          </a:p>
        </p:txBody>
      </p:sp>
      <p:sp>
        <p:nvSpPr>
          <p:cNvPr id="328" name="Google Shape;328;p16"/>
          <p:cNvSpPr txBox="1"/>
          <p:nvPr/>
        </p:nvSpPr>
        <p:spPr>
          <a:xfrm>
            <a:off x="7740650" y="2997200"/>
            <a:ext cx="1008062" cy="5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Lưu ký chứng khoán , Dịch vự gia tăng  và khác </a:t>
            </a:r>
            <a:endParaRPr/>
          </a:p>
        </p:txBody>
      </p:sp>
      <p:sp>
        <p:nvSpPr>
          <p:cNvPr id="329" name="Google Shape;329;p16"/>
          <p:cNvSpPr txBox="1"/>
          <p:nvPr/>
        </p:nvSpPr>
        <p:spPr>
          <a:xfrm>
            <a:off x="2843212" y="3213100"/>
            <a:ext cx="1081087"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Tự doanh chứng khoán</a:t>
            </a:r>
            <a:endParaRPr/>
          </a:p>
        </p:txBody>
      </p:sp>
      <p:sp>
        <p:nvSpPr>
          <p:cNvPr id="330" name="Google Shape;330;p16"/>
          <p:cNvSpPr txBox="1"/>
          <p:nvPr/>
        </p:nvSpPr>
        <p:spPr>
          <a:xfrm>
            <a:off x="3995737" y="3209925"/>
            <a:ext cx="1008062" cy="5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Bảo lãnh phát hành chứng khoán</a:t>
            </a:r>
            <a:endParaRPr/>
          </a:p>
        </p:txBody>
      </p:sp>
      <p:sp>
        <p:nvSpPr>
          <p:cNvPr id="331" name="Google Shape;331;p16"/>
          <p:cNvSpPr txBox="1"/>
          <p:nvPr/>
        </p:nvSpPr>
        <p:spPr>
          <a:xfrm>
            <a:off x="5219700" y="3281362"/>
            <a:ext cx="1152525"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Tư vấn đầu tư chứng khoán</a:t>
            </a:r>
            <a:endParaRPr/>
          </a:p>
        </p:txBody>
      </p:sp>
      <p:sp>
        <p:nvSpPr>
          <p:cNvPr id="332" name="Google Shape;332;p16"/>
          <p:cNvSpPr txBox="1"/>
          <p:nvPr/>
        </p:nvSpPr>
        <p:spPr>
          <a:xfrm>
            <a:off x="6443662" y="3213100"/>
            <a:ext cx="1152525"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Ql ủy thác tàu  khoản khách hàng</a:t>
            </a:r>
            <a:endParaRPr/>
          </a:p>
        </p:txBody>
      </p:sp>
      <p:cxnSp>
        <p:nvCxnSpPr>
          <p:cNvPr id="333" name="Google Shape;333;p16"/>
          <p:cNvCxnSpPr/>
          <p:nvPr/>
        </p:nvCxnSpPr>
        <p:spPr>
          <a:xfrm>
            <a:off x="2195512" y="1762125"/>
            <a:ext cx="2305050" cy="1447800"/>
          </a:xfrm>
          <a:prstGeom prst="straightConnector1">
            <a:avLst/>
          </a:prstGeom>
          <a:noFill/>
          <a:ln cap="flat" cmpd="sng" w="9525">
            <a:solidFill>
              <a:schemeClr val="dk1"/>
            </a:solidFill>
            <a:prstDash val="solid"/>
            <a:miter lim="800000"/>
            <a:headEnd len="med" w="med" type="none"/>
            <a:tailEnd len="med" w="med" type="stealth"/>
          </a:ln>
        </p:spPr>
      </p:cxnSp>
      <p:grpSp>
        <p:nvGrpSpPr>
          <p:cNvPr id="334" name="Google Shape;334;p16"/>
          <p:cNvGrpSpPr/>
          <p:nvPr/>
        </p:nvGrpSpPr>
        <p:grpSpPr>
          <a:xfrm>
            <a:off x="900112" y="1484312"/>
            <a:ext cx="7345362" cy="1797050"/>
            <a:chOff x="899592" y="1916832"/>
            <a:chExt cx="7345610" cy="1364377"/>
          </a:xfrm>
        </p:grpSpPr>
        <p:sp>
          <p:nvSpPr>
            <p:cNvPr id="335" name="Google Shape;335;p16"/>
            <p:cNvSpPr txBox="1"/>
            <p:nvPr/>
          </p:nvSpPr>
          <p:spPr>
            <a:xfrm>
              <a:off x="1691680" y="1916832"/>
              <a:ext cx="1008112" cy="2103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CTCK</a:t>
              </a:r>
              <a:endParaRPr/>
            </a:p>
          </p:txBody>
        </p:sp>
        <p:cxnSp>
          <p:nvCxnSpPr>
            <p:cNvPr id="336" name="Google Shape;336;p16"/>
            <p:cNvCxnSpPr/>
            <p:nvPr/>
          </p:nvCxnSpPr>
          <p:spPr>
            <a:xfrm flipH="1">
              <a:off x="899592" y="2127756"/>
              <a:ext cx="1295444" cy="1078726"/>
            </a:xfrm>
            <a:prstGeom prst="straightConnector1">
              <a:avLst/>
            </a:prstGeom>
            <a:noFill/>
            <a:ln cap="flat" cmpd="sng" w="9525">
              <a:solidFill>
                <a:schemeClr val="dk1"/>
              </a:solidFill>
              <a:prstDash val="solid"/>
              <a:miter lim="800000"/>
              <a:headEnd len="med" w="med" type="none"/>
              <a:tailEnd len="med" w="med" type="stealth"/>
            </a:ln>
          </p:spPr>
        </p:cxnSp>
        <p:cxnSp>
          <p:nvCxnSpPr>
            <p:cNvPr id="337" name="Google Shape;337;p16"/>
            <p:cNvCxnSpPr/>
            <p:nvPr/>
          </p:nvCxnSpPr>
          <p:spPr>
            <a:xfrm>
              <a:off x="2195036" y="2127756"/>
              <a:ext cx="0" cy="1078726"/>
            </a:xfrm>
            <a:prstGeom prst="straightConnector1">
              <a:avLst/>
            </a:prstGeom>
            <a:noFill/>
            <a:ln cap="flat" cmpd="sng" w="9525">
              <a:solidFill>
                <a:schemeClr val="dk1"/>
              </a:solidFill>
              <a:prstDash val="solid"/>
              <a:miter lim="800000"/>
              <a:headEnd len="med" w="med" type="none"/>
              <a:tailEnd len="med" w="med" type="stealth"/>
            </a:ln>
          </p:spPr>
        </p:cxnSp>
        <p:cxnSp>
          <p:nvCxnSpPr>
            <p:cNvPr id="338" name="Google Shape;338;p16"/>
            <p:cNvCxnSpPr/>
            <p:nvPr/>
          </p:nvCxnSpPr>
          <p:spPr>
            <a:xfrm>
              <a:off x="2195036" y="2127756"/>
              <a:ext cx="1189077" cy="1101626"/>
            </a:xfrm>
            <a:prstGeom prst="straightConnector1">
              <a:avLst/>
            </a:prstGeom>
            <a:noFill/>
            <a:ln cap="flat" cmpd="sng" w="9525">
              <a:solidFill>
                <a:schemeClr val="dk1"/>
              </a:solidFill>
              <a:prstDash val="solid"/>
              <a:miter lim="800000"/>
              <a:headEnd len="med" w="med" type="none"/>
              <a:tailEnd len="med" w="med" type="stealth"/>
            </a:ln>
          </p:spPr>
        </p:cxnSp>
        <p:cxnSp>
          <p:nvCxnSpPr>
            <p:cNvPr id="339" name="Google Shape;339;p16"/>
            <p:cNvCxnSpPr/>
            <p:nvPr/>
          </p:nvCxnSpPr>
          <p:spPr>
            <a:xfrm>
              <a:off x="2195036" y="2127756"/>
              <a:ext cx="3600572" cy="1153453"/>
            </a:xfrm>
            <a:prstGeom prst="straightConnector1">
              <a:avLst/>
            </a:prstGeom>
            <a:noFill/>
            <a:ln cap="flat" cmpd="sng" w="9525">
              <a:solidFill>
                <a:schemeClr val="dk1"/>
              </a:solidFill>
              <a:prstDash val="solid"/>
              <a:miter lim="800000"/>
              <a:headEnd len="med" w="med" type="none"/>
              <a:tailEnd len="med" w="med" type="stealth"/>
            </a:ln>
          </p:spPr>
        </p:cxnSp>
        <p:cxnSp>
          <p:nvCxnSpPr>
            <p:cNvPr id="340" name="Google Shape;340;p16"/>
            <p:cNvCxnSpPr/>
            <p:nvPr/>
          </p:nvCxnSpPr>
          <p:spPr>
            <a:xfrm>
              <a:off x="2195036" y="2127756"/>
              <a:ext cx="4824575" cy="1101626"/>
            </a:xfrm>
            <a:prstGeom prst="straightConnector1">
              <a:avLst/>
            </a:prstGeom>
            <a:noFill/>
            <a:ln cap="flat" cmpd="sng" w="9525">
              <a:solidFill>
                <a:schemeClr val="dk1"/>
              </a:solidFill>
              <a:prstDash val="solid"/>
              <a:miter lim="800000"/>
              <a:headEnd len="med" w="med" type="none"/>
              <a:tailEnd len="med" w="med" type="stealth"/>
            </a:ln>
          </p:spPr>
        </p:cxnSp>
        <p:cxnSp>
          <p:nvCxnSpPr>
            <p:cNvPr id="341" name="Google Shape;341;p16"/>
            <p:cNvCxnSpPr/>
            <p:nvPr/>
          </p:nvCxnSpPr>
          <p:spPr>
            <a:xfrm>
              <a:off x="2195036" y="2127756"/>
              <a:ext cx="6050166" cy="937708"/>
            </a:xfrm>
            <a:prstGeom prst="straightConnector1">
              <a:avLst/>
            </a:prstGeom>
            <a:noFill/>
            <a:ln cap="flat" cmpd="sng" w="9525">
              <a:solidFill>
                <a:schemeClr val="dk1"/>
              </a:solidFill>
              <a:prstDash val="solid"/>
              <a:miter lim="800000"/>
              <a:headEnd len="med" w="med" type="none"/>
              <a:tailEnd len="med" w="med" type="stealth"/>
            </a:ln>
          </p:spPr>
        </p:cxnSp>
      </p:grpSp>
      <p:sp>
        <p:nvSpPr>
          <p:cNvPr id="342" name="Google Shape;342;p16"/>
          <p:cNvSpPr txBox="1"/>
          <p:nvPr/>
        </p:nvSpPr>
        <p:spPr>
          <a:xfrm>
            <a:off x="2339975" y="4437062"/>
            <a:ext cx="936625"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Malgun Gothic"/>
              <a:buNone/>
            </a:pPr>
            <a:r>
              <a:rPr b="0" i="0" lang="en-US" sz="1000" u="none">
                <a:solidFill>
                  <a:schemeClr val="dk1"/>
                </a:solidFill>
                <a:latin typeface="Malgun Gothic"/>
                <a:ea typeface="Malgun Gothic"/>
                <a:cs typeface="Malgun Gothic"/>
                <a:sym typeface="Malgun Gothic"/>
              </a:rPr>
              <a:t>Người hành nghề MG</a:t>
            </a:r>
            <a:endParaRPr/>
          </a:p>
        </p:txBody>
      </p:sp>
      <p:sp>
        <p:nvSpPr>
          <p:cNvPr id="343" name="Google Shape;343;p16"/>
          <p:cNvSpPr txBox="1"/>
          <p:nvPr/>
        </p:nvSpPr>
        <p:spPr>
          <a:xfrm>
            <a:off x="3348037" y="4448175"/>
            <a:ext cx="936625"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Malgun Gothic"/>
              <a:buNone/>
            </a:pPr>
            <a:r>
              <a:rPr b="0" i="0" lang="en-US" sz="1000" u="none">
                <a:solidFill>
                  <a:schemeClr val="dk1"/>
                </a:solidFill>
                <a:latin typeface="Malgun Gothic"/>
                <a:ea typeface="Malgun Gothic"/>
                <a:cs typeface="Malgun Gothic"/>
                <a:sym typeface="Malgun Gothic"/>
              </a:rPr>
              <a:t>Người hành nghề PTTC</a:t>
            </a:r>
            <a:endParaRPr/>
          </a:p>
        </p:txBody>
      </p:sp>
      <p:sp>
        <p:nvSpPr>
          <p:cNvPr id="344" name="Google Shape;344;p16"/>
          <p:cNvSpPr txBox="1"/>
          <p:nvPr/>
        </p:nvSpPr>
        <p:spPr>
          <a:xfrm>
            <a:off x="4643437" y="4508500"/>
            <a:ext cx="936625"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Malgun Gothic"/>
              <a:buNone/>
            </a:pPr>
            <a:r>
              <a:rPr b="0" i="0" lang="en-US" sz="1000" u="none">
                <a:solidFill>
                  <a:schemeClr val="dk1"/>
                </a:solidFill>
                <a:latin typeface="Malgun Gothic"/>
                <a:ea typeface="Malgun Gothic"/>
                <a:cs typeface="Malgun Gothic"/>
                <a:sym typeface="Malgun Gothic"/>
              </a:rPr>
              <a:t>Người hành nghề QLQ</a:t>
            </a:r>
            <a:endParaRPr/>
          </a:p>
        </p:txBody>
      </p:sp>
      <p:sp>
        <p:nvSpPr>
          <p:cNvPr id="345" name="Google Shape;345;p16"/>
          <p:cNvSpPr txBox="1"/>
          <p:nvPr/>
        </p:nvSpPr>
        <p:spPr>
          <a:xfrm>
            <a:off x="2411412" y="5013325"/>
            <a:ext cx="2665412" cy="21590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Constantia"/>
              <a:buNone/>
            </a:pPr>
            <a:r>
              <a:rPr b="0" i="0" lang="en-US" sz="900" u="none">
                <a:solidFill>
                  <a:srgbClr val="000000"/>
                </a:solidFill>
                <a:latin typeface="Constantia"/>
                <a:ea typeface="Constantia"/>
                <a:cs typeface="Constantia"/>
                <a:sym typeface="Constantia"/>
              </a:rPr>
              <a:t>Nội dung thi </a:t>
            </a:r>
            <a:endParaRPr/>
          </a:p>
        </p:txBody>
      </p:sp>
      <p:sp>
        <p:nvSpPr>
          <p:cNvPr id="346" name="Google Shape;346;p16"/>
          <p:cNvSpPr txBox="1"/>
          <p:nvPr/>
        </p:nvSpPr>
        <p:spPr>
          <a:xfrm>
            <a:off x="323850" y="5373687"/>
            <a:ext cx="935037" cy="9223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Phần luật</a:t>
            </a:r>
            <a:endParaRPr/>
          </a:p>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-Pro 3</a:t>
            </a:r>
            <a:endParaRPr/>
          </a:p>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 consistent with register of type of certificate exam</a:t>
            </a:r>
            <a:endParaRPr/>
          </a:p>
        </p:txBody>
      </p:sp>
      <p:sp>
        <p:nvSpPr>
          <p:cNvPr id="347" name="Google Shape;347;p16"/>
          <p:cNvSpPr txBox="1"/>
          <p:nvPr/>
        </p:nvSpPr>
        <p:spPr>
          <a:xfrm>
            <a:off x="1258887" y="5519737"/>
            <a:ext cx="1081087" cy="5064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Phần chuyên môn</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 1</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 4</a:t>
            </a:r>
            <a:endParaRPr/>
          </a:p>
        </p:txBody>
      </p:sp>
      <p:sp>
        <p:nvSpPr>
          <p:cNvPr id="348" name="Google Shape;348;p16"/>
          <p:cNvSpPr txBox="1"/>
          <p:nvPr/>
        </p:nvSpPr>
        <p:spPr>
          <a:xfrm>
            <a:off x="2268537" y="5373687"/>
            <a:ext cx="935037" cy="10620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Phần luật</a:t>
            </a:r>
            <a:endParaRPr/>
          </a:p>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-Pro 3</a:t>
            </a:r>
            <a:endParaRPr/>
          </a:p>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 consistent with register of type of certificate exam</a:t>
            </a:r>
            <a:endParaRPr/>
          </a:p>
          <a:p>
            <a:pPr indent="0" lvl="0" marL="0" marR="0" rtl="0" algn="l">
              <a:lnSpc>
                <a:spcPct val="100000"/>
              </a:lnSpc>
              <a:spcBef>
                <a:spcPts val="0"/>
              </a:spcBef>
              <a:spcAft>
                <a:spcPts val="0"/>
              </a:spcAft>
              <a:buNone/>
            </a:pPr>
            <a:r>
              <a:t/>
            </a:r>
            <a:endParaRPr b="0" i="0" sz="900" u="none">
              <a:solidFill>
                <a:schemeClr val="dk1"/>
              </a:solidFill>
              <a:latin typeface="Times New Roman"/>
              <a:ea typeface="Times New Roman"/>
              <a:cs typeface="Times New Roman"/>
              <a:sym typeface="Times New Roman"/>
            </a:endParaRPr>
          </a:p>
        </p:txBody>
      </p:sp>
      <p:sp>
        <p:nvSpPr>
          <p:cNvPr id="349" name="Google Shape;349;p16"/>
          <p:cNvSpPr txBox="1"/>
          <p:nvPr/>
        </p:nvSpPr>
        <p:spPr>
          <a:xfrm>
            <a:off x="4284662" y="5373687"/>
            <a:ext cx="935037" cy="9223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Phần luật</a:t>
            </a:r>
            <a:endParaRPr/>
          </a:p>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-Pro 3</a:t>
            </a:r>
            <a:endParaRPr/>
          </a:p>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 consistent with register of type of certificate exam</a:t>
            </a:r>
            <a:endParaRPr/>
          </a:p>
        </p:txBody>
      </p:sp>
      <p:sp>
        <p:nvSpPr>
          <p:cNvPr id="350" name="Google Shape;350;p16"/>
          <p:cNvSpPr txBox="1"/>
          <p:nvPr/>
        </p:nvSpPr>
        <p:spPr>
          <a:xfrm>
            <a:off x="3203575" y="5373687"/>
            <a:ext cx="1152525" cy="9223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Phần chuyên môn</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 1</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Pro2</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 4</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 5</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 6</a:t>
            </a:r>
            <a:endParaRPr/>
          </a:p>
        </p:txBody>
      </p:sp>
      <p:sp>
        <p:nvSpPr>
          <p:cNvPr id="351" name="Google Shape;351;p16"/>
          <p:cNvSpPr txBox="1"/>
          <p:nvPr/>
        </p:nvSpPr>
        <p:spPr>
          <a:xfrm>
            <a:off x="5219700" y="5373687"/>
            <a:ext cx="1152525" cy="9239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Phần chuyên môn</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Pro2</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 4</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 5</a:t>
            </a:r>
            <a:endParaRPr/>
          </a:p>
          <a:p>
            <a:pPr indent="-57150" lvl="0" marL="0" marR="0" rtl="0" algn="ctr">
              <a:lnSpc>
                <a:spcPct val="100000"/>
              </a:lnSpc>
              <a:spcBef>
                <a:spcPts val="0"/>
              </a:spcBef>
              <a:spcAft>
                <a:spcPts val="0"/>
              </a:spcAft>
              <a:buClr>
                <a:schemeClr val="dk1"/>
              </a:buClr>
              <a:buSzPts val="900"/>
              <a:buFont typeface="Times New Roman"/>
              <a:buChar char="-"/>
            </a:pPr>
            <a:r>
              <a:rPr b="0" i="0" lang="en-US" sz="900" u="none">
                <a:solidFill>
                  <a:schemeClr val="dk1"/>
                </a:solidFill>
                <a:latin typeface="Times New Roman"/>
                <a:ea typeface="Times New Roman"/>
                <a:cs typeface="Times New Roman"/>
                <a:sym typeface="Times New Roman"/>
              </a:rPr>
              <a:t>Pro 6</a:t>
            </a:r>
            <a:endParaRPr/>
          </a:p>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 Pro 7</a:t>
            </a:r>
            <a:endParaRPr/>
          </a:p>
        </p:txBody>
      </p:sp>
      <p:cxnSp>
        <p:nvCxnSpPr>
          <p:cNvPr id="352" name="Google Shape;352;p16"/>
          <p:cNvCxnSpPr/>
          <p:nvPr/>
        </p:nvCxnSpPr>
        <p:spPr>
          <a:xfrm flipH="1">
            <a:off x="792162" y="4837112"/>
            <a:ext cx="2016125" cy="536575"/>
          </a:xfrm>
          <a:prstGeom prst="straightConnector1">
            <a:avLst/>
          </a:prstGeom>
          <a:noFill/>
          <a:ln cap="flat" cmpd="sng" w="9525">
            <a:solidFill>
              <a:srgbClr val="FF9201"/>
            </a:solidFill>
            <a:prstDash val="solid"/>
            <a:miter lim="800000"/>
            <a:headEnd len="med" w="med" type="none"/>
            <a:tailEnd len="med" w="med" type="stealth"/>
          </a:ln>
        </p:spPr>
      </p:cxnSp>
      <p:cxnSp>
        <p:nvCxnSpPr>
          <p:cNvPr id="353" name="Google Shape;353;p16"/>
          <p:cNvCxnSpPr/>
          <p:nvPr/>
        </p:nvCxnSpPr>
        <p:spPr>
          <a:xfrm flipH="1">
            <a:off x="1800225" y="4837112"/>
            <a:ext cx="1008062" cy="682625"/>
          </a:xfrm>
          <a:prstGeom prst="straightConnector1">
            <a:avLst/>
          </a:prstGeom>
          <a:noFill/>
          <a:ln cap="flat" cmpd="sng" w="9525">
            <a:solidFill>
              <a:srgbClr val="FF9201"/>
            </a:solidFill>
            <a:prstDash val="solid"/>
            <a:miter lim="800000"/>
            <a:headEnd len="med" w="med" type="none"/>
            <a:tailEnd len="med" w="med" type="stealth"/>
          </a:ln>
        </p:spPr>
      </p:cxnSp>
      <p:cxnSp>
        <p:nvCxnSpPr>
          <p:cNvPr id="354" name="Google Shape;354;p16"/>
          <p:cNvCxnSpPr/>
          <p:nvPr/>
        </p:nvCxnSpPr>
        <p:spPr>
          <a:xfrm flipH="1">
            <a:off x="2736850" y="4848225"/>
            <a:ext cx="1079500" cy="525462"/>
          </a:xfrm>
          <a:prstGeom prst="straightConnector1">
            <a:avLst/>
          </a:prstGeom>
          <a:noFill/>
          <a:ln cap="flat" cmpd="sng" w="9525">
            <a:solidFill>
              <a:srgbClr val="FF9201"/>
            </a:solidFill>
            <a:prstDash val="solid"/>
            <a:miter lim="800000"/>
            <a:headEnd len="med" w="med" type="none"/>
            <a:tailEnd len="med" w="med" type="stealth"/>
          </a:ln>
        </p:spPr>
      </p:cxnSp>
      <p:cxnSp>
        <p:nvCxnSpPr>
          <p:cNvPr id="355" name="Google Shape;355;p16"/>
          <p:cNvCxnSpPr/>
          <p:nvPr/>
        </p:nvCxnSpPr>
        <p:spPr>
          <a:xfrm flipH="1">
            <a:off x="3779837" y="4848225"/>
            <a:ext cx="36512" cy="525462"/>
          </a:xfrm>
          <a:prstGeom prst="straightConnector1">
            <a:avLst/>
          </a:prstGeom>
          <a:noFill/>
          <a:ln cap="flat" cmpd="sng" w="9525">
            <a:solidFill>
              <a:srgbClr val="FF9201"/>
            </a:solidFill>
            <a:prstDash val="solid"/>
            <a:miter lim="800000"/>
            <a:headEnd len="med" w="med" type="none"/>
            <a:tailEnd len="med" w="med" type="stealth"/>
          </a:ln>
        </p:spPr>
      </p:cxnSp>
      <p:cxnSp>
        <p:nvCxnSpPr>
          <p:cNvPr id="356" name="Google Shape;356;p16"/>
          <p:cNvCxnSpPr/>
          <p:nvPr/>
        </p:nvCxnSpPr>
        <p:spPr>
          <a:xfrm flipH="1">
            <a:off x="4752975" y="4908550"/>
            <a:ext cx="358775" cy="465137"/>
          </a:xfrm>
          <a:prstGeom prst="straightConnector1">
            <a:avLst/>
          </a:prstGeom>
          <a:noFill/>
          <a:ln cap="flat" cmpd="sng" w="9525">
            <a:solidFill>
              <a:srgbClr val="FF9201"/>
            </a:solidFill>
            <a:prstDash val="solid"/>
            <a:miter lim="800000"/>
            <a:headEnd len="med" w="med" type="none"/>
            <a:tailEnd len="med" w="med" type="stealth"/>
          </a:ln>
        </p:spPr>
      </p:cxnSp>
      <p:cxnSp>
        <p:nvCxnSpPr>
          <p:cNvPr id="357" name="Google Shape;357;p16"/>
          <p:cNvCxnSpPr/>
          <p:nvPr/>
        </p:nvCxnSpPr>
        <p:spPr>
          <a:xfrm>
            <a:off x="5111750" y="4908550"/>
            <a:ext cx="684212" cy="465137"/>
          </a:xfrm>
          <a:prstGeom prst="straightConnector1">
            <a:avLst/>
          </a:prstGeom>
          <a:noFill/>
          <a:ln cap="flat" cmpd="sng" w="9525">
            <a:solidFill>
              <a:srgbClr val="FF9201"/>
            </a:solidFill>
            <a:prstDash val="solid"/>
            <a:miter lim="800000"/>
            <a:headEnd len="med" w="med" type="none"/>
            <a:tailEnd len="med" w="med" type="stealth"/>
          </a:ln>
        </p:spPr>
      </p:cxnSp>
      <p:cxnSp>
        <p:nvCxnSpPr>
          <p:cNvPr id="358" name="Google Shape;358;p16"/>
          <p:cNvCxnSpPr/>
          <p:nvPr/>
        </p:nvCxnSpPr>
        <p:spPr>
          <a:xfrm rot="10800000">
            <a:off x="2195512" y="3690937"/>
            <a:ext cx="612775" cy="746125"/>
          </a:xfrm>
          <a:prstGeom prst="straightConnector1">
            <a:avLst/>
          </a:prstGeom>
          <a:noFill/>
          <a:ln cap="flat" cmpd="sng" w="9525">
            <a:solidFill>
              <a:srgbClr val="065093"/>
            </a:solidFill>
            <a:prstDash val="solid"/>
            <a:miter lim="800000"/>
            <a:headEnd len="med" w="med" type="none"/>
            <a:tailEnd len="med" w="med" type="stealth"/>
          </a:ln>
        </p:spPr>
      </p:cxnSp>
      <p:cxnSp>
        <p:nvCxnSpPr>
          <p:cNvPr id="359" name="Google Shape;359;p16"/>
          <p:cNvCxnSpPr/>
          <p:nvPr/>
        </p:nvCxnSpPr>
        <p:spPr>
          <a:xfrm flipH="1" rot="10800000">
            <a:off x="2808287" y="3651250"/>
            <a:ext cx="2987675" cy="785812"/>
          </a:xfrm>
          <a:prstGeom prst="straightConnector1">
            <a:avLst/>
          </a:prstGeom>
          <a:noFill/>
          <a:ln cap="flat" cmpd="sng" w="9525">
            <a:solidFill>
              <a:srgbClr val="065093"/>
            </a:solidFill>
            <a:prstDash val="solid"/>
            <a:miter lim="800000"/>
            <a:headEnd len="med" w="med" type="none"/>
            <a:tailEnd len="med" w="med" type="stealth"/>
          </a:ln>
        </p:spPr>
      </p:cxnSp>
      <p:cxnSp>
        <p:nvCxnSpPr>
          <p:cNvPr id="360" name="Google Shape;360;p16"/>
          <p:cNvCxnSpPr/>
          <p:nvPr/>
        </p:nvCxnSpPr>
        <p:spPr>
          <a:xfrm flipH="1" rot="10800000">
            <a:off x="2808287" y="3505200"/>
            <a:ext cx="5437187" cy="931862"/>
          </a:xfrm>
          <a:prstGeom prst="straightConnector1">
            <a:avLst/>
          </a:prstGeom>
          <a:noFill/>
          <a:ln cap="flat" cmpd="sng" w="9525">
            <a:solidFill>
              <a:srgbClr val="065093"/>
            </a:solidFill>
            <a:prstDash val="solid"/>
            <a:miter lim="800000"/>
            <a:headEnd len="med" w="med" type="none"/>
            <a:tailEnd len="med" w="med" type="stealth"/>
          </a:ln>
        </p:spPr>
      </p:cxnSp>
      <p:cxnSp>
        <p:nvCxnSpPr>
          <p:cNvPr id="361" name="Google Shape;361;p16"/>
          <p:cNvCxnSpPr/>
          <p:nvPr/>
        </p:nvCxnSpPr>
        <p:spPr>
          <a:xfrm rot="10800000">
            <a:off x="900112" y="3829050"/>
            <a:ext cx="1908175" cy="608012"/>
          </a:xfrm>
          <a:prstGeom prst="straightConnector1">
            <a:avLst/>
          </a:prstGeom>
          <a:noFill/>
          <a:ln cap="flat" cmpd="sng" w="9525">
            <a:solidFill>
              <a:srgbClr val="FF0000"/>
            </a:solidFill>
            <a:prstDash val="solid"/>
            <a:miter lim="800000"/>
            <a:headEnd len="med" w="med" type="none"/>
            <a:tailEnd len="med" w="med" type="stealth"/>
          </a:ln>
        </p:spPr>
      </p:cxnSp>
      <p:cxnSp>
        <p:nvCxnSpPr>
          <p:cNvPr id="362" name="Google Shape;362;p16"/>
          <p:cNvCxnSpPr/>
          <p:nvPr/>
        </p:nvCxnSpPr>
        <p:spPr>
          <a:xfrm rot="10800000">
            <a:off x="2195512" y="3690937"/>
            <a:ext cx="1620837" cy="757237"/>
          </a:xfrm>
          <a:prstGeom prst="straightConnector1">
            <a:avLst/>
          </a:prstGeom>
          <a:noFill/>
          <a:ln cap="flat" cmpd="sng" w="9525">
            <a:solidFill>
              <a:srgbClr val="065093"/>
            </a:solidFill>
            <a:prstDash val="solid"/>
            <a:miter lim="800000"/>
            <a:headEnd len="med" w="med" type="none"/>
            <a:tailEnd len="med" w="med" type="stealth"/>
          </a:ln>
        </p:spPr>
      </p:cxnSp>
      <p:cxnSp>
        <p:nvCxnSpPr>
          <p:cNvPr id="363" name="Google Shape;363;p16"/>
          <p:cNvCxnSpPr/>
          <p:nvPr/>
        </p:nvCxnSpPr>
        <p:spPr>
          <a:xfrm rot="10800000">
            <a:off x="3384550" y="3582987"/>
            <a:ext cx="431800" cy="865187"/>
          </a:xfrm>
          <a:prstGeom prst="straightConnector1">
            <a:avLst/>
          </a:prstGeom>
          <a:noFill/>
          <a:ln cap="flat" cmpd="sng" w="9525">
            <a:solidFill>
              <a:srgbClr val="065093"/>
            </a:solidFill>
            <a:prstDash val="solid"/>
            <a:miter lim="800000"/>
            <a:headEnd len="med" w="med" type="none"/>
            <a:tailEnd len="med" w="med" type="stealth"/>
          </a:ln>
        </p:spPr>
      </p:cxnSp>
      <p:cxnSp>
        <p:nvCxnSpPr>
          <p:cNvPr id="364" name="Google Shape;364;p16"/>
          <p:cNvCxnSpPr/>
          <p:nvPr/>
        </p:nvCxnSpPr>
        <p:spPr>
          <a:xfrm flipH="1" rot="10800000">
            <a:off x="3816350" y="3717925"/>
            <a:ext cx="684212" cy="730250"/>
          </a:xfrm>
          <a:prstGeom prst="straightConnector1">
            <a:avLst/>
          </a:prstGeom>
          <a:noFill/>
          <a:ln cap="flat" cmpd="sng" w="9525">
            <a:solidFill>
              <a:srgbClr val="065093"/>
            </a:solidFill>
            <a:prstDash val="solid"/>
            <a:miter lim="800000"/>
            <a:headEnd len="med" w="med" type="none"/>
            <a:tailEnd len="med" w="med" type="stealth"/>
          </a:ln>
        </p:spPr>
      </p:cxnSp>
      <p:cxnSp>
        <p:nvCxnSpPr>
          <p:cNvPr id="365" name="Google Shape;365;p16"/>
          <p:cNvCxnSpPr/>
          <p:nvPr/>
        </p:nvCxnSpPr>
        <p:spPr>
          <a:xfrm flipH="1" rot="10800000">
            <a:off x="3816350" y="3651250"/>
            <a:ext cx="1979612" cy="796925"/>
          </a:xfrm>
          <a:prstGeom prst="straightConnector1">
            <a:avLst/>
          </a:prstGeom>
          <a:noFill/>
          <a:ln cap="flat" cmpd="sng" w="9525">
            <a:solidFill>
              <a:srgbClr val="065093"/>
            </a:solidFill>
            <a:prstDash val="solid"/>
            <a:miter lim="800000"/>
            <a:headEnd len="med" w="med" type="none"/>
            <a:tailEnd len="med" w="med" type="stealth"/>
          </a:ln>
        </p:spPr>
      </p:cxnSp>
      <p:cxnSp>
        <p:nvCxnSpPr>
          <p:cNvPr id="366" name="Google Shape;366;p16"/>
          <p:cNvCxnSpPr/>
          <p:nvPr/>
        </p:nvCxnSpPr>
        <p:spPr>
          <a:xfrm flipH="1" rot="10800000">
            <a:off x="3816350" y="3582987"/>
            <a:ext cx="3203575" cy="865187"/>
          </a:xfrm>
          <a:prstGeom prst="straightConnector1">
            <a:avLst/>
          </a:prstGeom>
          <a:noFill/>
          <a:ln cap="flat" cmpd="sng" w="9525">
            <a:solidFill>
              <a:srgbClr val="065093"/>
            </a:solidFill>
            <a:prstDash val="solid"/>
            <a:miter lim="800000"/>
            <a:headEnd len="med" w="med" type="none"/>
            <a:tailEnd len="med" w="med" type="stealth"/>
          </a:ln>
        </p:spPr>
      </p:cxnSp>
      <p:cxnSp>
        <p:nvCxnSpPr>
          <p:cNvPr id="367" name="Google Shape;367;p16"/>
          <p:cNvCxnSpPr/>
          <p:nvPr/>
        </p:nvCxnSpPr>
        <p:spPr>
          <a:xfrm flipH="1" rot="10800000">
            <a:off x="3816350" y="3505200"/>
            <a:ext cx="4429125" cy="942975"/>
          </a:xfrm>
          <a:prstGeom prst="straightConnector1">
            <a:avLst/>
          </a:prstGeom>
          <a:noFill/>
          <a:ln cap="flat" cmpd="sng" w="9525">
            <a:solidFill>
              <a:srgbClr val="065093"/>
            </a:solidFill>
            <a:prstDash val="solid"/>
            <a:miter lim="800000"/>
            <a:headEnd len="med" w="med" type="none"/>
            <a:tailEnd len="med" w="med" type="stealth"/>
          </a:ln>
        </p:spPr>
      </p:cxnSp>
      <p:cxnSp>
        <p:nvCxnSpPr>
          <p:cNvPr id="368" name="Google Shape;368;p16"/>
          <p:cNvCxnSpPr/>
          <p:nvPr/>
        </p:nvCxnSpPr>
        <p:spPr>
          <a:xfrm rot="10800000">
            <a:off x="900112" y="3829050"/>
            <a:ext cx="2916237" cy="619125"/>
          </a:xfrm>
          <a:prstGeom prst="straightConnector1">
            <a:avLst/>
          </a:prstGeom>
          <a:noFill/>
          <a:ln cap="flat" cmpd="sng" w="9525">
            <a:solidFill>
              <a:srgbClr val="FF0000"/>
            </a:solidFill>
            <a:prstDash val="solid"/>
            <a:miter lim="800000"/>
            <a:headEnd len="med" w="med" type="none"/>
            <a:tailEnd len="med" w="med" type="stealth"/>
          </a:ln>
        </p:spPr>
      </p:cxnSp>
      <p:cxnSp>
        <p:nvCxnSpPr>
          <p:cNvPr id="369" name="Google Shape;369;p16"/>
          <p:cNvCxnSpPr/>
          <p:nvPr/>
        </p:nvCxnSpPr>
        <p:spPr>
          <a:xfrm flipH="1" rot="10800000">
            <a:off x="5111750" y="3582987"/>
            <a:ext cx="1908175" cy="925512"/>
          </a:xfrm>
          <a:prstGeom prst="straightConnector1">
            <a:avLst/>
          </a:prstGeom>
          <a:noFill/>
          <a:ln cap="flat" cmpd="sng" w="9525">
            <a:solidFill>
              <a:srgbClr val="065093"/>
            </a:solidFill>
            <a:prstDash val="solid"/>
            <a:miter lim="800000"/>
            <a:headEnd len="med" w="med" type="none"/>
            <a:tailEnd len="med" w="med" type="stealth"/>
          </a:ln>
        </p:spPr>
      </p:cxnSp>
      <p:cxnSp>
        <p:nvCxnSpPr>
          <p:cNvPr id="370" name="Google Shape;370;p16"/>
          <p:cNvCxnSpPr/>
          <p:nvPr/>
        </p:nvCxnSpPr>
        <p:spPr>
          <a:xfrm flipH="1" rot="10800000">
            <a:off x="5111750" y="3651250"/>
            <a:ext cx="684212" cy="857250"/>
          </a:xfrm>
          <a:prstGeom prst="straightConnector1">
            <a:avLst/>
          </a:prstGeom>
          <a:noFill/>
          <a:ln cap="flat" cmpd="sng" w="9525">
            <a:solidFill>
              <a:srgbClr val="065093"/>
            </a:solidFill>
            <a:prstDash val="solid"/>
            <a:miter lim="800000"/>
            <a:headEnd len="med" w="med" type="none"/>
            <a:tailEnd len="med" w="med" type="stealth"/>
          </a:ln>
        </p:spPr>
      </p:cxnSp>
      <p:cxnSp>
        <p:nvCxnSpPr>
          <p:cNvPr id="371" name="Google Shape;371;p16"/>
          <p:cNvCxnSpPr/>
          <p:nvPr/>
        </p:nvCxnSpPr>
        <p:spPr>
          <a:xfrm rot="10800000">
            <a:off x="4500562" y="3717925"/>
            <a:ext cx="611187" cy="790575"/>
          </a:xfrm>
          <a:prstGeom prst="straightConnector1">
            <a:avLst/>
          </a:prstGeom>
          <a:noFill/>
          <a:ln cap="flat" cmpd="sng" w="9525">
            <a:solidFill>
              <a:srgbClr val="065093"/>
            </a:solidFill>
            <a:prstDash val="solid"/>
            <a:miter lim="800000"/>
            <a:headEnd len="med" w="med" type="none"/>
            <a:tailEnd len="med" w="med" type="stealth"/>
          </a:ln>
        </p:spPr>
      </p:cxnSp>
      <p:cxnSp>
        <p:nvCxnSpPr>
          <p:cNvPr id="372" name="Google Shape;372;p16"/>
          <p:cNvCxnSpPr/>
          <p:nvPr/>
        </p:nvCxnSpPr>
        <p:spPr>
          <a:xfrm flipH="1" rot="10800000">
            <a:off x="5111750" y="3505200"/>
            <a:ext cx="3133725" cy="1003300"/>
          </a:xfrm>
          <a:prstGeom prst="straightConnector1">
            <a:avLst/>
          </a:prstGeom>
          <a:noFill/>
          <a:ln cap="flat" cmpd="sng" w="9525">
            <a:solidFill>
              <a:srgbClr val="065093"/>
            </a:solidFill>
            <a:prstDash val="solid"/>
            <a:miter lim="800000"/>
            <a:headEnd len="med" w="med" type="none"/>
            <a:tailEnd len="med" w="med" type="stealth"/>
          </a:ln>
        </p:spPr>
      </p:cxnSp>
      <p:cxnSp>
        <p:nvCxnSpPr>
          <p:cNvPr id="373" name="Google Shape;373;p16"/>
          <p:cNvCxnSpPr/>
          <p:nvPr/>
        </p:nvCxnSpPr>
        <p:spPr>
          <a:xfrm rot="10800000">
            <a:off x="3384550" y="3582987"/>
            <a:ext cx="1727200" cy="925512"/>
          </a:xfrm>
          <a:prstGeom prst="straightConnector1">
            <a:avLst/>
          </a:prstGeom>
          <a:noFill/>
          <a:ln cap="flat" cmpd="sng" w="9525">
            <a:solidFill>
              <a:srgbClr val="065093"/>
            </a:solidFill>
            <a:prstDash val="solid"/>
            <a:miter lim="800000"/>
            <a:headEnd len="med" w="med" type="none"/>
            <a:tailEnd len="med" w="med" type="stealth"/>
          </a:ln>
        </p:spPr>
      </p:cxnSp>
      <p:cxnSp>
        <p:nvCxnSpPr>
          <p:cNvPr id="374" name="Google Shape;374;p16"/>
          <p:cNvCxnSpPr/>
          <p:nvPr/>
        </p:nvCxnSpPr>
        <p:spPr>
          <a:xfrm rot="10800000">
            <a:off x="2195512" y="3690937"/>
            <a:ext cx="2916237" cy="817562"/>
          </a:xfrm>
          <a:prstGeom prst="straightConnector1">
            <a:avLst/>
          </a:prstGeom>
          <a:noFill/>
          <a:ln cap="flat" cmpd="sng" w="9525">
            <a:solidFill>
              <a:srgbClr val="065093"/>
            </a:solidFill>
            <a:prstDash val="solid"/>
            <a:miter lim="800000"/>
            <a:headEnd len="med" w="med" type="none"/>
            <a:tailEnd len="med" w="med" type="stealth"/>
          </a:ln>
        </p:spPr>
      </p:cxnSp>
      <p:cxnSp>
        <p:nvCxnSpPr>
          <p:cNvPr id="375" name="Google Shape;375;p16"/>
          <p:cNvCxnSpPr/>
          <p:nvPr/>
        </p:nvCxnSpPr>
        <p:spPr>
          <a:xfrm rot="10800000">
            <a:off x="900112" y="3829050"/>
            <a:ext cx="4211637" cy="679450"/>
          </a:xfrm>
          <a:prstGeom prst="straightConnector1">
            <a:avLst/>
          </a:prstGeom>
          <a:noFill/>
          <a:ln cap="flat" cmpd="sng" w="9525">
            <a:solidFill>
              <a:srgbClr val="FF0000"/>
            </a:solidFill>
            <a:prstDash val="solid"/>
            <a:miter lim="800000"/>
            <a:headEnd len="med" w="med" type="none"/>
            <a:tailEnd len="med" w="med" type="stealth"/>
          </a:ln>
        </p:spPr>
      </p:cxnSp>
      <p:cxnSp>
        <p:nvCxnSpPr>
          <p:cNvPr id="376" name="Google Shape;376;p16"/>
          <p:cNvCxnSpPr/>
          <p:nvPr/>
        </p:nvCxnSpPr>
        <p:spPr>
          <a:xfrm>
            <a:off x="4248150" y="1619250"/>
            <a:ext cx="1547812" cy="1662112"/>
          </a:xfrm>
          <a:prstGeom prst="straightConnector1">
            <a:avLst/>
          </a:prstGeom>
          <a:noFill/>
          <a:ln cap="flat" cmpd="sng" w="9525">
            <a:solidFill>
              <a:schemeClr val="dk1"/>
            </a:solidFill>
            <a:prstDash val="solid"/>
            <a:miter lim="800000"/>
            <a:headEnd len="med" w="med" type="none"/>
            <a:tailEnd len="med" w="med" type="stealth"/>
          </a:ln>
        </p:spPr>
      </p:cxnSp>
      <p:sp>
        <p:nvSpPr>
          <p:cNvPr id="377" name="Google Shape;377;p16"/>
          <p:cNvSpPr txBox="1"/>
          <p:nvPr/>
        </p:nvSpPr>
        <p:spPr>
          <a:xfrm>
            <a:off x="7740650" y="1768475"/>
            <a:ext cx="1152525"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QL Q đầu tư chứng khoán</a:t>
            </a:r>
            <a:endParaRPr/>
          </a:p>
        </p:txBody>
      </p:sp>
      <p:sp>
        <p:nvSpPr>
          <p:cNvPr id="378" name="Google Shape;378;p16"/>
          <p:cNvSpPr txBox="1"/>
          <p:nvPr/>
        </p:nvSpPr>
        <p:spPr>
          <a:xfrm>
            <a:off x="7667625" y="2420937"/>
            <a:ext cx="1152525" cy="230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QL DMDT</a:t>
            </a:r>
            <a:endParaRPr/>
          </a:p>
        </p:txBody>
      </p:sp>
      <p:cxnSp>
        <p:nvCxnSpPr>
          <p:cNvPr id="379" name="Google Shape;379;p16"/>
          <p:cNvCxnSpPr/>
          <p:nvPr/>
        </p:nvCxnSpPr>
        <p:spPr>
          <a:xfrm>
            <a:off x="4248150" y="1619250"/>
            <a:ext cx="3419475" cy="917575"/>
          </a:xfrm>
          <a:prstGeom prst="straightConnector1">
            <a:avLst/>
          </a:prstGeom>
          <a:noFill/>
          <a:ln cap="flat" cmpd="sng" w="9525">
            <a:solidFill>
              <a:schemeClr val="dk1"/>
            </a:solidFill>
            <a:prstDash val="solid"/>
            <a:miter lim="800000"/>
            <a:headEnd len="med" w="med" type="none"/>
            <a:tailEnd len="med" w="med" type="stealth"/>
          </a:ln>
        </p:spPr>
      </p:cxnSp>
      <p:cxnSp>
        <p:nvCxnSpPr>
          <p:cNvPr id="380" name="Google Shape;380;p16"/>
          <p:cNvCxnSpPr/>
          <p:nvPr/>
        </p:nvCxnSpPr>
        <p:spPr>
          <a:xfrm>
            <a:off x="4248150" y="1619250"/>
            <a:ext cx="3492500" cy="333375"/>
          </a:xfrm>
          <a:prstGeom prst="straightConnector1">
            <a:avLst/>
          </a:prstGeom>
          <a:noFill/>
          <a:ln cap="flat" cmpd="sng" w="9525">
            <a:solidFill>
              <a:schemeClr val="dk1"/>
            </a:solidFill>
            <a:prstDash val="solid"/>
            <a:miter lim="800000"/>
            <a:headEnd len="med" w="med" type="none"/>
            <a:tailEnd len="med" w="med" type="stealth"/>
          </a:ln>
        </p:spPr>
      </p:cxnSp>
      <p:cxnSp>
        <p:nvCxnSpPr>
          <p:cNvPr id="381" name="Google Shape;381;p16"/>
          <p:cNvCxnSpPr/>
          <p:nvPr/>
        </p:nvCxnSpPr>
        <p:spPr>
          <a:xfrm>
            <a:off x="5976937" y="1587500"/>
            <a:ext cx="1763712" cy="365125"/>
          </a:xfrm>
          <a:prstGeom prst="straightConnector1">
            <a:avLst/>
          </a:prstGeom>
          <a:noFill/>
          <a:ln cap="flat" cmpd="sng" w="9525">
            <a:solidFill>
              <a:srgbClr val="065093"/>
            </a:solidFill>
            <a:prstDash val="solid"/>
            <a:miter lim="800000"/>
            <a:headEnd len="med" w="med" type="none"/>
            <a:tailEnd len="med" w="med" type="stealth"/>
          </a:ln>
        </p:spPr>
      </p:cxnSp>
      <p:sp>
        <p:nvSpPr>
          <p:cNvPr id="382" name="Google Shape;382;p16"/>
          <p:cNvSpPr txBox="1"/>
          <p:nvPr/>
        </p:nvSpPr>
        <p:spPr>
          <a:xfrm>
            <a:off x="3492500" y="2420937"/>
            <a:ext cx="2232025" cy="21590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Constantia"/>
              <a:buNone/>
            </a:pPr>
            <a:r>
              <a:rPr b="0" i="0" lang="en-US" sz="900" u="none">
                <a:solidFill>
                  <a:srgbClr val="000000"/>
                </a:solidFill>
                <a:latin typeface="Constantia"/>
                <a:ea typeface="Constantia"/>
                <a:cs typeface="Constantia"/>
                <a:sym typeface="Constantia"/>
              </a:rPr>
              <a:t>Hoạt động KDCK</a:t>
            </a:r>
            <a:endParaRPr/>
          </a:p>
        </p:txBody>
      </p:sp>
      <p:cxnSp>
        <p:nvCxnSpPr>
          <p:cNvPr id="383" name="Google Shape;383;p16"/>
          <p:cNvCxnSpPr/>
          <p:nvPr/>
        </p:nvCxnSpPr>
        <p:spPr>
          <a:xfrm flipH="1" rot="10800000">
            <a:off x="5111750" y="2536825"/>
            <a:ext cx="2555875" cy="1971675"/>
          </a:xfrm>
          <a:prstGeom prst="straightConnector1">
            <a:avLst/>
          </a:prstGeom>
          <a:noFill/>
          <a:ln cap="flat" cmpd="sng" w="9525">
            <a:solidFill>
              <a:srgbClr val="065093"/>
            </a:solidFill>
            <a:prstDash val="solid"/>
            <a:miter lim="800000"/>
            <a:headEnd len="med" w="med" type="none"/>
            <a:tailEnd len="med" w="med" type="stealth"/>
          </a:ln>
        </p:spPr>
      </p:cxnSp>
      <p:cxnSp>
        <p:nvCxnSpPr>
          <p:cNvPr id="384" name="Google Shape;384;p16"/>
          <p:cNvCxnSpPr/>
          <p:nvPr/>
        </p:nvCxnSpPr>
        <p:spPr>
          <a:xfrm flipH="1" rot="10800000">
            <a:off x="5111750" y="1952625"/>
            <a:ext cx="2628900" cy="2555875"/>
          </a:xfrm>
          <a:prstGeom prst="straightConnector1">
            <a:avLst/>
          </a:prstGeom>
          <a:noFill/>
          <a:ln cap="flat" cmpd="sng" w="9525">
            <a:solidFill>
              <a:srgbClr val="065093"/>
            </a:solidFill>
            <a:prstDash val="solid"/>
            <a:miter lim="800000"/>
            <a:headEnd len="med" w="med" type="none"/>
            <a:tailEnd len="med" w="med" type="stealth"/>
          </a:ln>
        </p:spPr>
      </p:cxnSp>
      <p:sp>
        <p:nvSpPr>
          <p:cNvPr id="385" name="Google Shape;385;p16"/>
          <p:cNvSpPr txBox="1"/>
          <p:nvPr/>
        </p:nvSpPr>
        <p:spPr>
          <a:xfrm>
            <a:off x="250825" y="1844675"/>
            <a:ext cx="1296987"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Nội dung tư vấn: CPH; M&amp;A; chào bán; niêm yết; QTCT, qt chiến lược; khác</a:t>
            </a:r>
            <a:endParaRPr/>
          </a:p>
        </p:txBody>
      </p:sp>
      <p:cxnSp>
        <p:nvCxnSpPr>
          <p:cNvPr id="386" name="Google Shape;386;p16"/>
          <p:cNvCxnSpPr/>
          <p:nvPr/>
        </p:nvCxnSpPr>
        <p:spPr>
          <a:xfrm rot="10800000">
            <a:off x="900112" y="2490787"/>
            <a:ext cx="0" cy="692150"/>
          </a:xfrm>
          <a:prstGeom prst="straightConnector1">
            <a:avLst/>
          </a:prstGeom>
          <a:noFill/>
          <a:ln cap="flat" cmpd="sng" w="9525">
            <a:solidFill>
              <a:srgbClr val="065093"/>
            </a:solidFill>
            <a:prstDash val="solid"/>
            <a:miter lim="800000"/>
            <a:headEnd len="med" w="med" type="none"/>
            <a:tailEnd len="med" w="med" type="stealth"/>
          </a:ln>
        </p:spPr>
      </p:cxnSp>
      <p:cxnSp>
        <p:nvCxnSpPr>
          <p:cNvPr id="387" name="Google Shape;387;p16"/>
          <p:cNvCxnSpPr/>
          <p:nvPr/>
        </p:nvCxnSpPr>
        <p:spPr>
          <a:xfrm>
            <a:off x="2195512" y="1762125"/>
            <a:ext cx="612775" cy="2674937"/>
          </a:xfrm>
          <a:prstGeom prst="straightConnector1">
            <a:avLst/>
          </a:prstGeom>
          <a:noFill/>
          <a:ln cap="flat" cmpd="sng" w="9525">
            <a:solidFill>
              <a:srgbClr val="0000FF"/>
            </a:solidFill>
            <a:prstDash val="solid"/>
            <a:miter lim="800000"/>
            <a:headEnd len="med" w="med" type="none"/>
            <a:tailEnd len="med" w="med" type="stealth"/>
          </a:ln>
        </p:spPr>
      </p:cxnSp>
      <p:cxnSp>
        <p:nvCxnSpPr>
          <p:cNvPr id="388" name="Google Shape;388;p16"/>
          <p:cNvCxnSpPr/>
          <p:nvPr/>
        </p:nvCxnSpPr>
        <p:spPr>
          <a:xfrm>
            <a:off x="2195512" y="1762125"/>
            <a:ext cx="1620837" cy="2686050"/>
          </a:xfrm>
          <a:prstGeom prst="straightConnector1">
            <a:avLst/>
          </a:prstGeom>
          <a:noFill/>
          <a:ln cap="flat" cmpd="sng" w="9525">
            <a:solidFill>
              <a:srgbClr val="0000FF"/>
            </a:solidFill>
            <a:prstDash val="solid"/>
            <a:miter lim="800000"/>
            <a:headEnd len="med" w="med" type="none"/>
            <a:tailEnd len="med" w="med" type="stealth"/>
          </a:ln>
        </p:spPr>
      </p:cxnSp>
      <p:cxnSp>
        <p:nvCxnSpPr>
          <p:cNvPr id="389" name="Google Shape;389;p16"/>
          <p:cNvCxnSpPr/>
          <p:nvPr/>
        </p:nvCxnSpPr>
        <p:spPr>
          <a:xfrm>
            <a:off x="2195512" y="1762125"/>
            <a:ext cx="2916237" cy="2746375"/>
          </a:xfrm>
          <a:prstGeom prst="straightConnector1">
            <a:avLst/>
          </a:prstGeom>
          <a:noFill/>
          <a:ln cap="flat" cmpd="sng" w="9525">
            <a:solidFill>
              <a:srgbClr val="0000FF"/>
            </a:solidFill>
            <a:prstDash val="solid"/>
            <a:miter lim="800000"/>
            <a:headEnd len="med" w="med" type="none"/>
            <a:tailEnd len="med" w="med" type="stealth"/>
          </a:ln>
        </p:spPr>
      </p:cxnSp>
      <p:cxnSp>
        <p:nvCxnSpPr>
          <p:cNvPr id="390" name="Google Shape;390;p16"/>
          <p:cNvCxnSpPr/>
          <p:nvPr/>
        </p:nvCxnSpPr>
        <p:spPr>
          <a:xfrm>
            <a:off x="4248150" y="1619250"/>
            <a:ext cx="863600" cy="2889250"/>
          </a:xfrm>
          <a:prstGeom prst="straightConnector1">
            <a:avLst/>
          </a:prstGeom>
          <a:noFill/>
          <a:ln cap="flat" cmpd="sng" w="9525">
            <a:solidFill>
              <a:srgbClr val="0000FF"/>
            </a:solidFill>
            <a:prstDash val="solid"/>
            <a:miter lim="800000"/>
            <a:headEnd len="med" w="med" type="none"/>
            <a:tailEnd len="med" w="med" type="stealth"/>
          </a:ln>
        </p:spPr>
      </p:cxnSp>
      <p:cxnSp>
        <p:nvCxnSpPr>
          <p:cNvPr id="391" name="Google Shape;391;p16"/>
          <p:cNvCxnSpPr/>
          <p:nvPr/>
        </p:nvCxnSpPr>
        <p:spPr>
          <a:xfrm flipH="1">
            <a:off x="5111750" y="1587500"/>
            <a:ext cx="865187" cy="2921000"/>
          </a:xfrm>
          <a:prstGeom prst="straightConnector1">
            <a:avLst/>
          </a:prstGeom>
          <a:noFill/>
          <a:ln cap="flat" cmpd="sng" w="9525">
            <a:solidFill>
              <a:srgbClr val="0000FF"/>
            </a:solidFill>
            <a:prstDash val="solid"/>
            <a:miter lim="800000"/>
            <a:headEnd len="med" w="med" type="none"/>
            <a:tailEnd len="med" w="med" type="stealth"/>
          </a:ln>
        </p:spPr>
      </p:cxnSp>
      <p:sp>
        <p:nvSpPr>
          <p:cNvPr id="392" name="Google Shape;392;p16"/>
          <p:cNvSpPr txBox="1"/>
          <p:nvPr/>
        </p:nvSpPr>
        <p:spPr>
          <a:xfrm>
            <a:off x="5867400" y="4343400"/>
            <a:ext cx="3025775" cy="935037"/>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Times New Roman"/>
              <a:buNone/>
            </a:pPr>
            <a:r>
              <a:rPr b="0" i="0" lang="en-US" sz="800" u="none">
                <a:solidFill>
                  <a:srgbClr val="000000"/>
                </a:solidFill>
                <a:latin typeface="Times New Roman"/>
                <a:ea typeface="Times New Roman"/>
                <a:cs typeface="Times New Roman"/>
                <a:sym typeface="Times New Roman"/>
              </a:rPr>
              <a:t>(1) Capacity of practitioner:</a:t>
            </a:r>
            <a:endParaRPr/>
          </a:p>
          <a:p>
            <a:pPr indent="0" lvl="0" marL="0" marR="0" rtl="0" algn="ctr">
              <a:lnSpc>
                <a:spcPct val="100000"/>
              </a:lnSpc>
              <a:spcBef>
                <a:spcPts val="0"/>
              </a:spcBef>
              <a:spcAft>
                <a:spcPts val="0"/>
              </a:spcAft>
              <a:buClr>
                <a:srgbClr val="000000"/>
              </a:buClr>
              <a:buSzPts val="800"/>
              <a:buFont typeface="Times New Roman"/>
              <a:buNone/>
            </a:pPr>
            <a:r>
              <a:rPr b="0" i="0" lang="en-US" sz="800" u="none">
                <a:solidFill>
                  <a:srgbClr val="000000"/>
                </a:solidFill>
                <a:latin typeface="Times New Roman"/>
                <a:ea typeface="Times New Roman"/>
                <a:cs typeface="Times New Roman"/>
                <a:sym typeface="Times New Roman"/>
              </a:rPr>
              <a:t>= General Knowlge + Skill + Adtitude</a:t>
            </a:r>
            <a:endParaRPr/>
          </a:p>
          <a:p>
            <a:pPr indent="0" lvl="0" marL="0" marR="0" rtl="0" algn="ctr">
              <a:lnSpc>
                <a:spcPct val="100000"/>
              </a:lnSpc>
              <a:spcBef>
                <a:spcPts val="0"/>
              </a:spcBef>
              <a:spcAft>
                <a:spcPts val="0"/>
              </a:spcAft>
              <a:buClr>
                <a:srgbClr val="000000"/>
              </a:buClr>
              <a:buSzPts val="800"/>
              <a:buFont typeface="Times New Roman"/>
              <a:buNone/>
            </a:pPr>
            <a:r>
              <a:rPr b="0" i="0" lang="en-US" sz="800" u="none">
                <a:solidFill>
                  <a:srgbClr val="000000"/>
                </a:solidFill>
                <a:latin typeface="Times New Roman"/>
                <a:ea typeface="Times New Roman"/>
                <a:cs typeface="Times New Roman"/>
                <a:sym typeface="Times New Roman"/>
              </a:rPr>
              <a:t>(2) Standards of practitioner certificates</a:t>
            </a:r>
            <a:endParaRPr/>
          </a:p>
          <a:p>
            <a:pPr indent="0" lvl="0" marL="0" marR="0" rtl="0" algn="ctr">
              <a:lnSpc>
                <a:spcPct val="100000"/>
              </a:lnSpc>
              <a:spcBef>
                <a:spcPts val="0"/>
              </a:spcBef>
              <a:spcAft>
                <a:spcPts val="0"/>
              </a:spcAft>
              <a:buClr>
                <a:srgbClr val="000000"/>
              </a:buClr>
              <a:buSzPts val="800"/>
              <a:buFont typeface="Times New Roman"/>
              <a:buNone/>
            </a:pPr>
            <a:r>
              <a:rPr b="0" i="0" lang="en-US" sz="800" u="none">
                <a:solidFill>
                  <a:srgbClr val="000000"/>
                </a:solidFill>
                <a:latin typeface="Times New Roman"/>
                <a:ea typeface="Times New Roman"/>
                <a:cs typeface="Times New Roman"/>
                <a:sym typeface="Times New Roman"/>
              </a:rPr>
              <a:t>= The content of the product/service + the regulations on product/service </a:t>
            </a:r>
            <a:endParaRPr/>
          </a:p>
          <a:p>
            <a:pPr indent="0" lvl="0" marL="0" marR="0" rtl="0" algn="ctr">
              <a:lnSpc>
                <a:spcPct val="100000"/>
              </a:lnSpc>
              <a:spcBef>
                <a:spcPts val="0"/>
              </a:spcBef>
              <a:spcAft>
                <a:spcPts val="0"/>
              </a:spcAft>
              <a:buClr>
                <a:srgbClr val="000000"/>
              </a:buClr>
              <a:buSzPts val="800"/>
              <a:buFont typeface="Times New Roman"/>
              <a:buNone/>
            </a:pPr>
            <a:r>
              <a:rPr b="0" i="0" lang="en-US" sz="800" u="none">
                <a:solidFill>
                  <a:srgbClr val="000000"/>
                </a:solidFill>
                <a:latin typeface="Times New Roman"/>
                <a:ea typeface="Times New Roman"/>
                <a:cs typeface="Times New Roman"/>
                <a:sym typeface="Times New Roman"/>
              </a:rPr>
              <a:t>= (General Knowlge + Content of the product/service) + Regulations on product/service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6" name="Shape 396"/>
        <p:cNvGrpSpPr/>
        <p:nvPr/>
      </p:nvGrpSpPr>
      <p:grpSpPr>
        <a:xfrm>
          <a:off x="0" y="0"/>
          <a:ext cx="0" cy="0"/>
          <a:chOff x="0" y="0"/>
          <a:chExt cx="0" cy="0"/>
        </a:xfrm>
      </p:grpSpPr>
      <p:sp>
        <p:nvSpPr>
          <p:cNvPr id="397" name="Google Shape;397;p17"/>
          <p:cNvSpPr txBox="1"/>
          <p:nvPr>
            <p:ph type="title"/>
          </p:nvPr>
        </p:nvSpPr>
        <p:spPr>
          <a:xfrm>
            <a:off x="1752600" y="15240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B. Hoạt động nghiệp vụ</a:t>
            </a:r>
            <a:endParaRPr/>
          </a:p>
        </p:txBody>
      </p:sp>
      <p:pic>
        <p:nvPicPr>
          <p:cNvPr id="398" name="Google Shape;398;p17"/>
          <p:cNvPicPr preferRelativeResize="0"/>
          <p:nvPr>
            <p:ph idx="1" type="body"/>
          </p:nvPr>
        </p:nvPicPr>
        <p:blipFill rotWithShape="1">
          <a:blip r:embed="rId3">
            <a:alphaModFix/>
          </a:blip>
          <a:srcRect b="0" l="0" r="0" t="0"/>
          <a:stretch/>
        </p:blipFill>
        <p:spPr>
          <a:xfrm>
            <a:off x="438150" y="1590675"/>
            <a:ext cx="8315325" cy="4408487"/>
          </a:xfrm>
          <a:prstGeom prst="rect">
            <a:avLst/>
          </a:prstGeom>
          <a:noFill/>
          <a:ln>
            <a:noFill/>
          </a:ln>
        </p:spPr>
      </p:pic>
      <p:sp>
        <p:nvSpPr>
          <p:cNvPr id="399" name="Google Shape;399;p17"/>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00" name="Google Shape;400;p17"/>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01" name="Google Shape;401;p17"/>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5" name="Shape 405"/>
        <p:cNvGrpSpPr/>
        <p:nvPr/>
      </p:nvGrpSpPr>
      <p:grpSpPr>
        <a:xfrm>
          <a:off x="0" y="0"/>
          <a:ext cx="0" cy="0"/>
          <a:chOff x="0" y="0"/>
          <a:chExt cx="0" cy="0"/>
        </a:xfrm>
      </p:grpSpPr>
      <p:sp>
        <p:nvSpPr>
          <p:cNvPr id="406" name="Google Shape;406;p18"/>
          <p:cNvSpPr txBox="1"/>
          <p:nvPr>
            <p:ph type="title"/>
          </p:nvPr>
        </p:nvSpPr>
        <p:spPr>
          <a:xfrm>
            <a:off x="1828800" y="15240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B. Hoạt động nghiệp vụ</a:t>
            </a:r>
            <a:endParaRPr/>
          </a:p>
        </p:txBody>
      </p:sp>
      <p:pic>
        <p:nvPicPr>
          <p:cNvPr id="407" name="Google Shape;407;p18"/>
          <p:cNvPicPr preferRelativeResize="0"/>
          <p:nvPr>
            <p:ph idx="1" type="body"/>
          </p:nvPr>
        </p:nvPicPr>
        <p:blipFill rotWithShape="1">
          <a:blip r:embed="rId3">
            <a:alphaModFix/>
          </a:blip>
          <a:srcRect b="0" l="0" r="0" t="0"/>
          <a:stretch/>
        </p:blipFill>
        <p:spPr>
          <a:xfrm>
            <a:off x="523875" y="1895475"/>
            <a:ext cx="8255000" cy="4408487"/>
          </a:xfrm>
          <a:prstGeom prst="rect">
            <a:avLst/>
          </a:prstGeom>
          <a:noFill/>
          <a:ln>
            <a:noFill/>
          </a:ln>
        </p:spPr>
      </p:pic>
      <p:sp>
        <p:nvSpPr>
          <p:cNvPr id="408" name="Google Shape;408;p18"/>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09" name="Google Shape;409;p18"/>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10" name="Google Shape;410;p18"/>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
        <p:nvSpPr>
          <p:cNvPr id="411" name="Google Shape;411;p18"/>
          <p:cNvSpPr txBox="1"/>
          <p:nvPr/>
        </p:nvSpPr>
        <p:spPr>
          <a:xfrm>
            <a:off x="3581400" y="4267200"/>
            <a:ext cx="5029200" cy="1981200"/>
          </a:xfrm>
          <a:prstGeom prst="rect">
            <a:avLst/>
          </a:prstGeom>
          <a:solidFill>
            <a:schemeClr val="accent1"/>
          </a:solidFill>
          <a:ln cap="flat" cmpd="sng" w="25400">
            <a:solidFill>
              <a:srgbClr val="08509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onstantia"/>
              <a:buNone/>
            </a:pPr>
            <a:r>
              <a:rPr b="1" i="0" lang="en-US" sz="1800" u="none">
                <a:solidFill>
                  <a:srgbClr val="FFFFFF"/>
                </a:solidFill>
                <a:latin typeface="Constantia"/>
                <a:ea typeface="Constantia"/>
                <a:cs typeface="Constantia"/>
                <a:sym typeface="Constantia"/>
              </a:rPr>
              <a:t>Hạn chế/cấm</a:t>
            </a:r>
            <a:r>
              <a:rPr b="0" i="0" lang="en-US" sz="1800" u="none">
                <a:solidFill>
                  <a:srgbClr val="FFFFFF"/>
                </a:solidFill>
                <a:latin typeface="Constantia"/>
                <a:ea typeface="Constantia"/>
                <a:cs typeface="Constantia"/>
                <a:sym typeface="Constantia"/>
              </a:rPr>
              <a:t>: đưa ra ý kiến tăng giảm giá CK mà ko có căn cứ để lôi kéo KH; thỏa thuận hoặc đưa ra lS cụ thể hoặc chia se lợi nhuận; trực tiếp hoặc gián tiếp lập các điểm bên ngoài  điểm UBCK chấp thuận để ký hợp đồng, nhận lênh, thanh toán ..; người chưa được ủy quyền giao dịch, tiết lộ thông tin kh.hàng v.v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19"/>
          <p:cNvSpPr txBox="1"/>
          <p:nvPr>
            <p:ph type="title"/>
          </p:nvPr>
        </p:nvSpPr>
        <p:spPr>
          <a:xfrm>
            <a:off x="1828800" y="0"/>
            <a:ext cx="68580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B. Hoạt động nghiệp vụ</a:t>
            </a:r>
            <a:endParaRPr/>
          </a:p>
        </p:txBody>
      </p:sp>
      <p:pic>
        <p:nvPicPr>
          <p:cNvPr id="418" name="Google Shape;418;p19"/>
          <p:cNvPicPr preferRelativeResize="0"/>
          <p:nvPr>
            <p:ph idx="1" type="body"/>
          </p:nvPr>
        </p:nvPicPr>
        <p:blipFill rotWithShape="1">
          <a:blip r:embed="rId3">
            <a:alphaModFix/>
          </a:blip>
          <a:srcRect b="0" l="0" r="0" t="0"/>
          <a:stretch/>
        </p:blipFill>
        <p:spPr>
          <a:xfrm>
            <a:off x="523875" y="1358900"/>
            <a:ext cx="8339137" cy="4870450"/>
          </a:xfrm>
          <a:prstGeom prst="rect">
            <a:avLst/>
          </a:prstGeom>
          <a:noFill/>
          <a:ln>
            <a:noFill/>
          </a:ln>
        </p:spPr>
      </p:pic>
      <p:sp>
        <p:nvSpPr>
          <p:cNvPr id="419" name="Google Shape;419;p19"/>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20" name="Google Shape;420;p19"/>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21" name="Google Shape;421;p19"/>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5" name="Shape 425"/>
        <p:cNvGrpSpPr/>
        <p:nvPr/>
      </p:nvGrpSpPr>
      <p:grpSpPr>
        <a:xfrm>
          <a:off x="0" y="0"/>
          <a:ext cx="0" cy="0"/>
          <a:chOff x="0" y="0"/>
          <a:chExt cx="0" cy="0"/>
        </a:xfrm>
      </p:grpSpPr>
      <p:sp>
        <p:nvSpPr>
          <p:cNvPr id="426" name="Google Shape;426;p20"/>
          <p:cNvSpPr txBox="1"/>
          <p:nvPr>
            <p:ph type="title"/>
          </p:nvPr>
        </p:nvSpPr>
        <p:spPr>
          <a:xfrm>
            <a:off x="1828800" y="0"/>
            <a:ext cx="68580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B. Hoạt động nghiệp vụ</a:t>
            </a:r>
            <a:endParaRPr/>
          </a:p>
        </p:txBody>
      </p:sp>
      <p:pic>
        <p:nvPicPr>
          <p:cNvPr id="427" name="Google Shape;427;p20"/>
          <p:cNvPicPr preferRelativeResize="0"/>
          <p:nvPr>
            <p:ph idx="1" type="body"/>
          </p:nvPr>
        </p:nvPicPr>
        <p:blipFill rotWithShape="1">
          <a:blip r:embed="rId3">
            <a:alphaModFix/>
          </a:blip>
          <a:srcRect b="0" l="0" r="0" t="0"/>
          <a:stretch/>
        </p:blipFill>
        <p:spPr>
          <a:xfrm>
            <a:off x="523875" y="1816100"/>
            <a:ext cx="8321675" cy="4413250"/>
          </a:xfrm>
          <a:prstGeom prst="rect">
            <a:avLst/>
          </a:prstGeom>
          <a:noFill/>
          <a:ln>
            <a:noFill/>
          </a:ln>
        </p:spPr>
      </p:pic>
      <p:sp>
        <p:nvSpPr>
          <p:cNvPr id="428" name="Google Shape;428;p20"/>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29" name="Google Shape;429;p20"/>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30" name="Google Shape;430;p20"/>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4" name="Shape 434"/>
        <p:cNvGrpSpPr/>
        <p:nvPr/>
      </p:nvGrpSpPr>
      <p:grpSpPr>
        <a:xfrm>
          <a:off x="0" y="0"/>
          <a:ext cx="0" cy="0"/>
          <a:chOff x="0" y="0"/>
          <a:chExt cx="0" cy="0"/>
        </a:xfrm>
      </p:grpSpPr>
      <p:sp>
        <p:nvSpPr>
          <p:cNvPr id="435" name="Google Shape;435;p21"/>
          <p:cNvSpPr txBox="1"/>
          <p:nvPr>
            <p:ph type="title"/>
          </p:nvPr>
        </p:nvSpPr>
        <p:spPr>
          <a:xfrm>
            <a:off x="1752600" y="15240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CÔNG TY CHỨNG KHOÁN</a:t>
            </a:r>
            <a:br>
              <a:rPr b="0" i="0" lang="en-US" sz="3200" u="none">
                <a:solidFill>
                  <a:schemeClr val="dk2"/>
                </a:solidFill>
                <a:latin typeface="Times New Roman"/>
                <a:ea typeface="Times New Roman"/>
                <a:cs typeface="Times New Roman"/>
                <a:sym typeface="Times New Roman"/>
              </a:rPr>
            </a:br>
            <a:r>
              <a:rPr b="0" i="0" lang="en-US" sz="3200" u="none">
                <a:solidFill>
                  <a:schemeClr val="dk2"/>
                </a:solidFill>
                <a:latin typeface="Times New Roman"/>
                <a:ea typeface="Times New Roman"/>
                <a:cs typeface="Times New Roman"/>
                <a:sym typeface="Times New Roman"/>
              </a:rPr>
              <a:t>B. Hoạt động nghiệp vụ</a:t>
            </a:r>
            <a:endParaRPr/>
          </a:p>
        </p:txBody>
      </p:sp>
      <p:sp>
        <p:nvSpPr>
          <p:cNvPr id="436" name="Google Shape;436;p21"/>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BD0D9"/>
              </a:buClr>
              <a:buSzPts val="2470"/>
              <a:buFont typeface="Noto Sans Symbols"/>
              <a:buNone/>
            </a:pPr>
            <a:r>
              <a:rPr b="0" i="0" lang="en-US" sz="2600" u="none" cap="none" strike="noStrike">
                <a:solidFill>
                  <a:schemeClr val="dk1"/>
                </a:solidFill>
                <a:latin typeface="Constantia"/>
                <a:ea typeface="Constantia"/>
                <a:cs typeface="Constantia"/>
                <a:sym typeface="Constantia"/>
              </a:rPr>
              <a:t>3.  </a:t>
            </a:r>
            <a:r>
              <a:rPr b="1" i="0" lang="en-US" sz="2600" u="none" cap="none" strike="noStrike">
                <a:solidFill>
                  <a:schemeClr val="dk1"/>
                </a:solidFill>
                <a:latin typeface="Constantia"/>
                <a:ea typeface="Constantia"/>
                <a:cs typeface="Constantia"/>
                <a:sym typeface="Constantia"/>
              </a:rPr>
              <a:t>Nghiệp vụ bảo lãnh phát hành(tiếp theo)</a:t>
            </a:r>
            <a:endParaRPr/>
          </a:p>
          <a:p>
            <a:pPr indent="-273050" lvl="0" marL="273050" marR="0" rtl="0" algn="l">
              <a:lnSpc>
                <a:spcPct val="100000"/>
              </a:lnSpc>
              <a:spcBef>
                <a:spcPts val="400"/>
              </a:spcBef>
              <a:spcAft>
                <a:spcPts val="0"/>
              </a:spcAft>
              <a:buClr>
                <a:srgbClr val="0BD0D9"/>
              </a:buClr>
              <a:buSzPts val="1900"/>
              <a:buFont typeface="Noto Sans Symbols"/>
              <a:buChar char="⚫"/>
            </a:pPr>
            <a:r>
              <a:rPr b="1" i="0" lang="en-US" sz="2000" u="none" cap="none" strike="noStrike">
                <a:solidFill>
                  <a:schemeClr val="dk1"/>
                </a:solidFill>
                <a:latin typeface="Constantia"/>
                <a:ea typeface="Constantia"/>
                <a:cs typeface="Constantia"/>
                <a:sym typeface="Constantia"/>
              </a:rPr>
              <a:t>Quy trình thực hiện:</a:t>
            </a:r>
            <a:endParaRPr/>
          </a:p>
          <a:p>
            <a:pPr indent="-273050" lvl="0" marL="273050" marR="0" rtl="0" algn="l">
              <a:lnSpc>
                <a:spcPct val="100000"/>
              </a:lnSpc>
              <a:spcBef>
                <a:spcPts val="400"/>
              </a:spcBef>
              <a:spcAft>
                <a:spcPts val="0"/>
              </a:spcAft>
              <a:buClr>
                <a:srgbClr val="0BD0D9"/>
              </a:buClr>
              <a:buSzPts val="1900"/>
              <a:buFont typeface="Noto Sans Symbols"/>
              <a:buNone/>
            </a:pPr>
            <a:r>
              <a:rPr b="0" i="0" lang="en-US" sz="2000" u="none" cap="none" strike="noStrike">
                <a:solidFill>
                  <a:schemeClr val="dk1"/>
                </a:solidFill>
                <a:latin typeface="Constantia"/>
                <a:ea typeface="Constantia"/>
                <a:cs typeface="Constantia"/>
                <a:sym typeface="Constantia"/>
              </a:rPr>
              <a:t>   CTCK nhận yêu cầu bảo lãnh từ TCPH =&gt; Ký hợp đồng tư vấn, bảo lãnh </a:t>
            </a:r>
            <a:endParaRPr/>
          </a:p>
          <a:p>
            <a:pPr indent="-273050" lvl="0" marL="273050" marR="0" rtl="0" algn="l">
              <a:lnSpc>
                <a:spcPct val="100000"/>
              </a:lnSpc>
              <a:spcBef>
                <a:spcPts val="400"/>
              </a:spcBef>
              <a:spcAft>
                <a:spcPts val="0"/>
              </a:spcAft>
              <a:buClr>
                <a:srgbClr val="0BD0D9"/>
              </a:buClr>
              <a:buSzPts val="1900"/>
              <a:buFont typeface="Noto Sans Symbols"/>
              <a:buNone/>
            </a:pPr>
            <a:r>
              <a:rPr b="0" i="0" lang="en-US" sz="2000" u="none" cap="none" strike="noStrike">
                <a:solidFill>
                  <a:schemeClr val="dk1"/>
                </a:solidFill>
                <a:latin typeface="Constantia"/>
                <a:ea typeface="Constantia"/>
                <a:cs typeface="Constantia"/>
                <a:sym typeface="Constantia"/>
              </a:rPr>
              <a:t>	Đệ  trình phương án bán, Cam kết bảo lãnh; Lập tổ hợp BLPH =. Ký hợp đồng bảo lãnh =&gt; Nộp hồ sơ xin phép chào bán =&gt; Thăm dò thị trường Roadshow =&gt; công bố phát hành, phân phát bản cáo bạch; Phân phát phiếu đăng ký mua CK; Nhận tiền đặt cọc  =&gt; Giấp phép chào bán CK có hiệu lực (trước là  chấp thuận nguyên tắc) =&gt;  Phân phối cổ phiếu trên cơ sở phiếu đăng ký (90 ngày, ko hết thêm 30 ngày) =&gt; Lưu ký CK, Thanh toán, bình ổn thị trường. </a:t>
            </a:r>
            <a:endParaRPr/>
          </a:p>
          <a:p>
            <a:pPr indent="-273050" lvl="0" marL="273050" marR="0" rtl="0" algn="l">
              <a:lnSpc>
                <a:spcPct val="100000"/>
              </a:lnSpc>
              <a:spcBef>
                <a:spcPts val="400"/>
              </a:spcBef>
              <a:spcAft>
                <a:spcPts val="0"/>
              </a:spcAft>
              <a:buClr>
                <a:srgbClr val="0BD0D9"/>
              </a:buClr>
              <a:buSzPts val="1900"/>
              <a:buFont typeface="Noto Sans Symbols"/>
              <a:buChar char="⚫"/>
            </a:pPr>
            <a:r>
              <a:rPr b="1" i="0" lang="en-US" sz="2000" u="none" cap="none" strike="noStrike">
                <a:solidFill>
                  <a:schemeClr val="dk1"/>
                </a:solidFill>
                <a:latin typeface="Constantia"/>
                <a:ea typeface="Constantia"/>
                <a:cs typeface="Constantia"/>
                <a:sym typeface="Constantia"/>
              </a:rPr>
              <a:t>Các loại hình bảo lãnh</a:t>
            </a:r>
            <a:r>
              <a:rPr b="0" i="0" lang="en-US" sz="2000" u="none" cap="none" strike="noStrike">
                <a:solidFill>
                  <a:schemeClr val="dk1"/>
                </a:solidFill>
                <a:latin typeface="Constantia"/>
                <a:ea typeface="Constantia"/>
                <a:cs typeface="Constantia"/>
                <a:sym typeface="Constantia"/>
              </a:rPr>
              <a:t>: Cam kết chắc chắn, nỗ lực tối đa, 1 phần hoặc tất cả, v,v. </a:t>
            </a:r>
            <a:endParaRPr/>
          </a:p>
          <a:p>
            <a:pPr indent="-152400" lvl="0" marL="273050" marR="0" rtl="0" algn="l">
              <a:spcBef>
                <a:spcPts val="400"/>
              </a:spcBef>
              <a:spcAft>
                <a:spcPts val="0"/>
              </a:spcAft>
              <a:buClr>
                <a:srgbClr val="0BD0D9"/>
              </a:buClr>
              <a:buSzPts val="1900"/>
              <a:buFont typeface="Noto Sans Symbols"/>
              <a:buNone/>
            </a:pPr>
            <a:r>
              <a:t/>
            </a:r>
            <a:endParaRPr b="0" i="0" sz="2000" u="none">
              <a:solidFill>
                <a:schemeClr val="dk1"/>
              </a:solidFill>
              <a:latin typeface="Constantia"/>
              <a:ea typeface="Constantia"/>
              <a:cs typeface="Constantia"/>
              <a:sym typeface="Constantia"/>
            </a:endParaRPr>
          </a:p>
        </p:txBody>
      </p:sp>
      <p:sp>
        <p:nvSpPr>
          <p:cNvPr id="437" name="Google Shape;437;p21"/>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38" name="Google Shape;438;p21"/>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39" name="Google Shape;439;p21"/>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3" name="Shape 443"/>
        <p:cNvGrpSpPr/>
        <p:nvPr/>
      </p:nvGrpSpPr>
      <p:grpSpPr>
        <a:xfrm>
          <a:off x="0" y="0"/>
          <a:ext cx="0" cy="0"/>
          <a:chOff x="0" y="0"/>
          <a:chExt cx="0" cy="0"/>
        </a:xfrm>
      </p:grpSpPr>
      <p:sp>
        <p:nvSpPr>
          <p:cNvPr id="444" name="Google Shape;444;p22"/>
          <p:cNvSpPr txBox="1"/>
          <p:nvPr>
            <p:ph type="title"/>
          </p:nvPr>
        </p:nvSpPr>
        <p:spPr>
          <a:xfrm>
            <a:off x="1752600" y="15240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B. Hoạt động nghiệp vụ</a:t>
            </a:r>
            <a:endParaRPr/>
          </a:p>
        </p:txBody>
      </p:sp>
      <p:pic>
        <p:nvPicPr>
          <p:cNvPr id="445" name="Google Shape;445;p22"/>
          <p:cNvPicPr preferRelativeResize="0"/>
          <p:nvPr>
            <p:ph idx="1" type="body"/>
          </p:nvPr>
        </p:nvPicPr>
        <p:blipFill rotWithShape="1">
          <a:blip r:embed="rId3">
            <a:alphaModFix/>
          </a:blip>
          <a:srcRect b="0" l="0" r="0" t="0"/>
          <a:stretch/>
        </p:blipFill>
        <p:spPr>
          <a:xfrm>
            <a:off x="450850" y="1931987"/>
            <a:ext cx="8242300" cy="4395787"/>
          </a:xfrm>
          <a:prstGeom prst="rect">
            <a:avLst/>
          </a:prstGeom>
          <a:noFill/>
          <a:ln>
            <a:noFill/>
          </a:ln>
        </p:spPr>
      </p:pic>
      <p:sp>
        <p:nvSpPr>
          <p:cNvPr id="446" name="Google Shape;446;p22"/>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47" name="Google Shape;447;p22"/>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48" name="Google Shape;448;p22"/>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2" name="Shape 452"/>
        <p:cNvGrpSpPr/>
        <p:nvPr/>
      </p:nvGrpSpPr>
      <p:grpSpPr>
        <a:xfrm>
          <a:off x="0" y="0"/>
          <a:ext cx="0" cy="0"/>
          <a:chOff x="0" y="0"/>
          <a:chExt cx="0" cy="0"/>
        </a:xfrm>
      </p:grpSpPr>
      <p:sp>
        <p:nvSpPr>
          <p:cNvPr id="453" name="Google Shape;453;p23"/>
          <p:cNvSpPr txBox="1"/>
          <p:nvPr>
            <p:ph type="title"/>
          </p:nvPr>
        </p:nvSpPr>
        <p:spPr>
          <a:xfrm>
            <a:off x="1752600" y="15240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B. Hoạt động nghiệp vụ</a:t>
            </a:r>
            <a:endParaRPr/>
          </a:p>
        </p:txBody>
      </p:sp>
      <p:pic>
        <p:nvPicPr>
          <p:cNvPr id="454" name="Google Shape;454;p23"/>
          <p:cNvPicPr preferRelativeResize="0"/>
          <p:nvPr>
            <p:ph idx="1" type="body"/>
          </p:nvPr>
        </p:nvPicPr>
        <p:blipFill rotWithShape="1">
          <a:blip r:embed="rId3">
            <a:alphaModFix/>
          </a:blip>
          <a:srcRect b="0" l="0" r="0" t="0"/>
          <a:stretch/>
        </p:blipFill>
        <p:spPr>
          <a:xfrm>
            <a:off x="457200" y="1931987"/>
            <a:ext cx="8229600" cy="4395787"/>
          </a:xfrm>
          <a:prstGeom prst="rect">
            <a:avLst/>
          </a:prstGeom>
          <a:noFill/>
          <a:ln>
            <a:noFill/>
          </a:ln>
        </p:spPr>
      </p:pic>
      <p:sp>
        <p:nvSpPr>
          <p:cNvPr id="455" name="Google Shape;455;p23"/>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56" name="Google Shape;456;p23"/>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57" name="Google Shape;457;p23"/>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4"/>
          <p:cNvSpPr txBox="1"/>
          <p:nvPr>
            <p:ph type="title"/>
          </p:nvPr>
        </p:nvSpPr>
        <p:spPr>
          <a:xfrm>
            <a:off x="1676400" y="152400"/>
            <a:ext cx="70104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B. Hoạt động nghiệp vụ</a:t>
            </a:r>
            <a:endParaRPr/>
          </a:p>
        </p:txBody>
      </p:sp>
      <p:sp>
        <p:nvSpPr>
          <p:cNvPr id="463" name="Google Shape;463;p24"/>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BD0D9"/>
              </a:buClr>
              <a:buSzPts val="2470"/>
              <a:buFont typeface="Noto Sans Symbols"/>
              <a:buNone/>
            </a:pPr>
            <a:r>
              <a:rPr b="0" i="0" lang="en-US" sz="2600" u="none">
                <a:solidFill>
                  <a:schemeClr val="dk1"/>
                </a:solidFill>
                <a:latin typeface="Constantia"/>
                <a:ea typeface="Constantia"/>
                <a:cs typeface="Constantia"/>
                <a:sym typeface="Constantia"/>
              </a:rPr>
              <a:t>5. Nghiệp vụ kinh doanh chứng khoán phái sinh</a:t>
            </a:r>
            <a:endParaRPr/>
          </a:p>
          <a:p>
            <a:pPr indent="-273050" lvl="0" marL="273050" marR="0" rtl="0" algn="l">
              <a:lnSpc>
                <a:spcPct val="100000"/>
              </a:lnSpc>
              <a:spcBef>
                <a:spcPts val="360"/>
              </a:spcBef>
              <a:spcAft>
                <a:spcPts val="0"/>
              </a:spcAft>
              <a:buClr>
                <a:srgbClr val="0BD0D9"/>
              </a:buClr>
              <a:buSzPts val="1710"/>
              <a:buFont typeface="Noto Sans Symbols"/>
              <a:buChar char="⚫"/>
            </a:pPr>
            <a:r>
              <a:rPr b="0" i="0" lang="en-US" sz="1800" u="none">
                <a:solidFill>
                  <a:schemeClr val="dk1"/>
                </a:solidFill>
                <a:latin typeface="Constantia"/>
                <a:ea typeface="Constantia"/>
                <a:cs typeface="Constantia"/>
                <a:sym typeface="Constantia"/>
              </a:rPr>
              <a:t>Điều kiện: phải có 4 nghiệp vụ trên; vốn: VĐL/VCSH: trên 600 tỷ - là tự doanh ps; 250 tỷ - thực hiện tư vấn ps, combo tự doanh kèm tư vấn:800 tỷ trở lên  </a:t>
            </a:r>
            <a:endParaRPr/>
          </a:p>
          <a:p>
            <a:pPr indent="-273050" lvl="0" marL="273050" marR="0" rtl="0" algn="l">
              <a:lnSpc>
                <a:spcPct val="100000"/>
              </a:lnSpc>
              <a:spcBef>
                <a:spcPts val="360"/>
              </a:spcBef>
              <a:spcAft>
                <a:spcPts val="0"/>
              </a:spcAft>
              <a:buClr>
                <a:srgbClr val="0BD0D9"/>
              </a:buClr>
              <a:buSzPts val="1710"/>
              <a:buFont typeface="Noto Sans Symbols"/>
              <a:buChar char="⚫"/>
            </a:pPr>
            <a:r>
              <a:rPr b="0" i="0" lang="en-US" sz="1800" u="none">
                <a:solidFill>
                  <a:schemeClr val="dk1"/>
                </a:solidFill>
                <a:latin typeface="Constantia"/>
                <a:ea typeface="Constantia"/>
                <a:cs typeface="Constantia"/>
                <a:sym typeface="Constantia"/>
              </a:rPr>
              <a:t>Nhân sự: lãnh đạo phụ trách + 5 cchn ps/1 hoạt động.</a:t>
            </a:r>
            <a:endParaRPr/>
          </a:p>
          <a:p>
            <a:pPr indent="-164465" lvl="0" marL="273050" marR="0" rtl="0" algn="l">
              <a:spcBef>
                <a:spcPts val="360"/>
              </a:spcBef>
              <a:spcAft>
                <a:spcPts val="0"/>
              </a:spcAft>
              <a:buClr>
                <a:srgbClr val="0BD0D9"/>
              </a:buClr>
              <a:buSzPts val="1710"/>
              <a:buFont typeface="Noto Sans Symbols"/>
              <a:buNone/>
            </a:pPr>
            <a:r>
              <a:t/>
            </a:r>
            <a:endParaRPr b="0" i="0" sz="1800" u="none">
              <a:solidFill>
                <a:schemeClr val="dk1"/>
              </a:solidFill>
              <a:latin typeface="Constantia"/>
              <a:ea typeface="Constantia"/>
              <a:cs typeface="Constantia"/>
              <a:sym typeface="Constantia"/>
            </a:endParaRPr>
          </a:p>
        </p:txBody>
      </p:sp>
      <p:sp>
        <p:nvSpPr>
          <p:cNvPr id="464" name="Google Shape;464;p24"/>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65" name="Google Shape;465;p24"/>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66" name="Google Shape;466;p24"/>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0" name="Shape 470"/>
        <p:cNvGrpSpPr/>
        <p:nvPr/>
      </p:nvGrpSpPr>
      <p:grpSpPr>
        <a:xfrm>
          <a:off x="0" y="0"/>
          <a:ext cx="0" cy="0"/>
          <a:chOff x="0" y="0"/>
          <a:chExt cx="0" cy="0"/>
        </a:xfrm>
      </p:grpSpPr>
      <p:sp>
        <p:nvSpPr>
          <p:cNvPr id="471" name="Google Shape;471;p25"/>
          <p:cNvSpPr txBox="1"/>
          <p:nvPr>
            <p:ph type="title"/>
          </p:nvPr>
        </p:nvSpPr>
        <p:spPr>
          <a:xfrm>
            <a:off x="1676400" y="152400"/>
            <a:ext cx="70104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B. Hoạt động nghiệp vụ</a:t>
            </a:r>
            <a:endParaRPr/>
          </a:p>
        </p:txBody>
      </p:sp>
      <p:sp>
        <p:nvSpPr>
          <p:cNvPr id="472" name="Google Shape;472;p25"/>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BD0D9"/>
              </a:buClr>
              <a:buSzPts val="2470"/>
              <a:buFont typeface="Noto Sans Symbols"/>
              <a:buNone/>
            </a:pPr>
            <a:r>
              <a:rPr b="0" i="0" lang="en-US" sz="2600" u="none">
                <a:solidFill>
                  <a:schemeClr val="dk1"/>
                </a:solidFill>
                <a:latin typeface="Constantia"/>
                <a:ea typeface="Constantia"/>
                <a:cs typeface="Constantia"/>
                <a:sym typeface="Constantia"/>
              </a:rPr>
              <a:t>6. Hoạt động tư vấn tài chính</a:t>
            </a:r>
            <a:endParaRPr/>
          </a:p>
          <a:p>
            <a:pPr indent="-273050" lvl="0" marL="273050" marR="0" rtl="0" algn="l">
              <a:lnSpc>
                <a:spcPct val="100000"/>
              </a:lnSpc>
              <a:spcBef>
                <a:spcPts val="360"/>
              </a:spcBef>
              <a:spcAft>
                <a:spcPts val="0"/>
              </a:spcAft>
              <a:buClr>
                <a:srgbClr val="0BD0D9"/>
              </a:buClr>
              <a:buSzPts val="1710"/>
              <a:buFont typeface="Noto Sans Symbols"/>
              <a:buChar char="⚫"/>
            </a:pPr>
            <a:r>
              <a:rPr b="0" i="0" lang="en-US" sz="1800" u="none">
                <a:solidFill>
                  <a:schemeClr val="dk1"/>
                </a:solidFill>
                <a:latin typeface="Constantia"/>
                <a:ea typeface="Constantia"/>
                <a:cs typeface="Constantia"/>
                <a:sym typeface="Constantia"/>
              </a:rPr>
              <a:t>Tư vấn quản trị, tư vấn chiến lược Dn</a:t>
            </a:r>
            <a:endParaRPr/>
          </a:p>
          <a:p>
            <a:pPr indent="-273050" lvl="0" marL="273050" marR="0" rtl="0" algn="l">
              <a:lnSpc>
                <a:spcPct val="100000"/>
              </a:lnSpc>
              <a:spcBef>
                <a:spcPts val="360"/>
              </a:spcBef>
              <a:spcAft>
                <a:spcPts val="0"/>
              </a:spcAft>
              <a:buClr>
                <a:srgbClr val="0BD0D9"/>
              </a:buClr>
              <a:buSzPts val="1710"/>
              <a:buFont typeface="Noto Sans Symbols"/>
              <a:buChar char="⚫"/>
            </a:pPr>
            <a:r>
              <a:rPr b="0" i="0" lang="en-US" sz="1800" u="none">
                <a:solidFill>
                  <a:schemeClr val="dk1"/>
                </a:solidFill>
                <a:latin typeface="Constantia"/>
                <a:ea typeface="Constantia"/>
                <a:cs typeface="Constantia"/>
                <a:sym typeface="Constantia"/>
              </a:rPr>
              <a:t>Tái cơ cấu TCDN, M&amp;A, Quản trị công ty cổ phần;</a:t>
            </a:r>
            <a:endParaRPr/>
          </a:p>
          <a:p>
            <a:pPr indent="-273050" lvl="0" marL="273050" marR="0" rtl="0" algn="l">
              <a:lnSpc>
                <a:spcPct val="100000"/>
              </a:lnSpc>
              <a:spcBef>
                <a:spcPts val="360"/>
              </a:spcBef>
              <a:spcAft>
                <a:spcPts val="0"/>
              </a:spcAft>
              <a:buClr>
                <a:srgbClr val="0BD0D9"/>
              </a:buClr>
              <a:buSzPts val="1710"/>
              <a:buFont typeface="Noto Sans Symbols"/>
              <a:buChar char="⚫"/>
            </a:pPr>
            <a:r>
              <a:rPr b="0" i="0" lang="en-US" sz="1800" u="none">
                <a:solidFill>
                  <a:schemeClr val="dk1"/>
                </a:solidFill>
                <a:latin typeface="Constantia"/>
                <a:ea typeface="Constantia"/>
                <a:cs typeface="Constantia"/>
                <a:sym typeface="Constantia"/>
              </a:rPr>
              <a:t>chào bán, niêm yết</a:t>
            </a:r>
            <a:endParaRPr/>
          </a:p>
          <a:p>
            <a:pPr indent="-273050" lvl="0" marL="273050" marR="0" rtl="0" algn="l">
              <a:lnSpc>
                <a:spcPct val="100000"/>
              </a:lnSpc>
              <a:spcBef>
                <a:spcPts val="360"/>
              </a:spcBef>
              <a:spcAft>
                <a:spcPts val="0"/>
              </a:spcAft>
              <a:buClr>
                <a:srgbClr val="0BD0D9"/>
              </a:buClr>
              <a:buSzPts val="1710"/>
              <a:buFont typeface="Noto Sans Symbols"/>
              <a:buChar char="⚫"/>
            </a:pPr>
            <a:r>
              <a:rPr b="0" i="0" lang="en-US" sz="1800" u="none">
                <a:solidFill>
                  <a:schemeClr val="dk1"/>
                </a:solidFill>
                <a:latin typeface="Constantia"/>
                <a:ea typeface="Constantia"/>
                <a:cs typeface="Constantia"/>
                <a:sym typeface="Constantia"/>
              </a:rPr>
              <a:t>CPH, xác định giá trị DN</a:t>
            </a:r>
            <a:endParaRPr/>
          </a:p>
          <a:p>
            <a:pPr indent="-273050" lvl="0" marL="273050" marR="0" rtl="0" algn="l">
              <a:lnSpc>
                <a:spcPct val="100000"/>
              </a:lnSpc>
              <a:spcBef>
                <a:spcPts val="360"/>
              </a:spcBef>
              <a:spcAft>
                <a:spcPts val="0"/>
              </a:spcAft>
              <a:buClr>
                <a:srgbClr val="0BD0D9"/>
              </a:buClr>
              <a:buSzPts val="1710"/>
              <a:buFont typeface="Noto Sans Symbols"/>
              <a:buChar char="⚫"/>
            </a:pPr>
            <a:r>
              <a:rPr b="0" i="0" lang="en-US" sz="1800" u="none">
                <a:solidFill>
                  <a:schemeClr val="dk1"/>
                </a:solidFill>
                <a:latin typeface="Constantia"/>
                <a:ea typeface="Constantia"/>
                <a:cs typeface="Constantia"/>
                <a:sym typeface="Constantia"/>
              </a:rPr>
              <a:t>Khác theo luật pháp.</a:t>
            </a:r>
            <a:endParaRPr/>
          </a:p>
          <a:p>
            <a:pPr indent="-164465" lvl="0" marL="273050" marR="0" rtl="0" algn="l">
              <a:spcBef>
                <a:spcPts val="360"/>
              </a:spcBef>
              <a:spcAft>
                <a:spcPts val="0"/>
              </a:spcAft>
              <a:buClr>
                <a:srgbClr val="0BD0D9"/>
              </a:buClr>
              <a:buSzPts val="1710"/>
              <a:buFont typeface="Noto Sans Symbols"/>
              <a:buNone/>
            </a:pPr>
            <a:r>
              <a:t/>
            </a:r>
            <a:endParaRPr b="0" i="0" sz="1800" u="none">
              <a:solidFill>
                <a:schemeClr val="dk1"/>
              </a:solidFill>
              <a:latin typeface="Constantia"/>
              <a:ea typeface="Constantia"/>
              <a:cs typeface="Constantia"/>
              <a:sym typeface="Constantia"/>
            </a:endParaRPr>
          </a:p>
        </p:txBody>
      </p:sp>
      <p:sp>
        <p:nvSpPr>
          <p:cNvPr id="473" name="Google Shape;473;p25"/>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74" name="Google Shape;474;p25"/>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75" name="Google Shape;475;p25"/>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9" name="Shape 479"/>
        <p:cNvGrpSpPr/>
        <p:nvPr/>
      </p:nvGrpSpPr>
      <p:grpSpPr>
        <a:xfrm>
          <a:off x="0" y="0"/>
          <a:ext cx="0" cy="0"/>
          <a:chOff x="0" y="0"/>
          <a:chExt cx="0" cy="0"/>
        </a:xfrm>
      </p:grpSpPr>
      <p:sp>
        <p:nvSpPr>
          <p:cNvPr id="480" name="Google Shape;480;p26"/>
          <p:cNvSpPr txBox="1"/>
          <p:nvPr>
            <p:ph type="title"/>
          </p:nvPr>
        </p:nvSpPr>
        <p:spPr>
          <a:xfrm>
            <a:off x="1752600" y="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B. Hoạt động nghiệp vụ</a:t>
            </a:r>
            <a:endParaRPr/>
          </a:p>
        </p:txBody>
      </p:sp>
      <p:pic>
        <p:nvPicPr>
          <p:cNvPr id="481" name="Google Shape;481;p26"/>
          <p:cNvPicPr preferRelativeResize="0"/>
          <p:nvPr>
            <p:ph idx="1" type="body"/>
          </p:nvPr>
        </p:nvPicPr>
        <p:blipFill rotWithShape="1">
          <a:blip r:embed="rId3">
            <a:alphaModFix/>
          </a:blip>
          <a:srcRect b="0" l="0" r="0" t="0"/>
          <a:stretch/>
        </p:blipFill>
        <p:spPr>
          <a:xfrm>
            <a:off x="311150" y="1603375"/>
            <a:ext cx="8339137" cy="4389437"/>
          </a:xfrm>
          <a:prstGeom prst="rect">
            <a:avLst/>
          </a:prstGeom>
          <a:noFill/>
          <a:ln>
            <a:noFill/>
          </a:ln>
        </p:spPr>
      </p:pic>
      <p:sp>
        <p:nvSpPr>
          <p:cNvPr id="482" name="Google Shape;482;p26"/>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83" name="Google Shape;483;p26"/>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84" name="Google Shape;484;p26"/>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8" name="Shape 488"/>
        <p:cNvGrpSpPr/>
        <p:nvPr/>
      </p:nvGrpSpPr>
      <p:grpSpPr>
        <a:xfrm>
          <a:off x="0" y="0"/>
          <a:ext cx="0" cy="0"/>
          <a:chOff x="0" y="0"/>
          <a:chExt cx="0" cy="0"/>
        </a:xfrm>
      </p:grpSpPr>
      <p:sp>
        <p:nvSpPr>
          <p:cNvPr id="489" name="Google Shape;489;p27"/>
          <p:cNvSpPr txBox="1"/>
          <p:nvPr>
            <p:ph type="title"/>
          </p:nvPr>
        </p:nvSpPr>
        <p:spPr>
          <a:xfrm>
            <a:off x="1752600" y="0"/>
            <a:ext cx="6934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B. Hoạt động nghiệp vụ</a:t>
            </a:r>
            <a:endParaRPr/>
          </a:p>
        </p:txBody>
      </p:sp>
      <p:sp>
        <p:nvSpPr>
          <p:cNvPr id="490" name="Google Shape;490;p27"/>
          <p:cNvSpPr txBox="1"/>
          <p:nvPr>
            <p:ph idx="1" type="body"/>
          </p:nvPr>
        </p:nvSpPr>
        <p:spPr>
          <a:xfrm>
            <a:off x="533400" y="1600200"/>
            <a:ext cx="8229600" cy="4389437"/>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BD0D9"/>
              </a:buClr>
              <a:buSzPts val="2470"/>
              <a:buFont typeface="Noto Sans Symbols"/>
              <a:buNone/>
            </a:pPr>
            <a:r>
              <a:rPr b="0" i="0" lang="en-US" sz="2600" u="none">
                <a:solidFill>
                  <a:schemeClr val="dk1"/>
                </a:solidFill>
                <a:latin typeface="Constantia"/>
                <a:ea typeface="Constantia"/>
                <a:cs typeface="Constantia"/>
                <a:sym typeface="Constantia"/>
              </a:rPr>
              <a:t>7. Hoạt động khác</a:t>
            </a:r>
            <a:endParaRPr b="0" i="0" sz="1800" u="none">
              <a:solidFill>
                <a:schemeClr val="dk1"/>
              </a:solidFill>
              <a:latin typeface="Constantia"/>
              <a:ea typeface="Constantia"/>
              <a:cs typeface="Constantia"/>
              <a:sym typeface="Constantia"/>
            </a:endParaRPr>
          </a:p>
          <a:p>
            <a:pPr indent="-273050" lvl="0" marL="273050" marR="0" rtl="0" algn="l">
              <a:lnSpc>
                <a:spcPct val="100000"/>
              </a:lnSpc>
              <a:spcBef>
                <a:spcPts val="360"/>
              </a:spcBef>
              <a:spcAft>
                <a:spcPts val="0"/>
              </a:spcAft>
              <a:buClr>
                <a:srgbClr val="0BD0D9"/>
              </a:buClr>
              <a:buSzPts val="1710"/>
              <a:buFont typeface="Noto Sans Symbols"/>
              <a:buChar char="⚫"/>
            </a:pPr>
            <a:r>
              <a:rPr b="1" i="0" lang="en-US" sz="1800" u="none">
                <a:solidFill>
                  <a:schemeClr val="dk1"/>
                </a:solidFill>
                <a:latin typeface="Constantia"/>
                <a:ea typeface="Constantia"/>
                <a:cs typeface="Constantia"/>
                <a:sym typeface="Constantia"/>
              </a:rPr>
              <a:t>Lưu ký chứng khoán: </a:t>
            </a:r>
            <a:endParaRPr/>
          </a:p>
          <a:p>
            <a:pPr indent="-273050" lvl="0" marL="273050" marR="0" rtl="0" algn="l">
              <a:lnSpc>
                <a:spcPct val="100000"/>
              </a:lnSpc>
              <a:spcBef>
                <a:spcPts val="360"/>
              </a:spcBef>
              <a:spcAft>
                <a:spcPts val="0"/>
              </a:spcAft>
              <a:buClr>
                <a:srgbClr val="0BD0D9"/>
              </a:buClr>
              <a:buSzPts val="1710"/>
              <a:buFont typeface="Noto Sans Symbols"/>
              <a:buNone/>
            </a:pPr>
            <a:r>
              <a:rPr b="0" i="0" lang="en-US" sz="1800" u="none">
                <a:solidFill>
                  <a:schemeClr val="dk1"/>
                </a:solidFill>
                <a:latin typeface="Constantia"/>
                <a:ea typeface="Constantia"/>
                <a:cs typeface="Constantia"/>
                <a:sym typeface="Constantia"/>
              </a:rPr>
              <a:t>	+ Là việc nhận ký gửi, bảo quản, chuyển giao chứng khoán cho khách hàng, giúp khách hàng thực hiện các quyền liên quan đến sở hữu CK. </a:t>
            </a:r>
            <a:endParaRPr/>
          </a:p>
          <a:p>
            <a:pPr indent="-273050" lvl="0" marL="273050" marR="0" rtl="0" algn="l">
              <a:lnSpc>
                <a:spcPct val="100000"/>
              </a:lnSpc>
              <a:spcBef>
                <a:spcPts val="360"/>
              </a:spcBef>
              <a:spcAft>
                <a:spcPts val="0"/>
              </a:spcAft>
              <a:buClr>
                <a:srgbClr val="0BD0D9"/>
              </a:buClr>
              <a:buSzPts val="1710"/>
              <a:buFont typeface="Noto Sans Symbols"/>
              <a:buNone/>
            </a:pPr>
            <a:r>
              <a:rPr b="0" i="0" lang="en-US" sz="1800" u="none">
                <a:solidFill>
                  <a:schemeClr val="dk1"/>
                </a:solidFill>
                <a:latin typeface="Constantia"/>
                <a:ea typeface="Constantia"/>
                <a:cs typeface="Constantia"/>
                <a:sym typeface="Constantia"/>
              </a:rPr>
              <a:t>	+ Mỗi khách hàng có chỉ được phép có một TK lưu ký, TK lưu khách hàng phải tách bạch với TK lưu ký công ty. </a:t>
            </a:r>
            <a:endParaRPr/>
          </a:p>
          <a:p>
            <a:pPr indent="-273050" lvl="0" marL="273050" marR="0" rtl="0" algn="l">
              <a:lnSpc>
                <a:spcPct val="100000"/>
              </a:lnSpc>
              <a:spcBef>
                <a:spcPts val="360"/>
              </a:spcBef>
              <a:spcAft>
                <a:spcPts val="0"/>
              </a:spcAft>
              <a:buClr>
                <a:srgbClr val="0BD0D9"/>
              </a:buClr>
              <a:buSzPts val="1710"/>
              <a:buFont typeface="Noto Sans Symbols"/>
              <a:buNone/>
            </a:pPr>
            <a:r>
              <a:rPr b="0" i="0" lang="en-US" sz="1800" u="none">
                <a:solidFill>
                  <a:schemeClr val="dk1"/>
                </a:solidFill>
                <a:latin typeface="Constantia"/>
                <a:ea typeface="Constantia"/>
                <a:cs typeface="Constantia"/>
                <a:sym typeface="Constantia"/>
              </a:rPr>
              <a:t>	+ CTCK không được sử dụng TK LK của khách hàng để phục vụ cho mình hoặc bên thứ ba.</a:t>
            </a:r>
            <a:endParaRPr/>
          </a:p>
          <a:p>
            <a:pPr indent="-273050" lvl="0" marL="273050" marR="0" rtl="0" algn="l">
              <a:lnSpc>
                <a:spcPct val="100000"/>
              </a:lnSpc>
              <a:spcBef>
                <a:spcPts val="360"/>
              </a:spcBef>
              <a:spcAft>
                <a:spcPts val="0"/>
              </a:spcAft>
              <a:buClr>
                <a:srgbClr val="0BD0D9"/>
              </a:buClr>
              <a:buSzPts val="1710"/>
              <a:buFont typeface="Noto Sans Symbols"/>
              <a:buChar char="⚫"/>
            </a:pPr>
            <a:r>
              <a:rPr b="1" i="0" lang="en-US" sz="1800" u="none">
                <a:solidFill>
                  <a:schemeClr val="dk1"/>
                </a:solidFill>
                <a:latin typeface="Constantia"/>
                <a:ea typeface="Constantia"/>
                <a:cs typeface="Constantia"/>
                <a:sym typeface="Constantia"/>
              </a:rPr>
              <a:t>Đăng ký chứng khoán</a:t>
            </a:r>
            <a:r>
              <a:rPr b="0" i="0" lang="en-US" sz="1800" u="none">
                <a:solidFill>
                  <a:schemeClr val="dk1"/>
                </a:solidFill>
                <a:latin typeface="Constantia"/>
                <a:ea typeface="Constantia"/>
                <a:cs typeface="Constantia"/>
                <a:sym typeface="Constantia"/>
              </a:rPr>
              <a:t>: việc ghi nhận quyền sở hữu và các quyền khác của  người sở CK. </a:t>
            </a:r>
            <a:endParaRPr/>
          </a:p>
          <a:p>
            <a:pPr indent="-273050" lvl="0" marL="273050" marR="0" rtl="0" algn="l">
              <a:lnSpc>
                <a:spcPct val="100000"/>
              </a:lnSpc>
              <a:spcBef>
                <a:spcPts val="360"/>
              </a:spcBef>
              <a:spcAft>
                <a:spcPts val="0"/>
              </a:spcAft>
              <a:buClr>
                <a:srgbClr val="0BD0D9"/>
              </a:buClr>
              <a:buSzPts val="1710"/>
              <a:buFont typeface="Noto Sans Symbols"/>
              <a:buChar char="⚫"/>
            </a:pPr>
            <a:r>
              <a:rPr b="1" i="0" lang="en-US" sz="1800" u="none">
                <a:solidFill>
                  <a:schemeClr val="dk1"/>
                </a:solidFill>
                <a:latin typeface="Constantia"/>
                <a:ea typeface="Constantia"/>
                <a:cs typeface="Constantia"/>
                <a:sym typeface="Constantia"/>
              </a:rPr>
              <a:t>Ủy thác QLTK GDCK: </a:t>
            </a:r>
            <a:r>
              <a:rPr b="0" i="0" lang="en-US" sz="1800" u="none">
                <a:solidFill>
                  <a:schemeClr val="dk1"/>
                </a:solidFill>
                <a:latin typeface="Constantia"/>
                <a:ea typeface="Constantia"/>
                <a:cs typeface="Constantia"/>
                <a:sym typeface="Constantia"/>
              </a:rPr>
              <a:t>phải có đ. thời NV MGCK + TVĐTCK và phải có HĐ ủy thác giới hạn; chỉ CKNY, CCHN PTTC-Quỹ</a:t>
            </a:r>
            <a:endParaRPr/>
          </a:p>
          <a:p>
            <a:pPr indent="-273050" lvl="0" marL="273050" marR="0" rtl="0" algn="l">
              <a:lnSpc>
                <a:spcPct val="100000"/>
              </a:lnSpc>
              <a:spcBef>
                <a:spcPts val="360"/>
              </a:spcBef>
              <a:spcAft>
                <a:spcPts val="0"/>
              </a:spcAft>
              <a:buClr>
                <a:srgbClr val="0BD0D9"/>
              </a:buClr>
              <a:buSzPts val="1710"/>
              <a:buFont typeface="Noto Sans Symbols"/>
              <a:buChar char="⚫"/>
            </a:pPr>
            <a:r>
              <a:rPr b="1" i="0" lang="en-US" sz="1800" u="none">
                <a:solidFill>
                  <a:schemeClr val="dk1"/>
                </a:solidFill>
                <a:latin typeface="Constantia"/>
                <a:ea typeface="Constantia"/>
                <a:cs typeface="Constantia"/>
                <a:sym typeface="Constantia"/>
              </a:rPr>
              <a:t>Cho vay tiền, ứng tiền trước, Repo CK</a:t>
            </a:r>
            <a:endParaRPr/>
          </a:p>
          <a:p>
            <a:pPr indent="-273050" lvl="0" marL="273050" marR="0" rtl="0" algn="l">
              <a:lnSpc>
                <a:spcPct val="100000"/>
              </a:lnSpc>
              <a:spcBef>
                <a:spcPts val="360"/>
              </a:spcBef>
              <a:spcAft>
                <a:spcPts val="0"/>
              </a:spcAft>
              <a:buClr>
                <a:srgbClr val="0BD0D9"/>
              </a:buClr>
              <a:buSzPts val="1710"/>
              <a:buFont typeface="Noto Sans Symbols"/>
              <a:buChar char="⚫"/>
            </a:pPr>
            <a:r>
              <a:rPr b="1" i="0" lang="en-US" sz="1800" u="none">
                <a:solidFill>
                  <a:schemeClr val="dk1"/>
                </a:solidFill>
                <a:latin typeface="Constantia"/>
                <a:ea typeface="Constantia"/>
                <a:cs typeface="Constantia"/>
                <a:sym typeface="Constantia"/>
              </a:rPr>
              <a:t>Hoạt động CW, tư vấn quản lý giá ….</a:t>
            </a:r>
            <a:endParaRPr b="0" i="0" sz="1800" u="none">
              <a:solidFill>
                <a:schemeClr val="dk1"/>
              </a:solidFill>
              <a:latin typeface="Constantia"/>
              <a:ea typeface="Constantia"/>
              <a:cs typeface="Constantia"/>
              <a:sym typeface="Constantia"/>
            </a:endParaRPr>
          </a:p>
          <a:p>
            <a:pPr indent="-164465" lvl="0" marL="273050" marR="0" rtl="0" algn="l">
              <a:spcBef>
                <a:spcPts val="360"/>
              </a:spcBef>
              <a:spcAft>
                <a:spcPts val="0"/>
              </a:spcAft>
              <a:buClr>
                <a:srgbClr val="0BD0D9"/>
              </a:buClr>
              <a:buSzPts val="1710"/>
              <a:buFont typeface="Noto Sans Symbols"/>
              <a:buNone/>
            </a:pPr>
            <a:r>
              <a:t/>
            </a:r>
            <a:endParaRPr b="0" i="0" sz="1800" u="none">
              <a:solidFill>
                <a:schemeClr val="dk1"/>
              </a:solidFill>
              <a:latin typeface="Constantia"/>
              <a:ea typeface="Constantia"/>
              <a:cs typeface="Constantia"/>
              <a:sym typeface="Constantia"/>
            </a:endParaRPr>
          </a:p>
        </p:txBody>
      </p:sp>
      <p:sp>
        <p:nvSpPr>
          <p:cNvPr id="491" name="Google Shape;491;p27"/>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492" name="Google Shape;492;p27"/>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493" name="Google Shape;493;p27"/>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7" name="Shape 497"/>
        <p:cNvGrpSpPr/>
        <p:nvPr/>
      </p:nvGrpSpPr>
      <p:grpSpPr>
        <a:xfrm>
          <a:off x="0" y="0"/>
          <a:ext cx="0" cy="0"/>
          <a:chOff x="0" y="0"/>
          <a:chExt cx="0" cy="0"/>
        </a:xfrm>
      </p:grpSpPr>
      <p:sp>
        <p:nvSpPr>
          <p:cNvPr id="498" name="Google Shape;498;p28"/>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p>
            <a:pPr indent="0" lvl="0" marL="0" rtl="0" algn="ctr">
              <a:lnSpc>
                <a:spcPct val="100000"/>
              </a:lnSpc>
              <a:spcBef>
                <a:spcPts val="0"/>
              </a:spcBef>
              <a:spcAft>
                <a:spcPts val="0"/>
              </a:spcAft>
              <a:buClr>
                <a:schemeClr val="dk2"/>
              </a:buClr>
              <a:buSzPts val="2400"/>
              <a:buFont typeface="Times New Roman"/>
              <a:buNone/>
            </a:pPr>
            <a:r>
              <a:rPr b="1" i="0" lang="en-US" sz="2400" u="none">
                <a:solidFill>
                  <a:schemeClr val="dk2"/>
                </a:solidFill>
                <a:latin typeface="Times New Roman"/>
                <a:ea typeface="Times New Roman"/>
                <a:cs typeface="Times New Roman"/>
                <a:sym typeface="Times New Roman"/>
              </a:rPr>
              <a:t>Phần thảo luận</a:t>
            </a:r>
            <a:endParaRPr/>
          </a:p>
        </p:txBody>
      </p:sp>
      <p:sp>
        <p:nvSpPr>
          <p:cNvPr id="499" name="Google Shape;499;p28"/>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457200" lvl="1" marL="914400" marR="0" rtl="0" algn="l">
              <a:lnSpc>
                <a:spcPct val="100000"/>
              </a:lnSpc>
              <a:spcBef>
                <a:spcPts val="0"/>
              </a:spcBef>
              <a:spcAft>
                <a:spcPts val="0"/>
              </a:spcAft>
              <a:buClr>
                <a:schemeClr val="accent1"/>
              </a:buClr>
              <a:buSzPts val="23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104140" lvl="0" marL="273050" marR="0" rtl="0" algn="l">
              <a:spcBef>
                <a:spcPts val="560"/>
              </a:spcBef>
              <a:spcAft>
                <a:spcPts val="0"/>
              </a:spcAft>
              <a:buClr>
                <a:srgbClr val="0BD0D9"/>
              </a:buClr>
              <a:buSzPts val="266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500" name="Google Shape;500;p28"/>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501" name="Google Shape;501;p28"/>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502" name="Google Shape;502;p28"/>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pic>
        <p:nvPicPr>
          <p:cNvPr descr="C:\Program Files\Microsoft Office\MEDIA\CAGCAT10\j0233018.wmf" id="503" name="Google Shape;503;p28"/>
          <p:cNvPicPr preferRelativeResize="0"/>
          <p:nvPr/>
        </p:nvPicPr>
        <p:blipFill rotWithShape="1">
          <a:blip r:embed="rId3">
            <a:alphaModFix/>
          </a:blip>
          <a:srcRect b="0" l="0" r="0" t="0"/>
          <a:stretch/>
        </p:blipFill>
        <p:spPr>
          <a:xfrm>
            <a:off x="1600200" y="3124200"/>
            <a:ext cx="5257800" cy="2514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7" name="Shape 507"/>
        <p:cNvGrpSpPr/>
        <p:nvPr/>
      </p:nvGrpSpPr>
      <p:grpSpPr>
        <a:xfrm>
          <a:off x="0" y="0"/>
          <a:ext cx="0" cy="0"/>
          <a:chOff x="0" y="0"/>
          <a:chExt cx="0" cy="0"/>
        </a:xfrm>
      </p:grpSpPr>
      <p:sp>
        <p:nvSpPr>
          <p:cNvPr id="508" name="Google Shape;508;p29"/>
          <p:cNvSpPr txBox="1"/>
          <p:nvPr>
            <p:ph type="title"/>
          </p:nvPr>
        </p:nvSpPr>
        <p:spPr>
          <a:xfrm>
            <a:off x="1828800" y="152400"/>
            <a:ext cx="70104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CÔNG TY CHỨNG KHOÁN</a:t>
            </a:r>
            <a:br>
              <a:rPr b="0" i="0" lang="en-US" sz="2800" u="none">
                <a:solidFill>
                  <a:schemeClr val="dk2"/>
                </a:solidFill>
                <a:latin typeface="Times New Roman"/>
                <a:ea typeface="Times New Roman"/>
                <a:cs typeface="Times New Roman"/>
                <a:sym typeface="Times New Roman"/>
              </a:rPr>
            </a:br>
            <a:r>
              <a:rPr b="0" i="0" lang="en-US" sz="2800" u="none">
                <a:solidFill>
                  <a:schemeClr val="dk2"/>
                </a:solidFill>
                <a:latin typeface="Times New Roman"/>
                <a:ea typeface="Times New Roman"/>
                <a:cs typeface="Times New Roman"/>
                <a:sym typeface="Times New Roman"/>
              </a:rPr>
              <a:t>C. </a:t>
            </a:r>
            <a:r>
              <a:rPr b="1" i="0" lang="en-US" sz="2800" u="none">
                <a:solidFill>
                  <a:schemeClr val="dk2"/>
                </a:solidFill>
                <a:latin typeface="Times New Roman"/>
                <a:ea typeface="Times New Roman"/>
                <a:cs typeface="Times New Roman"/>
                <a:sym typeface="Times New Roman"/>
              </a:rPr>
              <a:t>Bài tập cá nhân</a:t>
            </a:r>
            <a:endParaRPr/>
          </a:p>
        </p:txBody>
      </p:sp>
      <p:sp>
        <p:nvSpPr>
          <p:cNvPr id="509" name="Google Shape;509;p29"/>
          <p:cNvSpPr txBox="1"/>
          <p:nvPr>
            <p:ph idx="1" type="body"/>
          </p:nvPr>
        </p:nvSpPr>
        <p:spPr>
          <a:xfrm>
            <a:off x="533400" y="1676400"/>
            <a:ext cx="8229600" cy="438943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BD0D9"/>
              </a:buClr>
              <a:buSzPts val="1900"/>
              <a:buFont typeface="Calibri"/>
              <a:buAutoNum type="arabicPeriod"/>
            </a:pPr>
            <a:r>
              <a:rPr b="0" i="0" lang="en-US" sz="2000" u="none">
                <a:solidFill>
                  <a:schemeClr val="dk1"/>
                </a:solidFill>
                <a:latin typeface="Constantia"/>
                <a:ea typeface="Constantia"/>
                <a:cs typeface="Constantia"/>
                <a:sym typeface="Constantia"/>
              </a:rPr>
              <a:t>Trình bày các mô hình tổ chức kinh doanh chứng khoán. Việt Nam đang áp dụng mô hình nào? Tại sao?</a:t>
            </a:r>
            <a:endParaRPr/>
          </a:p>
          <a:p>
            <a:pPr indent="-457200" lvl="0" marL="457200" marR="0" rtl="0" algn="l">
              <a:lnSpc>
                <a:spcPct val="100000"/>
              </a:lnSpc>
              <a:spcBef>
                <a:spcPts val="400"/>
              </a:spcBef>
              <a:spcAft>
                <a:spcPts val="0"/>
              </a:spcAft>
              <a:buClr>
                <a:srgbClr val="0BD0D9"/>
              </a:buClr>
              <a:buSzPts val="1900"/>
              <a:buFont typeface="Calibri"/>
              <a:buAutoNum type="arabicPeriod"/>
            </a:pPr>
            <a:r>
              <a:rPr b="0" i="0" lang="en-US" sz="2000" u="none">
                <a:solidFill>
                  <a:schemeClr val="dk1"/>
                </a:solidFill>
                <a:latin typeface="Constantia"/>
                <a:ea typeface="Constantia"/>
                <a:cs typeface="Constantia"/>
                <a:sym typeface="Constantia"/>
              </a:rPr>
              <a:t>Các loại hình tổ chức của công ty chứng khoán. Liên hệ thực tiễn Việt Nam?</a:t>
            </a:r>
            <a:endParaRPr/>
          </a:p>
          <a:p>
            <a:pPr indent="-457200" lvl="0" marL="457200" marR="0" rtl="0" algn="l">
              <a:lnSpc>
                <a:spcPct val="100000"/>
              </a:lnSpc>
              <a:spcBef>
                <a:spcPts val="400"/>
              </a:spcBef>
              <a:spcAft>
                <a:spcPts val="0"/>
              </a:spcAft>
              <a:buClr>
                <a:srgbClr val="0BD0D9"/>
              </a:buClr>
              <a:buSzPts val="1900"/>
              <a:buFont typeface="Calibri"/>
              <a:buAutoNum type="arabicPeriod"/>
            </a:pPr>
            <a:r>
              <a:rPr b="0" i="0" lang="en-US" sz="2000" u="none">
                <a:solidFill>
                  <a:schemeClr val="dk1"/>
                </a:solidFill>
                <a:latin typeface="Constantia"/>
                <a:ea typeface="Constantia"/>
                <a:cs typeface="Constantia"/>
                <a:sym typeface="Constantia"/>
              </a:rPr>
              <a:t>Bình luận về điều kiện và thủ tục thành lập CTCK Vn hiện nay?</a:t>
            </a:r>
            <a:endParaRPr/>
          </a:p>
          <a:p>
            <a:pPr indent="-457200" lvl="0" marL="457200" marR="0" rtl="0" algn="l">
              <a:lnSpc>
                <a:spcPct val="100000"/>
              </a:lnSpc>
              <a:spcBef>
                <a:spcPts val="400"/>
              </a:spcBef>
              <a:spcAft>
                <a:spcPts val="0"/>
              </a:spcAft>
              <a:buClr>
                <a:srgbClr val="0BD0D9"/>
              </a:buClr>
              <a:buSzPts val="1900"/>
              <a:buFont typeface="Calibri"/>
              <a:buAutoNum type="arabicPeriod"/>
            </a:pPr>
            <a:r>
              <a:rPr b="0" i="0" lang="en-US" sz="2000" u="none">
                <a:solidFill>
                  <a:schemeClr val="dk1"/>
                </a:solidFill>
                <a:latin typeface="Constantia"/>
                <a:ea typeface="Constantia"/>
                <a:cs typeface="Constantia"/>
                <a:sym typeface="Constantia"/>
              </a:rPr>
              <a:t>Nguyên tắc hoạt động của CTCK. Liên hệ thực tiễn áp dụng các nguyên tắc này của các CTCK VN?</a:t>
            </a:r>
            <a:endParaRPr/>
          </a:p>
          <a:p>
            <a:pPr indent="-457200" lvl="0" marL="457200" marR="0" rtl="0" algn="l">
              <a:lnSpc>
                <a:spcPct val="100000"/>
              </a:lnSpc>
              <a:spcBef>
                <a:spcPts val="400"/>
              </a:spcBef>
              <a:spcAft>
                <a:spcPts val="0"/>
              </a:spcAft>
              <a:buClr>
                <a:srgbClr val="0BD0D9"/>
              </a:buClr>
              <a:buSzPts val="1900"/>
              <a:buFont typeface="Calibri"/>
              <a:buAutoNum type="arabicPeriod"/>
            </a:pPr>
            <a:r>
              <a:rPr b="0" i="0" lang="en-US" sz="2000" u="none">
                <a:solidFill>
                  <a:schemeClr val="dk1"/>
                </a:solidFill>
                <a:latin typeface="Constantia"/>
                <a:ea typeface="Constantia"/>
                <a:cs typeface="Constantia"/>
                <a:sym typeface="Constantia"/>
              </a:rPr>
              <a:t>Trình bày tóm tắt các nghiệp vụ chính  của một CTCK?Liên hệ thực tiễn?</a:t>
            </a:r>
            <a:endParaRPr/>
          </a:p>
          <a:p>
            <a:pPr indent="-457200" lvl="0" marL="457200" marR="0" rtl="0" algn="l">
              <a:lnSpc>
                <a:spcPct val="100000"/>
              </a:lnSpc>
              <a:spcBef>
                <a:spcPts val="400"/>
              </a:spcBef>
              <a:spcAft>
                <a:spcPts val="0"/>
              </a:spcAft>
              <a:buClr>
                <a:srgbClr val="0BD0D9"/>
              </a:buClr>
              <a:buSzPts val="1900"/>
              <a:buFont typeface="Calibri"/>
              <a:buAutoNum type="arabicPeriod"/>
            </a:pPr>
            <a:r>
              <a:rPr b="0" i="0" lang="en-US" sz="2000" u="none">
                <a:solidFill>
                  <a:schemeClr val="dk1"/>
                </a:solidFill>
                <a:latin typeface="Constantia"/>
                <a:ea typeface="Constantia"/>
                <a:cs typeface="Constantia"/>
                <a:sym typeface="Constantia"/>
              </a:rPr>
              <a:t>Hãy kể, liệt kê một số công việc mà CTCK không được làm hoặc không được phép làm khi công ty thực hiện hoạt động tư vấn đầu tư chứng khoán?</a:t>
            </a:r>
            <a:endParaRPr/>
          </a:p>
          <a:p>
            <a:pPr indent="-152400" lvl="0" marL="273050" marR="0" rtl="0" algn="l">
              <a:spcBef>
                <a:spcPts val="400"/>
              </a:spcBef>
              <a:spcAft>
                <a:spcPts val="0"/>
              </a:spcAft>
              <a:buClr>
                <a:srgbClr val="0BD0D9"/>
              </a:buClr>
              <a:buSzPts val="1900"/>
              <a:buFont typeface="Noto Sans Symbols"/>
              <a:buNone/>
            </a:pPr>
            <a:r>
              <a:t/>
            </a:r>
            <a:endParaRPr b="0" i="0" sz="2000" u="none">
              <a:solidFill>
                <a:schemeClr val="dk1"/>
              </a:solidFill>
              <a:latin typeface="Constantia"/>
              <a:ea typeface="Constantia"/>
              <a:cs typeface="Constantia"/>
              <a:sym typeface="Constantia"/>
            </a:endParaRPr>
          </a:p>
        </p:txBody>
      </p:sp>
      <p:sp>
        <p:nvSpPr>
          <p:cNvPr id="510" name="Google Shape;510;p29"/>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511" name="Google Shape;511;p29"/>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512" name="Google Shape;512;p29"/>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6" name="Shape 516"/>
        <p:cNvGrpSpPr/>
        <p:nvPr/>
      </p:nvGrpSpPr>
      <p:grpSpPr>
        <a:xfrm>
          <a:off x="0" y="0"/>
          <a:ext cx="0" cy="0"/>
          <a:chOff x="0" y="0"/>
          <a:chExt cx="0" cy="0"/>
        </a:xfrm>
      </p:grpSpPr>
      <p:sp>
        <p:nvSpPr>
          <p:cNvPr id="517" name="Google Shape;517;p30"/>
          <p:cNvSpPr txBox="1"/>
          <p:nvPr>
            <p:ph idx="4294967295" type="title"/>
          </p:nvPr>
        </p:nvSpPr>
        <p:spPr>
          <a:xfrm>
            <a:off x="609600" y="2743200"/>
            <a:ext cx="7924800" cy="1143000"/>
          </a:xfrm>
          <a:prstGeom prst="rect">
            <a:avLst/>
          </a:prstGeom>
          <a:noFill/>
          <a:ln>
            <a:noFill/>
          </a:ln>
        </p:spPr>
        <p:txBody>
          <a:bodyPr anchorCtr="0" anchor="b" bIns="0" lIns="0" spcFirstLastPara="1" rIns="0" wrap="square" tIns="45700">
            <a:normAutofit/>
          </a:bodyPr>
          <a:lstStyle/>
          <a:p>
            <a:pPr indent="0" lvl="0" marL="0" marR="0" rtl="0" algn="ctr">
              <a:lnSpc>
                <a:spcPct val="100000"/>
              </a:lnSpc>
              <a:spcBef>
                <a:spcPts val="0"/>
              </a:spcBef>
              <a:spcAft>
                <a:spcPts val="0"/>
              </a:spcAft>
              <a:buClr>
                <a:schemeClr val="dk2"/>
              </a:buClr>
              <a:buSzPts val="5000"/>
              <a:buFont typeface="Times New Roman"/>
              <a:buNone/>
            </a:pPr>
            <a:r>
              <a:rPr b="0" i="0" lang="en-US" sz="5000" u="none" cap="none" strike="noStrike">
                <a:solidFill>
                  <a:schemeClr val="dk2"/>
                </a:solidFill>
                <a:latin typeface="Times New Roman"/>
                <a:ea typeface="Times New Roman"/>
                <a:cs typeface="Times New Roman"/>
                <a:sym typeface="Times New Roman"/>
              </a:rPr>
              <a:t>CẢM ƠN</a:t>
            </a:r>
            <a:endParaRPr/>
          </a:p>
        </p:txBody>
      </p:sp>
      <p:sp>
        <p:nvSpPr>
          <p:cNvPr id="518" name="Google Shape;518;p30"/>
          <p:cNvSpPr txBox="1"/>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a:t>
            </a:r>
            <a:endParaRPr/>
          </a:p>
        </p:txBody>
      </p:sp>
      <p:sp>
        <p:nvSpPr>
          <p:cNvPr id="519" name="Google Shape;519;p30"/>
          <p:cNvSpPr txBox="1"/>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45C75"/>
              </a:buClr>
              <a:buSzPts val="1200"/>
              <a:buFont typeface="Arial"/>
              <a:buNone/>
            </a:pPr>
            <a:r>
              <a:rPr b="0" i="0" lang="en-US" sz="1200" u="none">
                <a:solidFill>
                  <a:srgbClr val="045C75"/>
                </a:solidFill>
                <a:latin typeface="Arial"/>
                <a:ea typeface="Arial"/>
                <a:cs typeface="Arial"/>
                <a:sym typeface="Arial"/>
              </a:rPr>
              <a:t>srtc</a:t>
            </a:r>
            <a:endParaRPr/>
          </a:p>
        </p:txBody>
      </p:sp>
      <p:sp>
        <p:nvSpPr>
          <p:cNvPr id="520" name="Google Shape;520;p30"/>
          <p:cNvSpPr txBox="1"/>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45C75"/>
              </a:buClr>
              <a:buSzPts val="1200"/>
              <a:buFont typeface="Arial"/>
              <a:buNone/>
            </a:pPr>
            <a:fld id="{00000000-1234-1234-1234-123412341234}" type="slidenum">
              <a:rPr b="0" i="0" lang="en-US" sz="1200" u="none">
                <a:solidFill>
                  <a:srgbClr val="045C75"/>
                </a:solidFill>
                <a:latin typeface="Arial"/>
                <a:ea typeface="Arial"/>
                <a:cs typeface="Arial"/>
                <a:sym typeface="Arial"/>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2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5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0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1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3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6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9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4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8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2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1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7_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2008-03-19T14:56:04Z</dcterms:created>
  <dc:creator>Administrator</dc:creator>
</cp:coreProperties>
</file>