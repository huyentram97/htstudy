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2.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 id="2147483652" r:id="rId7"/>
    <p:sldMasterId id="2147483654" r:id="rId8"/>
    <p:sldMasterId id="2147483655" r:id="rId9"/>
    <p:sldMasterId id="2147483657" r:id="rId10"/>
    <p:sldMasterId id="2147483659" r:id="rId11"/>
    <p:sldMasterId id="2147483661" r:id="rId12"/>
    <p:sldMasterId id="2147483663" r:id="rId13"/>
    <p:sldMasterId id="2147483665" r:id="rId14"/>
    <p:sldMasterId id="2147483667" r:id="rId15"/>
    <p:sldMasterId id="2147483669" r:id="rId16"/>
  </p:sldMasterIdLst>
  <p:notesMasterIdLst>
    <p:notesMasterId r:id="rId17"/>
  </p:notesMasterIdLst>
  <p:sldIdLst>
    <p:sldId id="256" r:id="rId18"/>
    <p:sldId id="257" r:id="rId19"/>
    <p:sldId id="258" r:id="rId20"/>
    <p:sldId id="259" r:id="rId21"/>
    <p:sldId id="260" r:id="rId22"/>
    <p:sldId id="261" r:id="rId23"/>
    <p:sldId id="262" r:id="rId24"/>
    <p:sldId id="263" r:id="rId25"/>
    <p:sldId id="264" r:id="rId26"/>
    <p:sldId id="265" r:id="rId27"/>
    <p:sldId id="266" r:id="rId28"/>
    <p:sldId id="267" r:id="rId29"/>
    <p:sldId id="268"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285" r:id="rId47"/>
    <p:sldId id="286" r:id="rId48"/>
  </p:sldIdLst>
  <p:sldSz cy="6858000" cx="9144000"/>
  <p:notesSz cx="68580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9" roundtripDataSignature="AMtx7minMrnAylAoi5/w8bT9VqsUy8Nu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A46080A-87B2-49DB-8D86-8B54E036FA86}">
  <a:tblStyle styleId="{BA46080A-87B2-49DB-8D86-8B54E036FA8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3.xml"/><Relationship Id="rId42" Type="http://schemas.openxmlformats.org/officeDocument/2006/relationships/slide" Target="slides/slide25.xml"/><Relationship Id="rId41" Type="http://schemas.openxmlformats.org/officeDocument/2006/relationships/slide" Target="slides/slide24.xml"/><Relationship Id="rId44" Type="http://schemas.openxmlformats.org/officeDocument/2006/relationships/slide" Target="slides/slide27.xml"/><Relationship Id="rId43" Type="http://schemas.openxmlformats.org/officeDocument/2006/relationships/slide" Target="slides/slide26.xml"/><Relationship Id="rId46" Type="http://schemas.openxmlformats.org/officeDocument/2006/relationships/slide" Target="slides/slide29.xml"/><Relationship Id="rId45" Type="http://schemas.openxmlformats.org/officeDocument/2006/relationships/slide" Target="slides/slide28.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1.xml"/><Relationship Id="rId47" Type="http://schemas.openxmlformats.org/officeDocument/2006/relationships/slide" Target="slides/slide30.xml"/><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4.xml"/><Relationship Id="rId30" Type="http://schemas.openxmlformats.org/officeDocument/2006/relationships/slide" Target="slides/slide13.xml"/><Relationship Id="rId33" Type="http://schemas.openxmlformats.org/officeDocument/2006/relationships/slide" Target="slides/slide16.xml"/><Relationship Id="rId32" Type="http://schemas.openxmlformats.org/officeDocument/2006/relationships/slide" Target="slides/slide15.xml"/><Relationship Id="rId35" Type="http://schemas.openxmlformats.org/officeDocument/2006/relationships/slide" Target="slides/slide18.xml"/><Relationship Id="rId34" Type="http://schemas.openxmlformats.org/officeDocument/2006/relationships/slide" Target="slides/slide17.xml"/><Relationship Id="rId37" Type="http://schemas.openxmlformats.org/officeDocument/2006/relationships/slide" Target="slides/slide20.xml"/><Relationship Id="rId36" Type="http://schemas.openxmlformats.org/officeDocument/2006/relationships/slide" Target="slides/slide19.xml"/><Relationship Id="rId39" Type="http://schemas.openxmlformats.org/officeDocument/2006/relationships/slide" Target="slides/slide22.xml"/><Relationship Id="rId38" Type="http://schemas.openxmlformats.org/officeDocument/2006/relationships/slide" Target="slides/slide21.xml"/><Relationship Id="rId20" Type="http://schemas.openxmlformats.org/officeDocument/2006/relationships/slide" Target="slides/slide3.xml"/><Relationship Id="rId22" Type="http://schemas.openxmlformats.org/officeDocument/2006/relationships/slide" Target="slides/slide5.xml"/><Relationship Id="rId21" Type="http://schemas.openxmlformats.org/officeDocument/2006/relationships/slide" Target="slides/slide4.xml"/><Relationship Id="rId24" Type="http://schemas.openxmlformats.org/officeDocument/2006/relationships/slide" Target="slides/slide7.xml"/><Relationship Id="rId23" Type="http://schemas.openxmlformats.org/officeDocument/2006/relationships/slide" Target="slides/slide6.xml"/><Relationship Id="rId26" Type="http://schemas.openxmlformats.org/officeDocument/2006/relationships/slide" Target="slides/slide9.xml"/><Relationship Id="rId25" Type="http://schemas.openxmlformats.org/officeDocument/2006/relationships/slide" Target="slides/slide8.xml"/><Relationship Id="rId28" Type="http://schemas.openxmlformats.org/officeDocument/2006/relationships/slide" Target="slides/slide11.xml"/><Relationship Id="rId27" Type="http://schemas.openxmlformats.org/officeDocument/2006/relationships/slide" Target="slides/slide10.xml"/><Relationship Id="rId29" Type="http://schemas.openxmlformats.org/officeDocument/2006/relationships/slide" Target="slides/slide12.xml"/><Relationship Id="rId11" Type="http://schemas.openxmlformats.org/officeDocument/2006/relationships/slideMaster" Target="slideMasters/slideMaster7.xml"/><Relationship Id="rId10" Type="http://schemas.openxmlformats.org/officeDocument/2006/relationships/slideMaster" Target="slideMasters/slideMaster6.xml"/><Relationship Id="rId13" Type="http://schemas.openxmlformats.org/officeDocument/2006/relationships/slideMaster" Target="slideMasters/slideMaster9.xml"/><Relationship Id="rId12" Type="http://schemas.openxmlformats.org/officeDocument/2006/relationships/slideMaster" Target="slideMasters/slideMaster8.xml"/><Relationship Id="rId15" Type="http://schemas.openxmlformats.org/officeDocument/2006/relationships/slideMaster" Target="slideMasters/slideMaster11.xml"/><Relationship Id="rId14" Type="http://schemas.openxmlformats.org/officeDocument/2006/relationships/slideMaster" Target="slideMasters/slideMaster10.xml"/><Relationship Id="rId17" Type="http://schemas.openxmlformats.org/officeDocument/2006/relationships/notesMaster" Target="notesMasters/notesMaster1.xml"/><Relationship Id="rId16" Type="http://schemas.openxmlformats.org/officeDocument/2006/relationships/slideMaster" Target="slideMasters/slideMaster12.xml"/><Relationship Id="rId19" Type="http://schemas.openxmlformats.org/officeDocument/2006/relationships/slide" Target="slides/slide2.xml"/><Relationship Id="rId1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51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3884612" y="0"/>
            <a:ext cx="2971800" cy="46513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1104900" y="696912"/>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829675"/>
            <a:ext cx="2971800" cy="4651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3884612" y="8829675"/>
            <a:ext cx="2971800" cy="4651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1: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2: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3: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4: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5: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6: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6: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7: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8: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9: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10: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1: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p12: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4: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15: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16: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17: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8: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8: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9: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9: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0: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20: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1: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5" name="Google Shape;295;p21: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2: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22: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3: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23: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3" name="Google Shape;313;p24: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24:notes"/>
          <p:cNvSpPr txBox="1"/>
          <p:nvPr/>
        </p:nvSpPr>
        <p:spPr>
          <a:xfrm>
            <a:off x="3884612" y="8829675"/>
            <a:ext cx="2971800" cy="4651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5: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p25: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6: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6: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7: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27: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8: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28: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9: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29: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0: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30: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1:notes"/>
          <p:cNvSpPr txBox="1"/>
          <p:nvPr>
            <p:ph idx="1" type="body"/>
          </p:nvPr>
        </p:nvSpPr>
        <p:spPr>
          <a:xfrm>
            <a:off x="685800" y="4416425"/>
            <a:ext cx="5486400" cy="418306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8" name="Google Shape;358;p31:notes"/>
          <p:cNvSpPr/>
          <p:nvPr>
            <p:ph idx="2" type="sldImg"/>
          </p:nvPr>
        </p:nvSpPr>
        <p:spPr>
          <a:xfrm>
            <a:off x="11049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3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28" name="Shape 28"/>
        <p:cNvGrpSpPr/>
        <p:nvPr/>
      </p:nvGrpSpPr>
      <p:grpSpPr>
        <a:xfrm>
          <a:off x="0" y="0"/>
          <a:ext cx="0" cy="0"/>
          <a:chOff x="0" y="0"/>
          <a:chExt cx="0" cy="0"/>
        </a:xfrm>
      </p:grpSpPr>
      <p:sp>
        <p:nvSpPr>
          <p:cNvPr id="29" name="Google Shape;29;p35"/>
          <p:cNvSpPr txBox="1"/>
          <p:nvPr>
            <p:ph type="title"/>
          </p:nvPr>
        </p:nvSpPr>
        <p:spPr>
          <a:xfrm>
            <a:off x="1981200" y="274638"/>
            <a:ext cx="6705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solidFill>
                  <a:srgbClr val="F2F2F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1" name="Google Shape;3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40" name="Shape 40"/>
        <p:cNvGrpSpPr/>
        <p:nvPr/>
      </p:nvGrpSpPr>
      <p:grpSpPr>
        <a:xfrm>
          <a:off x="0" y="0"/>
          <a:ext cx="0" cy="0"/>
          <a:chOff x="0" y="0"/>
          <a:chExt cx="0" cy="0"/>
        </a:xfrm>
      </p:grpSpPr>
      <p:sp>
        <p:nvSpPr>
          <p:cNvPr id="41" name="Google Shape;4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8" name="Shape 58"/>
        <p:cNvGrpSpPr/>
        <p:nvPr/>
      </p:nvGrpSpPr>
      <p:grpSpPr>
        <a:xfrm>
          <a:off x="0" y="0"/>
          <a:ext cx="0" cy="0"/>
          <a:chOff x="0" y="0"/>
          <a:chExt cx="0" cy="0"/>
        </a:xfrm>
      </p:grpSpPr>
      <p:sp>
        <p:nvSpPr>
          <p:cNvPr id="59" name="Google Shape;59;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1400"/>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61" name="Google Shape;6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70" name="Shape 70"/>
        <p:cNvGrpSpPr/>
        <p:nvPr/>
      </p:nvGrpSpPr>
      <p:grpSpPr>
        <a:xfrm>
          <a:off x="0" y="0"/>
          <a:ext cx="0" cy="0"/>
          <a:chOff x="0" y="0"/>
          <a:chExt cx="0" cy="0"/>
        </a:xfrm>
      </p:grpSpPr>
      <p:sp>
        <p:nvSpPr>
          <p:cNvPr id="71" name="Google Shape;71;p42"/>
          <p:cNvSpPr txBox="1"/>
          <p:nvPr>
            <p:ph type="title"/>
          </p:nvPr>
        </p:nvSpPr>
        <p:spPr>
          <a:xfrm>
            <a:off x="1981200" y="274638"/>
            <a:ext cx="6705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3" name="Google Shape;73;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4" name="Google Shape;74;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83" name="Shape 83"/>
        <p:cNvGrpSpPr/>
        <p:nvPr/>
      </p:nvGrpSpPr>
      <p:grpSpPr>
        <a:xfrm>
          <a:off x="0" y="0"/>
          <a:ext cx="0" cy="0"/>
          <a:chOff x="0" y="0"/>
          <a:chExt cx="0" cy="0"/>
        </a:xfrm>
      </p:grpSpPr>
      <p:sp>
        <p:nvSpPr>
          <p:cNvPr id="84" name="Google Shape;84;p44"/>
          <p:cNvSpPr txBox="1"/>
          <p:nvPr>
            <p:ph type="title"/>
          </p:nvPr>
        </p:nvSpPr>
        <p:spPr>
          <a:xfrm>
            <a:off x="1981200" y="274638"/>
            <a:ext cx="6705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6" name="Google Shape;86;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7" name="Google Shape;87;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 name="Google Shape;88;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9" name="Google Shape;89;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98" name="Shape 98"/>
        <p:cNvGrpSpPr/>
        <p:nvPr/>
      </p:nvGrpSpPr>
      <p:grpSpPr>
        <a:xfrm>
          <a:off x="0" y="0"/>
          <a:ext cx="0" cy="0"/>
          <a:chOff x="0" y="0"/>
          <a:chExt cx="0" cy="0"/>
        </a:xfrm>
      </p:grpSpPr>
      <p:sp>
        <p:nvSpPr>
          <p:cNvPr id="99" name="Google Shape;99;p46"/>
          <p:cNvSpPr txBox="1"/>
          <p:nvPr>
            <p:ph type="title"/>
          </p:nvPr>
        </p:nvSpPr>
        <p:spPr>
          <a:xfrm>
            <a:off x="1981200" y="274638"/>
            <a:ext cx="6705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9" name="Shape 109"/>
        <p:cNvGrpSpPr/>
        <p:nvPr/>
      </p:nvGrpSpPr>
      <p:grpSpPr>
        <a:xfrm>
          <a:off x="0" y="0"/>
          <a:ext cx="0" cy="0"/>
          <a:chOff x="0" y="0"/>
          <a:chExt cx="0" cy="0"/>
        </a:xfrm>
      </p:grpSpPr>
      <p:sp>
        <p:nvSpPr>
          <p:cNvPr id="110" name="Google Shape;110;p4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4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12" name="Google Shape;112;p4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3" name="Google Shape;113;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22" name="Shape 122"/>
        <p:cNvGrpSpPr/>
        <p:nvPr/>
      </p:nvGrpSpPr>
      <p:grpSpPr>
        <a:xfrm>
          <a:off x="0" y="0"/>
          <a:ext cx="0" cy="0"/>
          <a:chOff x="0" y="0"/>
          <a:chExt cx="0" cy="0"/>
        </a:xfrm>
      </p:grpSpPr>
      <p:sp>
        <p:nvSpPr>
          <p:cNvPr id="123" name="Google Shape;123;p5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1400"/>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50"/>
          <p:cNvSpPr/>
          <p:nvPr>
            <p:ph idx="2" type="pic"/>
          </p:nvPr>
        </p:nvSpPr>
        <p:spPr>
          <a:xfrm>
            <a:off x="1792288" y="612775"/>
            <a:ext cx="5486400" cy="4114800"/>
          </a:xfrm>
          <a:prstGeom prst="rect">
            <a:avLst/>
          </a:prstGeom>
          <a:noFill/>
          <a:ln>
            <a:noFill/>
          </a:ln>
        </p:spPr>
      </p:sp>
      <p:sp>
        <p:nvSpPr>
          <p:cNvPr id="125" name="Google Shape;125;p5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26" name="Google Shape;12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135" name="Shape 135"/>
        <p:cNvGrpSpPr/>
        <p:nvPr/>
      </p:nvGrpSpPr>
      <p:grpSpPr>
        <a:xfrm>
          <a:off x="0" y="0"/>
          <a:ext cx="0" cy="0"/>
          <a:chOff x="0" y="0"/>
          <a:chExt cx="0" cy="0"/>
        </a:xfrm>
      </p:grpSpPr>
      <p:sp>
        <p:nvSpPr>
          <p:cNvPr id="136" name="Google Shape;136;p52"/>
          <p:cNvSpPr txBox="1"/>
          <p:nvPr>
            <p:ph type="title"/>
          </p:nvPr>
        </p:nvSpPr>
        <p:spPr>
          <a:xfrm>
            <a:off x="1981200" y="274638"/>
            <a:ext cx="6705600" cy="11430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52"/>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8" name="Google Shape;13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47" name="Shape 147"/>
        <p:cNvGrpSpPr/>
        <p:nvPr/>
      </p:nvGrpSpPr>
      <p:grpSpPr>
        <a:xfrm>
          <a:off x="0" y="0"/>
          <a:ext cx="0" cy="0"/>
          <a:chOff x="0" y="0"/>
          <a:chExt cx="0" cy="0"/>
        </a:xfrm>
      </p:grpSpPr>
      <p:sp>
        <p:nvSpPr>
          <p:cNvPr id="148" name="Google Shape;148;p5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5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Times New Roman"/>
                <a:ea typeface="Times New Roman"/>
                <a:cs typeface="Times New Roman"/>
                <a:sym typeface="Times New Roman"/>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theme" Target="../theme/theme6.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2.png"/><Relationship Id="rId3" Type="http://schemas.openxmlformats.org/officeDocument/2006/relationships/theme" Target="../theme/theme7.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Relationship Id="rId3" Type="http://schemas.openxmlformats.org/officeDocument/2006/relationships/theme" Target="../theme/theme8.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Relationship Id="rId3"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 Id="rId3" Type="http://schemas.openxmlformats.org/officeDocument/2006/relationships/theme" Target="../theme/theme13.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8.xml"/><Relationship Id="rId3" Type="http://schemas.openxmlformats.org/officeDocument/2006/relationships/theme" Target="../theme/theme3.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Relationship Id="rId3" Type="http://schemas.openxmlformats.org/officeDocument/2006/relationships/theme" Target="../theme/theme9.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1.xml"/><Relationship Id="rId3"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pic>
        <p:nvPicPr>
          <p:cNvPr id="10" name="Google Shape;10;p32"/>
          <p:cNvPicPr preferRelativeResize="0"/>
          <p:nvPr/>
        </p:nvPicPr>
        <p:blipFill rotWithShape="1">
          <a:blip r:embed="rId2">
            <a:alphaModFix/>
          </a:blip>
          <a:srcRect b="0" l="0" r="0" t="5053"/>
          <a:stretch/>
        </p:blipFill>
        <p:spPr>
          <a:xfrm>
            <a:off x="231775" y="0"/>
            <a:ext cx="8680450" cy="4057650"/>
          </a:xfrm>
          <a:prstGeom prst="rect">
            <a:avLst/>
          </a:prstGeom>
          <a:noFill/>
          <a:ln>
            <a:noFill/>
          </a:ln>
        </p:spPr>
      </p:pic>
      <p:sp>
        <p:nvSpPr>
          <p:cNvPr id="11" name="Google Shape;11;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2"/>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13" name="Google Shape;13;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2" name="Shape 22"/>
        <p:cNvGrpSpPr/>
        <p:nvPr/>
      </p:nvGrpSpPr>
      <p:grpSpPr>
        <a:xfrm>
          <a:off x="0" y="0"/>
          <a:ext cx="0" cy="0"/>
          <a:chOff x="0" y="0"/>
          <a:chExt cx="0" cy="0"/>
        </a:xfrm>
      </p:grpSpPr>
      <p:sp>
        <p:nvSpPr>
          <p:cNvPr id="23" name="Google Shape;23;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34"/>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25" name="Google Shape;2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6" name="Google Shape;2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7" name="Google Shape;2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4" name="Shape 34"/>
        <p:cNvGrpSpPr/>
        <p:nvPr/>
      </p:nvGrpSpPr>
      <p:grpSpPr>
        <a:xfrm>
          <a:off x="0" y="0"/>
          <a:ext cx="0" cy="0"/>
          <a:chOff x="0" y="0"/>
          <a:chExt cx="0" cy="0"/>
        </a:xfrm>
      </p:grpSpPr>
      <p:sp>
        <p:nvSpPr>
          <p:cNvPr id="35" name="Google Shape;35;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6" name="Google Shape;36;p36"/>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37" name="Google Shape;3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9" name="Google Shape;3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4" name="Shape 44"/>
        <p:cNvGrpSpPr/>
        <p:nvPr/>
      </p:nvGrpSpPr>
      <p:grpSpPr>
        <a:xfrm>
          <a:off x="0" y="0"/>
          <a:ext cx="0" cy="0"/>
          <a:chOff x="0" y="0"/>
          <a:chExt cx="0" cy="0"/>
        </a:xfrm>
      </p:grpSpPr>
      <p:sp>
        <p:nvSpPr>
          <p:cNvPr id="45" name="Google Shape;45;p3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6" name="Google Shape;46;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7" name="Google Shape;47;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pic>
        <p:nvPicPr>
          <p:cNvPr id="49" name="Google Shape;49;p38"/>
          <p:cNvPicPr preferRelativeResize="0"/>
          <p:nvPr/>
        </p:nvPicPr>
        <p:blipFill rotWithShape="1">
          <a:blip r:embed="rId2">
            <a:alphaModFix/>
          </a:blip>
          <a:srcRect b="0" l="0" r="0" t="0"/>
          <a:stretch/>
        </p:blipFill>
        <p:spPr>
          <a:xfrm>
            <a:off x="252412" y="249237"/>
            <a:ext cx="8624887" cy="1249362"/>
          </a:xfrm>
          <a:prstGeom prst="rect">
            <a:avLst/>
          </a:prstGeom>
          <a:noFill/>
          <a:ln>
            <a:noFill/>
          </a:ln>
        </p:spPr>
      </p:pic>
      <p:sp>
        <p:nvSpPr>
          <p:cNvPr id="50" name="Google Shape;50;p38"/>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cxnSp>
        <p:nvCxnSpPr>
          <p:cNvPr id="51" name="Google Shape;51;p38"/>
          <p:cNvCxnSpPr/>
          <p:nvPr/>
        </p:nvCxnSpPr>
        <p:spPr>
          <a:xfrm>
            <a:off x="231775" y="6375400"/>
            <a:ext cx="8680450" cy="0"/>
          </a:xfrm>
          <a:prstGeom prst="straightConnector1">
            <a:avLst/>
          </a:prstGeom>
          <a:noFill/>
          <a:ln cap="flat" cmpd="sng" w="19050">
            <a:solidFill>
              <a:srgbClr val="0070C0"/>
            </a:solidFill>
            <a:prstDash val="solid"/>
            <a:miter lim="800000"/>
            <a:headEnd len="sm" w="sm" type="none"/>
            <a:tailEnd len="sm" w="sm" type="none"/>
          </a:ln>
        </p:spPr>
      </p:cxn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2" name="Shape 52"/>
        <p:cNvGrpSpPr/>
        <p:nvPr/>
      </p:nvGrpSpPr>
      <p:grpSpPr>
        <a:xfrm>
          <a:off x="0" y="0"/>
          <a:ext cx="0" cy="0"/>
          <a:chOff x="0" y="0"/>
          <a:chExt cx="0" cy="0"/>
        </a:xfrm>
      </p:grpSpPr>
      <p:sp>
        <p:nvSpPr>
          <p:cNvPr id="53" name="Google Shape;53;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4" name="Google Shape;54;p39"/>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55" name="Google Shape;55;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6" name="Google Shape;56;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7" name="Google Shape;57;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4" name="Shape 64"/>
        <p:cNvGrpSpPr/>
        <p:nvPr/>
      </p:nvGrpSpPr>
      <p:grpSpPr>
        <a:xfrm>
          <a:off x="0" y="0"/>
          <a:ext cx="0" cy="0"/>
          <a:chOff x="0" y="0"/>
          <a:chExt cx="0" cy="0"/>
        </a:xfrm>
      </p:grpSpPr>
      <p:sp>
        <p:nvSpPr>
          <p:cNvPr id="65" name="Google Shape;65;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6" name="Google Shape;66;p41"/>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67" name="Google Shape;6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8" name="Google Shape;6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7" name="Shape 77"/>
        <p:cNvGrpSpPr/>
        <p:nvPr/>
      </p:nvGrpSpPr>
      <p:grpSpPr>
        <a:xfrm>
          <a:off x="0" y="0"/>
          <a:ext cx="0" cy="0"/>
          <a:chOff x="0" y="0"/>
          <a:chExt cx="0" cy="0"/>
        </a:xfrm>
      </p:grpSpPr>
      <p:sp>
        <p:nvSpPr>
          <p:cNvPr id="78" name="Google Shape;78;p4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9" name="Google Shape;79;p43"/>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80" name="Google Shape;80;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1" name="Google Shape;81;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2" name="Shape 92"/>
        <p:cNvGrpSpPr/>
        <p:nvPr/>
      </p:nvGrpSpPr>
      <p:grpSpPr>
        <a:xfrm>
          <a:off x="0" y="0"/>
          <a:ext cx="0" cy="0"/>
          <a:chOff x="0" y="0"/>
          <a:chExt cx="0" cy="0"/>
        </a:xfrm>
      </p:grpSpPr>
      <p:sp>
        <p:nvSpPr>
          <p:cNvPr id="93" name="Google Shape;93;p4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94" name="Google Shape;94;p45"/>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95" name="Google Shape;9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6" name="Google Shape;9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7" name="Google Shape;9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3" name="Shape 103"/>
        <p:cNvGrpSpPr/>
        <p:nvPr/>
      </p:nvGrpSpPr>
      <p:grpSpPr>
        <a:xfrm>
          <a:off x="0" y="0"/>
          <a:ext cx="0" cy="0"/>
          <a:chOff x="0" y="0"/>
          <a:chExt cx="0" cy="0"/>
        </a:xfrm>
      </p:grpSpPr>
      <p:sp>
        <p:nvSpPr>
          <p:cNvPr id="104" name="Google Shape;104;p4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5" name="Google Shape;105;p47"/>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106" name="Google Shape;106;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8" name="Google Shape;10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6" name="Shape 116"/>
        <p:cNvGrpSpPr/>
        <p:nvPr/>
      </p:nvGrpSpPr>
      <p:grpSpPr>
        <a:xfrm>
          <a:off x="0" y="0"/>
          <a:ext cx="0" cy="0"/>
          <a:chOff x="0" y="0"/>
          <a:chExt cx="0" cy="0"/>
        </a:xfrm>
      </p:grpSpPr>
      <p:sp>
        <p:nvSpPr>
          <p:cNvPr id="117" name="Google Shape;117;p4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8" name="Google Shape;118;p49"/>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119" name="Google Shape;119;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0" name="Google Shape;120;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1" name="Google Shape;121;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29" name="Shape 129"/>
        <p:cNvGrpSpPr/>
        <p:nvPr/>
      </p:nvGrpSpPr>
      <p:grpSpPr>
        <a:xfrm>
          <a:off x="0" y="0"/>
          <a:ext cx="0" cy="0"/>
          <a:chOff x="0" y="0"/>
          <a:chExt cx="0" cy="0"/>
        </a:xfrm>
      </p:grpSpPr>
      <p:sp>
        <p:nvSpPr>
          <p:cNvPr id="130" name="Google Shape;130;p5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1" name="Google Shape;131;p51"/>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132" name="Google Shape;13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1" name="Shape 141"/>
        <p:cNvGrpSpPr/>
        <p:nvPr/>
      </p:nvGrpSpPr>
      <p:grpSpPr>
        <a:xfrm>
          <a:off x="0" y="0"/>
          <a:ext cx="0" cy="0"/>
          <a:chOff x="0" y="0"/>
          <a:chExt cx="0" cy="0"/>
        </a:xfrm>
      </p:grpSpPr>
      <p:sp>
        <p:nvSpPr>
          <p:cNvPr id="142" name="Google Shape;142;p5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3" name="Google Shape;143;p53"/>
          <p:cNvSpPr txBox="1"/>
          <p:nvPr>
            <p:ph type="title"/>
          </p:nvPr>
        </p:nvSpPr>
        <p:spPr>
          <a:xfrm>
            <a:off x="1981200" y="274637"/>
            <a:ext cx="6896100" cy="114300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i="0" sz="4400" u="none" cap="none" strike="noStrike">
                <a:solidFill>
                  <a:srgbClr val="F2F2F2"/>
                </a:solidFill>
                <a:latin typeface="Times New Roman"/>
                <a:ea typeface="Times New Roman"/>
                <a:cs typeface="Times New Roman"/>
                <a:sym typeface="Times New Roman"/>
              </a:defRPr>
            </a:lvl9pPr>
          </a:lstStyle>
          <a:p/>
        </p:txBody>
      </p:sp>
      <p:sp>
        <p:nvSpPr>
          <p:cNvPr id="144" name="Google Shape;14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5" name="Google Shape;14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1"/>
          <p:cNvSpPr txBox="1"/>
          <p:nvPr/>
        </p:nvSpPr>
        <p:spPr>
          <a:xfrm>
            <a:off x="381000" y="2678112"/>
            <a:ext cx="8382000" cy="12144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2F2F2"/>
              </a:buClr>
              <a:buSzPts val="3600"/>
              <a:buFont typeface="Times New Roman"/>
              <a:buNone/>
            </a:pPr>
            <a:r>
              <a:t/>
            </a:r>
            <a:endParaRPr b="1" i="0" sz="3600" u="none" cap="none" strike="noStrike">
              <a:solidFill>
                <a:srgbClr val="F2F2F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2F2F2"/>
              </a:buClr>
              <a:buSzPts val="3600"/>
              <a:buFont typeface="Times New Roman"/>
              <a:buNone/>
            </a:pPr>
            <a:r>
              <a:rPr b="1" i="0" lang="en-US" sz="3600" u="none" cap="none" strike="noStrike">
                <a:solidFill>
                  <a:srgbClr val="F2F2F2"/>
                </a:solidFill>
                <a:latin typeface="Times New Roman"/>
                <a:ea typeface="Times New Roman"/>
                <a:cs typeface="Times New Roman"/>
                <a:sym typeface="Times New Roman"/>
              </a:rPr>
              <a:t>CÁC CÔNG CỤ TÀI CHÍNH </a:t>
            </a:r>
            <a:endParaRPr b="1" i="0" sz="3600" u="none" cap="none" strike="noStrike">
              <a:solidFill>
                <a:srgbClr val="F2F2F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2F2F2"/>
              </a:buClr>
              <a:buSzPts val="3600"/>
              <a:buFont typeface="Times New Roman"/>
              <a:buNone/>
            </a:pPr>
            <a:r>
              <a:rPr b="1" i="0" lang="en-US" sz="3600" u="none" cap="none" strike="noStrike">
                <a:solidFill>
                  <a:srgbClr val="F2F2F2"/>
                </a:solidFill>
                <a:latin typeface="Times New Roman"/>
                <a:ea typeface="Times New Roman"/>
                <a:cs typeface="Times New Roman"/>
                <a:sym typeface="Times New Roman"/>
              </a:rPr>
              <a:t>TRÊN THỊ TRƯỜNG CHỨNG KHOÁN</a:t>
            </a:r>
            <a:endParaRPr b="1" i="0" sz="3600" u="none" cap="none" strike="noStrike">
              <a:solidFill>
                <a:srgbClr val="F2F2F2"/>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F2F2F2"/>
              </a:buClr>
              <a:buSzPts val="3600"/>
              <a:buFont typeface="Times New Roman"/>
              <a:buNone/>
            </a:pPr>
            <a:r>
              <a:t/>
            </a:r>
            <a:endParaRPr b="1" i="0" sz="3600" u="none" cap="none" strike="noStrike">
              <a:solidFill>
                <a:srgbClr val="F2F2F2"/>
              </a:solidFill>
              <a:latin typeface="Times New Roman"/>
              <a:ea typeface="Times New Roman"/>
              <a:cs typeface="Times New Roman"/>
              <a:sym typeface="Times New Roman"/>
            </a:endParaRPr>
          </a:p>
        </p:txBody>
      </p:sp>
      <p:cxnSp>
        <p:nvCxnSpPr>
          <p:cNvPr id="158" name="Google Shape;158;p1"/>
          <p:cNvCxnSpPr/>
          <p:nvPr/>
        </p:nvCxnSpPr>
        <p:spPr>
          <a:xfrm>
            <a:off x="304800" y="6359525"/>
            <a:ext cx="8534400" cy="0"/>
          </a:xfrm>
          <a:prstGeom prst="straightConnector1">
            <a:avLst/>
          </a:prstGeom>
          <a:noFill/>
          <a:ln cap="flat" cmpd="sng" w="19050">
            <a:solidFill>
              <a:srgbClr val="4A7EBB"/>
            </a:solidFill>
            <a:prstDash val="solid"/>
            <a:miter lim="800000"/>
            <a:headEnd len="sm" w="sm" type="none"/>
            <a:tailEnd len="sm" w="sm" type="none"/>
          </a:ln>
        </p:spPr>
      </p:cxnSp>
      <p:sp>
        <p:nvSpPr>
          <p:cNvPr id="159" name="Google Shape;159;p1"/>
          <p:cNvSpPr txBox="1"/>
          <p:nvPr/>
        </p:nvSpPr>
        <p:spPr>
          <a:xfrm>
            <a:off x="4203290" y="4970206"/>
            <a:ext cx="479322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chemeClr val="lt1"/>
                </a:solidFill>
                <a:latin typeface="Arial"/>
                <a:ea typeface="Arial"/>
                <a:cs typeface="Arial"/>
                <a:sym typeface="Arial"/>
              </a:rPr>
              <a:t>Trình bày: ThS.Trịnh Văn Điể</a:t>
            </a:r>
            <a:r>
              <a:rPr lang="en-US" sz="2000">
                <a:solidFill>
                  <a:schemeClr val="lt1"/>
                </a:solidFill>
              </a:rPr>
              <a:t>n</a:t>
            </a:r>
            <a:endParaRPr b="0" i="0" sz="20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None/>
            </a:pPr>
            <a:r>
              <a:rPr b="0" i="0" lang="en-US" sz="2000" u="none" cap="none" strike="noStrike">
                <a:solidFill>
                  <a:schemeClr val="lt1"/>
                </a:solidFill>
                <a:latin typeface="Arial"/>
                <a:ea typeface="Arial"/>
                <a:cs typeface="Arial"/>
                <a:sym typeface="Arial"/>
              </a:rPr>
              <a:t>Phó Giám đốc Trung tâm NCKH&amp;ĐTCK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3" name="Shape 163"/>
        <p:cNvGrpSpPr/>
        <p:nvPr/>
      </p:nvGrpSpPr>
      <p:grpSpPr>
        <a:xfrm>
          <a:off x="0" y="0"/>
          <a:ext cx="0" cy="0"/>
          <a:chOff x="0" y="0"/>
          <a:chExt cx="0" cy="0"/>
        </a:xfrm>
      </p:grpSpPr>
      <p:sp>
        <p:nvSpPr>
          <p:cNvPr id="164" name="Google Shape;164;p2"/>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4400"/>
              <a:buFont typeface="Times New Roman"/>
              <a:buNone/>
            </a:pPr>
            <a:r>
              <a:rPr b="1" i="0" lang="en-US" sz="4400" u="none">
                <a:solidFill>
                  <a:schemeClr val="accent1"/>
                </a:solidFill>
                <a:latin typeface="Times New Roman"/>
                <a:ea typeface="Times New Roman"/>
                <a:cs typeface="Times New Roman"/>
                <a:sym typeface="Times New Roman"/>
              </a:rPr>
              <a:t>KHÁI NIỆM</a:t>
            </a:r>
            <a:endParaRPr/>
          </a:p>
        </p:txBody>
      </p:sp>
      <p:sp>
        <p:nvSpPr>
          <p:cNvPr id="165" name="Google Shape;165;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cap="none" strike="noStrike">
                <a:solidFill>
                  <a:schemeClr val="dk1"/>
                </a:solidFill>
                <a:latin typeface="Times New Roman"/>
                <a:ea typeface="Times New Roman"/>
                <a:cs typeface="Times New Roman"/>
                <a:sym typeface="Times New Roman"/>
              </a:rPr>
              <a:t>Chứng khoán: là bằng chứng </a:t>
            </a:r>
            <a:endParaRPr b="0" i="0" sz="3000" u="none" cap="none" strike="noStrike">
              <a:solidFill>
                <a:schemeClr val="dk1"/>
              </a:solidFill>
              <a:latin typeface="Times New Roman"/>
              <a:ea typeface="Times New Roman"/>
              <a:cs typeface="Times New Roman"/>
              <a:sym typeface="Times New Roman"/>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Xác nhận: </a:t>
            </a:r>
            <a:r>
              <a:rPr b="0" i="0" lang="en-US" sz="2000" u="none" cap="none" strike="noStrike">
                <a:solidFill>
                  <a:schemeClr val="dk1"/>
                </a:solidFill>
                <a:latin typeface="Times New Roman"/>
                <a:ea typeface="Times New Roman"/>
                <a:cs typeface="Times New Roman"/>
                <a:sym typeface="Times New Roman"/>
              </a:rPr>
              <a:t>quyền, lợi ích hợp pháp của người sở hữu đối với tài sản, vốn của tổ chức phát hành</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Hình thức: </a:t>
            </a:r>
            <a:endParaRPr b="0" i="0" sz="2600" u="none" cap="none" strike="noStrike">
              <a:solidFill>
                <a:schemeClr val="dk1"/>
              </a:solidFill>
              <a:latin typeface="Times New Roman"/>
              <a:ea typeface="Times New Roman"/>
              <a:cs typeface="Times New Roman"/>
              <a:sym typeface="Times New Roman"/>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Chứng chỉ (vật chất)</a:t>
            </a:r>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Bút toán ghi sổ, dữ liệu điện tử (phi vật chất)</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Các loại chứng khoán: </a:t>
            </a:r>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Cổ phiếu, trái phiếu, chứng chỉ quỹ</a:t>
            </a:r>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Quyền mua cổ phần, chứng quyền, quyền chọn mua, quyền chọn bán, hợp đồng tương lai, nhóm chứng khoán hoặc chỉ số chứng khoán</a:t>
            </a:r>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Hợp đồng góp vốn đầu tư</a:t>
            </a:r>
            <a:endParaRPr/>
          </a:p>
          <a:p>
            <a:pPr indent="-228600" lvl="2" marL="11430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Chứng khoán khác</a:t>
            </a:r>
            <a:endParaRPr/>
          </a:p>
          <a:p>
            <a:pPr indent="-215900" lvl="0" marL="342900" marR="0" rtl="0" algn="l">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sp>
        <p:nvSpPr>
          <p:cNvPr id="170" name="Google Shape;170;p3"/>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SO SÁNH</a:t>
            </a:r>
            <a:br>
              <a:rPr b="1" i="0" lang="en-US" sz="3200" u="none">
                <a:solidFill>
                  <a:schemeClr val="accent1"/>
                </a:solidFill>
                <a:latin typeface="Times New Roman"/>
                <a:ea typeface="Times New Roman"/>
                <a:cs typeface="Times New Roman"/>
                <a:sym typeface="Times New Roman"/>
              </a:rPr>
            </a:br>
            <a:r>
              <a:rPr b="1" i="0" lang="en-US" sz="3200" u="none">
                <a:solidFill>
                  <a:schemeClr val="accent1"/>
                </a:solidFill>
                <a:latin typeface="Times New Roman"/>
                <a:ea typeface="Times New Roman"/>
                <a:cs typeface="Times New Roman"/>
                <a:sym typeface="Times New Roman"/>
              </a:rPr>
              <a:t>VIỆT NAM VÀ HÀN QUỐC</a:t>
            </a:r>
            <a:endParaRPr/>
          </a:p>
        </p:txBody>
      </p:sp>
      <p:graphicFrame>
        <p:nvGraphicFramePr>
          <p:cNvPr id="171" name="Google Shape;171;p3"/>
          <p:cNvGraphicFramePr/>
          <p:nvPr/>
        </p:nvGraphicFramePr>
        <p:xfrm>
          <a:off x="457200" y="1828800"/>
          <a:ext cx="3000000" cy="3000000"/>
        </p:xfrm>
        <a:graphic>
          <a:graphicData uri="http://schemas.openxmlformats.org/drawingml/2006/table">
            <a:tbl>
              <a:tblPr>
                <a:noFill/>
                <a:tableStyleId>{BA46080A-87B2-49DB-8D86-8B54E036FA86}</a:tableStyleId>
              </a:tblPr>
              <a:tblGrid>
                <a:gridCol w="4114800"/>
                <a:gridCol w="4114800"/>
              </a:tblGrid>
              <a:tr h="517525">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VIỆT NAM</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HÀN QUỐC</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3444875">
                <a:tc>
                  <a:txBody>
                    <a:bodyPr/>
                    <a:lstStyle/>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Cổ phiếu, trái phiếu, chứng chỉ quỹ</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Quyền mua cổ phần, chứng quyền, quyền chọn mua, quyền chọn bán, hợp đồng tương lai, nhóm chứng khoán hoặc chỉ số chứng khoán</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Hợp đồng góp vốn đầu tư</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Chứng khoán khác</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8823"/>
                      </a:schemeClr>
                    </a:solidFill>
                  </a:tcPr>
                </a:tc>
                <a:tc>
                  <a:txBody>
                    <a:bodyPr/>
                    <a:lstStyle/>
                    <a:p>
                      <a:pPr indent="-342900" lvl="0" marL="342900" marR="0" rtl="0" algn="just">
                        <a:lnSpc>
                          <a:spcPct val="100000"/>
                        </a:lnSpc>
                        <a:spcBef>
                          <a:spcPts val="0"/>
                        </a:spcBef>
                        <a:spcAft>
                          <a:spcPts val="0"/>
                        </a:spcAft>
                        <a:buClr>
                          <a:schemeClr val="dk1"/>
                        </a:buClr>
                        <a:buSzPts val="2200"/>
                        <a:buFont typeface="Noto Sans Symbols"/>
                        <a:buChar char="✔"/>
                      </a:pPr>
                      <a:r>
                        <a:rPr b="1" i="0" lang="en-US" sz="2200" u="none" cap="none" strike="noStrike">
                          <a:solidFill>
                            <a:schemeClr val="dk1"/>
                          </a:solidFill>
                          <a:latin typeface="Times New Roman"/>
                          <a:ea typeface="Times New Roman"/>
                          <a:cs typeface="Times New Roman"/>
                          <a:sym typeface="Times New Roman"/>
                        </a:rPr>
                        <a:t>Chứng khoán</a:t>
                      </a:r>
                      <a:r>
                        <a:rPr b="0" i="0" lang="en-US" sz="2200" u="none" cap="none" strike="noStrike">
                          <a:solidFill>
                            <a:schemeClr val="dk1"/>
                          </a:solidFill>
                          <a:latin typeface="Times New Roman"/>
                          <a:ea typeface="Times New Roman"/>
                          <a:cs typeface="Times New Roman"/>
                          <a:sym typeface="Times New Roman"/>
                        </a:rPr>
                        <a:t>: chứng khoán nợ, chứng khoán vốn; giấy chứng nhận người thụ hưởng (chứng chỉ quỹ); chứng khoán dạng hợp đồng đầu tư; chứng khoán kết hợp chứng khoán phái sinh; và chứng chỉ lưu ký (chứng chỉ tín thác)</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1" i="0" lang="en-US" sz="2200" u="none" cap="none" strike="noStrike">
                          <a:solidFill>
                            <a:schemeClr val="dk1"/>
                          </a:solidFill>
                          <a:latin typeface="Times New Roman"/>
                          <a:ea typeface="Times New Roman"/>
                          <a:cs typeface="Times New Roman"/>
                          <a:sym typeface="Times New Roman"/>
                        </a:rPr>
                        <a:t>Chứng khoán phái sinh</a:t>
                      </a:r>
                      <a:r>
                        <a:rPr b="0" i="0" lang="en-US" sz="2200" u="none" cap="none" strike="noStrike">
                          <a:solidFill>
                            <a:schemeClr val="dk1"/>
                          </a:solidFill>
                          <a:latin typeface="Times New Roman"/>
                          <a:ea typeface="Times New Roman"/>
                          <a:cs typeface="Times New Roman"/>
                          <a:sym typeface="Times New Roman"/>
                        </a:rPr>
                        <a:t>: OTC và tập trung </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8823"/>
                      </a:scheme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5" name="Shape 175"/>
        <p:cNvGrpSpPr/>
        <p:nvPr/>
      </p:nvGrpSpPr>
      <p:grpSpPr>
        <a:xfrm>
          <a:off x="0" y="0"/>
          <a:ext cx="0" cy="0"/>
          <a:chOff x="0" y="0"/>
          <a:chExt cx="0" cy="0"/>
        </a:xfrm>
      </p:grpSpPr>
      <p:sp>
        <p:nvSpPr>
          <p:cNvPr id="176" name="Google Shape;176;p4"/>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4400"/>
              <a:buFont typeface="Times New Roman"/>
              <a:buNone/>
            </a:pPr>
            <a:r>
              <a:rPr b="1" i="0" lang="en-US" sz="4400" u="none">
                <a:solidFill>
                  <a:schemeClr val="accent1"/>
                </a:solidFill>
                <a:latin typeface="Times New Roman"/>
                <a:ea typeface="Times New Roman"/>
                <a:cs typeface="Times New Roman"/>
                <a:sym typeface="Times New Roman"/>
              </a:rPr>
              <a:t>CỔ PHIẾU</a:t>
            </a:r>
            <a:endParaRPr/>
          </a:p>
        </p:txBody>
      </p:sp>
      <p:sp>
        <p:nvSpPr>
          <p:cNvPr id="177" name="Google Shape;177;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Là chứng khoán xác nhận quyền và lợi ích hợp pháp của người sở hữu đối với một phần vốn cổ phiếu của tổ chức phát hành</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 Vốn điều lệ công ty cổ phần được chia thành nhiều phần bằng nhau gọi là cổ phần</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 Cổ phiếu là bằng chứng các nhận quyền sở hữu một hoặc một số cổ phần của công ty đó</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Times New Roman"/>
                <a:ea typeface="Times New Roman"/>
                <a:cs typeface="Times New Roman"/>
                <a:sym typeface="Times New Roman"/>
              </a:rPr>
              <a:t>	🡪 Cổ phiếu là chứng khoán vốn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1" name="Shape 181"/>
        <p:cNvGrpSpPr/>
        <p:nvPr/>
      </p:nvGrpSpPr>
      <p:grpSpPr>
        <a:xfrm>
          <a:off x="0" y="0"/>
          <a:ext cx="0" cy="0"/>
          <a:chOff x="0" y="0"/>
          <a:chExt cx="0" cy="0"/>
        </a:xfrm>
      </p:grpSpPr>
      <p:sp>
        <p:nvSpPr>
          <p:cNvPr id="182" name="Google Shape;182;p5"/>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4400"/>
              <a:buFont typeface="Times New Roman"/>
              <a:buNone/>
            </a:pPr>
            <a:r>
              <a:rPr b="1" i="0" lang="en-US" sz="4400" u="none">
                <a:solidFill>
                  <a:schemeClr val="accent1"/>
                </a:solidFill>
                <a:latin typeface="Times New Roman"/>
                <a:ea typeface="Times New Roman"/>
                <a:cs typeface="Times New Roman"/>
                <a:sym typeface="Times New Roman"/>
              </a:rPr>
              <a:t>CÁC LOẠI CỔ PHIẾU</a:t>
            </a:r>
            <a:endParaRPr/>
          </a:p>
        </p:txBody>
      </p:sp>
      <p:sp>
        <p:nvSpPr>
          <p:cNvPr id="183" name="Google Shape;183;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Phân loại cổ phiếu theo quyền lợi của cổ đông</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Phân loại cổ phiếu theo tính chất thu nhập</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Phân loại cổ phiếu theo tính chất lưu hành</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7" name="Shape 187"/>
        <p:cNvGrpSpPr/>
        <p:nvPr/>
      </p:nvGrpSpPr>
      <p:grpSpPr>
        <a:xfrm>
          <a:off x="0" y="0"/>
          <a:ext cx="0" cy="0"/>
          <a:chOff x="0" y="0"/>
          <a:chExt cx="0" cy="0"/>
        </a:xfrm>
      </p:grpSpPr>
      <p:sp>
        <p:nvSpPr>
          <p:cNvPr id="188" name="Google Shape;188;p6"/>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PHÂN LOẠI CỔ PHIẾU</a:t>
            </a:r>
            <a:br>
              <a:rPr b="1" i="0" lang="en-US" sz="3200" u="none">
                <a:solidFill>
                  <a:schemeClr val="accent1"/>
                </a:solidFill>
                <a:latin typeface="Times New Roman"/>
                <a:ea typeface="Times New Roman"/>
                <a:cs typeface="Times New Roman"/>
                <a:sym typeface="Times New Roman"/>
              </a:rPr>
            </a:br>
            <a:r>
              <a:rPr b="1" i="0" lang="en-US" sz="3200" u="none">
                <a:solidFill>
                  <a:schemeClr val="accent1"/>
                </a:solidFill>
                <a:latin typeface="Times New Roman"/>
                <a:ea typeface="Times New Roman"/>
                <a:cs typeface="Times New Roman"/>
                <a:sym typeface="Times New Roman"/>
              </a:rPr>
              <a:t>THEO QUYỀN LỢI CỔ ĐÔNG</a:t>
            </a:r>
            <a:endParaRPr/>
          </a:p>
        </p:txBody>
      </p:sp>
      <p:sp>
        <p:nvSpPr>
          <p:cNvPr id="189" name="Google Shape;189;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Cổ phiếu chia thành cổ phiếu phổ thông và cổ phiếu ưu đãi</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Công ty cổ phần phải có cổ phiếu phổ thông</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Công ty cổ phần có thể có cổ phiếu ưu đãi</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cổ đông không thể chuyển đối thành cổ phiếu ưu đãi</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ưu đãi có thể chuyển thành cổ phiếu phổ thông</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3" name="Shape 193"/>
        <p:cNvGrpSpPr/>
        <p:nvPr/>
      </p:nvGrpSpPr>
      <p:grpSpPr>
        <a:xfrm>
          <a:off x="0" y="0"/>
          <a:ext cx="0" cy="0"/>
          <a:chOff x="0" y="0"/>
          <a:chExt cx="0" cy="0"/>
        </a:xfrm>
      </p:grpSpPr>
      <p:sp>
        <p:nvSpPr>
          <p:cNvPr id="194" name="Google Shape;194;p7"/>
          <p:cNvSpPr txBox="1"/>
          <p:nvPr>
            <p:ph type="title"/>
          </p:nvPr>
        </p:nvSpPr>
        <p:spPr>
          <a:xfrm>
            <a:off x="1981200" y="274637"/>
            <a:ext cx="69342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000"/>
              <a:buFont typeface="Times New Roman"/>
              <a:buNone/>
            </a:pPr>
            <a:r>
              <a:rPr b="1" i="0" lang="en-US" sz="3000" u="none">
                <a:solidFill>
                  <a:schemeClr val="accent1"/>
                </a:solidFill>
                <a:latin typeface="Times New Roman"/>
                <a:ea typeface="Times New Roman"/>
                <a:cs typeface="Times New Roman"/>
                <a:sym typeface="Times New Roman"/>
              </a:rPr>
              <a:t>QUYỀN CỦA CỔ PHIẾU PHỔ THÔNG</a:t>
            </a:r>
            <a:endParaRPr/>
          </a:p>
        </p:txBody>
      </p:sp>
      <p:sp>
        <p:nvSpPr>
          <p:cNvPr id="195" name="Google Shape;195;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Nhận cổ tức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Nhận cổ tức theo quyết định của Đại hội đồng cổ đông</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Nguồn chi trả cổ tức trích từ lợi nhuận ròng, sau khi trích lập các quỹ (và bù đắp lỗ trước đó – nếu có)</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 Cổ tức trả bằng tiền mặt, cổ phiếu, tài sản khác</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p8"/>
          <p:cNvSpPr txBox="1"/>
          <p:nvPr>
            <p:ph idx="4294967295" type="body"/>
          </p:nvPr>
        </p:nvSpPr>
        <p:spPr>
          <a:xfrm>
            <a:off x="457200" y="1600200"/>
            <a:ext cx="8229600" cy="4525963"/>
          </a:xfrm>
          <a:prstGeom prst="rect">
            <a:avLst/>
          </a:prstGeom>
          <a:blipFill rotWithShape="1">
            <a:blip r:embed="rId3">
              <a:alphaModFix/>
            </a:blip>
            <a:stretch>
              <a:fillRect b="-805" l="-1626" r="-1476" t="-2962"/>
            </a:stretch>
          </a:blip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3200"/>
              <a:buFont typeface="Arial"/>
              <a:buChar char="•"/>
            </a:pPr>
            <a:r>
              <a:rPr b="0" i="0" lang="en-US" sz="3200" u="none" cap="none" strike="noStrike">
                <a:latin typeface="Times New Roman"/>
                <a:ea typeface="Times New Roman"/>
                <a:cs typeface="Times New Roman"/>
                <a:sym typeface="Times New Roman"/>
              </a:rPr>
              <a:t> </a:t>
            </a:r>
            <a:endParaRPr/>
          </a:p>
        </p:txBody>
      </p:sp>
      <p:sp>
        <p:nvSpPr>
          <p:cNvPr id="201" name="Google Shape;201;p8"/>
          <p:cNvSpPr txBox="1"/>
          <p:nvPr>
            <p:ph type="title"/>
          </p:nvPr>
        </p:nvSpPr>
        <p:spPr>
          <a:xfrm>
            <a:off x="1981200" y="274637"/>
            <a:ext cx="7162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000"/>
              <a:buFont typeface="Times New Roman"/>
              <a:buNone/>
            </a:pPr>
            <a:r>
              <a:rPr b="1" i="0" lang="en-US" sz="3000" u="none">
                <a:solidFill>
                  <a:schemeClr val="accent1"/>
                </a:solidFill>
                <a:latin typeface="Times New Roman"/>
                <a:ea typeface="Times New Roman"/>
                <a:cs typeface="Times New Roman"/>
                <a:sym typeface="Times New Roman"/>
              </a:rPr>
              <a:t>QUYỀN CỦA CỔ PHIẾU PHỔ THÔNG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5" name="Shape 205"/>
        <p:cNvGrpSpPr/>
        <p:nvPr/>
      </p:nvGrpSpPr>
      <p:grpSpPr>
        <a:xfrm>
          <a:off x="0" y="0"/>
          <a:ext cx="0" cy="0"/>
          <a:chOff x="0" y="0"/>
          <a:chExt cx="0" cy="0"/>
        </a:xfrm>
      </p:grpSpPr>
      <p:sp>
        <p:nvSpPr>
          <p:cNvPr id="206" name="Google Shape;206;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Nhận cổ tức (tiếp)</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Ngày giao dịch không hưởng quyền nhận cổ tức</a:t>
            </a:r>
            <a:endParaRPr/>
          </a:p>
          <a:p>
            <a:pPr indent="-133350" lvl="1" marL="742950" marR="0" rtl="0" algn="l">
              <a:lnSpc>
                <a:spcPct val="9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285750" lvl="1" marL="742950" marR="0" rtl="0" algn="l">
              <a:lnSpc>
                <a:spcPct val="9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01600" lvl="2" marL="1143000" marR="0" rtl="0" algn="l">
              <a:lnSpc>
                <a:spcPct val="90000"/>
              </a:lnSpc>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01600" lvl="2" marL="1143000" marR="0" rtl="0" algn="l">
              <a:lnSpc>
                <a:spcPct val="90000"/>
              </a:lnSpc>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01600" lvl="2" marL="1143000" marR="0" rtl="0" algn="l">
              <a:lnSpc>
                <a:spcPct val="90000"/>
              </a:lnSpc>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101600" lvl="2" marL="1143000" marR="0" rtl="0" algn="l">
              <a:lnSpc>
                <a:spcPct val="90000"/>
              </a:lnSpc>
              <a:spcBef>
                <a:spcPts val="400"/>
              </a:spcBef>
              <a:spcAft>
                <a:spcPts val="0"/>
              </a:spcAft>
              <a:buClr>
                <a:schemeClr val="dk1"/>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228600" lvl="2" marL="11430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 + 2: ngày thanh toán</a:t>
            </a:r>
            <a:endParaRPr/>
          </a:p>
          <a:p>
            <a:pPr indent="-228600" lvl="2" marL="11430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 Mua cổ phiếu vào 28/6 thì có tên trong sổ cổ đông vào 30/6, được nhận cổ tức </a:t>
            </a:r>
            <a:endParaRPr/>
          </a:p>
          <a:p>
            <a:pPr indent="-228600" lvl="2" marL="1143000" marR="0" rtl="0" algn="l">
              <a:lnSpc>
                <a:spcPct val="90000"/>
              </a:lnSpc>
              <a:spcBef>
                <a:spcPts val="40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 Mua cổ phiếu vào ngày 29/6 thì không được quyền nhận cổ tức</a:t>
            </a:r>
            <a:endParaRPr/>
          </a:p>
        </p:txBody>
      </p:sp>
      <p:grpSp>
        <p:nvGrpSpPr>
          <p:cNvPr id="207" name="Google Shape;207;p9"/>
          <p:cNvGrpSpPr/>
          <p:nvPr/>
        </p:nvGrpSpPr>
        <p:grpSpPr>
          <a:xfrm>
            <a:off x="609600" y="2482850"/>
            <a:ext cx="8269287" cy="1620837"/>
            <a:chOff x="838200" y="2482911"/>
            <a:chExt cx="8269357" cy="1620221"/>
          </a:xfrm>
        </p:grpSpPr>
        <p:cxnSp>
          <p:nvCxnSpPr>
            <p:cNvPr id="208" name="Google Shape;208;p9"/>
            <p:cNvCxnSpPr/>
            <p:nvPr/>
          </p:nvCxnSpPr>
          <p:spPr>
            <a:xfrm>
              <a:off x="838200" y="3276359"/>
              <a:ext cx="7391462" cy="0"/>
            </a:xfrm>
            <a:prstGeom prst="straightConnector1">
              <a:avLst/>
            </a:prstGeom>
            <a:noFill/>
            <a:ln cap="flat" cmpd="sng" w="38100">
              <a:solidFill>
                <a:srgbClr val="4A7EBB"/>
              </a:solidFill>
              <a:prstDash val="solid"/>
              <a:miter lim="800000"/>
              <a:headEnd len="sm" w="sm" type="none"/>
              <a:tailEnd len="sm" w="sm" type="none"/>
            </a:ln>
          </p:spPr>
        </p:cxnSp>
        <p:sp>
          <p:nvSpPr>
            <p:cNvPr id="209" name="Google Shape;209;p9"/>
            <p:cNvSpPr/>
            <p:nvPr/>
          </p:nvSpPr>
          <p:spPr>
            <a:xfrm>
              <a:off x="1447805" y="3124017"/>
              <a:ext cx="304803" cy="304684"/>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9"/>
            <p:cNvSpPr/>
            <p:nvPr/>
          </p:nvSpPr>
          <p:spPr>
            <a:xfrm>
              <a:off x="2819417" y="3124017"/>
              <a:ext cx="304803" cy="304684"/>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9"/>
            <p:cNvSpPr/>
            <p:nvPr/>
          </p:nvSpPr>
          <p:spPr>
            <a:xfrm>
              <a:off x="4191028" y="3127191"/>
              <a:ext cx="304803" cy="304684"/>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2" name="Google Shape;212;p9"/>
            <p:cNvSpPr/>
            <p:nvPr/>
          </p:nvSpPr>
          <p:spPr>
            <a:xfrm>
              <a:off x="5699166" y="3127191"/>
              <a:ext cx="304803" cy="304684"/>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9"/>
            <p:cNvSpPr/>
            <p:nvPr/>
          </p:nvSpPr>
          <p:spPr>
            <a:xfrm>
              <a:off x="7086652" y="3124017"/>
              <a:ext cx="304803" cy="304684"/>
            </a:xfrm>
            <a:prstGeom prst="ellipse">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9"/>
            <p:cNvSpPr txBox="1"/>
            <p:nvPr/>
          </p:nvSpPr>
          <p:spPr>
            <a:xfrm>
              <a:off x="1219200" y="2743200"/>
              <a:ext cx="6781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27/06	         28/06	29/06	            30/06	   01/07</a:t>
              </a:r>
              <a:endParaRPr b="0" i="0" sz="1400" u="none" cap="none" strike="noStrike">
                <a:solidFill>
                  <a:srgbClr val="000000"/>
                </a:solidFill>
                <a:latin typeface="Arial"/>
                <a:ea typeface="Arial"/>
                <a:cs typeface="Arial"/>
                <a:sym typeface="Arial"/>
              </a:endParaRPr>
            </a:p>
          </p:txBody>
        </p:sp>
        <p:sp>
          <p:nvSpPr>
            <p:cNvPr id="215" name="Google Shape;215;p9"/>
            <p:cNvSpPr txBox="1"/>
            <p:nvPr/>
          </p:nvSpPr>
          <p:spPr>
            <a:xfrm>
              <a:off x="1219200" y="3733800"/>
              <a:ext cx="67818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	         T + 0	T + 1	            T + 2	</a:t>
              </a:r>
              <a:endParaRPr b="0" i="0" sz="1400" u="none" cap="none" strike="noStrike">
                <a:solidFill>
                  <a:srgbClr val="000000"/>
                </a:solidFill>
                <a:latin typeface="Arial"/>
                <a:ea typeface="Arial"/>
                <a:cs typeface="Arial"/>
                <a:sym typeface="Arial"/>
              </a:endParaRPr>
            </a:p>
          </p:txBody>
        </p:sp>
        <p:sp>
          <p:nvSpPr>
            <p:cNvPr id="216" name="Google Shape;216;p9"/>
            <p:cNvSpPr txBox="1"/>
            <p:nvPr/>
          </p:nvSpPr>
          <p:spPr>
            <a:xfrm>
              <a:off x="4724400" y="3429000"/>
              <a:ext cx="2514600" cy="3691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Ngày đăng ký cuối cùng</a:t>
              </a:r>
              <a:endParaRPr b="0" i="0" sz="1400" u="none" cap="none" strike="noStrike">
                <a:solidFill>
                  <a:srgbClr val="000000"/>
                </a:solidFill>
                <a:latin typeface="Arial"/>
                <a:ea typeface="Arial"/>
                <a:cs typeface="Arial"/>
                <a:sym typeface="Arial"/>
              </a:endParaRPr>
            </a:p>
          </p:txBody>
        </p:sp>
        <p:sp>
          <p:nvSpPr>
            <p:cNvPr id="217" name="Google Shape;217;p9"/>
            <p:cNvSpPr txBox="1"/>
            <p:nvPr/>
          </p:nvSpPr>
          <p:spPr>
            <a:xfrm>
              <a:off x="7850257" y="2482911"/>
              <a:ext cx="1257300" cy="6460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Ngày nhận cổ tức</a:t>
              </a:r>
              <a:endParaRPr b="0" i="0" sz="1400" u="none" cap="none" strike="noStrike">
                <a:solidFill>
                  <a:srgbClr val="000000"/>
                </a:solidFill>
                <a:latin typeface="Arial"/>
                <a:ea typeface="Arial"/>
                <a:cs typeface="Arial"/>
                <a:sym typeface="Arial"/>
              </a:endParaRPr>
            </a:p>
          </p:txBody>
        </p:sp>
      </p:grpSp>
      <p:sp>
        <p:nvSpPr>
          <p:cNvPr id="218" name="Google Shape;218;p9"/>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19" name="Google Shape;219;p9"/>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3" name="Shape 223"/>
        <p:cNvGrpSpPr/>
        <p:nvPr/>
      </p:nvGrpSpPr>
      <p:grpSpPr>
        <a:xfrm>
          <a:off x="0" y="0"/>
          <a:ext cx="0" cy="0"/>
          <a:chOff x="0" y="0"/>
          <a:chExt cx="0" cy="0"/>
        </a:xfrm>
      </p:grpSpPr>
      <p:sp>
        <p:nvSpPr>
          <p:cNvPr id="224" name="Google Shape;224;p10"/>
          <p:cNvSpPr txBox="1"/>
          <p:nvPr>
            <p:ph idx="4294967295" type="body"/>
          </p:nvPr>
        </p:nvSpPr>
        <p:spPr>
          <a:xfrm>
            <a:off x="304800" y="1600200"/>
            <a:ext cx="8686800" cy="4525963"/>
          </a:xfrm>
          <a:prstGeom prst="rect">
            <a:avLst/>
          </a:prstGeom>
          <a:blipFill rotWithShape="1">
            <a:blip r:embed="rId3">
              <a:alphaModFix/>
            </a:blip>
            <a:stretch>
              <a:fillRect b="0" l="-1540" r="-276" t="-1883"/>
            </a:stretch>
          </a:blip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3200"/>
              <a:buFont typeface="Arial"/>
              <a:buChar char="•"/>
            </a:pPr>
            <a:r>
              <a:rPr b="0" i="0" lang="en-US" sz="3200" u="none" cap="none" strike="noStrike">
                <a:latin typeface="Times New Roman"/>
                <a:ea typeface="Times New Roman"/>
                <a:cs typeface="Times New Roman"/>
                <a:sym typeface="Times New Roman"/>
              </a:rPr>
              <a:t> </a:t>
            </a:r>
            <a:endParaRPr/>
          </a:p>
        </p:txBody>
      </p:sp>
      <p:sp>
        <p:nvSpPr>
          <p:cNvPr id="225" name="Google Shape;225;p10"/>
          <p:cNvSpPr txBox="1"/>
          <p:nvPr/>
        </p:nvSpPr>
        <p:spPr>
          <a:xfrm>
            <a:off x="5105400" y="3962400"/>
            <a:ext cx="228600" cy="152400"/>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txBox="1"/>
          <p:nvPr/>
        </p:nvSpPr>
        <p:spPr>
          <a:xfrm>
            <a:off x="4267200" y="5105400"/>
            <a:ext cx="152400" cy="152400"/>
          </a:xfrm>
          <a:prstGeom prst="rect">
            <a:avLst/>
          </a:prstGeom>
          <a:solidFill>
            <a:schemeClr val="accent1"/>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10"/>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28" name="Google Shape;228;p10"/>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2" name="Shape 232"/>
        <p:cNvGrpSpPr/>
        <p:nvPr/>
      </p:nvGrpSpPr>
      <p:grpSpPr>
        <a:xfrm>
          <a:off x="0" y="0"/>
          <a:ext cx="0" cy="0"/>
          <a:chOff x="0" y="0"/>
          <a:chExt cx="0" cy="0"/>
        </a:xfrm>
      </p:grpSpPr>
      <p:sp>
        <p:nvSpPr>
          <p:cNvPr id="233" name="Google Shape;233;p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Quyền biểu quyết</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 Quyền tham dự vào hoạt động công ty</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 Tham dự và phát biểu tại Đại hội đồng cổ đông: </a:t>
            </a:r>
            <a:endParaRPr b="0" i="0" sz="2600" u="none" cap="none" strike="noStrike">
              <a:solidFill>
                <a:schemeClr val="dk1"/>
              </a:solidFill>
              <a:latin typeface="Times New Roman"/>
              <a:ea typeface="Times New Roman"/>
              <a:cs typeface="Times New Roman"/>
              <a:sym typeface="Times New Roman"/>
            </a:endParaRPr>
          </a:p>
          <a:p>
            <a:pPr indent="-285750" lvl="1" marL="742950" marR="0" rtl="0" algn="l">
              <a:lnSpc>
                <a:spcPct val="80000"/>
              </a:lnSpc>
              <a:spcBef>
                <a:spcPts val="440"/>
              </a:spcBef>
              <a:spcAft>
                <a:spcPts val="0"/>
              </a:spcAft>
              <a:buClr>
                <a:schemeClr val="dk1"/>
              </a:buClr>
              <a:buSzPts val="2200"/>
              <a:buFont typeface="Arial"/>
              <a:buNone/>
            </a:pPr>
            <a:r>
              <a:rPr b="0" i="0" lang="en-US" sz="2200" u="none" cap="none" strike="noStrike">
                <a:solidFill>
                  <a:schemeClr val="dk1"/>
                </a:solidFill>
                <a:latin typeface="Times New Roman"/>
                <a:ea typeface="Times New Roman"/>
                <a:cs typeface="Times New Roman"/>
                <a:sym typeface="Times New Roman"/>
              </a:rPr>
              <a:t>65% cổ phiếu biểu quyết của tất cả các cổ đông dự họp, Nghị quyết Đại hội đồng cổ đông mới có giá trị. Mỗi cổ phiếu là một phiếu biểu quyết.</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 Cổ đông có 5% cổ phiếu phổ thông có thể được bầu vào Hội đồng quản trị </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 Cổ đông 10% có quyền:</a:t>
            </a:r>
            <a:endParaRPr/>
          </a:p>
          <a:p>
            <a:pPr indent="-228600" lvl="2" marL="11430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Đề cử, ứng cử vào Hội đồng quản trị</a:t>
            </a:r>
            <a:endParaRPr/>
          </a:p>
          <a:p>
            <a:pPr indent="-228600" lvl="2" marL="11430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Xem xét, trích biên bản, nghi quyết Hội đồng quản trị, báo cáo của Ban kiểm soát</a:t>
            </a:r>
            <a:endParaRPr/>
          </a:p>
          <a:p>
            <a:pPr indent="-228600" lvl="2" marL="11430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Triệu tập Đại hội đồng cổ đông bất thường</a:t>
            </a:r>
            <a:endParaRPr/>
          </a:p>
          <a:p>
            <a:pPr indent="-120650" lvl="1" marL="742950" marR="0" rtl="0" algn="l">
              <a:lnSpc>
                <a:spcPct val="80000"/>
              </a:lnSpc>
              <a:spcBef>
                <a:spcPts val="520"/>
              </a:spcBef>
              <a:spcAft>
                <a:spcPts val="0"/>
              </a:spcAft>
              <a:buClr>
                <a:schemeClr val="dk1"/>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a:p>
            <a:pPr indent="-177800" lvl="0" marL="342900" marR="0" rtl="0" algn="l">
              <a:lnSpc>
                <a:spcPct val="100000"/>
              </a:lnSpc>
              <a:spcBef>
                <a:spcPts val="520"/>
              </a:spcBef>
              <a:spcAft>
                <a:spcPts val="0"/>
              </a:spcAft>
              <a:buClr>
                <a:schemeClr val="dk1"/>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p:txBody>
      </p:sp>
      <p:sp>
        <p:nvSpPr>
          <p:cNvPr id="234" name="Google Shape;234;p11"/>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35" name="Google Shape;235;p11"/>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9" name="Shape 239"/>
        <p:cNvGrpSpPr/>
        <p:nvPr/>
      </p:nvGrpSpPr>
      <p:grpSpPr>
        <a:xfrm>
          <a:off x="0" y="0"/>
          <a:ext cx="0" cy="0"/>
          <a:chOff x="0" y="0"/>
          <a:chExt cx="0" cy="0"/>
        </a:xfrm>
      </p:grpSpPr>
      <p:sp>
        <p:nvSpPr>
          <p:cNvPr id="240" name="Google Shape;240;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Quyền biểu quyết (tiếp)</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Các cổ đông có quyền lập thành nhóm, ủy quyền biểu quyết</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Mua tới 25% phải chào mua công khai theo Luật Chứng khoán</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Nắm giữ 65% có toàn quyền quyết định các hoạt động  của công ty</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Nắm giữ 5% trở lên là cổ đông lớn, mua – bán phải công bố thông tin</a:t>
            </a:r>
            <a:endParaRPr/>
          </a:p>
          <a:p>
            <a:pPr indent="-107950" lvl="1" marL="742950" marR="0" rtl="0" algn="l">
              <a:lnSpc>
                <a:spcPct val="100000"/>
              </a:lnSpc>
              <a:spcBef>
                <a:spcPts val="56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241" name="Google Shape;241;p12"/>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42" name="Google Shape;242;p12"/>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6" name="Shape 246"/>
        <p:cNvGrpSpPr/>
        <p:nvPr/>
      </p:nvGrpSpPr>
      <p:grpSpPr>
        <a:xfrm>
          <a:off x="0" y="0"/>
          <a:ext cx="0" cy="0"/>
          <a:chOff x="0" y="0"/>
          <a:chExt cx="0" cy="0"/>
        </a:xfrm>
      </p:grpSpPr>
      <p:sp>
        <p:nvSpPr>
          <p:cNvPr id="247" name="Google Shape;247;p13"/>
          <p:cNvSpPr txBox="1"/>
          <p:nvPr>
            <p:ph idx="4294967295" type="body"/>
          </p:nvPr>
        </p:nvSpPr>
        <p:spPr>
          <a:xfrm>
            <a:off x="457200" y="1600200"/>
            <a:ext cx="8229600" cy="4525963"/>
          </a:xfrm>
          <a:prstGeom prst="rect">
            <a:avLst/>
          </a:prstGeom>
          <a:blipFill rotWithShape="1">
            <a:blip r:embed="rId3">
              <a:alphaModFix/>
            </a:blip>
            <a:stretch>
              <a:fillRect b="-1880" l="-1476" r="0" t="-3768"/>
            </a:stretch>
          </a:blip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3200"/>
              <a:buFont typeface="Arial"/>
              <a:buChar char="•"/>
            </a:pPr>
            <a:r>
              <a:rPr b="0" i="0" lang="en-US" sz="3200" u="none" cap="none" strike="noStrike">
                <a:latin typeface="Times New Roman"/>
                <a:ea typeface="Times New Roman"/>
                <a:cs typeface="Times New Roman"/>
                <a:sym typeface="Times New Roman"/>
              </a:rPr>
              <a:t> </a:t>
            </a:r>
            <a:endParaRPr/>
          </a:p>
        </p:txBody>
      </p:sp>
      <p:sp>
        <p:nvSpPr>
          <p:cNvPr id="248" name="Google Shape;248;p13"/>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49" name="Google Shape;249;p13"/>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3" name="Shape 253"/>
        <p:cNvGrpSpPr/>
        <p:nvPr/>
      </p:nvGrpSpPr>
      <p:grpSpPr>
        <a:xfrm>
          <a:off x="0" y="0"/>
          <a:ext cx="0" cy="0"/>
          <a:chOff x="0" y="0"/>
          <a:chExt cx="0" cy="0"/>
        </a:xfrm>
      </p:grpSpPr>
      <p:sp>
        <p:nvSpPr>
          <p:cNvPr id="254" name="Google Shape;254;p14"/>
          <p:cNvSpPr txBox="1"/>
          <p:nvPr>
            <p:ph idx="4294967295" type="body"/>
          </p:nvPr>
        </p:nvSpPr>
        <p:spPr>
          <a:xfrm>
            <a:off x="457200" y="1600200"/>
            <a:ext cx="8229600" cy="4525963"/>
          </a:xfrm>
          <a:prstGeom prst="rect">
            <a:avLst/>
          </a:prstGeom>
          <a:blipFill rotWithShape="1">
            <a:blip r:embed="rId3">
              <a:alphaModFix/>
            </a:blip>
            <a:stretch>
              <a:fillRect b="0" l="-1627" r="0" t="-2961"/>
            </a:stretch>
          </a:blip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SzPts val="3200"/>
              <a:buFont typeface="Arial"/>
              <a:buChar char="•"/>
            </a:pPr>
            <a:r>
              <a:rPr b="0" i="0" lang="en-US" sz="3200" u="none" cap="none" strike="noStrike">
                <a:latin typeface="Times New Roman"/>
                <a:ea typeface="Times New Roman"/>
                <a:cs typeface="Times New Roman"/>
                <a:sym typeface="Times New Roman"/>
              </a:rPr>
              <a:t> </a:t>
            </a:r>
            <a:endParaRPr/>
          </a:p>
        </p:txBody>
      </p:sp>
      <p:sp>
        <p:nvSpPr>
          <p:cNvPr id="255" name="Google Shape;255;p14"/>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solidFill>
                <a:srgbClr val="F2F2F2"/>
              </a:solidFill>
            </a:endParaRPr>
          </a:p>
        </p:txBody>
      </p:sp>
      <p:sp>
        <p:nvSpPr>
          <p:cNvPr id="256" name="Google Shape;256;p14"/>
          <p:cNvSpPr txBox="1"/>
          <p:nvPr/>
        </p:nvSpPr>
        <p:spPr>
          <a:xfrm>
            <a:off x="1981200" y="274637"/>
            <a:ext cx="7162800" cy="1143000"/>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chemeClr val="accent1"/>
              </a:buClr>
              <a:buSzPts val="3000"/>
              <a:buFont typeface="Times New Roman"/>
              <a:buNone/>
            </a:pPr>
            <a:r>
              <a:rPr b="1" i="0" lang="en-US" sz="3000" u="none" cap="none" strike="noStrike">
                <a:solidFill>
                  <a:schemeClr val="accent1"/>
                </a:solidFill>
                <a:latin typeface="Times New Roman"/>
                <a:ea typeface="Times New Roman"/>
                <a:cs typeface="Times New Roman"/>
                <a:sym typeface="Times New Roman"/>
              </a:rPr>
              <a:t>QUYỀN CỦA CỔ PHIẾU PHỔ THÔNG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0" name="Shape 260"/>
        <p:cNvGrpSpPr/>
        <p:nvPr/>
      </p:nvGrpSpPr>
      <p:grpSpPr>
        <a:xfrm>
          <a:off x="0" y="0"/>
          <a:ext cx="0" cy="0"/>
          <a:chOff x="0" y="0"/>
          <a:chExt cx="0" cy="0"/>
        </a:xfrm>
      </p:grpSpPr>
      <p:sp>
        <p:nvSpPr>
          <p:cNvPr id="261" name="Google Shape;261;p15"/>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CỔ PHIẾU ƯU ĐÃI</a:t>
            </a:r>
            <a:endParaRPr/>
          </a:p>
        </p:txBody>
      </p:sp>
      <p:sp>
        <p:nvSpPr>
          <p:cNvPr id="262" name="Google Shape;262;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Có một số loại cơ bản sau:</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ưu đãi cổ tức</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ưu đãi biểu quyết</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ưu đãi tham dự</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Cổ phiếu ưu đãi hoàn lại</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6" name="Shape 266"/>
        <p:cNvGrpSpPr/>
        <p:nvPr/>
      </p:nvGrpSpPr>
      <p:grpSpPr>
        <a:xfrm>
          <a:off x="0" y="0"/>
          <a:ext cx="0" cy="0"/>
          <a:chOff x="0" y="0"/>
          <a:chExt cx="0" cy="0"/>
        </a:xfrm>
      </p:grpSpPr>
      <p:sp>
        <p:nvSpPr>
          <p:cNvPr id="267" name="Google Shape;267;p16"/>
          <p:cNvSpPr txBox="1"/>
          <p:nvPr>
            <p:ph type="title"/>
          </p:nvPr>
        </p:nvSpPr>
        <p:spPr>
          <a:xfrm>
            <a:off x="1981200" y="274637"/>
            <a:ext cx="68580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CỔ PHIẾU ƯU ĐÃI CỔ TỨC</a:t>
            </a:r>
            <a:endParaRPr/>
          </a:p>
        </p:txBody>
      </p:sp>
      <p:sp>
        <p:nvSpPr>
          <p:cNvPr id="268" name="Google Shape;268;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Trả cổ phiếu cao hơn và trước cổ phiếu phổ thông</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Nhận tài sản thanh lý sau thanh toán nợ, cổ phiếu ưu đãi hoàn lại, và trước cổ phiếu phổ thông</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Không được quyền biểu quyết</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Tự do chuyển nhượng</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tức ưu đãi gồm: cổ tức cố định và cổ tức thưởng</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tức cố định có 2 loại:</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Không bắt buộc, nếu vốn không phải hoàn trả (vốn chủ sở hữu)</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Bắt buộc nếu vốn phải hoàn trả (nợ phải trả)</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2" name="Shape 272"/>
        <p:cNvGrpSpPr/>
        <p:nvPr/>
      </p:nvGrpSpPr>
      <p:grpSpPr>
        <a:xfrm>
          <a:off x="0" y="0"/>
          <a:ext cx="0" cy="0"/>
          <a:chOff x="0" y="0"/>
          <a:chExt cx="0" cy="0"/>
        </a:xfrm>
      </p:grpSpPr>
      <p:sp>
        <p:nvSpPr>
          <p:cNvPr id="273" name="Google Shape;273;p17"/>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CỔ PHIẾU ƯU ĐÃI BIỂU QUYẾT</a:t>
            </a:r>
            <a:endParaRPr/>
          </a:p>
        </p:txBody>
      </p:sp>
      <p:sp>
        <p:nvSpPr>
          <p:cNvPr id="274" name="Google Shape;274;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Chỉ có tổ chức được Chính phủ ủy quyền và cổ đông sáng lập mới được quyền nắm cổ phiếu ưu đãi biểu quyết</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Có hiệu lực trong 3 năm, không được chuyển nhượng, sau đó chuyển thành cổ phiếu phổ thông</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Cổ phiếu ưu đãi biểu quyết có số phiếu bầu nhiều hơn so với cổ phiếu phổ thông</a:t>
            </a:r>
            <a:endParaRPr/>
          </a:p>
          <a:p>
            <a:pPr indent="-342900" lvl="0" marL="342900" marR="0" rtl="0" algn="l">
              <a:lnSpc>
                <a:spcPct val="9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Có các quyền khác như cổ phiếu phổ thông</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8" name="Shape 278"/>
        <p:cNvGrpSpPr/>
        <p:nvPr/>
      </p:nvGrpSpPr>
      <p:grpSpPr>
        <a:xfrm>
          <a:off x="0" y="0"/>
          <a:ext cx="0" cy="0"/>
          <a:chOff x="0" y="0"/>
          <a:chExt cx="0" cy="0"/>
        </a:xfrm>
      </p:grpSpPr>
      <p:sp>
        <p:nvSpPr>
          <p:cNvPr id="279" name="Google Shape;279;p18"/>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PHÂN LOẠI CỔ PHIẾU THEO TÍNH CHẤT THU NHẬP</a:t>
            </a:r>
            <a:endParaRPr/>
          </a:p>
        </p:txBody>
      </p:sp>
      <p:sp>
        <p:nvSpPr>
          <p:cNvPr id="280" name="Google Shape;280;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phiếu thượng hạng (Blue chip): Cổ phiếu của các công ty lớn, có tiềm lực tài chính, lợi tức được chi trả liên tục, lâu dài. Là cổ phiếu dẫn dắt thị trường</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phiếu tăng trưởng: Cổ phiếu của công ty có doanh thu, thu nhập tăng nhanh cao hơn nền kinh tế, ngành, trả cổ tức không cao, nhưng tiềm năng tăng giá mạnh</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phiếu phòng vệ: Cổ phiếu của những công ty có sức chống đỡ với suy thoái. Đó là những công ty kinh doanh các sản phẩm thiết yếu.</a:t>
            </a:r>
            <a:endParaRPr/>
          </a:p>
          <a:p>
            <a:pPr indent="-342900" lvl="0" marL="342900" marR="0" rtl="0" algn="l">
              <a:lnSpc>
                <a:spcPct val="90000"/>
              </a:lnSpc>
              <a:spcBef>
                <a:spcPts val="540"/>
              </a:spcBef>
              <a:spcAft>
                <a:spcPts val="0"/>
              </a:spcAft>
              <a:buClr>
                <a:schemeClr val="dk1"/>
              </a:buClr>
              <a:buSzPts val="2700"/>
              <a:buFont typeface="Arial"/>
              <a:buChar char="•"/>
            </a:pPr>
            <a:r>
              <a:rPr b="0" i="0" lang="en-US" sz="2700" u="none">
                <a:solidFill>
                  <a:schemeClr val="dk1"/>
                </a:solidFill>
                <a:latin typeface="Times New Roman"/>
                <a:ea typeface="Times New Roman"/>
                <a:cs typeface="Times New Roman"/>
                <a:sym typeface="Times New Roman"/>
              </a:rPr>
              <a:t>Cổ phiếu thu nhập: Cổ phiếu của công ty trả lãi cao hơn bình thường. Cổ phiếu công ty thuộc lĩnh vực công ích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4" name="Shape 284"/>
        <p:cNvGrpSpPr/>
        <p:nvPr/>
      </p:nvGrpSpPr>
      <p:grpSpPr>
        <a:xfrm>
          <a:off x="0" y="0"/>
          <a:ext cx="0" cy="0"/>
          <a:chOff x="0" y="0"/>
          <a:chExt cx="0" cy="0"/>
        </a:xfrm>
      </p:grpSpPr>
      <p:sp>
        <p:nvSpPr>
          <p:cNvPr id="285" name="Google Shape;285;p19"/>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PHÂN LOẠI CỔ PHIẾU THEO TÍNH CHẤT LƯU HÀNH</a:t>
            </a:r>
            <a:endParaRPr/>
          </a:p>
        </p:txBody>
      </p:sp>
      <p:sp>
        <p:nvSpPr>
          <p:cNvPr id="286" name="Google Shape;286;p1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Cổ phiếu được phát hành: Tổng số cổ phiếu đăng ký phát hành và thực sự được bán ra. Cổ phiếu chưa được bán gọi là cổ phiếu chưa được phát hành</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Cổ phiếu quỹ: Là cổ phiếu của chính công ty đã phát hành và mua lại trên thị trường bằng nguồn vốn của cổ đông</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Cổ phiếu đang lưu hành: Là tổng số cổ phiếu đã phát hành trừ đi số cổ phiếu quỹ. Cổ phiếu lưu hành có quyền nhận cổ tức và biểu quyết, được giao dịch trên thị trường thứ cấp</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0" name="Shape 290"/>
        <p:cNvGrpSpPr/>
        <p:nvPr/>
      </p:nvGrpSpPr>
      <p:grpSpPr>
        <a:xfrm>
          <a:off x="0" y="0"/>
          <a:ext cx="0" cy="0"/>
          <a:chOff x="0" y="0"/>
          <a:chExt cx="0" cy="0"/>
        </a:xfrm>
      </p:grpSpPr>
      <p:sp>
        <p:nvSpPr>
          <p:cNvPr id="291" name="Google Shape;291;p20"/>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CỔ PHIẾU QUỸ</a:t>
            </a:r>
            <a:endParaRPr/>
          </a:p>
        </p:txBody>
      </p:sp>
      <p:sp>
        <p:nvSpPr>
          <p:cNvPr id="292" name="Google Shape;292;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Mục đích mua lại cổ phiếu quỹ</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Điều chỉnh giảm vốn điều lệ</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Giảm số lượng cổ phiếu đang lưu hành: thực hiện chống thâu tóm công ty hoặc hưởng quyền cao</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Bán lại cho người lao động hoặc thưởng cho người lao động/</a:t>
            </a:r>
            <a:endParaRPr b="0" i="0" sz="2600" u="none" cap="none" strike="noStrike">
              <a:solidFill>
                <a:schemeClr val="dk1"/>
              </a:solidFill>
              <a:latin typeface="Times New Roman"/>
              <a:ea typeface="Times New Roman"/>
              <a:cs typeface="Times New Roman"/>
              <a:sym typeface="Times New Roman"/>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Hội đồng quản trị quyết định mua lại cổ phiếu quỹ dưới 10%, trên 10% do Đại hội đồng cổ đông quyết định</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 Không được mua lại quá 30% cổ phiếu phổ thông làm cổ phiếu quỹ</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6" name="Shape 296"/>
        <p:cNvGrpSpPr/>
        <p:nvPr/>
      </p:nvGrpSpPr>
      <p:grpSpPr>
        <a:xfrm>
          <a:off x="0" y="0"/>
          <a:ext cx="0" cy="0"/>
          <a:chOff x="0" y="0"/>
          <a:chExt cx="0" cy="0"/>
        </a:xfrm>
      </p:grpSpPr>
      <p:sp>
        <p:nvSpPr>
          <p:cNvPr id="297" name="Google Shape;297;p21"/>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CỔ PHIẾU QUỸ …</a:t>
            </a:r>
            <a:endParaRPr/>
          </a:p>
        </p:txBody>
      </p:sp>
      <p:sp>
        <p:nvSpPr>
          <p:cNvPr id="298" name="Google Shape;298;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Không được mua cổ phiếu quỹ khi:</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Đang thua lỗ</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Đang làm thủ tục phát hành huy động thêm vốn</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Có nợ phải trả quá hạn</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Nợ phải thu quá hạn lớn hơn 10% số vốn cổ đông</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Dùng vốn vay và vốn chiếm dụng</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Mua bán cổ phiếu quỹ không phải là hoạt động kinh doanh tài chính. Thặng dư vốn là vốn, không phải là thu nhập tài chính của công ty</a:t>
            </a:r>
            <a:endParaRPr/>
          </a:p>
          <a:p>
            <a:pPr indent="-342900" lvl="0" marL="342900" marR="0" rtl="0" algn="l">
              <a:lnSpc>
                <a:spcPct val="8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 Cổ phiếu thuộc sở hữu chung của công ty, không nhận cổ tức, không có quyền biểu quyết</a:t>
            </a:r>
            <a:endParaRPr/>
          </a:p>
          <a:p>
            <a:pPr indent="-152400" lvl="0" marL="342900" marR="0" rtl="0" algn="l">
              <a:lnSpc>
                <a:spcPct val="100000"/>
              </a:lnSpc>
              <a:spcBef>
                <a:spcPts val="600"/>
              </a:spcBef>
              <a:spcAft>
                <a:spcPts val="0"/>
              </a:spcAft>
              <a:buClr>
                <a:schemeClr val="dk1"/>
              </a:buClr>
              <a:buSzPts val="3000"/>
              <a:buFont typeface="Arial"/>
              <a:buNone/>
            </a:pPr>
            <a:r>
              <a:t/>
            </a:r>
            <a:endParaRPr b="0" i="0" sz="30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2" name="Shape 302"/>
        <p:cNvGrpSpPr/>
        <p:nvPr/>
      </p:nvGrpSpPr>
      <p:grpSpPr>
        <a:xfrm>
          <a:off x="0" y="0"/>
          <a:ext cx="0" cy="0"/>
          <a:chOff x="0" y="0"/>
          <a:chExt cx="0" cy="0"/>
        </a:xfrm>
      </p:grpSpPr>
      <p:sp>
        <p:nvSpPr>
          <p:cNvPr id="303" name="Google Shape;303;p22"/>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THẶNG DƯ VỐN</a:t>
            </a:r>
            <a:endParaRPr/>
          </a:p>
        </p:txBody>
      </p:sp>
      <p:sp>
        <p:nvSpPr>
          <p:cNvPr id="304" name="Google Shape;304;p2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Chênh lệch giá bán cổ phiếu lần đầu so với mệnh giá (a)</a:t>
            </a:r>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Chênh lệch giá bán cổ phiếu phát hành bổ sung so với mệnh giá (b)</a:t>
            </a:r>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Chênh lệch mua bán cổ phiếu quỹ (c)</a:t>
            </a:r>
            <a:endParaRPr/>
          </a:p>
          <a:p>
            <a:pPr indent="-342900" lvl="0" marL="342900" marR="0" rtl="0" algn="l">
              <a:lnSpc>
                <a:spcPct val="90000"/>
              </a:lnSpc>
              <a:spcBef>
                <a:spcPts val="60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Sử dụng thặng dư vốn: thưởng cổ phiếu cho cổ đông hiện hữu để tăng vốn điều lệ:</a:t>
            </a:r>
            <a:endParaRPr/>
          </a:p>
          <a:p>
            <a:pPr indent="-285750" lvl="1" marL="742950" marR="0" rtl="0" algn="l">
              <a:lnSpc>
                <a:spcPct val="9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(c) sau 1 năm</a:t>
            </a:r>
            <a:endParaRPr/>
          </a:p>
          <a:p>
            <a:pPr indent="-285750" lvl="1" marL="742950" marR="0" rtl="0" algn="l">
              <a:lnSpc>
                <a:spcPct val="9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(a), (b) sau 3 năm nếu đầu tư vào dự án, sau 1 năm nếu là cơ cấu lại nợ</a:t>
            </a:r>
            <a:endParaRPr/>
          </a:p>
          <a:p>
            <a:pPr indent="-177800" lvl="0" marL="342900" marR="0" rtl="0" algn="l">
              <a:lnSpc>
                <a:spcPct val="100000"/>
              </a:lnSpc>
              <a:spcBef>
                <a:spcPts val="520"/>
              </a:spcBef>
              <a:spcAft>
                <a:spcPts val="0"/>
              </a:spcAft>
              <a:buClr>
                <a:schemeClr val="dk1"/>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8" name="Shape 308"/>
        <p:cNvGrpSpPr/>
        <p:nvPr/>
      </p:nvGrpSpPr>
      <p:grpSpPr>
        <a:xfrm>
          <a:off x="0" y="0"/>
          <a:ext cx="0" cy="0"/>
          <a:chOff x="0" y="0"/>
          <a:chExt cx="0" cy="0"/>
        </a:xfrm>
      </p:grpSpPr>
      <p:sp>
        <p:nvSpPr>
          <p:cNvPr id="309" name="Google Shape;309;p23"/>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TRÁI PHIẾU</a:t>
            </a:r>
            <a:endParaRPr/>
          </a:p>
        </p:txBody>
      </p:sp>
      <p:sp>
        <p:nvSpPr>
          <p:cNvPr id="310" name="Google Shape;310;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 Trái phiếu là loại chứng khoán xác nhận quyền và lợi ích hợp pháp của người sở hữu đối với một phần vốn nợ của tổ chức phát hành</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Trái phiếu phản ánh quan hệ nợ. Trái phiếu là chứng khoán nợ. Phát hành trái phiếu là đi vay vốn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5" name="Shape 315"/>
        <p:cNvGrpSpPr/>
        <p:nvPr/>
      </p:nvGrpSpPr>
      <p:grpSpPr>
        <a:xfrm>
          <a:off x="0" y="0"/>
          <a:ext cx="0" cy="0"/>
          <a:chOff x="0" y="0"/>
          <a:chExt cx="0" cy="0"/>
        </a:xfrm>
      </p:grpSpPr>
      <p:pic>
        <p:nvPicPr>
          <p:cNvPr id="316" name="Google Shape;316;p24"/>
          <p:cNvPicPr preferRelativeResize="0"/>
          <p:nvPr>
            <p:ph idx="4294967295" type="body"/>
          </p:nvPr>
        </p:nvPicPr>
        <p:blipFill rotWithShape="1">
          <a:blip r:embed="rId3">
            <a:alphaModFix/>
          </a:blip>
          <a:srcRect b="0" l="0" r="0" t="0"/>
          <a:stretch/>
        </p:blipFill>
        <p:spPr>
          <a:xfrm>
            <a:off x="304800" y="1447800"/>
            <a:ext cx="8610600" cy="5181600"/>
          </a:xfrm>
          <a:prstGeom prst="rect">
            <a:avLst/>
          </a:prstGeom>
          <a:noFill/>
          <a:ln>
            <a:noFill/>
          </a:ln>
        </p:spPr>
      </p:pic>
      <p:sp>
        <p:nvSpPr>
          <p:cNvPr id="317" name="Google Shape;317;p24"/>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1" name="Shape 321"/>
        <p:cNvGrpSpPr/>
        <p:nvPr/>
      </p:nvGrpSpPr>
      <p:grpSpPr>
        <a:xfrm>
          <a:off x="0" y="0"/>
          <a:ext cx="0" cy="0"/>
          <a:chOff x="0" y="0"/>
          <a:chExt cx="0" cy="0"/>
        </a:xfrm>
      </p:grpSpPr>
      <p:sp>
        <p:nvSpPr>
          <p:cNvPr id="322" name="Google Shape;322;p25"/>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TRÁI PHIẾU …</a:t>
            </a:r>
            <a:endParaRPr/>
          </a:p>
        </p:txBody>
      </p:sp>
      <p:sp>
        <p:nvSpPr>
          <p:cNvPr id="323" name="Google Shape;323;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8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Đặc trưng của trái phiếu: có 3 đặc trưng chính: </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Mệnh giá &amp; lãi suất:</a:t>
            </a:r>
            <a:endParaRPr b="0" i="0" sz="2600" u="none" cap="none" strike="noStrike">
              <a:solidFill>
                <a:schemeClr val="dk1"/>
              </a:solidFill>
              <a:latin typeface="Times New Roman"/>
              <a:ea typeface="Times New Roman"/>
              <a:cs typeface="Times New Roman"/>
              <a:sym typeface="Times New Roman"/>
            </a:endParaRPr>
          </a:p>
          <a:p>
            <a:pPr indent="-228600" lvl="2" marL="11430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Mệnh giá trái phiếu: là khoản gốc được hoàn trả khi đáo hạn và tính lãi suất theo mệnh giá</a:t>
            </a:r>
            <a:endParaRPr/>
          </a:p>
          <a:p>
            <a:pPr indent="-228600" lvl="2" marL="11430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Lãi suất trái phiếu: lãi suất danh nghĩa xác định căn cứ theo định mức tín nhiệm. Thường trả lãi định kỳ</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Thời hạn và thời gian đáo hạn: quan trọng vì nó quyết định thời gian vay nợ, trả lãi và mức lãi, quyết định giá trái phiếu</a:t>
            </a:r>
            <a:endParaRPr/>
          </a:p>
          <a:p>
            <a:pPr indent="-285750" lvl="1" marL="742950" marR="0" rtl="0" algn="l">
              <a:lnSpc>
                <a:spcPct val="8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Người phát hành: là đặc trưng quan trọng quyết định lãi suất, tính thanh khoản và sự an toàn của đầu tư trái phiếu</a:t>
            </a:r>
            <a:endParaRPr/>
          </a:p>
          <a:p>
            <a:pPr indent="-177800" lvl="0" marL="342900" marR="0" rtl="0" algn="l">
              <a:lnSpc>
                <a:spcPct val="100000"/>
              </a:lnSpc>
              <a:spcBef>
                <a:spcPts val="520"/>
              </a:spcBef>
              <a:spcAft>
                <a:spcPts val="0"/>
              </a:spcAft>
              <a:buClr>
                <a:schemeClr val="dk1"/>
              </a:buClr>
              <a:buSzPts val="2600"/>
              <a:buFont typeface="Arial"/>
              <a:buNone/>
            </a:pPr>
            <a:r>
              <a:t/>
            </a:r>
            <a:endParaRPr b="0" i="0" sz="2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7" name="Shape 327"/>
        <p:cNvGrpSpPr/>
        <p:nvPr/>
      </p:nvGrpSpPr>
      <p:grpSpPr>
        <a:xfrm>
          <a:off x="0" y="0"/>
          <a:ext cx="0" cy="0"/>
          <a:chOff x="0" y="0"/>
          <a:chExt cx="0" cy="0"/>
        </a:xfrm>
      </p:grpSpPr>
      <p:sp>
        <p:nvSpPr>
          <p:cNvPr id="328" name="Google Shape;328;p26"/>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4400"/>
              <a:buFont typeface="Times New Roman"/>
              <a:buNone/>
            </a:pPr>
            <a:r>
              <a:rPr b="1" i="0" lang="en-US" sz="4400" u="none">
                <a:solidFill>
                  <a:schemeClr val="accent1"/>
                </a:solidFill>
                <a:latin typeface="Times New Roman"/>
                <a:ea typeface="Times New Roman"/>
                <a:cs typeface="Times New Roman"/>
                <a:sym typeface="Times New Roman"/>
              </a:rPr>
              <a:t>TRÁI PHIẾU …</a:t>
            </a:r>
            <a:endParaRPr/>
          </a:p>
        </p:txBody>
      </p:sp>
      <p:sp>
        <p:nvSpPr>
          <p:cNvPr id="329" name="Google Shape;329;p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Phân loại trái phiếu</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Phân loại theo chủ sở hữu:</a:t>
            </a:r>
            <a:endParaRPr/>
          </a:p>
          <a:p>
            <a:pPr indent="0" lvl="2" marL="9144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Trái phiếu vô danh, trái phiếu ghi danh</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Phân loại theo chủ thể phát hành</a:t>
            </a:r>
            <a:endParaRPr/>
          </a:p>
          <a:p>
            <a:pPr indent="0" lvl="2" marL="9144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Trái phiếu Chính phủ, trái phiếu công ty, trái phiếu công trình,…</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Phân loại theo các điều khoản đi kèm</a:t>
            </a:r>
            <a:endParaRPr/>
          </a:p>
          <a:p>
            <a:pPr indent="0" lvl="2" marL="914400" marR="0" rtl="0" algn="l">
              <a:lnSpc>
                <a:spcPct val="100000"/>
              </a:lnSpc>
              <a:spcBef>
                <a:spcPts val="48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Trái phiếu chuyển đổi, trái phiếu có thể mua lại</a:t>
            </a:r>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3" name="Shape 333"/>
        <p:cNvGrpSpPr/>
        <p:nvPr/>
      </p:nvGrpSpPr>
      <p:grpSpPr>
        <a:xfrm>
          <a:off x="0" y="0"/>
          <a:ext cx="0" cy="0"/>
          <a:chOff x="0" y="0"/>
          <a:chExt cx="0" cy="0"/>
        </a:xfrm>
      </p:grpSpPr>
      <p:sp>
        <p:nvSpPr>
          <p:cNvPr id="334" name="Google Shape;334;p27"/>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SO SÁNH</a:t>
            </a:r>
            <a:br>
              <a:rPr b="1" i="0" lang="en-US" sz="3600" u="none">
                <a:solidFill>
                  <a:schemeClr val="accent1"/>
                </a:solidFill>
                <a:latin typeface="Times New Roman"/>
                <a:ea typeface="Times New Roman"/>
                <a:cs typeface="Times New Roman"/>
                <a:sym typeface="Times New Roman"/>
              </a:rPr>
            </a:br>
            <a:r>
              <a:rPr b="1" i="0" lang="en-US" sz="3600" u="none">
                <a:solidFill>
                  <a:schemeClr val="accent1"/>
                </a:solidFill>
                <a:latin typeface="Times New Roman"/>
                <a:ea typeface="Times New Roman"/>
                <a:cs typeface="Times New Roman"/>
                <a:sym typeface="Times New Roman"/>
              </a:rPr>
              <a:t>CỔ PHIẾU VÀ TRÁI PHIẾU</a:t>
            </a:r>
            <a:endParaRPr/>
          </a:p>
        </p:txBody>
      </p:sp>
      <p:graphicFrame>
        <p:nvGraphicFramePr>
          <p:cNvPr id="335" name="Google Shape;335;p27"/>
          <p:cNvGraphicFramePr/>
          <p:nvPr/>
        </p:nvGraphicFramePr>
        <p:xfrm>
          <a:off x="457200" y="1828800"/>
          <a:ext cx="3000000" cy="3000000"/>
        </p:xfrm>
        <a:graphic>
          <a:graphicData uri="http://schemas.openxmlformats.org/drawingml/2006/table">
            <a:tbl>
              <a:tblPr>
                <a:noFill/>
                <a:tableStyleId>{BA46080A-87B2-49DB-8D86-8B54E036FA86}</a:tableStyleId>
              </a:tblPr>
              <a:tblGrid>
                <a:gridCol w="4114800"/>
                <a:gridCol w="4114800"/>
              </a:tblGrid>
              <a:tr h="517525">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CỔ PHIẾU</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TRÁI PHIẾU</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12700">
                      <a:solidFill>
                        <a:schemeClr val="accent1"/>
                      </a:solidFill>
                      <a:prstDash val="solid"/>
                      <a:round/>
                      <a:headEnd len="sm" w="sm" type="none"/>
                      <a:tailEnd len="sm" w="sm" type="none"/>
                    </a:lnT>
                    <a:lnB cap="flat" cmpd="sng" w="25400">
                      <a:solidFill>
                        <a:schemeClr val="accent1"/>
                      </a:solidFill>
                      <a:prstDash val="solid"/>
                      <a:round/>
                      <a:headEnd len="sm" w="sm" type="none"/>
                      <a:tailEnd len="sm" w="sm" type="none"/>
                    </a:lnB>
                  </a:tcPr>
                </a:tc>
              </a:tr>
              <a:tr h="3444875">
                <a:tc>
                  <a:txBody>
                    <a:bodyPr/>
                    <a:lstStyle/>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Cổ phiếu không thể chuyển thành trái phiếu</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Thể hiện quan hệ sở hữu</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Hưởng giá trị tăng lên của công ty</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Tham gia vào hoạt động công ty</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Không kỳ hạn</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Phá sản: Thanh lý tài sản theo Luật Phá sản</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8823"/>
                      </a:schemeClr>
                    </a:solidFill>
                  </a:tcPr>
                </a:tc>
                <a:tc>
                  <a:txBody>
                    <a:bodyPr/>
                    <a:lstStyle/>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Trái phiếu có thể chuyển đổi thành cổ phiếu</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Thể hiện quan hệ nợ</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Hưởng lãi suất cố định và định kỳ</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Không được tham gia vào hoạt động công ty </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Có kỳ hạn</a:t>
                      </a:r>
                      <a:endParaRPr sz="1400" u="none" cap="none" strike="noStrike"/>
                    </a:p>
                    <a:p>
                      <a:pPr indent="-342900" lvl="0" marL="342900" marR="0" rtl="0" algn="just">
                        <a:lnSpc>
                          <a:spcPct val="100000"/>
                        </a:lnSpc>
                        <a:spcBef>
                          <a:spcPts val="0"/>
                        </a:spcBef>
                        <a:spcAft>
                          <a:spcPts val="0"/>
                        </a:spcAft>
                        <a:buClr>
                          <a:schemeClr val="dk1"/>
                        </a:buClr>
                        <a:buSzPts val="2200"/>
                        <a:buFont typeface="Noto Sans Symbols"/>
                        <a:buChar char="✔"/>
                      </a:pPr>
                      <a:r>
                        <a:rPr b="0" i="0" lang="en-US" sz="2200" u="none" cap="none" strike="noStrike">
                          <a:solidFill>
                            <a:schemeClr val="dk1"/>
                          </a:solidFill>
                          <a:latin typeface="Times New Roman"/>
                          <a:ea typeface="Times New Roman"/>
                          <a:cs typeface="Times New Roman"/>
                          <a:sym typeface="Times New Roman"/>
                        </a:rPr>
                        <a:t>Hết hạn: trả lại vốn gốc</a:t>
                      </a:r>
                      <a:endParaRPr sz="1400" u="none" cap="none" strike="noStrike"/>
                    </a:p>
                  </a:txBody>
                  <a:tcPr marT="45725" marB="45725" marR="91450" marL="9145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25400">
                      <a:solidFill>
                        <a:schemeClr val="accent1"/>
                      </a:solidFill>
                      <a:prstDash val="solid"/>
                      <a:round/>
                      <a:headEnd len="sm" w="sm" type="none"/>
                      <a:tailEnd len="sm" w="sm" type="none"/>
                    </a:lnT>
                    <a:lnB cap="flat" cmpd="sng" w="12700">
                      <a:solidFill>
                        <a:schemeClr val="accent1"/>
                      </a:solidFill>
                      <a:prstDash val="solid"/>
                      <a:round/>
                      <a:headEnd len="sm" w="sm" type="none"/>
                      <a:tailEnd len="sm" w="sm" type="none"/>
                    </a:lnB>
                    <a:solidFill>
                      <a:schemeClr val="accent1">
                        <a:alpha val="18823"/>
                      </a:scheme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9" name="Shape 339"/>
        <p:cNvGrpSpPr/>
        <p:nvPr/>
      </p:nvGrpSpPr>
      <p:grpSpPr>
        <a:xfrm>
          <a:off x="0" y="0"/>
          <a:ext cx="0" cy="0"/>
          <a:chOff x="0" y="0"/>
          <a:chExt cx="0" cy="0"/>
        </a:xfrm>
      </p:grpSpPr>
      <p:sp>
        <p:nvSpPr>
          <p:cNvPr id="340" name="Google Shape;340;p28"/>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CHỨNG CHỈ QUỸ</a:t>
            </a:r>
            <a:endParaRPr/>
          </a:p>
        </p:txBody>
      </p:sp>
      <p:sp>
        <p:nvSpPr>
          <p:cNvPr id="341" name="Google Shape;341;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Chứng chỉ quỹ là loại chứng khoán xác nhận quyền sở hữu của nhà đầu tư đối với một phần vốn góp của quỹ đại chúng</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Vốn điều lệ của quỹ đầu tư được chia thành nhiều phần bằng nhau gọi là đơn vị quỹ</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Chứng chỉ xác nhận quyền sở hữu đơn vị quỹ là chứng chỉ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Times New Roman"/>
                <a:ea typeface="Times New Roman"/>
                <a:cs typeface="Times New Roman"/>
                <a:sym typeface="Times New Roman"/>
              </a:rPr>
              <a:t>Nguồn sở hữu chứng chỉ quỹ là nhà đầu tư</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5" name="Shape 345"/>
        <p:cNvGrpSpPr/>
        <p:nvPr/>
      </p:nvGrpSpPr>
      <p:grpSpPr>
        <a:xfrm>
          <a:off x="0" y="0"/>
          <a:ext cx="0" cy="0"/>
          <a:chOff x="0" y="0"/>
          <a:chExt cx="0" cy="0"/>
        </a:xfrm>
      </p:grpSpPr>
      <p:sp>
        <p:nvSpPr>
          <p:cNvPr id="346" name="Google Shape;346;p29"/>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600"/>
              <a:buFont typeface="Times New Roman"/>
              <a:buNone/>
            </a:pPr>
            <a:r>
              <a:rPr b="1" i="0" lang="en-US" sz="3600" u="none">
                <a:solidFill>
                  <a:schemeClr val="accent1"/>
                </a:solidFill>
                <a:latin typeface="Times New Roman"/>
                <a:ea typeface="Times New Roman"/>
                <a:cs typeface="Times New Roman"/>
                <a:sym typeface="Times New Roman"/>
              </a:rPr>
              <a:t>CHỨNG CHỈ QUỸ …</a:t>
            </a:r>
            <a:endParaRPr/>
          </a:p>
        </p:txBody>
      </p:sp>
      <p:sp>
        <p:nvSpPr>
          <p:cNvPr id="347" name="Google Shape;347;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1"/>
              </a:buClr>
              <a:buSzPts val="3000"/>
              <a:buFont typeface="Arial"/>
              <a:buChar char="•"/>
            </a:pPr>
            <a:r>
              <a:rPr b="0" i="0" lang="en-US" sz="3000" u="none">
                <a:solidFill>
                  <a:schemeClr val="dk1"/>
                </a:solidFill>
                <a:latin typeface="Times New Roman"/>
                <a:ea typeface="Times New Roman"/>
                <a:cs typeface="Times New Roman"/>
                <a:sym typeface="Times New Roman"/>
              </a:rPr>
              <a:t>Ưu điểm và lợi ích tiềm năng của chứng chỉ quỹ</a:t>
            </a:r>
            <a:endParaRPr b="0" i="0" sz="3000" u="none">
              <a:solidFill>
                <a:schemeClr val="dk1"/>
              </a:solidFill>
              <a:latin typeface="Times New Roman"/>
              <a:ea typeface="Times New Roman"/>
              <a:cs typeface="Times New Roman"/>
              <a:sym typeface="Times New Roman"/>
            </a:endParaRPr>
          </a:p>
          <a:p>
            <a:pPr indent="-285750" lvl="1" marL="742950" marR="0" rtl="0" algn="l">
              <a:lnSpc>
                <a:spcPct val="9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Bất lợi của nhà đầu tư riêng lẻ:</a:t>
            </a:r>
            <a:endParaRPr/>
          </a:p>
          <a:p>
            <a:pPr indent="-228600" lvl="2" marL="11430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Hạn chế về vốn, không đa dạng hóa đầu tư được</a:t>
            </a:r>
            <a:endParaRPr/>
          </a:p>
          <a:p>
            <a:pPr indent="-228600" lvl="2" marL="11430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Kiến thức, kinh nghiệm đầu tư hạn chế</a:t>
            </a:r>
            <a:endParaRPr/>
          </a:p>
          <a:p>
            <a:pPr indent="-285750" lvl="1" marL="742950" marR="0" rtl="0" algn="l">
              <a:lnSpc>
                <a:spcPct val="9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Quỹ đầu tư giải quyết được các bất lợi trên: hiệu quả đầu tư cao, chi phí đầu tư giảm, rủi ro giảm</a:t>
            </a:r>
            <a:endParaRPr/>
          </a:p>
          <a:p>
            <a:pPr indent="-285750" lvl="1" marL="742950" marR="0" rtl="0" algn="l">
              <a:lnSpc>
                <a:spcPct val="90000"/>
              </a:lnSpc>
              <a:spcBef>
                <a:spcPts val="520"/>
              </a:spcBef>
              <a:spcAft>
                <a:spcPts val="0"/>
              </a:spcAft>
              <a:buClr>
                <a:schemeClr val="dk1"/>
              </a:buClr>
              <a:buSzPts val="2600"/>
              <a:buFont typeface="Arial"/>
              <a:buChar char="–"/>
            </a:pPr>
            <a:r>
              <a:rPr b="0" i="0" lang="en-US" sz="2600" u="none" cap="none" strike="noStrike">
                <a:solidFill>
                  <a:schemeClr val="dk1"/>
                </a:solidFill>
                <a:latin typeface="Times New Roman"/>
                <a:ea typeface="Times New Roman"/>
                <a:cs typeface="Times New Roman"/>
                <a:sym typeface="Times New Roman"/>
              </a:rPr>
              <a:t>Lợi ích tiềm năng:</a:t>
            </a:r>
            <a:endParaRPr/>
          </a:p>
          <a:p>
            <a:pPr indent="-228600" lvl="2" marL="11430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Cổ tức của quỹ</a:t>
            </a:r>
            <a:endParaRPr/>
          </a:p>
          <a:p>
            <a:pPr indent="-228600" lvl="2" marL="11430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Chênh lệch giá chứng chỉ</a:t>
            </a:r>
            <a:endParaRPr/>
          </a:p>
          <a:p>
            <a:pPr indent="-228600" lvl="2" marL="1143000" marR="0" rtl="0" algn="l">
              <a:lnSpc>
                <a:spcPct val="90000"/>
              </a:lnSpc>
              <a:spcBef>
                <a:spcPts val="440"/>
              </a:spcBef>
              <a:spcAft>
                <a:spcPts val="0"/>
              </a:spcAft>
              <a:buClr>
                <a:schemeClr val="dk1"/>
              </a:buClr>
              <a:buSzPts val="2200"/>
              <a:buFont typeface="Arial"/>
              <a:buChar char="•"/>
            </a:pPr>
            <a:r>
              <a:rPr b="0" i="0" lang="en-US" sz="2200" u="none" cap="none" strike="noStrike">
                <a:solidFill>
                  <a:schemeClr val="dk1"/>
                </a:solidFill>
                <a:latin typeface="Times New Roman"/>
                <a:ea typeface="Times New Roman"/>
                <a:cs typeface="Times New Roman"/>
                <a:sym typeface="Times New Roman"/>
              </a:rPr>
              <a:t>Lợi vốn khi nhà quản lý quỹ bán 1 phần danh mục đầu tư để thu lợi nhuận</a:t>
            </a:r>
            <a:endParaRPr/>
          </a:p>
          <a:p>
            <a:pPr indent="-203200" lvl="0" marL="342900" marR="0" rtl="0" algn="l">
              <a:lnSpc>
                <a:spcPct val="100000"/>
              </a:lnSpc>
              <a:spcBef>
                <a:spcPts val="440"/>
              </a:spcBef>
              <a:spcAft>
                <a:spcPts val="0"/>
              </a:spcAft>
              <a:buClr>
                <a:schemeClr val="dk1"/>
              </a:buClr>
              <a:buSzPts val="2200"/>
              <a:buFont typeface="Arial"/>
              <a:buNone/>
            </a:pPr>
            <a:r>
              <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1" name="Shape 351"/>
        <p:cNvGrpSpPr/>
        <p:nvPr/>
      </p:nvGrpSpPr>
      <p:grpSpPr>
        <a:xfrm>
          <a:off x="0" y="0"/>
          <a:ext cx="0" cy="0"/>
          <a:chOff x="0" y="0"/>
          <a:chExt cx="0" cy="0"/>
        </a:xfrm>
      </p:grpSpPr>
      <p:sp>
        <p:nvSpPr>
          <p:cNvPr id="352" name="Google Shape;352;p30"/>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3" name="Google Shape;353;p30"/>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Bảng so sánh các loại CKPS</a:t>
            </a:r>
            <a:endParaRPr/>
          </a:p>
        </p:txBody>
      </p:sp>
      <p:sp>
        <p:nvSpPr>
          <p:cNvPr id="354" name="Google Shape;354;p30"/>
          <p:cNvSpPr txBox="1"/>
          <p:nvPr>
            <p:ph idx="1" type="body"/>
          </p:nvPr>
        </p:nvSpPr>
        <p:spPr>
          <a:xfrm>
            <a:off x="838200" y="2286000"/>
            <a:ext cx="7693025" cy="38004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None/>
            </a:pPr>
            <a:r>
              <a:rPr b="0" i="0" lang="en-US" sz="2000" u="none">
                <a:solidFill>
                  <a:schemeClr val="dk1"/>
                </a:solidFill>
                <a:latin typeface="Times New Roman"/>
                <a:ea typeface="Times New Roman"/>
                <a:cs typeface="Times New Roman"/>
                <a:sym typeface="Times New Roman"/>
              </a:rPr>
              <a:t>	</a:t>
            </a:r>
            <a:endParaRPr/>
          </a:p>
          <a:p>
            <a:pPr indent="-215900" lvl="0" marL="342900" rtl="0" algn="l">
              <a:lnSpc>
                <a:spcPct val="100000"/>
              </a:lnSpc>
              <a:spcBef>
                <a:spcPts val="400"/>
              </a:spcBef>
              <a:spcAft>
                <a:spcPts val="0"/>
              </a:spcAft>
              <a:buClr>
                <a:schemeClr val="dk1"/>
              </a:buClr>
              <a:buSzPts val="2000"/>
              <a:buNone/>
            </a:pPr>
            <a:r>
              <a:t/>
            </a:r>
            <a:endParaRPr b="0" i="0" sz="2000" u="none">
              <a:solidFill>
                <a:schemeClr val="dk1"/>
              </a:solidFill>
              <a:latin typeface="Times New Roman"/>
              <a:ea typeface="Times New Roman"/>
              <a:cs typeface="Times New Roman"/>
              <a:sym typeface="Times New Roman"/>
            </a:endParaRPr>
          </a:p>
        </p:txBody>
      </p:sp>
      <p:graphicFrame>
        <p:nvGraphicFramePr>
          <p:cNvPr id="355" name="Google Shape;355;p30"/>
          <p:cNvGraphicFramePr/>
          <p:nvPr/>
        </p:nvGraphicFramePr>
        <p:xfrm>
          <a:off x="533400" y="1600200"/>
          <a:ext cx="3000000" cy="3000000"/>
        </p:xfrm>
        <a:graphic>
          <a:graphicData uri="http://schemas.openxmlformats.org/drawingml/2006/table">
            <a:tbl>
              <a:tblPr>
                <a:noFill/>
                <a:tableStyleId>{BA46080A-87B2-49DB-8D86-8B54E036FA86}</a:tableStyleId>
              </a:tblPr>
              <a:tblGrid>
                <a:gridCol w="1611300"/>
                <a:gridCol w="3063875"/>
                <a:gridCol w="1933575"/>
                <a:gridCol w="1773225"/>
              </a:tblGrid>
              <a:tr h="327025">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t = 0</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Từ t- T</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t= T</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84200">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HD giao ngay (spot contracts)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Thỏa thuận về việc mua/bán TS, đồng thời chuyển giao và thanh toán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88582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Hợp đồng kỳ hạn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(Forward contracts)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Thỏa thuận giữa bên mua và bên  bán: TS, giá, số lượng, t.g đáo hạn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Chuyển giao tiền và tài sản giữa các bên (theo giá đã thỏa thuận trước)</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88422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Hợp đồng tương lai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(Future contracts)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Cam kết đã được chuẩn hóa: tài sản, sl, giá, tg đáo hạn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Các bên tham gia hợp đồng ký quỹ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Đánh giá lại hợp đồng hàng ngày</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 thể đóng vị thế bằng giao dịch đảo nghịch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Chuyển gia vật chất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Chuyền giao bằng tiền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108267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Hợp đồng quyền chọn</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(Option contracts)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Thỏa thuận cho phép bên mua có quyền mua/bán ts cơ sở với giá xác định</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Bên mua trả phí mua quyền chọn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 thể đóng vị thế bằng giao dịch đảo nghịch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Bên mua có thể th.hiện quyền chọn sớm - US</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Th.hiện quyền chọn để mua/bán TSCS theo giá thực hiện;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Quyền chọn đáo hạn vô giá trị</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88422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Hợp đồng hoán đổi</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(Swaps)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Thỏa thuận giữa 2 bên: TSCS, giá trị gốc danh nghĩa, tính chất và thời điểm các dòng tiền th.toán, t.g đáo hạn;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 thể trao đổi gái trị gốc giữa các bên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Thanh toán định kỳ giữa các bên (thường áp dụng nguyên tắc bù trù)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 thể trao đổi giá trị gốc giữa các bên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59" name="Shape 359"/>
        <p:cNvGrpSpPr/>
        <p:nvPr/>
      </p:nvGrpSpPr>
      <p:grpSpPr>
        <a:xfrm>
          <a:off x="0" y="0"/>
          <a:ext cx="0" cy="0"/>
          <a:chOff x="0" y="0"/>
          <a:chExt cx="0" cy="0"/>
        </a:xfrm>
      </p:grpSpPr>
      <p:sp>
        <p:nvSpPr>
          <p:cNvPr id="360" name="Google Shape;360;p31"/>
          <p:cNvSpPr txBox="1"/>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1200"/>
              <a:buFont typeface="Times New Roman"/>
              <a:buNone/>
            </a:pPr>
            <a:fld id="{00000000-1234-1234-1234-123412341234}" type="slidenum">
              <a:rPr b="0" i="0" lang="en-US" sz="1200" u="none" cap="none" strike="noStrike">
                <a:solidFill>
                  <a:srgbClr val="898989"/>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61" name="Google Shape;361;p31"/>
          <p:cNvSpPr txBox="1"/>
          <p:nvPr>
            <p:ph type="title"/>
          </p:nvPr>
        </p:nvSpPr>
        <p:spPr>
          <a:xfrm>
            <a:off x="1981200" y="274637"/>
            <a:ext cx="6705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accent1"/>
              </a:buClr>
              <a:buSzPts val="3200"/>
              <a:buFont typeface="Times New Roman"/>
              <a:buNone/>
            </a:pPr>
            <a:r>
              <a:rPr b="1" i="0" lang="en-US" sz="3200" u="none">
                <a:solidFill>
                  <a:schemeClr val="accent1"/>
                </a:solidFill>
                <a:latin typeface="Times New Roman"/>
                <a:ea typeface="Times New Roman"/>
                <a:cs typeface="Times New Roman"/>
                <a:sym typeface="Times New Roman"/>
              </a:rPr>
              <a:t>Bảng so sánh các loại CKPS</a:t>
            </a:r>
            <a:endParaRPr/>
          </a:p>
        </p:txBody>
      </p:sp>
      <p:sp>
        <p:nvSpPr>
          <p:cNvPr id="362" name="Google Shape;362;p31"/>
          <p:cNvSpPr txBox="1"/>
          <p:nvPr>
            <p:ph idx="1" type="body"/>
          </p:nvPr>
        </p:nvSpPr>
        <p:spPr>
          <a:xfrm>
            <a:off x="838200" y="2286000"/>
            <a:ext cx="7693025" cy="380047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None/>
            </a:pPr>
            <a:r>
              <a:t/>
            </a:r>
            <a:endParaRPr b="0" i="0" sz="2000" u="none">
              <a:solidFill>
                <a:schemeClr val="dk1"/>
              </a:solidFill>
              <a:latin typeface="Times New Roman"/>
              <a:ea typeface="Times New Roman"/>
              <a:cs typeface="Times New Roman"/>
              <a:sym typeface="Times New Roman"/>
            </a:endParaRPr>
          </a:p>
          <a:p>
            <a:pPr indent="-342900" lvl="0" marL="342900" rtl="0" algn="l">
              <a:lnSpc>
                <a:spcPct val="100000"/>
              </a:lnSpc>
              <a:spcBef>
                <a:spcPts val="400"/>
              </a:spcBef>
              <a:spcAft>
                <a:spcPts val="0"/>
              </a:spcAft>
              <a:buClr>
                <a:schemeClr val="dk1"/>
              </a:buClr>
              <a:buSzPts val="2000"/>
              <a:buNone/>
            </a:pPr>
            <a:r>
              <a:rPr b="0" i="0" lang="en-US" sz="2000" u="none">
                <a:solidFill>
                  <a:schemeClr val="dk1"/>
                </a:solidFill>
                <a:latin typeface="Times New Roman"/>
                <a:ea typeface="Times New Roman"/>
                <a:cs typeface="Times New Roman"/>
                <a:sym typeface="Times New Roman"/>
              </a:rPr>
              <a:t>	</a:t>
            </a:r>
            <a:endParaRPr/>
          </a:p>
          <a:p>
            <a:pPr indent="-215900" lvl="0" marL="342900" rtl="0" algn="l">
              <a:lnSpc>
                <a:spcPct val="100000"/>
              </a:lnSpc>
              <a:spcBef>
                <a:spcPts val="400"/>
              </a:spcBef>
              <a:spcAft>
                <a:spcPts val="0"/>
              </a:spcAft>
              <a:buClr>
                <a:schemeClr val="dk1"/>
              </a:buClr>
              <a:buSzPts val="2000"/>
              <a:buNone/>
            </a:pPr>
            <a:r>
              <a:t/>
            </a:r>
            <a:endParaRPr b="0" i="0" sz="2000" u="none">
              <a:solidFill>
                <a:schemeClr val="dk1"/>
              </a:solidFill>
              <a:latin typeface="Times New Roman"/>
              <a:ea typeface="Times New Roman"/>
              <a:cs typeface="Times New Roman"/>
              <a:sym typeface="Times New Roman"/>
            </a:endParaRPr>
          </a:p>
        </p:txBody>
      </p:sp>
      <p:graphicFrame>
        <p:nvGraphicFramePr>
          <p:cNvPr id="363" name="Google Shape;363;p31"/>
          <p:cNvGraphicFramePr/>
          <p:nvPr/>
        </p:nvGraphicFramePr>
        <p:xfrm>
          <a:off x="381000" y="1600200"/>
          <a:ext cx="3000000" cy="3000000"/>
        </p:xfrm>
        <a:graphic>
          <a:graphicData uri="http://schemas.openxmlformats.org/drawingml/2006/table">
            <a:tbl>
              <a:tblPr>
                <a:noFill/>
                <a:tableStyleId>{BA46080A-87B2-49DB-8D86-8B54E036FA86}</a:tableStyleId>
              </a:tblPr>
              <a:tblGrid>
                <a:gridCol w="1692275"/>
                <a:gridCol w="1592250"/>
                <a:gridCol w="1477950"/>
                <a:gridCol w="2003425"/>
                <a:gridCol w="1692275"/>
              </a:tblGrid>
              <a:tr h="661975">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Đặc điểm</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Hợp đồng kỳ hạn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Hợp đồng tương lai</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Hợp đồng quyền chọn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00000"/>
                        </a:lnSpc>
                        <a:spcBef>
                          <a:spcPts val="0"/>
                        </a:spcBef>
                        <a:spcAft>
                          <a:spcPts val="0"/>
                        </a:spcAft>
                        <a:buClr>
                          <a:srgbClr val="FFFFFF"/>
                        </a:buClr>
                        <a:buSzPts val="1200"/>
                        <a:buFont typeface="Times New Roman"/>
                        <a:buNone/>
                      </a:pPr>
                      <a:r>
                        <a:rPr b="1" i="0" lang="en-US" sz="1200" u="none" cap="none" strike="noStrike">
                          <a:solidFill>
                            <a:srgbClr val="FFFFFF"/>
                          </a:solidFill>
                          <a:latin typeface="Times New Roman"/>
                          <a:ea typeface="Times New Roman"/>
                          <a:cs typeface="Times New Roman"/>
                          <a:sym typeface="Times New Roman"/>
                        </a:rPr>
                        <a:t>Hợp đồng hoán đổi</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19100">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Thị trường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OTC</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SGD</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SGD, OTC</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OTC</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584200">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Điều khoản hợp đồng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Không chuẩn hóa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(thảo thuận riêng)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Chuẩn hóa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 chuẩn hóa/không chuẩn hóa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Không chuẩn hóa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(thảo thuận riêng)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66197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Tính chất cam kết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Nghĩa vụ giữa bên  mua va bên bán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Nghĩa vụ giữa bên  mua va bên bán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Bên mua: quyền lựa chọn </a:t>
                      </a:r>
                      <a:endParaRPr sz="1400" u="none" cap="none" strike="noStrike"/>
                    </a:p>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Bên bán: nghĩa vụ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Nghĩa vụ giữa bên  mua va bên bán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546100">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Chi phí/yêu cầu khi mở vị thế</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Ký quỹ (bên mua và bên bán)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Phí quyền chọn (bên mua trả)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dk1"/>
                        </a:solidFill>
                        <a:latin typeface="Calibri"/>
                        <a:ea typeface="Calibri"/>
                        <a:cs typeface="Calibri"/>
                        <a:sym typeface="Calibri"/>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r h="98107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Lãi lỗ tiềm năng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Không giới hạn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Không giới hạn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76200" lvl="0" marL="0" marR="0" rtl="0" algn="l">
                        <a:lnSpc>
                          <a:spcPct val="100000"/>
                        </a:lnSpc>
                        <a:spcBef>
                          <a:spcPts val="0"/>
                        </a:spcBef>
                        <a:spcAft>
                          <a:spcPts val="0"/>
                        </a:spcAft>
                        <a:buClr>
                          <a:srgbClr val="000000"/>
                        </a:buClr>
                        <a:buSzPts val="1200"/>
                        <a:buFont typeface="Times New Roman"/>
                        <a:buChar char="-"/>
                      </a:pPr>
                      <a:r>
                        <a:rPr b="0" i="0" lang="en-US" sz="1200" u="none" cap="none" strike="noStrike">
                          <a:solidFill>
                            <a:srgbClr val="000000"/>
                          </a:solidFill>
                          <a:latin typeface="Times New Roman"/>
                          <a:ea typeface="Times New Roman"/>
                          <a:cs typeface="Times New Roman"/>
                          <a:sym typeface="Times New Roman"/>
                        </a:rPr>
                        <a:t>Bên mua: giá hạn khoản lỗ tối đa</a:t>
                      </a:r>
                      <a:endParaRPr sz="1400" u="none" cap="none" strike="noStrike"/>
                    </a:p>
                    <a:p>
                      <a:pPr indent="-76200" lvl="0" marL="0" marR="0" rtl="0" algn="l">
                        <a:lnSpc>
                          <a:spcPct val="100000"/>
                        </a:lnSpc>
                        <a:spcBef>
                          <a:spcPts val="0"/>
                        </a:spcBef>
                        <a:spcAft>
                          <a:spcPts val="0"/>
                        </a:spcAft>
                        <a:buClr>
                          <a:srgbClr val="000000"/>
                        </a:buClr>
                        <a:buSzPts val="1200"/>
                        <a:buFont typeface="Times New Roman"/>
                        <a:buChar char="-"/>
                      </a:pPr>
                      <a:r>
                        <a:rPr b="0" i="0" lang="en-US" sz="1200" u="none" cap="none" strike="noStrike">
                          <a:solidFill>
                            <a:srgbClr val="000000"/>
                          </a:solidFill>
                          <a:latin typeface="Times New Roman"/>
                          <a:ea typeface="Times New Roman"/>
                          <a:cs typeface="Times New Roman"/>
                          <a:sym typeface="Times New Roman"/>
                        </a:rPr>
                        <a:t>Bên bán: giới hạn khoản lãi tối đa</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Có thể không giới hạn (phụ thuộc vào loại hợp đồng)</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0D8E8"/>
                    </a:solidFill>
                  </a:tcPr>
                </a:tc>
              </a:tr>
              <a:tr h="763575">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Rủi ro thanh toán</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Cao </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Gần như bằng 0</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Cao  (quyền chọn OTC); gần như bằng 0 (vi giao dịch trên sở)</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c>
                  <a:txBody>
                    <a:bodyPr/>
                    <a:lstStyle/>
                    <a:p>
                      <a:pPr indent="0" lvl="0" marL="0" marR="0" rtl="0" algn="l">
                        <a:lnSpc>
                          <a:spcPct val="100000"/>
                        </a:lnSpc>
                        <a:spcBef>
                          <a:spcPts val="0"/>
                        </a:spcBef>
                        <a:spcAft>
                          <a:spcPts val="0"/>
                        </a:spcAft>
                        <a:buClr>
                          <a:srgbClr val="000000"/>
                        </a:buClr>
                        <a:buSzPts val="1200"/>
                        <a:buFont typeface="Times New Roman"/>
                        <a:buNone/>
                      </a:pPr>
                      <a:r>
                        <a:rPr b="0" i="0" lang="en-US" sz="1200" u="none" cap="none" strike="noStrike">
                          <a:solidFill>
                            <a:srgbClr val="000000"/>
                          </a:solidFill>
                          <a:latin typeface="Times New Roman"/>
                          <a:ea typeface="Times New Roman"/>
                          <a:cs typeface="Times New Roman"/>
                          <a:sym typeface="Times New Roman"/>
                        </a:rPr>
                        <a:t>Cao</a:t>
                      </a:r>
                      <a:endParaRPr sz="1400" u="none" cap="none" strike="noStrike"/>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9EDF4"/>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10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1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9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6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2013-09-05T13:07:25Z</dcterms:created>
  <dc:creator>Mid</dc:creator>
</cp:coreProperties>
</file>